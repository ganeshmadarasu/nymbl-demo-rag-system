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0"/>
            <a:ext cx="5486400" cy="6858000"/>
          </a:xfrm>
          <a:prstGeom prst="rect">
            <a:avLst/>
          </a:prstGeom>
          <a:solidFill>
            <a:srgbClr val="0F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</a:rPr>
              <a:t>AI Engineer Technical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E6EDF3"/>
                </a:solidFill>
              </a:rPr>
              <a:t>DocRAG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B949E"/>
                </a:solidFill>
              </a:rPr>
              <a:t>Single-document Q&amp;A grounded in your PDF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749039"/>
            <a:ext cx="173736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3767328"/>
            <a:ext cx="1600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58A6FF"/>
                </a:solidFill>
              </a:rPr>
              <a:t>Gemini Embeddings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3749039"/>
            <a:ext cx="173736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3767328"/>
            <a:ext cx="1600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FB950"/>
                </a:solidFill>
              </a:rPr>
              <a:t>pgvector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749039"/>
            <a:ext cx="173736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3767328"/>
            <a:ext cx="1600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D2A8FF"/>
                </a:solidFill>
              </a:rPr>
              <a:t>FastAPI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3749039"/>
            <a:ext cx="1737360" cy="347472"/>
          </a:xfrm>
          <a:prstGeom prst="rect">
            <a:avLst/>
          </a:prstGeom>
          <a:solidFill>
            <a:srgbClr val="161B22"/>
          </a:solidFill>
          <a:ln w="12700">
            <a:solidFill>
              <a:srgbClr val="F78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3767328"/>
            <a:ext cx="1600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78166"/>
                </a:solidFill>
              </a:rPr>
              <a:t>Auto-scaled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645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📄  Upload any 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1488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✂️  Auto-scaled chunking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🧠  Gemini semantic embeddings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1546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🔍  pgvector top-k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65760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💬  Grounded streaming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41605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📎  [Chunk N] inline citations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What DocRAG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94960" cy="14630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🧩  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LLMs hallucinate when asked about documents they haven't seen. Generic chat can't cite specific passages or say "I don't know" reliably.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463040"/>
            <a:ext cx="5394960" cy="14630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✅  The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19659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Retrieval-Augmented Generation — ground every answer in retrieved chunks from the actual document, with inline citations so claims can be verified.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11091672" cy="15544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91840"/>
            <a:ext cx="1920240" cy="118872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PDF 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690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any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7033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291840"/>
            <a:ext cx="1920240" cy="1188720"/>
          </a:xfrm>
          <a:prstGeom prst="rect">
            <a:avLst/>
          </a:prstGeom>
          <a:solidFill>
            <a:srgbClr val="161B22"/>
          </a:solidFill>
          <a:ln w="9525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33375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✂️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49039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Extract &amp; Chunk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0690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PyMuPDF + tiktoken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37033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3291840"/>
            <a:ext cx="1920240" cy="1188720"/>
          </a:xfrm>
          <a:prstGeom prst="rect">
            <a:avLst/>
          </a:prstGeom>
          <a:solidFill>
            <a:srgbClr val="161B22"/>
          </a:solidFill>
          <a:ln w="9525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33375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749039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Embed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0690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gemini-embedding-2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37033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3291840"/>
            <a:ext cx="1920240" cy="1188720"/>
          </a:xfrm>
          <a:prstGeom prst="rect">
            <a:avLst/>
          </a:prstGeom>
          <a:solidFill>
            <a:srgbClr val="161B22"/>
          </a:solidFill>
          <a:ln w="9525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33375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🗄️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749039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Store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0690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Postgres + pgvector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37033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3291840"/>
            <a:ext cx="1920240" cy="118872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0" y="33375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749039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406908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Gemini 2.5 Flash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560320"/>
            <a:ext cx="1463040" cy="13716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60604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6EDF3"/>
                </a:solidFill>
              </a:rPr>
              <a:t>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971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Browser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24612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index.html
SSE streaming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1546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645920"/>
            <a:ext cx="1737360" cy="320040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8A6FF"/>
                </a:solidFill>
              </a:rPr>
              <a:t>FastAPI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12848" y="2148840"/>
            <a:ext cx="1517904" cy="347472"/>
          </a:xfrm>
          <a:prstGeom prst="rect">
            <a:avLst/>
          </a:prstGeom>
          <a:solidFill>
            <a:srgbClr val="1A233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2848" y="2194560"/>
            <a:ext cx="15179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6EDF3"/>
                </a:solidFill>
              </a:rPr>
              <a:t>POST /ingest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12848" y="2606040"/>
            <a:ext cx="1517904" cy="347472"/>
          </a:xfrm>
          <a:prstGeom prst="rect">
            <a:avLst/>
          </a:prstGeom>
          <a:solidFill>
            <a:srgbClr val="1A233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2848" y="2651760"/>
            <a:ext cx="15179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6EDF3"/>
                </a:solidFill>
              </a:rPr>
              <a:t>POST /query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3063240"/>
            <a:ext cx="1517904" cy="347472"/>
          </a:xfrm>
          <a:prstGeom prst="rect">
            <a:avLst/>
          </a:prstGeom>
          <a:solidFill>
            <a:srgbClr val="1A233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12848" y="3108960"/>
            <a:ext cx="15179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6EDF3"/>
                </a:solidFill>
              </a:rPr>
              <a:t>DELETE /doc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848" y="3520440"/>
            <a:ext cx="1517904" cy="347472"/>
          </a:xfrm>
          <a:prstGeom prst="rect">
            <a:avLst/>
          </a:prstGeom>
          <a:solidFill>
            <a:srgbClr val="1A233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2848" y="3566160"/>
            <a:ext cx="15179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6EDF3"/>
                </a:solidFill>
              </a:rPr>
              <a:t>GET /doc/info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12848" y="3977640"/>
            <a:ext cx="1517904" cy="347472"/>
          </a:xfrm>
          <a:prstGeom prst="rect">
            <a:avLst/>
          </a:prstGeom>
          <a:solidFill>
            <a:srgbClr val="1A2332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12848" y="4023360"/>
            <a:ext cx="15179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6EDF3"/>
                </a:solidFill>
              </a:rPr>
              <a:t>GET /health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1371600"/>
            <a:ext cx="7772400" cy="201168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144475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FB950"/>
                </a:solidFill>
              </a:rPr>
              <a:t>INGEST PIPELINE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1737360"/>
            <a:ext cx="169164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17647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6EDF3"/>
                </a:solidFill>
              </a:rPr>
              <a:t>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210312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EDF3"/>
                </a:solidFill>
              </a:rPr>
              <a:t>PyMuPDF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237744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extract text
no token limit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737360"/>
            <a:ext cx="169164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17647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6EDF3"/>
                </a:solidFill>
              </a:rPr>
              <a:t>✂️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210312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EDF3"/>
                </a:solidFill>
              </a:rPr>
              <a:t>tiktoken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237744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count tokens
compute_params
chunk+overlap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1737360"/>
            <a:ext cx="169164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17647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6EDF3"/>
                </a:solidFill>
              </a:rPr>
              <a:t>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210312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EDF3"/>
                </a:solidFill>
              </a:rPr>
              <a:t>Gemini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237744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embedding-2
768-dim
concurrent+retry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169164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0" y="176479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6EDF3"/>
                </a:solidFill>
              </a:rPr>
              <a:t>🗄️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210312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EDF3"/>
                </a:solidFill>
              </a:rPr>
              <a:t>Postgres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237744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chunks table
doc_meta table
pgvector HNSW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3566160"/>
            <a:ext cx="7772400" cy="2011680"/>
          </a:xfrm>
          <a:prstGeom prst="rect">
            <a:avLst/>
          </a:prstGeom>
          <a:solidFill>
            <a:srgbClr val="161B22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0" y="3639312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58A6FF"/>
                </a:solidFill>
              </a:rPr>
              <a:t>QUERY PIPELINE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51960" y="3931920"/>
            <a:ext cx="169164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51960" y="3959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6EDF3"/>
                </a:solidFill>
              </a:rPr>
              <a:t>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2976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EDF3"/>
                </a:solidFill>
              </a:rPr>
              <a:t>Embed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60" y="457200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RETRIEVAL_QUERY
768-dim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931920"/>
            <a:ext cx="169164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40" y="3959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6EDF3"/>
                </a:solidFill>
              </a:rPr>
              <a:t>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0" y="42976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EDF3"/>
                </a:solidFill>
              </a:rPr>
              <a:t>pgvector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457200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cosine search
top-k (auto)
HNSW index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18120" y="3931920"/>
            <a:ext cx="169164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18120" y="3959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6EDF3"/>
                </a:solidFill>
              </a:rPr>
              <a:t>✍️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18120" y="42976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EDF3"/>
                </a:solidFill>
              </a:rPr>
              <a:t>Gemini Flash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8120" y="457200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2.5 Flash
grounded answer
streamed SSE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3931920"/>
            <a:ext cx="1691640" cy="15087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01200" y="3959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6EDF3"/>
                </a:solidFill>
              </a:rPr>
              <a:t>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429768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E6EDF3"/>
                </a:solidFill>
              </a:rPr>
              <a:t>Response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4572000"/>
            <a:ext cx="1691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949E"/>
                </a:solidFill>
              </a:rPr>
              <a:t>[Chunk N] cites
or I don't know
SSE stream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49039" y="22860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FB950"/>
                </a:solidFill>
              </a:rPr>
              <a:t>ingest 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9039" y="44805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58A6FF"/>
                </a:solidFill>
              </a:rPr>
              <a:t>query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PIPELINE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Ingest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2834640" cy="4937760"/>
          </a:xfrm>
          <a:prstGeom prst="rect">
            <a:avLst/>
          </a:prstGeom>
          <a:solidFill>
            <a:srgbClr val="161B22"/>
          </a:solidFill>
          <a:ln w="9525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6EDF3"/>
                </a:solidFill>
              </a:rP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EDF3"/>
                </a:solidFill>
              </a:rPr>
              <a:t>1 · 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42316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PyMuPDF reads every page verbatim with no token output limit. Null bytes stripped for Postgres UTF-8 compatibility.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754880"/>
            <a:ext cx="2560320" cy="411480"/>
          </a:xfrm>
          <a:prstGeom prst="rect">
            <a:avLst/>
          </a:prstGeom>
          <a:solidFill>
            <a:srgbClr val="0D1117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818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A8FF"/>
                </a:solidFill>
              </a:rPr>
              <a:t>fitz.open(stream=…)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463040"/>
            <a:ext cx="2834640" cy="4937760"/>
          </a:xfrm>
          <a:prstGeom prst="rect">
            <a:avLst/>
          </a:prstGeom>
          <a:solidFill>
            <a:srgbClr val="161B22"/>
          </a:solidFill>
          <a:ln w="9525">
            <a:solidFill>
              <a:srgbClr val="D2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15087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6EDF3"/>
                </a:solidFill>
              </a:rPr>
              <a:t>✂️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EDF3"/>
                </a:solidFill>
              </a:rPr>
              <a:t>2 · Chunk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42316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tiktoken counts total tokens → compute_params() selects chunk_size and k. Sentence-boundary splits with 64-token overlap preserve context across boundaries.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4754880"/>
            <a:ext cx="2560320" cy="411480"/>
          </a:xfrm>
          <a:prstGeom prst="rect">
            <a:avLst/>
          </a:prstGeom>
          <a:solidFill>
            <a:srgbClr val="0D1117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01568" y="4818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A8FF"/>
                </a:solidFill>
              </a:rPr>
              <a:t>chunk_text(text, chunk_size)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1463040"/>
            <a:ext cx="2834640" cy="4937760"/>
          </a:xfrm>
          <a:prstGeom prst="rect">
            <a:avLst/>
          </a:prstGeom>
          <a:solidFill>
            <a:srgbClr val="161B22"/>
          </a:solidFill>
          <a:ln w="9525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15087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6EDF3"/>
                </a:solidFill>
              </a:rPr>
              <a:t>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EDF3"/>
                </a:solidFill>
              </a:rPr>
              <a:t>3 · Embed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242316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All chunks embedded concurrently via asyncio.gather. Exponential backoff retries on 429/503. Task type RETRIEVAL_DOCUMENT for higher retrieval accuracy.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4754880"/>
            <a:ext cx="2560320" cy="411480"/>
          </a:xfrm>
          <a:prstGeom prst="rect">
            <a:avLst/>
          </a:prstGeom>
          <a:solidFill>
            <a:srgbClr val="0D1117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4818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A8FF"/>
                </a:solidFill>
              </a:rPr>
              <a:t>gemini-embedding-2 · 768-dim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07424" y="1463040"/>
            <a:ext cx="2834640" cy="4937760"/>
          </a:xfrm>
          <a:prstGeom prst="rect">
            <a:avLst/>
          </a:prstGeom>
          <a:solidFill>
            <a:srgbClr val="161B22"/>
          </a:solidFill>
          <a:ln w="9525">
            <a:solidFill>
              <a:srgbClr val="336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07424" y="15087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E6EDF3"/>
                </a:solidFill>
              </a:rPr>
              <a:t>🗄️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EDF3"/>
                </a:solidFill>
              </a:rPr>
              <a:t>4 · 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4584" y="2423160"/>
            <a:ext cx="2560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Chunks + vectors written to chunks table. Chosen k and chunk count persisted in doc_meta so they survive server restarts without re-upload.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44584" y="4754880"/>
            <a:ext cx="2560320" cy="411480"/>
          </a:xfrm>
          <a:prstGeom prst="rect">
            <a:avLst/>
          </a:prstGeom>
          <a:solidFill>
            <a:srgbClr val="0D1117"/>
          </a:solidFill>
          <a:ln w="63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90304" y="48188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2A8FF"/>
                </a:solidFill>
              </a:rPr>
              <a:t>HNSW index on embedding column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PIPELINE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Query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11640312" cy="14630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727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User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40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plain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2024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0592" y="15727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0592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Embed query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50592" y="2240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RETRIEVAL_QUERY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92024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15727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Top-k 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2240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cosine · pgvector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4" y="192024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3136" y="15727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✍️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Generate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3136" y="2240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Gemini 2.5 Flash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192024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15727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E6EDF3"/>
                </a:solidFill>
              </a:rPr>
              <a:t>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19659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6EDF3"/>
                </a:solidFill>
              </a:rPr>
              <a:t>Stream answer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2402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B949E"/>
                </a:solidFill>
              </a:rPr>
              <a:t>SSE + citations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00400"/>
            <a:ext cx="557784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System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703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B949E"/>
                </a:solidFill>
              </a:rPr>
              <a:t>"Answer using ONLY the provided context. If the context doesn't contain enough information, respond with exactly: "I don't know." Cite sources as [Chunk N] inline throughout your answer."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53912" y="3200400"/>
            <a:ext cx="5760720" cy="182880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33375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Grounding guarantee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3703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If pgvector returns zero results for the doc_id, the answer is short-circuited to 'I don’t know.' before the LLM is called — no hallucination possible on empty retrieval.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5212080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</a:rPr>
              <a:t>Both ingest progress and answer tokens stream via Server-Sent Events — no polling, real-time UI updates.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KEY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Auto-scaled chunk size &amp; 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B949E"/>
                </a:solidFill>
              </a:rPr>
              <a:t>A fixed chunk size performs poorly at both extremes. compute_params(total_tokens) selects both values from five tiers — the chosen k is persisted to doc_meta and restored on server restart.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91672" cy="44348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949E"/>
                </a:solidFill>
              </a:rPr>
              <a:t>Document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057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949E"/>
                </a:solidFill>
              </a:rPr>
              <a:t>Token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057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949E"/>
                </a:solidFill>
              </a:rPr>
              <a:t>chunk_size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057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949E"/>
                </a:solidFill>
              </a:rPr>
              <a:t>k retrieved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574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949E"/>
                </a:solidFill>
              </a:rPr>
              <a:t>Rationale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Tiny  (&lt;20 pages)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4688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&lt; 10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68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2468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46888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Tight chunks; few results enough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3580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Small (20–100 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30358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&lt; 50 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03580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384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03580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0358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Balanced default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60273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Medium (100–400 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60273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&lt; 200 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60273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512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60273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602736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More context needed per chunk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169664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Large (400–1000 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16966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&lt; 500 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16966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768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416966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16966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Wide chunks, broad retrieval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736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Huge  (1000+ pages)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473659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≥ 500 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47365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1024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47365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73659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Maximum context coverage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TECHNOLOGY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Stack &amp; rationale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516636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</a:rPr>
              <a:t>PDF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5544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PyMuPDF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155448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Gemini extraction silently truncates at 65 K output tokens — a 100-page PDF returned 6 chunks. PyMuPDF has no output limit.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1284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</a:rPr>
              <a:t>Token counting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2128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tiktoken cl100k_base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12848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Same encoding the chunker uses — no unit mismatch. Character counts are unreliable across document types.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7121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</a:rPr>
              <a:t>Embeddings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8712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gemini-embedding-2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871216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Separate RETRIEVAL_DOCUMENT / RETRIEVAL_QUERY task types improve accuracy over symmetric embeddings.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2958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</a:rPr>
              <a:t>Vector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52958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Postgres + pgvector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529584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HNSW needs no pre-training (unlike IVFFlat). One service handles relational + vector search. No extra infra.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1879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</a:rPr>
              <a:t>DB driver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879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asyncpg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187952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Binary wire protocol — lower latency than psycopg. No ORM overhead for a two-table schema.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846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</a:rPr>
              <a:t>Generation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48463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Gemini 2.5 Flash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84632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Fast, cost-effective, streamed output via SSE for a responsive UX.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5046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949E"/>
                </a:solidFill>
              </a:rPr>
              <a:t>Frontend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5046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8A6FF"/>
                </a:solidFill>
              </a:rPr>
              <a:t>Single HTML 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5504688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No build tools, no Node.js. Served by FastAPI — one uvicorn command to run everything.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ENGINEERING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Key design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5577840" cy="2011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50800" cy="20116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🔄  Concurrent embedding with retry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All chunks embedded via asyncio.gather — no serial bottleneck. 429/503 errors retry with exponential backoff (2 → 64 s). Non-retryable errors surface immediately.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3912" y="1463040"/>
            <a:ext cx="5577840" cy="2011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3912" y="1463040"/>
            <a:ext cx="50800" cy="201168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645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💾  State survives restarts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05740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doc_meta table stores doc_id, chunk_count, and k. FastAPI lifespan hook restores all three on startup — no re-upload needed after a server bounce.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749039"/>
            <a:ext cx="5577840" cy="2011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749039"/>
            <a:ext cx="50800" cy="2011680"/>
          </a:xfrm>
          <a:prstGeom prst="rect">
            <a:avLst/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🪟  Sentence-boundary overlap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399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Each chunk seeds itself with the last 64 tokens of the previous chunk. Prevents context loss when an argument spans a chunk boundary.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3749039"/>
            <a:ext cx="5577840" cy="201168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3912" y="3749039"/>
            <a:ext cx="50800" cy="201168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39319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📡  Server-Sent Events streaming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4343399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</a:rPr>
              <a:t>Ingest progress (extracting → chunking → embedding → done) and answer tokens both stream via SSE. No polling, no page reload — real-time updates throughout.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91672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6EDF3"/>
                </a:solidFill>
              </a:rPr>
              <a:t>Demo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48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Upload a 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505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Drag &amp; drop onto the sidebar — watch the ingest progress bar: extract → chunk → embed →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2️⃣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26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Ask a specific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2278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Something answerable from the document — observe the streamed response and chunk citation pills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3️⃣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03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Ask something unanswerable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0050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Verify the system responds "I don't know." rather than hallucinating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457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4️⃣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80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6EDF3"/>
                </a:solidFill>
              </a:rPr>
              <a:t>Hover a citation pill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7823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See the raw chunk text that grounded the answer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949E"/>
                </a:solidFill>
              </a:rPr>
              <a:t>http://localhost:8000   ·   docker compose up -d &amp;&amp; uvicorn backend.main:app --reload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HONEST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3657600" cy="1920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657600" cy="381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6002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⚠️  Single document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933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Uploading a new PDF clears the previous one. No multi-doc library or comparison queries.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463040"/>
            <a:ext cx="3657600" cy="1920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60520" y="1463040"/>
            <a:ext cx="3657600" cy="381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⚠️  Dense retrieval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9933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No BM25/full-text search. Exact keyword queries (model names, IDs) can miss relevant chunks.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63040"/>
            <a:ext cx="3657600" cy="1920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657600" cy="381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6002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⚠️  No re-ranking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199339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Top-k chunks passed to the LLM as-is. Semantically-close-but-irrelevant chunks aren't filtered.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3657600" cy="1920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3657600" cy="381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794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⚠️  No duplicate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8795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Re-uploading the same PDF re-embeds everything even though the doc_id (SHA-256) is identical.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60520" y="3657600"/>
            <a:ext cx="3657600" cy="1920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60520" y="3657600"/>
            <a:ext cx="3657600" cy="381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794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⚠️  Scanned PDFs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18795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PyMuPDF extracts embedded text only — image-based/scanned PDFs return empty text. No OCR.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3657600"/>
            <a:ext cx="3657600" cy="192024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3657600"/>
            <a:ext cx="3657600" cy="38100"/>
          </a:xfrm>
          <a:prstGeom prst="rect">
            <a:avLst/>
          </a:prstGeom>
          <a:solidFill>
            <a:srgbClr val="F78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37947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⚠️  No auth / multi-user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4187952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Single shared state. Not suitable for multi-user deployment without session isolation.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8A6FF"/>
                </a:solidFill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1091672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463040"/>
            <a:ext cx="3794760" cy="5074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463040"/>
            <a:ext cx="3794760" cy="38100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FB950"/>
                </a:solidFill>
              </a:rPr>
              <a:t>🚀  High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Hybrid search (BM25 + vector)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Postgres tsvector — no new infra. Covers keyword queries dense retrieval misses.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718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Re-ranking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24612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Cross-encoder pass after retrieval to filter irrelevant chunks before generation.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3192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Duplicate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20624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Skip re-embedding when doc_id already in doc_meta — instant reload for same file.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97096" y="1463040"/>
            <a:ext cx="3794760" cy="5074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97096" y="1463040"/>
            <a:ext cx="3794760" cy="38100"/>
          </a:xfrm>
          <a:prstGeom prst="rect">
            <a:avLst/>
          </a:prstGeom>
          <a:solidFill>
            <a:srgbClr val="D2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4256" y="15544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2A8FF"/>
                </a:solidFill>
              </a:rPr>
              <a:t>🧩 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201168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Parent-child chunking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22860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Store small chunks for retrieval precision; return surrounding parent context to the LLM.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29718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Similarity scores in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6" y="324612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Show retrieval confidence alongside citations so users can judge answer reliability.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6" y="393192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Multi-document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4256" y="420624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Doc library with selector — query across multiple PDFs with per-doc filtering.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9872" y="1463040"/>
            <a:ext cx="3794760" cy="5074920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19872" y="1463040"/>
            <a:ext cx="379476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2" y="155448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8A6FF"/>
                </a:solidFill>
              </a:rPr>
              <a:t>🔧  Reliability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7032" y="201168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OCR for scanned PDFs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7032" y="22860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Tesseract or Google Vision fallback when PyMuPDF returns empty text.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2" y="297180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Upload queue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7032" y="324612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Background job for large PDFs — free the HTTP request immediately, poll for status.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2" y="3931920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EDF3"/>
                </a:solidFill>
              </a:rPr>
              <a:t>• Auth + multi-user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420624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949E"/>
                </a:solidFill>
              </a:rPr>
              <a:t>Session isolation so multiple users can each have their own document state.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E6EDF3"/>
                </a:solidFill>
              </a:rPr>
              <a:t>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10312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E6EDF3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10896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B949E"/>
                </a:solidFill>
              </a:rPr>
              <a:t>Questions &amp; live 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840480"/>
            <a:ext cx="5788152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3904487"/>
            <a:ext cx="5788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8A6FF"/>
                </a:solidFill>
              </a:rPr>
              <a:t>github.com/GaneshMadarasu/nymbl-demo-RAG-system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</a:rPr>
              <a:t>📄 PyMuPDF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4937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</a:rPr>
              <a:t>🧠 Gemini embeddings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937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</a:rPr>
              <a:t>🗄️ pgvector HNSW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9377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</a:rPr>
              <a:t>⚡ FastAPI + asyncpg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