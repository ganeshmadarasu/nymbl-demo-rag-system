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8" r:id="rId21"/>
    <p:sldId id="269" r:id="rId22"/>
    <p:sldId id="267" r:id="rId17"/>
  </p:sldIdLst>
  <p:sldSz cx="18288000" cy="10287000"/>
  <p:notesSz cx="6858000" cy="9144000"/>
  <p:embeddedFontLst>
    <p:embeddedFont>
      <p:font typeface="Calibri (MS) Bold" charset="1" panose="020F0702030404030204"/>
      <p:regular r:id="rId18"/>
    </p:embeddedFont>
    <p:embeddedFont>
      <p:font typeface="Calibri (MS)" charset="1" panose="020F0502020204030204"/>
      <p:regular r:id="rId19"/>
    </p:embeddedFont>
    <p:embeddedFont>
      <p:font typeface="Calibri (MS) Italics" charset="1" panose="020F05020202040A0204"/>
      <p:regular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font" Target="fonts/font18.fntdata"/><Relationship Id="rId19" Type="http://schemas.openxmlformats.org/officeDocument/2006/relationships/font" Target="fonts/font19.fntdata"/><Relationship Id="rId20" Type="http://schemas.openxmlformats.org/officeDocument/2006/relationships/font" Target="fonts/font20.fntdata"/><Relationship Id="rId21" Type="http://schemas.openxmlformats.org/officeDocument/2006/relationships/slide" Target="slides/slide13.xml"/><Relationship Id="rId22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95039" y="0"/>
            <a:ext cx="8236039" cy="10295039"/>
            <a:chOff x="0" y="0"/>
            <a:chExt cx="10981385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981436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10981436">
                  <a:moveTo>
                    <a:pt x="0" y="0"/>
                  </a:moveTo>
                  <a:lnTo>
                    <a:pt x="10981436" y="0"/>
                  </a:lnTo>
                  <a:lnTo>
                    <a:pt x="10981436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915048" y="1929365"/>
            <a:ext cx="9425826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Ganesh Madarasu X </a:t>
            </a:r>
            <a:r>
              <a:rPr lang="en-US" sz="18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AI Engineer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915048" y="2463298"/>
            <a:ext cx="9425826" cy="1562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808"/>
              </a:lnSpc>
            </a:pPr>
            <a:r>
              <a:rPr lang="en-US" sz="9007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Nymbl - </a:t>
            </a:r>
            <a:r>
              <a:rPr lang="en-US" sz="9007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Doc RAG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15048" y="4655658"/>
            <a:ext cx="9425826" cy="6520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2"/>
              </a:lnSpc>
            </a:pPr>
            <a:r>
              <a:rPr lang="en-US" sz="2702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Single-document Q&amp;A grounded in your PDF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814073" y="5618426"/>
            <a:ext cx="2627138" cy="540677"/>
            <a:chOff x="0" y="0"/>
            <a:chExt cx="3502850" cy="720903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12700" y="12700"/>
              <a:ext cx="3477387" cy="695452"/>
            </a:xfrm>
            <a:custGeom>
              <a:avLst/>
              <a:gdLst/>
              <a:ahLst/>
              <a:cxnLst/>
              <a:rect r="r" b="b" t="t" l="l"/>
              <a:pathLst>
                <a:path h="695452" w="3477387">
                  <a:moveTo>
                    <a:pt x="0" y="0"/>
                  </a:moveTo>
                  <a:lnTo>
                    <a:pt x="3477387" y="0"/>
                  </a:lnTo>
                  <a:lnTo>
                    <a:pt x="3477387" y="695452"/>
                  </a:lnTo>
                  <a:lnTo>
                    <a:pt x="0" y="695452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502787" cy="720852"/>
            </a:xfrm>
            <a:custGeom>
              <a:avLst/>
              <a:gdLst/>
              <a:ahLst/>
              <a:cxnLst/>
              <a:rect r="r" b="b" t="t" l="l"/>
              <a:pathLst>
                <a:path h="720852" w="3502787">
                  <a:moveTo>
                    <a:pt x="12700" y="0"/>
                  </a:moveTo>
                  <a:lnTo>
                    <a:pt x="3490087" y="0"/>
                  </a:lnTo>
                  <a:cubicBezTo>
                    <a:pt x="3497072" y="0"/>
                    <a:pt x="3502787" y="5715"/>
                    <a:pt x="3502787" y="12700"/>
                  </a:cubicBezTo>
                  <a:lnTo>
                    <a:pt x="3502787" y="708152"/>
                  </a:lnTo>
                  <a:cubicBezTo>
                    <a:pt x="3502787" y="715137"/>
                    <a:pt x="3497072" y="720852"/>
                    <a:pt x="3490087" y="720852"/>
                  </a:cubicBezTo>
                  <a:lnTo>
                    <a:pt x="12700" y="720852"/>
                  </a:lnTo>
                  <a:cubicBezTo>
                    <a:pt x="5715" y="720852"/>
                    <a:pt x="0" y="715137"/>
                    <a:pt x="0" y="708152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708152"/>
                  </a:lnTo>
                  <a:lnTo>
                    <a:pt x="12700" y="708152"/>
                  </a:lnTo>
                  <a:lnTo>
                    <a:pt x="12700" y="695452"/>
                  </a:lnTo>
                  <a:lnTo>
                    <a:pt x="3490087" y="695452"/>
                  </a:lnTo>
                  <a:lnTo>
                    <a:pt x="3490087" y="708152"/>
                  </a:lnTo>
                  <a:lnTo>
                    <a:pt x="3477387" y="708152"/>
                  </a:lnTo>
                  <a:lnTo>
                    <a:pt x="3477387" y="12700"/>
                  </a:lnTo>
                  <a:lnTo>
                    <a:pt x="3490087" y="12700"/>
                  </a:lnTo>
                  <a:lnTo>
                    <a:pt x="3490087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024861" y="5663032"/>
            <a:ext cx="2219296" cy="4133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1"/>
              </a:lnSpc>
            </a:pPr>
            <a:r>
              <a:rPr lang="en-US" sz="15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Gemini Embeddings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3559416" y="5618426"/>
            <a:ext cx="2627138" cy="540677"/>
            <a:chOff x="0" y="0"/>
            <a:chExt cx="3502850" cy="720903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12700" y="12700"/>
              <a:ext cx="3477387" cy="695452"/>
            </a:xfrm>
            <a:custGeom>
              <a:avLst/>
              <a:gdLst/>
              <a:ahLst/>
              <a:cxnLst/>
              <a:rect r="r" b="b" t="t" l="l"/>
              <a:pathLst>
                <a:path h="695452" w="3477387">
                  <a:moveTo>
                    <a:pt x="0" y="0"/>
                  </a:moveTo>
                  <a:lnTo>
                    <a:pt x="3477387" y="0"/>
                  </a:lnTo>
                  <a:lnTo>
                    <a:pt x="3477387" y="695452"/>
                  </a:lnTo>
                  <a:lnTo>
                    <a:pt x="0" y="695452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3502787" cy="720852"/>
            </a:xfrm>
            <a:custGeom>
              <a:avLst/>
              <a:gdLst/>
              <a:ahLst/>
              <a:cxnLst/>
              <a:rect r="r" b="b" t="t" l="l"/>
              <a:pathLst>
                <a:path h="720852" w="3502787">
                  <a:moveTo>
                    <a:pt x="12700" y="0"/>
                  </a:moveTo>
                  <a:lnTo>
                    <a:pt x="3490087" y="0"/>
                  </a:lnTo>
                  <a:cubicBezTo>
                    <a:pt x="3497072" y="0"/>
                    <a:pt x="3502787" y="5715"/>
                    <a:pt x="3502787" y="12700"/>
                  </a:cubicBezTo>
                  <a:lnTo>
                    <a:pt x="3502787" y="708152"/>
                  </a:lnTo>
                  <a:cubicBezTo>
                    <a:pt x="3502787" y="715137"/>
                    <a:pt x="3497072" y="720852"/>
                    <a:pt x="3490087" y="720852"/>
                  </a:cubicBezTo>
                  <a:lnTo>
                    <a:pt x="12700" y="720852"/>
                  </a:lnTo>
                  <a:cubicBezTo>
                    <a:pt x="5715" y="720852"/>
                    <a:pt x="0" y="715137"/>
                    <a:pt x="0" y="708152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708152"/>
                  </a:lnTo>
                  <a:lnTo>
                    <a:pt x="12700" y="708152"/>
                  </a:lnTo>
                  <a:lnTo>
                    <a:pt x="12700" y="695452"/>
                  </a:lnTo>
                  <a:lnTo>
                    <a:pt x="3490087" y="695452"/>
                  </a:lnTo>
                  <a:lnTo>
                    <a:pt x="3490087" y="708152"/>
                  </a:lnTo>
                  <a:lnTo>
                    <a:pt x="3477387" y="708152"/>
                  </a:lnTo>
                  <a:lnTo>
                    <a:pt x="3477387" y="12700"/>
                  </a:lnTo>
                  <a:lnTo>
                    <a:pt x="3490087" y="12700"/>
                  </a:lnTo>
                  <a:lnTo>
                    <a:pt x="3490087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059669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3770205" y="5663032"/>
            <a:ext cx="2219296" cy="4133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1"/>
              </a:lnSpc>
            </a:pPr>
            <a:r>
              <a:rPr lang="en-US" sz="1501" b="true">
                <a:solidFill>
                  <a:srgbClr val="05966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pgvector + BM25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4968392" y="6799269"/>
            <a:ext cx="2627138" cy="540677"/>
            <a:chOff x="0" y="0"/>
            <a:chExt cx="3502850" cy="720903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12700" y="12700"/>
              <a:ext cx="3477387" cy="695452"/>
            </a:xfrm>
            <a:custGeom>
              <a:avLst/>
              <a:gdLst/>
              <a:ahLst/>
              <a:cxnLst/>
              <a:rect r="r" b="b" t="t" l="l"/>
              <a:pathLst>
                <a:path h="695452" w="3477387">
                  <a:moveTo>
                    <a:pt x="0" y="0"/>
                  </a:moveTo>
                  <a:lnTo>
                    <a:pt x="3477387" y="0"/>
                  </a:lnTo>
                  <a:lnTo>
                    <a:pt x="3477387" y="695452"/>
                  </a:lnTo>
                  <a:lnTo>
                    <a:pt x="0" y="695452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3502787" cy="720852"/>
            </a:xfrm>
            <a:custGeom>
              <a:avLst/>
              <a:gdLst/>
              <a:ahLst/>
              <a:cxnLst/>
              <a:rect r="r" b="b" t="t" l="l"/>
              <a:pathLst>
                <a:path h="720852" w="3502787">
                  <a:moveTo>
                    <a:pt x="12700" y="0"/>
                  </a:moveTo>
                  <a:lnTo>
                    <a:pt x="3490087" y="0"/>
                  </a:lnTo>
                  <a:cubicBezTo>
                    <a:pt x="3497072" y="0"/>
                    <a:pt x="3502787" y="5715"/>
                    <a:pt x="3502787" y="12700"/>
                  </a:cubicBezTo>
                  <a:lnTo>
                    <a:pt x="3502787" y="708152"/>
                  </a:lnTo>
                  <a:cubicBezTo>
                    <a:pt x="3502787" y="715137"/>
                    <a:pt x="3497072" y="720852"/>
                    <a:pt x="3490087" y="720852"/>
                  </a:cubicBezTo>
                  <a:lnTo>
                    <a:pt x="12700" y="720852"/>
                  </a:lnTo>
                  <a:cubicBezTo>
                    <a:pt x="5715" y="720852"/>
                    <a:pt x="0" y="715137"/>
                    <a:pt x="0" y="708152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708152"/>
                  </a:lnTo>
                  <a:lnTo>
                    <a:pt x="12700" y="708152"/>
                  </a:lnTo>
                  <a:lnTo>
                    <a:pt x="12700" y="695452"/>
                  </a:lnTo>
                  <a:lnTo>
                    <a:pt x="3490087" y="695452"/>
                  </a:lnTo>
                  <a:lnTo>
                    <a:pt x="3490087" y="708152"/>
                  </a:lnTo>
                  <a:lnTo>
                    <a:pt x="3477387" y="708152"/>
                  </a:lnTo>
                  <a:lnTo>
                    <a:pt x="3477387" y="12700"/>
                  </a:lnTo>
                  <a:lnTo>
                    <a:pt x="3490087" y="12700"/>
                  </a:lnTo>
                  <a:lnTo>
                    <a:pt x="3490087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A78BFA"/>
            </a:solidFill>
          </p:spPr>
        </p:sp>
      </p:grpSp>
      <p:sp>
        <p:nvSpPr>
          <p:cNvPr name="TextBox 18" id="18"/>
          <p:cNvSpPr txBox="true"/>
          <p:nvPr/>
        </p:nvSpPr>
        <p:spPr>
          <a:xfrm rot="0">
            <a:off x="5179181" y="6843874"/>
            <a:ext cx="2219296" cy="4133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1"/>
              </a:lnSpc>
            </a:pPr>
            <a:r>
              <a:rPr lang="en-US" sz="1501" b="true">
                <a:solidFill>
                  <a:srgbClr val="5B21B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FastAPI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7713736" y="6799269"/>
            <a:ext cx="2627138" cy="540677"/>
            <a:chOff x="0" y="0"/>
            <a:chExt cx="3502850" cy="720903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12700" y="12700"/>
              <a:ext cx="3477387" cy="695452"/>
            </a:xfrm>
            <a:custGeom>
              <a:avLst/>
              <a:gdLst/>
              <a:ahLst/>
              <a:cxnLst/>
              <a:rect r="r" b="b" t="t" l="l"/>
              <a:pathLst>
                <a:path h="695452" w="3477387">
                  <a:moveTo>
                    <a:pt x="0" y="0"/>
                  </a:moveTo>
                  <a:lnTo>
                    <a:pt x="3477387" y="0"/>
                  </a:lnTo>
                  <a:lnTo>
                    <a:pt x="3477387" y="695452"/>
                  </a:lnTo>
                  <a:lnTo>
                    <a:pt x="0" y="695452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3502787" cy="720852"/>
            </a:xfrm>
            <a:custGeom>
              <a:avLst/>
              <a:gdLst/>
              <a:ahLst/>
              <a:cxnLst/>
              <a:rect r="r" b="b" t="t" l="l"/>
              <a:pathLst>
                <a:path h="720852" w="3502787">
                  <a:moveTo>
                    <a:pt x="12700" y="0"/>
                  </a:moveTo>
                  <a:lnTo>
                    <a:pt x="3490087" y="0"/>
                  </a:lnTo>
                  <a:cubicBezTo>
                    <a:pt x="3497072" y="0"/>
                    <a:pt x="3502787" y="5715"/>
                    <a:pt x="3502787" y="12700"/>
                  </a:cubicBezTo>
                  <a:lnTo>
                    <a:pt x="3502787" y="708152"/>
                  </a:lnTo>
                  <a:cubicBezTo>
                    <a:pt x="3502787" y="715137"/>
                    <a:pt x="3497072" y="720852"/>
                    <a:pt x="3490087" y="720852"/>
                  </a:cubicBezTo>
                  <a:lnTo>
                    <a:pt x="12700" y="720852"/>
                  </a:lnTo>
                  <a:cubicBezTo>
                    <a:pt x="5715" y="720852"/>
                    <a:pt x="0" y="715137"/>
                    <a:pt x="0" y="708152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708152"/>
                  </a:lnTo>
                  <a:lnTo>
                    <a:pt x="12700" y="708152"/>
                  </a:lnTo>
                  <a:lnTo>
                    <a:pt x="12700" y="695452"/>
                  </a:lnTo>
                  <a:lnTo>
                    <a:pt x="3490087" y="695452"/>
                  </a:lnTo>
                  <a:lnTo>
                    <a:pt x="3490087" y="708152"/>
                  </a:lnTo>
                  <a:lnTo>
                    <a:pt x="3477387" y="708152"/>
                  </a:lnTo>
                  <a:lnTo>
                    <a:pt x="3477387" y="12700"/>
                  </a:lnTo>
                  <a:lnTo>
                    <a:pt x="3490087" y="12700"/>
                  </a:lnTo>
                  <a:lnTo>
                    <a:pt x="3490087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F97316"/>
            </a:solidFill>
          </p:spPr>
        </p:sp>
      </p:grpSp>
      <p:sp>
        <p:nvSpPr>
          <p:cNvPr name="TextBox 22" id="22"/>
          <p:cNvSpPr txBox="true"/>
          <p:nvPr/>
        </p:nvSpPr>
        <p:spPr>
          <a:xfrm rot="0">
            <a:off x="7924524" y="6843874"/>
            <a:ext cx="2219296" cy="4133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1"/>
              </a:lnSpc>
            </a:pPr>
            <a:r>
              <a:rPr lang="en-US" sz="1501" b="true">
                <a:solidFill>
                  <a:srgbClr val="F9731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Hybrid RAG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1347352" y="2478434"/>
            <a:ext cx="6268679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📄  Upload any PDF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1347352" y="3192218"/>
            <a:ext cx="6268679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✂️  Auto-scaled chunking + parent context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1347352" y="3906012"/>
            <a:ext cx="6268679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🧠  Gemini semantic embeddings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1347352" y="4619796"/>
            <a:ext cx="6268679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🔍  Hybrid BM25 + vector search (RRF)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1347352" y="5333590"/>
            <a:ext cx="6268679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🔃  Gemini re-ranking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1347352" y="6047375"/>
            <a:ext cx="6268679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💬  Streaming answers with markdown rendering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1347352" y="6761169"/>
            <a:ext cx="6268679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📎  Numbered [N] citations + PDF viewer + similarity %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5048" y="488051"/>
            <a:ext cx="16289188" cy="427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OVERVIEW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15048" y="989495"/>
            <a:ext cx="16289188" cy="809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64"/>
              </a:lnSpc>
            </a:pPr>
            <a:r>
              <a:rPr lang="en-US" sz="4803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What Doc RAG does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23608" y="1853108"/>
            <a:ext cx="16650519" cy="57198"/>
            <a:chOff x="0" y="0"/>
            <a:chExt cx="22200692" cy="7626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2200743" cy="76200"/>
            </a:xfrm>
            <a:custGeom>
              <a:avLst/>
              <a:gdLst/>
              <a:ahLst/>
              <a:cxnLst/>
              <a:rect r="r" b="b" t="t" l="l"/>
              <a:pathLst>
                <a:path h="76200" w="22200743">
                  <a:moveTo>
                    <a:pt x="0" y="0"/>
                  </a:moveTo>
                  <a:lnTo>
                    <a:pt x="22200743" y="0"/>
                  </a:lnTo>
                  <a:lnTo>
                    <a:pt x="22200743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816454" y="2189131"/>
            <a:ext cx="8113062" cy="2210572"/>
            <a:chOff x="0" y="0"/>
            <a:chExt cx="10817416" cy="294742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9525" y="9525"/>
              <a:ext cx="10798302" cy="2928366"/>
            </a:xfrm>
            <a:custGeom>
              <a:avLst/>
              <a:gdLst/>
              <a:ahLst/>
              <a:cxnLst/>
              <a:rect r="r" b="b" t="t" l="l"/>
              <a:pathLst>
                <a:path h="2928366" w="10798302">
                  <a:moveTo>
                    <a:pt x="0" y="0"/>
                  </a:moveTo>
                  <a:lnTo>
                    <a:pt x="10798302" y="0"/>
                  </a:lnTo>
                  <a:lnTo>
                    <a:pt x="10798302" y="2928366"/>
                  </a:lnTo>
                  <a:lnTo>
                    <a:pt x="0" y="2928366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817352" cy="2947416"/>
            </a:xfrm>
            <a:custGeom>
              <a:avLst/>
              <a:gdLst/>
              <a:ahLst/>
              <a:cxnLst/>
              <a:rect r="r" b="b" t="t" l="l"/>
              <a:pathLst>
                <a:path h="2947416" w="10817352">
                  <a:moveTo>
                    <a:pt x="9525" y="0"/>
                  </a:moveTo>
                  <a:lnTo>
                    <a:pt x="10807827" y="0"/>
                  </a:lnTo>
                  <a:cubicBezTo>
                    <a:pt x="10813034" y="0"/>
                    <a:pt x="10817352" y="4318"/>
                    <a:pt x="10817352" y="9525"/>
                  </a:cubicBezTo>
                  <a:lnTo>
                    <a:pt x="10817352" y="2937891"/>
                  </a:lnTo>
                  <a:cubicBezTo>
                    <a:pt x="10817352" y="2943098"/>
                    <a:pt x="10813034" y="2947416"/>
                    <a:pt x="10807827" y="2947416"/>
                  </a:cubicBezTo>
                  <a:lnTo>
                    <a:pt x="9525" y="2947416"/>
                  </a:lnTo>
                  <a:cubicBezTo>
                    <a:pt x="4318" y="2947416"/>
                    <a:pt x="0" y="2943098"/>
                    <a:pt x="0" y="2937891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2937891"/>
                  </a:lnTo>
                  <a:lnTo>
                    <a:pt x="9525" y="2937891"/>
                  </a:lnTo>
                  <a:lnTo>
                    <a:pt x="9525" y="2928366"/>
                  </a:lnTo>
                  <a:lnTo>
                    <a:pt x="10807827" y="2928366"/>
                  </a:lnTo>
                  <a:lnTo>
                    <a:pt x="10807827" y="2937891"/>
                  </a:lnTo>
                  <a:lnTo>
                    <a:pt x="10798302" y="2937891"/>
                  </a:lnTo>
                  <a:lnTo>
                    <a:pt x="10798302" y="9525"/>
                  </a:lnTo>
                  <a:lnTo>
                    <a:pt x="10807827" y="9525"/>
                  </a:lnTo>
                  <a:lnTo>
                    <a:pt x="10807827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1189577" y="2400271"/>
            <a:ext cx="7366816" cy="505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🧩  The problem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189577" y="2958865"/>
            <a:ext cx="7366816" cy="11820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LLMs hallucinate when asked about documents they haven't seen. Generic chat can't cite specific passages or say "I don't know" reliably.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9368199" y="2189131"/>
            <a:ext cx="8113062" cy="2210572"/>
            <a:chOff x="0" y="0"/>
            <a:chExt cx="10817416" cy="2947429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9525" y="9525"/>
              <a:ext cx="10798302" cy="2928366"/>
            </a:xfrm>
            <a:custGeom>
              <a:avLst/>
              <a:gdLst/>
              <a:ahLst/>
              <a:cxnLst/>
              <a:rect r="r" b="b" t="t" l="l"/>
              <a:pathLst>
                <a:path h="2928366" w="10798302">
                  <a:moveTo>
                    <a:pt x="0" y="0"/>
                  </a:moveTo>
                  <a:lnTo>
                    <a:pt x="10798302" y="0"/>
                  </a:lnTo>
                  <a:lnTo>
                    <a:pt x="10798302" y="2928366"/>
                  </a:lnTo>
                  <a:lnTo>
                    <a:pt x="0" y="2928366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0817352" cy="2947416"/>
            </a:xfrm>
            <a:custGeom>
              <a:avLst/>
              <a:gdLst/>
              <a:ahLst/>
              <a:cxnLst/>
              <a:rect r="r" b="b" t="t" l="l"/>
              <a:pathLst>
                <a:path h="2947416" w="10817352">
                  <a:moveTo>
                    <a:pt x="9525" y="0"/>
                  </a:moveTo>
                  <a:lnTo>
                    <a:pt x="10807827" y="0"/>
                  </a:lnTo>
                  <a:cubicBezTo>
                    <a:pt x="10813034" y="0"/>
                    <a:pt x="10817352" y="4318"/>
                    <a:pt x="10817352" y="9525"/>
                  </a:cubicBezTo>
                  <a:lnTo>
                    <a:pt x="10817352" y="2937891"/>
                  </a:lnTo>
                  <a:cubicBezTo>
                    <a:pt x="10817352" y="2943098"/>
                    <a:pt x="10813034" y="2947416"/>
                    <a:pt x="10807827" y="2947416"/>
                  </a:cubicBezTo>
                  <a:lnTo>
                    <a:pt x="9525" y="2947416"/>
                  </a:lnTo>
                  <a:cubicBezTo>
                    <a:pt x="4318" y="2947416"/>
                    <a:pt x="0" y="2943098"/>
                    <a:pt x="0" y="2937891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2937891"/>
                  </a:lnTo>
                  <a:lnTo>
                    <a:pt x="9525" y="2937891"/>
                  </a:lnTo>
                  <a:lnTo>
                    <a:pt x="9525" y="2928366"/>
                  </a:lnTo>
                  <a:lnTo>
                    <a:pt x="10807827" y="2928366"/>
                  </a:lnTo>
                  <a:lnTo>
                    <a:pt x="10807827" y="2937891"/>
                  </a:lnTo>
                  <a:lnTo>
                    <a:pt x="10798302" y="2937891"/>
                  </a:lnTo>
                  <a:lnTo>
                    <a:pt x="10798302" y="9525"/>
                  </a:lnTo>
                  <a:lnTo>
                    <a:pt x="10807827" y="9525"/>
                  </a:lnTo>
                  <a:lnTo>
                    <a:pt x="10807827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9741322" y="2400271"/>
            <a:ext cx="7366816" cy="505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✅  The solution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741322" y="2958865"/>
            <a:ext cx="7366816" cy="11820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Retrieval-Augmented Generation — ground every answer in retrieved chunks from the actual document, with inline citations so claims can be verified.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16454" y="4659935"/>
            <a:ext cx="16664816" cy="2347846"/>
            <a:chOff x="0" y="0"/>
            <a:chExt cx="22219755" cy="3130461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9525" y="9525"/>
              <a:ext cx="22200743" cy="3111373"/>
            </a:xfrm>
            <a:custGeom>
              <a:avLst/>
              <a:gdLst/>
              <a:ahLst/>
              <a:cxnLst/>
              <a:rect r="r" b="b" t="t" l="l"/>
              <a:pathLst>
                <a:path h="3111373" w="22200743">
                  <a:moveTo>
                    <a:pt x="0" y="0"/>
                  </a:moveTo>
                  <a:lnTo>
                    <a:pt x="22200743" y="0"/>
                  </a:lnTo>
                  <a:lnTo>
                    <a:pt x="22200743" y="3111373"/>
                  </a:lnTo>
                  <a:lnTo>
                    <a:pt x="0" y="3111373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2219793" cy="3130423"/>
            </a:xfrm>
            <a:custGeom>
              <a:avLst/>
              <a:gdLst/>
              <a:ahLst/>
              <a:cxnLst/>
              <a:rect r="r" b="b" t="t" l="l"/>
              <a:pathLst>
                <a:path h="3130423" w="22219793">
                  <a:moveTo>
                    <a:pt x="9525" y="0"/>
                  </a:moveTo>
                  <a:lnTo>
                    <a:pt x="22210268" y="0"/>
                  </a:lnTo>
                  <a:cubicBezTo>
                    <a:pt x="22215475" y="0"/>
                    <a:pt x="22219793" y="4318"/>
                    <a:pt x="22219793" y="9525"/>
                  </a:cubicBezTo>
                  <a:lnTo>
                    <a:pt x="22219793" y="3120898"/>
                  </a:lnTo>
                  <a:cubicBezTo>
                    <a:pt x="22219793" y="3126105"/>
                    <a:pt x="22215475" y="3130423"/>
                    <a:pt x="22210268" y="3130423"/>
                  </a:cubicBezTo>
                  <a:lnTo>
                    <a:pt x="9525" y="3130423"/>
                  </a:lnTo>
                  <a:cubicBezTo>
                    <a:pt x="4318" y="3130423"/>
                    <a:pt x="0" y="3126105"/>
                    <a:pt x="0" y="3120898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3120898"/>
                  </a:lnTo>
                  <a:lnTo>
                    <a:pt x="9525" y="3120898"/>
                  </a:lnTo>
                  <a:lnTo>
                    <a:pt x="9525" y="3111373"/>
                  </a:lnTo>
                  <a:lnTo>
                    <a:pt x="22210268" y="3111373"/>
                  </a:lnTo>
                  <a:lnTo>
                    <a:pt x="22210268" y="3120898"/>
                  </a:lnTo>
                  <a:lnTo>
                    <a:pt x="22200743" y="3120898"/>
                  </a:lnTo>
                  <a:lnTo>
                    <a:pt x="22200743" y="9525"/>
                  </a:lnTo>
                  <a:lnTo>
                    <a:pt x="22210268" y="9525"/>
                  </a:lnTo>
                  <a:lnTo>
                    <a:pt x="22210268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1090984" y="4934474"/>
            <a:ext cx="2896914" cy="1798777"/>
            <a:chOff x="0" y="0"/>
            <a:chExt cx="3862553" cy="239837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9525" y="9525"/>
              <a:ext cx="3843528" cy="2379345"/>
            </a:xfrm>
            <a:custGeom>
              <a:avLst/>
              <a:gdLst/>
              <a:ahLst/>
              <a:cxnLst/>
              <a:rect r="r" b="b" t="t" l="l"/>
              <a:pathLst>
                <a:path h="2379345" w="3843528">
                  <a:moveTo>
                    <a:pt x="0" y="0"/>
                  </a:moveTo>
                  <a:lnTo>
                    <a:pt x="3843528" y="0"/>
                  </a:lnTo>
                  <a:lnTo>
                    <a:pt x="3843528" y="2379345"/>
                  </a:lnTo>
                  <a:lnTo>
                    <a:pt x="0" y="237934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3862578" cy="2398395"/>
            </a:xfrm>
            <a:custGeom>
              <a:avLst/>
              <a:gdLst/>
              <a:ahLst/>
              <a:cxnLst/>
              <a:rect r="r" b="b" t="t" l="l"/>
              <a:pathLst>
                <a:path h="2398395" w="3862578">
                  <a:moveTo>
                    <a:pt x="9525" y="0"/>
                  </a:moveTo>
                  <a:lnTo>
                    <a:pt x="3853053" y="0"/>
                  </a:lnTo>
                  <a:cubicBezTo>
                    <a:pt x="3858260" y="0"/>
                    <a:pt x="3862578" y="4318"/>
                    <a:pt x="3862578" y="9525"/>
                  </a:cubicBezTo>
                  <a:lnTo>
                    <a:pt x="3862578" y="2388870"/>
                  </a:lnTo>
                  <a:cubicBezTo>
                    <a:pt x="3862578" y="2394077"/>
                    <a:pt x="3858260" y="2398395"/>
                    <a:pt x="3853053" y="2398395"/>
                  </a:cubicBezTo>
                  <a:lnTo>
                    <a:pt x="9525" y="2398395"/>
                  </a:lnTo>
                  <a:cubicBezTo>
                    <a:pt x="4318" y="2398395"/>
                    <a:pt x="0" y="2394077"/>
                    <a:pt x="0" y="2388870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2388870"/>
                  </a:lnTo>
                  <a:lnTo>
                    <a:pt x="9525" y="2388870"/>
                  </a:lnTo>
                  <a:lnTo>
                    <a:pt x="9525" y="2379345"/>
                  </a:lnTo>
                  <a:lnTo>
                    <a:pt x="3853053" y="2379345"/>
                  </a:lnTo>
                  <a:lnTo>
                    <a:pt x="3853053" y="2388870"/>
                  </a:lnTo>
                  <a:lnTo>
                    <a:pt x="3843528" y="2388870"/>
                  </a:lnTo>
                  <a:lnTo>
                    <a:pt x="3843528" y="9525"/>
                  </a:lnTo>
                  <a:lnTo>
                    <a:pt x="3853053" y="9525"/>
                  </a:lnTo>
                  <a:lnTo>
                    <a:pt x="3853053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sp>
        <p:nvSpPr>
          <p:cNvPr name="TextBox 22" id="22"/>
          <p:cNvSpPr txBox="true"/>
          <p:nvPr/>
        </p:nvSpPr>
        <p:spPr>
          <a:xfrm rot="0">
            <a:off x="1189577" y="4998825"/>
            <a:ext cx="2699728" cy="5147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42"/>
              </a:lnSpc>
            </a:pPr>
            <a:r>
              <a:rPr lang="en-US" sz="27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📄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189577" y="5645096"/>
            <a:ext cx="2699728" cy="4175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PDF Upload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189577" y="6125537"/>
            <a:ext cx="2699728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any size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4110866" y="4934474"/>
            <a:ext cx="2896914" cy="1798777"/>
            <a:chOff x="0" y="0"/>
            <a:chExt cx="3862553" cy="239837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9525" y="9525"/>
              <a:ext cx="3843528" cy="2379345"/>
            </a:xfrm>
            <a:custGeom>
              <a:avLst/>
              <a:gdLst/>
              <a:ahLst/>
              <a:cxnLst/>
              <a:rect r="r" b="b" t="t" l="l"/>
              <a:pathLst>
                <a:path h="2379345" w="3843528">
                  <a:moveTo>
                    <a:pt x="0" y="0"/>
                  </a:moveTo>
                  <a:lnTo>
                    <a:pt x="3843528" y="0"/>
                  </a:lnTo>
                  <a:lnTo>
                    <a:pt x="3843528" y="2379345"/>
                  </a:lnTo>
                  <a:lnTo>
                    <a:pt x="0" y="237934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3862578" cy="2398395"/>
            </a:xfrm>
            <a:custGeom>
              <a:avLst/>
              <a:gdLst/>
              <a:ahLst/>
              <a:cxnLst/>
              <a:rect r="r" b="b" t="t" l="l"/>
              <a:pathLst>
                <a:path h="2398395" w="3862578">
                  <a:moveTo>
                    <a:pt x="9525" y="0"/>
                  </a:moveTo>
                  <a:lnTo>
                    <a:pt x="3853053" y="0"/>
                  </a:lnTo>
                  <a:cubicBezTo>
                    <a:pt x="3858260" y="0"/>
                    <a:pt x="3862578" y="4318"/>
                    <a:pt x="3862578" y="9525"/>
                  </a:cubicBezTo>
                  <a:lnTo>
                    <a:pt x="3862578" y="2388870"/>
                  </a:lnTo>
                  <a:cubicBezTo>
                    <a:pt x="3862578" y="2394077"/>
                    <a:pt x="3858260" y="2398395"/>
                    <a:pt x="3853053" y="2398395"/>
                  </a:cubicBezTo>
                  <a:lnTo>
                    <a:pt x="9525" y="2398395"/>
                  </a:lnTo>
                  <a:cubicBezTo>
                    <a:pt x="4318" y="2398395"/>
                    <a:pt x="0" y="2394077"/>
                    <a:pt x="0" y="2388870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2388870"/>
                  </a:lnTo>
                  <a:lnTo>
                    <a:pt x="9525" y="2388870"/>
                  </a:lnTo>
                  <a:lnTo>
                    <a:pt x="9525" y="2379345"/>
                  </a:lnTo>
                  <a:lnTo>
                    <a:pt x="3853053" y="2379345"/>
                  </a:lnTo>
                  <a:lnTo>
                    <a:pt x="3853053" y="2388870"/>
                  </a:lnTo>
                  <a:lnTo>
                    <a:pt x="3843528" y="2388870"/>
                  </a:lnTo>
                  <a:lnTo>
                    <a:pt x="3843528" y="9525"/>
                  </a:lnTo>
                  <a:lnTo>
                    <a:pt x="3853053" y="9525"/>
                  </a:lnTo>
                  <a:lnTo>
                    <a:pt x="3853053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A78BFA"/>
            </a:solidFill>
          </p:spPr>
        </p:sp>
      </p:grpSp>
      <p:sp>
        <p:nvSpPr>
          <p:cNvPr name="TextBox 28" id="28"/>
          <p:cNvSpPr txBox="true"/>
          <p:nvPr/>
        </p:nvSpPr>
        <p:spPr>
          <a:xfrm rot="0">
            <a:off x="4209459" y="4998825"/>
            <a:ext cx="2699728" cy="5147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42"/>
              </a:lnSpc>
            </a:pPr>
            <a:r>
              <a:rPr lang="en-US" sz="27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✂️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4209459" y="5645096"/>
            <a:ext cx="2699728" cy="4175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Extract &amp; Chunk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4209459" y="6125537"/>
            <a:ext cx="2699728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PyMuPDF + tiktoken</a:t>
            </a:r>
          </a:p>
        </p:txBody>
      </p:sp>
      <p:grpSp>
        <p:nvGrpSpPr>
          <p:cNvPr name="Group 31" id="31"/>
          <p:cNvGrpSpPr/>
          <p:nvPr/>
        </p:nvGrpSpPr>
        <p:grpSpPr>
          <a:xfrm rot="0">
            <a:off x="7130748" y="4934474"/>
            <a:ext cx="2896914" cy="1798777"/>
            <a:chOff x="0" y="0"/>
            <a:chExt cx="3862553" cy="239837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9525" y="9525"/>
              <a:ext cx="3843528" cy="2379345"/>
            </a:xfrm>
            <a:custGeom>
              <a:avLst/>
              <a:gdLst/>
              <a:ahLst/>
              <a:cxnLst/>
              <a:rect r="r" b="b" t="t" l="l"/>
              <a:pathLst>
                <a:path h="2379345" w="3843528">
                  <a:moveTo>
                    <a:pt x="0" y="0"/>
                  </a:moveTo>
                  <a:lnTo>
                    <a:pt x="3843528" y="0"/>
                  </a:lnTo>
                  <a:lnTo>
                    <a:pt x="3843528" y="2379345"/>
                  </a:lnTo>
                  <a:lnTo>
                    <a:pt x="0" y="237934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3862578" cy="2398395"/>
            </a:xfrm>
            <a:custGeom>
              <a:avLst/>
              <a:gdLst/>
              <a:ahLst/>
              <a:cxnLst/>
              <a:rect r="r" b="b" t="t" l="l"/>
              <a:pathLst>
                <a:path h="2398395" w="3862578">
                  <a:moveTo>
                    <a:pt x="9525" y="0"/>
                  </a:moveTo>
                  <a:lnTo>
                    <a:pt x="3853053" y="0"/>
                  </a:lnTo>
                  <a:cubicBezTo>
                    <a:pt x="3858260" y="0"/>
                    <a:pt x="3862578" y="4318"/>
                    <a:pt x="3862578" y="9525"/>
                  </a:cubicBezTo>
                  <a:lnTo>
                    <a:pt x="3862578" y="2388870"/>
                  </a:lnTo>
                  <a:cubicBezTo>
                    <a:pt x="3862578" y="2394077"/>
                    <a:pt x="3858260" y="2398395"/>
                    <a:pt x="3853053" y="2398395"/>
                  </a:cubicBezTo>
                  <a:lnTo>
                    <a:pt x="9525" y="2398395"/>
                  </a:lnTo>
                  <a:cubicBezTo>
                    <a:pt x="4318" y="2398395"/>
                    <a:pt x="0" y="2394077"/>
                    <a:pt x="0" y="2388870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2388870"/>
                  </a:lnTo>
                  <a:lnTo>
                    <a:pt x="9525" y="2388870"/>
                  </a:lnTo>
                  <a:lnTo>
                    <a:pt x="9525" y="2379345"/>
                  </a:lnTo>
                  <a:lnTo>
                    <a:pt x="3853053" y="2379345"/>
                  </a:lnTo>
                  <a:lnTo>
                    <a:pt x="3853053" y="2388870"/>
                  </a:lnTo>
                  <a:lnTo>
                    <a:pt x="3843528" y="2388870"/>
                  </a:lnTo>
                  <a:lnTo>
                    <a:pt x="3843528" y="9525"/>
                  </a:lnTo>
                  <a:lnTo>
                    <a:pt x="3853053" y="9525"/>
                  </a:lnTo>
                  <a:lnTo>
                    <a:pt x="3853053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4285F4"/>
            </a:solidFill>
          </p:spPr>
        </p:sp>
      </p:grpSp>
      <p:sp>
        <p:nvSpPr>
          <p:cNvPr name="TextBox 34" id="34"/>
          <p:cNvSpPr txBox="true"/>
          <p:nvPr/>
        </p:nvSpPr>
        <p:spPr>
          <a:xfrm rot="0">
            <a:off x="7229332" y="4998825"/>
            <a:ext cx="2699728" cy="5147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42"/>
              </a:lnSpc>
            </a:pPr>
            <a:r>
              <a:rPr lang="en-US" sz="27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🧠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7229332" y="5645096"/>
            <a:ext cx="2699728" cy="4175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Embed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7229332" y="6125537"/>
            <a:ext cx="2699728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gemini-embedding-2</a:t>
            </a:r>
          </a:p>
        </p:txBody>
      </p:sp>
      <p:grpSp>
        <p:nvGrpSpPr>
          <p:cNvPr name="Group 37" id="37"/>
          <p:cNvGrpSpPr/>
          <p:nvPr/>
        </p:nvGrpSpPr>
        <p:grpSpPr>
          <a:xfrm rot="0">
            <a:off x="10150631" y="4934474"/>
            <a:ext cx="2896914" cy="1798777"/>
            <a:chOff x="0" y="0"/>
            <a:chExt cx="3862553" cy="239837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9525" y="9525"/>
              <a:ext cx="3843528" cy="2379345"/>
            </a:xfrm>
            <a:custGeom>
              <a:avLst/>
              <a:gdLst/>
              <a:ahLst/>
              <a:cxnLst/>
              <a:rect r="r" b="b" t="t" l="l"/>
              <a:pathLst>
                <a:path h="2379345" w="3843528">
                  <a:moveTo>
                    <a:pt x="0" y="0"/>
                  </a:moveTo>
                  <a:lnTo>
                    <a:pt x="3843528" y="0"/>
                  </a:lnTo>
                  <a:lnTo>
                    <a:pt x="3843528" y="2379345"/>
                  </a:lnTo>
                  <a:lnTo>
                    <a:pt x="0" y="237934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3862578" cy="2398395"/>
            </a:xfrm>
            <a:custGeom>
              <a:avLst/>
              <a:gdLst/>
              <a:ahLst/>
              <a:cxnLst/>
              <a:rect r="r" b="b" t="t" l="l"/>
              <a:pathLst>
                <a:path h="2398395" w="3862578">
                  <a:moveTo>
                    <a:pt x="9525" y="0"/>
                  </a:moveTo>
                  <a:lnTo>
                    <a:pt x="3853053" y="0"/>
                  </a:lnTo>
                  <a:cubicBezTo>
                    <a:pt x="3858260" y="0"/>
                    <a:pt x="3862578" y="4318"/>
                    <a:pt x="3862578" y="9525"/>
                  </a:cubicBezTo>
                  <a:lnTo>
                    <a:pt x="3862578" y="2388870"/>
                  </a:lnTo>
                  <a:cubicBezTo>
                    <a:pt x="3862578" y="2394077"/>
                    <a:pt x="3858260" y="2398395"/>
                    <a:pt x="3853053" y="2398395"/>
                  </a:cubicBezTo>
                  <a:lnTo>
                    <a:pt x="9525" y="2398395"/>
                  </a:lnTo>
                  <a:cubicBezTo>
                    <a:pt x="4318" y="2398395"/>
                    <a:pt x="0" y="2394077"/>
                    <a:pt x="0" y="2388870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2388870"/>
                  </a:lnTo>
                  <a:lnTo>
                    <a:pt x="9525" y="2388870"/>
                  </a:lnTo>
                  <a:lnTo>
                    <a:pt x="9525" y="2379345"/>
                  </a:lnTo>
                  <a:lnTo>
                    <a:pt x="3853053" y="2379345"/>
                  </a:lnTo>
                  <a:lnTo>
                    <a:pt x="3853053" y="2388870"/>
                  </a:lnTo>
                  <a:lnTo>
                    <a:pt x="3843528" y="2388870"/>
                  </a:lnTo>
                  <a:lnTo>
                    <a:pt x="3843528" y="9525"/>
                  </a:lnTo>
                  <a:lnTo>
                    <a:pt x="3853053" y="9525"/>
                  </a:lnTo>
                  <a:lnTo>
                    <a:pt x="3853053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336791"/>
            </a:solidFill>
          </p:spPr>
        </p:sp>
      </p:grpSp>
      <p:sp>
        <p:nvSpPr>
          <p:cNvPr name="TextBox 40" id="40"/>
          <p:cNvSpPr txBox="true"/>
          <p:nvPr/>
        </p:nvSpPr>
        <p:spPr>
          <a:xfrm rot="0">
            <a:off x="10249214" y="4998825"/>
            <a:ext cx="2699728" cy="5147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42"/>
              </a:lnSpc>
            </a:pPr>
            <a:r>
              <a:rPr lang="en-US" sz="27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🗄️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0249214" y="5645096"/>
            <a:ext cx="2699728" cy="4175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Store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0249214" y="6125537"/>
            <a:ext cx="2699728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Postgres + pgvector</a:t>
            </a:r>
          </a:p>
        </p:txBody>
      </p:sp>
      <p:grpSp>
        <p:nvGrpSpPr>
          <p:cNvPr name="Group 43" id="43"/>
          <p:cNvGrpSpPr/>
          <p:nvPr/>
        </p:nvGrpSpPr>
        <p:grpSpPr>
          <a:xfrm rot="0">
            <a:off x="13170503" y="4934474"/>
            <a:ext cx="2896914" cy="1798777"/>
            <a:chOff x="0" y="0"/>
            <a:chExt cx="3862553" cy="239837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9525" y="9525"/>
              <a:ext cx="3843528" cy="2379345"/>
            </a:xfrm>
            <a:custGeom>
              <a:avLst/>
              <a:gdLst/>
              <a:ahLst/>
              <a:cxnLst/>
              <a:rect r="r" b="b" t="t" l="l"/>
              <a:pathLst>
                <a:path h="2379345" w="3843528">
                  <a:moveTo>
                    <a:pt x="0" y="0"/>
                  </a:moveTo>
                  <a:lnTo>
                    <a:pt x="3843528" y="0"/>
                  </a:lnTo>
                  <a:lnTo>
                    <a:pt x="3843528" y="2379345"/>
                  </a:lnTo>
                  <a:lnTo>
                    <a:pt x="0" y="237934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3862578" cy="2398395"/>
            </a:xfrm>
            <a:custGeom>
              <a:avLst/>
              <a:gdLst/>
              <a:ahLst/>
              <a:cxnLst/>
              <a:rect r="r" b="b" t="t" l="l"/>
              <a:pathLst>
                <a:path h="2398395" w="3862578">
                  <a:moveTo>
                    <a:pt x="9525" y="0"/>
                  </a:moveTo>
                  <a:lnTo>
                    <a:pt x="3853053" y="0"/>
                  </a:lnTo>
                  <a:cubicBezTo>
                    <a:pt x="3858260" y="0"/>
                    <a:pt x="3862578" y="4318"/>
                    <a:pt x="3862578" y="9525"/>
                  </a:cubicBezTo>
                  <a:lnTo>
                    <a:pt x="3862578" y="2388870"/>
                  </a:lnTo>
                  <a:cubicBezTo>
                    <a:pt x="3862578" y="2394077"/>
                    <a:pt x="3858260" y="2398395"/>
                    <a:pt x="3853053" y="2398395"/>
                  </a:cubicBezTo>
                  <a:lnTo>
                    <a:pt x="9525" y="2398395"/>
                  </a:lnTo>
                  <a:cubicBezTo>
                    <a:pt x="4318" y="2398395"/>
                    <a:pt x="0" y="2394077"/>
                    <a:pt x="0" y="2388870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2388870"/>
                  </a:lnTo>
                  <a:lnTo>
                    <a:pt x="9525" y="2388870"/>
                  </a:lnTo>
                  <a:lnTo>
                    <a:pt x="9525" y="2379345"/>
                  </a:lnTo>
                  <a:lnTo>
                    <a:pt x="3853053" y="2379345"/>
                  </a:lnTo>
                  <a:lnTo>
                    <a:pt x="3853053" y="2388870"/>
                  </a:lnTo>
                  <a:lnTo>
                    <a:pt x="3843528" y="2388870"/>
                  </a:lnTo>
                  <a:lnTo>
                    <a:pt x="3843528" y="9525"/>
                  </a:lnTo>
                  <a:lnTo>
                    <a:pt x="3853053" y="9525"/>
                  </a:lnTo>
                  <a:lnTo>
                    <a:pt x="3853053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059669"/>
            </a:solidFill>
          </p:spPr>
        </p:sp>
      </p:grpSp>
      <p:sp>
        <p:nvSpPr>
          <p:cNvPr name="TextBox 46" id="46"/>
          <p:cNvSpPr txBox="true"/>
          <p:nvPr/>
        </p:nvSpPr>
        <p:spPr>
          <a:xfrm rot="0">
            <a:off x="13269097" y="4998825"/>
            <a:ext cx="2699728" cy="5147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42"/>
              </a:lnSpc>
            </a:pPr>
            <a:r>
              <a:rPr lang="en-US" sz="27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💬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13269097" y="5645096"/>
            <a:ext cx="2699728" cy="4175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Answer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13269097" y="6125537"/>
            <a:ext cx="2699728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Gemini 2.5 Flash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5048" y="488051"/>
            <a:ext cx="16289188" cy="427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SYSTEM DESIGN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15048" y="989495"/>
            <a:ext cx="16289188" cy="13669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64"/>
              </a:lnSpc>
            </a:pPr>
            <a:r>
              <a:rPr lang="en-US" sz="4803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Architecture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23608" y="1853108"/>
            <a:ext cx="16650519" cy="57198"/>
            <a:chOff x="0" y="0"/>
            <a:chExt cx="22200692" cy="7626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2200743" cy="76200"/>
            </a:xfrm>
            <a:custGeom>
              <a:avLst/>
              <a:gdLst/>
              <a:ahLst/>
              <a:cxnLst/>
              <a:rect r="r" b="b" t="t" l="l"/>
              <a:pathLst>
                <a:path h="76200" w="22200743">
                  <a:moveTo>
                    <a:pt x="0" y="0"/>
                  </a:moveTo>
                  <a:lnTo>
                    <a:pt x="22200743" y="0"/>
                  </a:lnTo>
                  <a:lnTo>
                    <a:pt x="22200743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404651" y="3836337"/>
            <a:ext cx="2210572" cy="2073307"/>
            <a:chOff x="0" y="0"/>
            <a:chExt cx="2947429" cy="276440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9525" y="9525"/>
              <a:ext cx="2928366" cy="2745359"/>
            </a:xfrm>
            <a:custGeom>
              <a:avLst/>
              <a:gdLst/>
              <a:ahLst/>
              <a:cxnLst/>
              <a:rect r="r" b="b" t="t" l="l"/>
              <a:pathLst>
                <a:path h="2745359" w="2928366">
                  <a:moveTo>
                    <a:pt x="0" y="0"/>
                  </a:moveTo>
                  <a:lnTo>
                    <a:pt x="2928366" y="0"/>
                  </a:lnTo>
                  <a:lnTo>
                    <a:pt x="2928366" y="2745359"/>
                  </a:lnTo>
                  <a:lnTo>
                    <a:pt x="0" y="2745359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947416" cy="2764409"/>
            </a:xfrm>
            <a:custGeom>
              <a:avLst/>
              <a:gdLst/>
              <a:ahLst/>
              <a:cxnLst/>
              <a:rect r="r" b="b" t="t" l="l"/>
              <a:pathLst>
                <a:path h="2764409" w="2947416">
                  <a:moveTo>
                    <a:pt x="9525" y="0"/>
                  </a:moveTo>
                  <a:lnTo>
                    <a:pt x="2937891" y="0"/>
                  </a:lnTo>
                  <a:cubicBezTo>
                    <a:pt x="2943098" y="0"/>
                    <a:pt x="2947416" y="4318"/>
                    <a:pt x="2947416" y="9525"/>
                  </a:cubicBezTo>
                  <a:lnTo>
                    <a:pt x="2947416" y="2754884"/>
                  </a:lnTo>
                  <a:cubicBezTo>
                    <a:pt x="2947416" y="2760091"/>
                    <a:pt x="2943098" y="2764409"/>
                    <a:pt x="2937891" y="2764409"/>
                  </a:cubicBezTo>
                  <a:lnTo>
                    <a:pt x="9525" y="2764409"/>
                  </a:lnTo>
                  <a:cubicBezTo>
                    <a:pt x="4318" y="2764409"/>
                    <a:pt x="0" y="2760091"/>
                    <a:pt x="0" y="2754884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2754884"/>
                  </a:lnTo>
                  <a:lnTo>
                    <a:pt x="9525" y="2754884"/>
                  </a:lnTo>
                  <a:lnTo>
                    <a:pt x="9525" y="2745359"/>
                  </a:lnTo>
                  <a:lnTo>
                    <a:pt x="2937891" y="2745359"/>
                  </a:lnTo>
                  <a:lnTo>
                    <a:pt x="2937891" y="2754884"/>
                  </a:lnTo>
                  <a:lnTo>
                    <a:pt x="2928366" y="2754884"/>
                  </a:lnTo>
                  <a:lnTo>
                    <a:pt x="2928366" y="9525"/>
                  </a:lnTo>
                  <a:lnTo>
                    <a:pt x="2937891" y="9525"/>
                  </a:lnTo>
                  <a:lnTo>
                    <a:pt x="2937891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503244" y="3891163"/>
            <a:ext cx="2013394" cy="6615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2"/>
              </a:lnSpc>
            </a:pPr>
            <a:r>
              <a:rPr lang="en-US" sz="30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🌐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503244" y="4478331"/>
            <a:ext cx="2013394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Browser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503244" y="4890135"/>
            <a:ext cx="2013394" cy="7607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index.html</a:t>
            </a:r>
          </a:p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SSE streaming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699518" y="4743336"/>
            <a:ext cx="366189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82"/>
              </a:lnSpc>
            </a:pPr>
            <a:r>
              <a:rPr lang="en-US" sz="24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→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3149994" y="2463660"/>
            <a:ext cx="2622375" cy="4818650"/>
            <a:chOff x="0" y="0"/>
            <a:chExt cx="3496500" cy="642486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9525" y="9525"/>
              <a:ext cx="3477387" cy="6405753"/>
            </a:xfrm>
            <a:custGeom>
              <a:avLst/>
              <a:gdLst/>
              <a:ahLst/>
              <a:cxnLst/>
              <a:rect r="r" b="b" t="t" l="l"/>
              <a:pathLst>
                <a:path h="6405753" w="3477387">
                  <a:moveTo>
                    <a:pt x="0" y="0"/>
                  </a:moveTo>
                  <a:lnTo>
                    <a:pt x="3477387" y="0"/>
                  </a:lnTo>
                  <a:lnTo>
                    <a:pt x="3477387" y="6405753"/>
                  </a:lnTo>
                  <a:lnTo>
                    <a:pt x="0" y="6405753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3496437" cy="6424803"/>
            </a:xfrm>
            <a:custGeom>
              <a:avLst/>
              <a:gdLst/>
              <a:ahLst/>
              <a:cxnLst/>
              <a:rect r="r" b="b" t="t" l="l"/>
              <a:pathLst>
                <a:path h="6424803" w="3496437">
                  <a:moveTo>
                    <a:pt x="9525" y="0"/>
                  </a:moveTo>
                  <a:lnTo>
                    <a:pt x="3486912" y="0"/>
                  </a:lnTo>
                  <a:cubicBezTo>
                    <a:pt x="3492119" y="0"/>
                    <a:pt x="3496437" y="4318"/>
                    <a:pt x="3496437" y="9525"/>
                  </a:cubicBezTo>
                  <a:lnTo>
                    <a:pt x="3496437" y="6415278"/>
                  </a:lnTo>
                  <a:cubicBezTo>
                    <a:pt x="3496437" y="6420485"/>
                    <a:pt x="3492119" y="6424803"/>
                    <a:pt x="3486912" y="6424803"/>
                  </a:cubicBezTo>
                  <a:lnTo>
                    <a:pt x="9525" y="6424803"/>
                  </a:lnTo>
                  <a:cubicBezTo>
                    <a:pt x="4318" y="6424803"/>
                    <a:pt x="0" y="6420485"/>
                    <a:pt x="0" y="6415278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6415278"/>
                  </a:lnTo>
                  <a:lnTo>
                    <a:pt x="9525" y="6415278"/>
                  </a:lnTo>
                  <a:lnTo>
                    <a:pt x="9525" y="6405753"/>
                  </a:lnTo>
                  <a:lnTo>
                    <a:pt x="3486912" y="6405753"/>
                  </a:lnTo>
                  <a:lnTo>
                    <a:pt x="3486912" y="6415278"/>
                  </a:lnTo>
                  <a:lnTo>
                    <a:pt x="3477387" y="6415278"/>
                  </a:lnTo>
                  <a:lnTo>
                    <a:pt x="3477387" y="9525"/>
                  </a:lnTo>
                  <a:lnTo>
                    <a:pt x="3486912" y="9525"/>
                  </a:lnTo>
                  <a:lnTo>
                    <a:pt x="3486912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3248587" y="2615698"/>
            <a:ext cx="2425198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1"/>
              </a:lnSpc>
            </a:pPr>
            <a:r>
              <a:rPr lang="en-US" sz="18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FastAPI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3317100" y="3221012"/>
            <a:ext cx="2288172" cy="531152"/>
            <a:chOff x="0" y="0"/>
            <a:chExt cx="3050896" cy="708203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6350" y="6350"/>
              <a:ext cx="3038221" cy="695452"/>
            </a:xfrm>
            <a:custGeom>
              <a:avLst/>
              <a:gdLst/>
              <a:ahLst/>
              <a:cxnLst/>
              <a:rect r="r" b="b" t="t" l="l"/>
              <a:pathLst>
                <a:path h="695452" w="3038221">
                  <a:moveTo>
                    <a:pt x="0" y="0"/>
                  </a:moveTo>
                  <a:lnTo>
                    <a:pt x="3038221" y="0"/>
                  </a:lnTo>
                  <a:lnTo>
                    <a:pt x="3038221" y="695452"/>
                  </a:lnTo>
                  <a:lnTo>
                    <a:pt x="0" y="695452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3050921" cy="708152"/>
            </a:xfrm>
            <a:custGeom>
              <a:avLst/>
              <a:gdLst/>
              <a:ahLst/>
              <a:cxnLst/>
              <a:rect r="r" b="b" t="t" l="l"/>
              <a:pathLst>
                <a:path h="708152" w="3050921">
                  <a:moveTo>
                    <a:pt x="6350" y="0"/>
                  </a:moveTo>
                  <a:lnTo>
                    <a:pt x="3044571" y="0"/>
                  </a:lnTo>
                  <a:cubicBezTo>
                    <a:pt x="3048127" y="0"/>
                    <a:pt x="3050921" y="2794"/>
                    <a:pt x="3050921" y="6350"/>
                  </a:cubicBezTo>
                  <a:lnTo>
                    <a:pt x="3050921" y="701802"/>
                  </a:lnTo>
                  <a:cubicBezTo>
                    <a:pt x="3050921" y="705358"/>
                    <a:pt x="3048127" y="708152"/>
                    <a:pt x="3044571" y="708152"/>
                  </a:cubicBezTo>
                  <a:lnTo>
                    <a:pt x="6350" y="708152"/>
                  </a:lnTo>
                  <a:cubicBezTo>
                    <a:pt x="2794" y="708152"/>
                    <a:pt x="0" y="705358"/>
                    <a:pt x="0" y="701802"/>
                  </a:cubicBezTo>
                  <a:lnTo>
                    <a:pt x="0" y="6350"/>
                  </a:lnTo>
                  <a:cubicBezTo>
                    <a:pt x="0" y="2794"/>
                    <a:pt x="2794" y="0"/>
                    <a:pt x="6350" y="0"/>
                  </a:cubicBezTo>
                  <a:moveTo>
                    <a:pt x="6350" y="12700"/>
                  </a:moveTo>
                  <a:lnTo>
                    <a:pt x="6350" y="6350"/>
                  </a:lnTo>
                  <a:lnTo>
                    <a:pt x="12700" y="6350"/>
                  </a:lnTo>
                  <a:lnTo>
                    <a:pt x="12700" y="701802"/>
                  </a:lnTo>
                  <a:lnTo>
                    <a:pt x="6350" y="701802"/>
                  </a:lnTo>
                  <a:lnTo>
                    <a:pt x="6350" y="695452"/>
                  </a:lnTo>
                  <a:lnTo>
                    <a:pt x="3044571" y="695452"/>
                  </a:lnTo>
                  <a:lnTo>
                    <a:pt x="3044571" y="701802"/>
                  </a:lnTo>
                  <a:lnTo>
                    <a:pt x="3038221" y="701802"/>
                  </a:lnTo>
                  <a:lnTo>
                    <a:pt x="3038221" y="6350"/>
                  </a:lnTo>
                  <a:lnTo>
                    <a:pt x="3044571" y="6350"/>
                  </a:lnTo>
                  <a:lnTo>
                    <a:pt x="3044571" y="12700"/>
                  </a:lnTo>
                  <a:lnTo>
                    <a:pt x="6350" y="127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3413303" y="3311557"/>
            <a:ext cx="2095757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POST /ingest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3317100" y="3907346"/>
            <a:ext cx="2288172" cy="531152"/>
            <a:chOff x="0" y="0"/>
            <a:chExt cx="3050896" cy="708203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6350" y="6350"/>
              <a:ext cx="3038221" cy="695452"/>
            </a:xfrm>
            <a:custGeom>
              <a:avLst/>
              <a:gdLst/>
              <a:ahLst/>
              <a:cxnLst/>
              <a:rect r="r" b="b" t="t" l="l"/>
              <a:pathLst>
                <a:path h="695452" w="3038221">
                  <a:moveTo>
                    <a:pt x="0" y="0"/>
                  </a:moveTo>
                  <a:lnTo>
                    <a:pt x="3038221" y="0"/>
                  </a:lnTo>
                  <a:lnTo>
                    <a:pt x="3038221" y="695452"/>
                  </a:lnTo>
                  <a:lnTo>
                    <a:pt x="0" y="695452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3050921" cy="708152"/>
            </a:xfrm>
            <a:custGeom>
              <a:avLst/>
              <a:gdLst/>
              <a:ahLst/>
              <a:cxnLst/>
              <a:rect r="r" b="b" t="t" l="l"/>
              <a:pathLst>
                <a:path h="708152" w="3050921">
                  <a:moveTo>
                    <a:pt x="6350" y="0"/>
                  </a:moveTo>
                  <a:lnTo>
                    <a:pt x="3044571" y="0"/>
                  </a:lnTo>
                  <a:cubicBezTo>
                    <a:pt x="3048127" y="0"/>
                    <a:pt x="3050921" y="2794"/>
                    <a:pt x="3050921" y="6350"/>
                  </a:cubicBezTo>
                  <a:lnTo>
                    <a:pt x="3050921" y="701802"/>
                  </a:lnTo>
                  <a:cubicBezTo>
                    <a:pt x="3050921" y="705358"/>
                    <a:pt x="3048127" y="708152"/>
                    <a:pt x="3044571" y="708152"/>
                  </a:cubicBezTo>
                  <a:lnTo>
                    <a:pt x="6350" y="708152"/>
                  </a:lnTo>
                  <a:cubicBezTo>
                    <a:pt x="2794" y="708152"/>
                    <a:pt x="0" y="705358"/>
                    <a:pt x="0" y="701802"/>
                  </a:cubicBezTo>
                  <a:lnTo>
                    <a:pt x="0" y="6350"/>
                  </a:lnTo>
                  <a:cubicBezTo>
                    <a:pt x="0" y="2794"/>
                    <a:pt x="2794" y="0"/>
                    <a:pt x="6350" y="0"/>
                  </a:cubicBezTo>
                  <a:moveTo>
                    <a:pt x="6350" y="12700"/>
                  </a:moveTo>
                  <a:lnTo>
                    <a:pt x="6350" y="6350"/>
                  </a:lnTo>
                  <a:lnTo>
                    <a:pt x="12700" y="6350"/>
                  </a:lnTo>
                  <a:lnTo>
                    <a:pt x="12700" y="701802"/>
                  </a:lnTo>
                  <a:lnTo>
                    <a:pt x="6350" y="701802"/>
                  </a:lnTo>
                  <a:lnTo>
                    <a:pt x="6350" y="695452"/>
                  </a:lnTo>
                  <a:lnTo>
                    <a:pt x="3044571" y="695452"/>
                  </a:lnTo>
                  <a:lnTo>
                    <a:pt x="3044571" y="701802"/>
                  </a:lnTo>
                  <a:lnTo>
                    <a:pt x="3038221" y="701802"/>
                  </a:lnTo>
                  <a:lnTo>
                    <a:pt x="3038221" y="6350"/>
                  </a:lnTo>
                  <a:lnTo>
                    <a:pt x="3044571" y="6350"/>
                  </a:lnTo>
                  <a:lnTo>
                    <a:pt x="3044571" y="12700"/>
                  </a:lnTo>
                  <a:lnTo>
                    <a:pt x="6350" y="127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24" id="24"/>
          <p:cNvSpPr txBox="true"/>
          <p:nvPr/>
        </p:nvSpPr>
        <p:spPr>
          <a:xfrm rot="0">
            <a:off x="3413303" y="3997900"/>
            <a:ext cx="2095757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POST /query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3317100" y="4593688"/>
            <a:ext cx="2288172" cy="531152"/>
            <a:chOff x="0" y="0"/>
            <a:chExt cx="3050896" cy="708203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6350" y="6350"/>
              <a:ext cx="3038221" cy="695452"/>
            </a:xfrm>
            <a:custGeom>
              <a:avLst/>
              <a:gdLst/>
              <a:ahLst/>
              <a:cxnLst/>
              <a:rect r="r" b="b" t="t" l="l"/>
              <a:pathLst>
                <a:path h="695452" w="3038221">
                  <a:moveTo>
                    <a:pt x="0" y="0"/>
                  </a:moveTo>
                  <a:lnTo>
                    <a:pt x="3038221" y="0"/>
                  </a:lnTo>
                  <a:lnTo>
                    <a:pt x="3038221" y="695452"/>
                  </a:lnTo>
                  <a:lnTo>
                    <a:pt x="0" y="695452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3050921" cy="708152"/>
            </a:xfrm>
            <a:custGeom>
              <a:avLst/>
              <a:gdLst/>
              <a:ahLst/>
              <a:cxnLst/>
              <a:rect r="r" b="b" t="t" l="l"/>
              <a:pathLst>
                <a:path h="708152" w="3050921">
                  <a:moveTo>
                    <a:pt x="6350" y="0"/>
                  </a:moveTo>
                  <a:lnTo>
                    <a:pt x="3044571" y="0"/>
                  </a:lnTo>
                  <a:cubicBezTo>
                    <a:pt x="3048127" y="0"/>
                    <a:pt x="3050921" y="2794"/>
                    <a:pt x="3050921" y="6350"/>
                  </a:cubicBezTo>
                  <a:lnTo>
                    <a:pt x="3050921" y="701802"/>
                  </a:lnTo>
                  <a:cubicBezTo>
                    <a:pt x="3050921" y="705358"/>
                    <a:pt x="3048127" y="708152"/>
                    <a:pt x="3044571" y="708152"/>
                  </a:cubicBezTo>
                  <a:lnTo>
                    <a:pt x="6350" y="708152"/>
                  </a:lnTo>
                  <a:cubicBezTo>
                    <a:pt x="2794" y="708152"/>
                    <a:pt x="0" y="705358"/>
                    <a:pt x="0" y="701802"/>
                  </a:cubicBezTo>
                  <a:lnTo>
                    <a:pt x="0" y="6350"/>
                  </a:lnTo>
                  <a:cubicBezTo>
                    <a:pt x="0" y="2794"/>
                    <a:pt x="2794" y="0"/>
                    <a:pt x="6350" y="0"/>
                  </a:cubicBezTo>
                  <a:moveTo>
                    <a:pt x="6350" y="12700"/>
                  </a:moveTo>
                  <a:lnTo>
                    <a:pt x="6350" y="6350"/>
                  </a:lnTo>
                  <a:lnTo>
                    <a:pt x="12700" y="6350"/>
                  </a:lnTo>
                  <a:lnTo>
                    <a:pt x="12700" y="701802"/>
                  </a:lnTo>
                  <a:lnTo>
                    <a:pt x="6350" y="701802"/>
                  </a:lnTo>
                  <a:lnTo>
                    <a:pt x="6350" y="695452"/>
                  </a:lnTo>
                  <a:lnTo>
                    <a:pt x="3044571" y="695452"/>
                  </a:lnTo>
                  <a:lnTo>
                    <a:pt x="3044571" y="701802"/>
                  </a:lnTo>
                  <a:lnTo>
                    <a:pt x="3038221" y="701802"/>
                  </a:lnTo>
                  <a:lnTo>
                    <a:pt x="3038221" y="6350"/>
                  </a:lnTo>
                  <a:lnTo>
                    <a:pt x="3044571" y="6350"/>
                  </a:lnTo>
                  <a:lnTo>
                    <a:pt x="3044571" y="12700"/>
                  </a:lnTo>
                  <a:lnTo>
                    <a:pt x="6350" y="127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28" id="28"/>
          <p:cNvSpPr txBox="true"/>
          <p:nvPr/>
        </p:nvSpPr>
        <p:spPr>
          <a:xfrm rot="0">
            <a:off x="3413303" y="4684233"/>
            <a:ext cx="2095757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DELETE /doc</a:t>
            </a:r>
          </a:p>
        </p:txBody>
      </p:sp>
      <p:grpSp>
        <p:nvGrpSpPr>
          <p:cNvPr name="Group 29" id="29"/>
          <p:cNvGrpSpPr/>
          <p:nvPr/>
        </p:nvGrpSpPr>
        <p:grpSpPr>
          <a:xfrm rot="0">
            <a:off x="3317100" y="5280022"/>
            <a:ext cx="2288172" cy="531152"/>
            <a:chOff x="0" y="0"/>
            <a:chExt cx="3050896" cy="708203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6350" y="6350"/>
              <a:ext cx="3038221" cy="695452"/>
            </a:xfrm>
            <a:custGeom>
              <a:avLst/>
              <a:gdLst/>
              <a:ahLst/>
              <a:cxnLst/>
              <a:rect r="r" b="b" t="t" l="l"/>
              <a:pathLst>
                <a:path h="695452" w="3038221">
                  <a:moveTo>
                    <a:pt x="0" y="0"/>
                  </a:moveTo>
                  <a:lnTo>
                    <a:pt x="3038221" y="0"/>
                  </a:lnTo>
                  <a:lnTo>
                    <a:pt x="3038221" y="695452"/>
                  </a:lnTo>
                  <a:lnTo>
                    <a:pt x="0" y="695452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3050921" cy="708152"/>
            </a:xfrm>
            <a:custGeom>
              <a:avLst/>
              <a:gdLst/>
              <a:ahLst/>
              <a:cxnLst/>
              <a:rect r="r" b="b" t="t" l="l"/>
              <a:pathLst>
                <a:path h="708152" w="3050921">
                  <a:moveTo>
                    <a:pt x="6350" y="0"/>
                  </a:moveTo>
                  <a:lnTo>
                    <a:pt x="3044571" y="0"/>
                  </a:lnTo>
                  <a:cubicBezTo>
                    <a:pt x="3048127" y="0"/>
                    <a:pt x="3050921" y="2794"/>
                    <a:pt x="3050921" y="6350"/>
                  </a:cubicBezTo>
                  <a:lnTo>
                    <a:pt x="3050921" y="701802"/>
                  </a:lnTo>
                  <a:cubicBezTo>
                    <a:pt x="3050921" y="705358"/>
                    <a:pt x="3048127" y="708152"/>
                    <a:pt x="3044571" y="708152"/>
                  </a:cubicBezTo>
                  <a:lnTo>
                    <a:pt x="6350" y="708152"/>
                  </a:lnTo>
                  <a:cubicBezTo>
                    <a:pt x="2794" y="708152"/>
                    <a:pt x="0" y="705358"/>
                    <a:pt x="0" y="701802"/>
                  </a:cubicBezTo>
                  <a:lnTo>
                    <a:pt x="0" y="6350"/>
                  </a:lnTo>
                  <a:cubicBezTo>
                    <a:pt x="0" y="2794"/>
                    <a:pt x="2794" y="0"/>
                    <a:pt x="6350" y="0"/>
                  </a:cubicBezTo>
                  <a:moveTo>
                    <a:pt x="6350" y="12700"/>
                  </a:moveTo>
                  <a:lnTo>
                    <a:pt x="6350" y="6350"/>
                  </a:lnTo>
                  <a:lnTo>
                    <a:pt x="12700" y="6350"/>
                  </a:lnTo>
                  <a:lnTo>
                    <a:pt x="12700" y="701802"/>
                  </a:lnTo>
                  <a:lnTo>
                    <a:pt x="6350" y="701802"/>
                  </a:lnTo>
                  <a:lnTo>
                    <a:pt x="6350" y="695452"/>
                  </a:lnTo>
                  <a:lnTo>
                    <a:pt x="3044571" y="695452"/>
                  </a:lnTo>
                  <a:lnTo>
                    <a:pt x="3044571" y="701802"/>
                  </a:lnTo>
                  <a:lnTo>
                    <a:pt x="3038221" y="701802"/>
                  </a:lnTo>
                  <a:lnTo>
                    <a:pt x="3038221" y="6350"/>
                  </a:lnTo>
                  <a:lnTo>
                    <a:pt x="3044571" y="6350"/>
                  </a:lnTo>
                  <a:lnTo>
                    <a:pt x="3044571" y="12700"/>
                  </a:lnTo>
                  <a:lnTo>
                    <a:pt x="6350" y="127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32" id="32"/>
          <p:cNvSpPr txBox="true"/>
          <p:nvPr/>
        </p:nvSpPr>
        <p:spPr>
          <a:xfrm rot="0">
            <a:off x="3413303" y="5370566"/>
            <a:ext cx="2095757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GET /doc/info</a:t>
            </a:r>
          </a:p>
        </p:txBody>
      </p:sp>
      <p:grpSp>
        <p:nvGrpSpPr>
          <p:cNvPr name="Group 33" id="33"/>
          <p:cNvGrpSpPr/>
          <p:nvPr/>
        </p:nvGrpSpPr>
        <p:grpSpPr>
          <a:xfrm rot="0">
            <a:off x="3317100" y="5966355"/>
            <a:ext cx="2288172" cy="531152"/>
            <a:chOff x="0" y="0"/>
            <a:chExt cx="3050896" cy="708203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6350" y="6350"/>
              <a:ext cx="3038221" cy="695452"/>
            </a:xfrm>
            <a:custGeom>
              <a:avLst/>
              <a:gdLst/>
              <a:ahLst/>
              <a:cxnLst/>
              <a:rect r="r" b="b" t="t" l="l"/>
              <a:pathLst>
                <a:path h="695452" w="3038221">
                  <a:moveTo>
                    <a:pt x="0" y="0"/>
                  </a:moveTo>
                  <a:lnTo>
                    <a:pt x="3038221" y="0"/>
                  </a:lnTo>
                  <a:lnTo>
                    <a:pt x="3038221" y="695452"/>
                  </a:lnTo>
                  <a:lnTo>
                    <a:pt x="0" y="695452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3050921" cy="708152"/>
            </a:xfrm>
            <a:custGeom>
              <a:avLst/>
              <a:gdLst/>
              <a:ahLst/>
              <a:cxnLst/>
              <a:rect r="r" b="b" t="t" l="l"/>
              <a:pathLst>
                <a:path h="708152" w="3050921">
                  <a:moveTo>
                    <a:pt x="6350" y="0"/>
                  </a:moveTo>
                  <a:lnTo>
                    <a:pt x="3044571" y="0"/>
                  </a:lnTo>
                  <a:cubicBezTo>
                    <a:pt x="3048127" y="0"/>
                    <a:pt x="3050921" y="2794"/>
                    <a:pt x="3050921" y="6350"/>
                  </a:cubicBezTo>
                  <a:lnTo>
                    <a:pt x="3050921" y="701802"/>
                  </a:lnTo>
                  <a:cubicBezTo>
                    <a:pt x="3050921" y="705358"/>
                    <a:pt x="3048127" y="708152"/>
                    <a:pt x="3044571" y="708152"/>
                  </a:cubicBezTo>
                  <a:lnTo>
                    <a:pt x="6350" y="708152"/>
                  </a:lnTo>
                  <a:cubicBezTo>
                    <a:pt x="2794" y="708152"/>
                    <a:pt x="0" y="705358"/>
                    <a:pt x="0" y="701802"/>
                  </a:cubicBezTo>
                  <a:lnTo>
                    <a:pt x="0" y="6350"/>
                  </a:lnTo>
                  <a:cubicBezTo>
                    <a:pt x="0" y="2794"/>
                    <a:pt x="2794" y="0"/>
                    <a:pt x="6350" y="0"/>
                  </a:cubicBezTo>
                  <a:moveTo>
                    <a:pt x="6350" y="12700"/>
                  </a:moveTo>
                  <a:lnTo>
                    <a:pt x="6350" y="6350"/>
                  </a:lnTo>
                  <a:lnTo>
                    <a:pt x="12700" y="6350"/>
                  </a:lnTo>
                  <a:lnTo>
                    <a:pt x="12700" y="701802"/>
                  </a:lnTo>
                  <a:lnTo>
                    <a:pt x="6350" y="701802"/>
                  </a:lnTo>
                  <a:lnTo>
                    <a:pt x="6350" y="695452"/>
                  </a:lnTo>
                  <a:lnTo>
                    <a:pt x="3044571" y="695452"/>
                  </a:lnTo>
                  <a:lnTo>
                    <a:pt x="3044571" y="701802"/>
                  </a:lnTo>
                  <a:lnTo>
                    <a:pt x="3038221" y="701802"/>
                  </a:lnTo>
                  <a:lnTo>
                    <a:pt x="3038221" y="6350"/>
                  </a:lnTo>
                  <a:lnTo>
                    <a:pt x="3044571" y="6350"/>
                  </a:lnTo>
                  <a:lnTo>
                    <a:pt x="3044571" y="12700"/>
                  </a:lnTo>
                  <a:lnTo>
                    <a:pt x="6350" y="127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36" id="36"/>
          <p:cNvSpPr txBox="true"/>
          <p:nvPr/>
        </p:nvSpPr>
        <p:spPr>
          <a:xfrm rot="0">
            <a:off x="3413303" y="6056900"/>
            <a:ext cx="2095757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GET /health</a:t>
            </a:r>
          </a:p>
        </p:txBody>
      </p:sp>
      <p:grpSp>
        <p:nvGrpSpPr>
          <p:cNvPr name="Group 37" id="37"/>
          <p:cNvGrpSpPr/>
          <p:nvPr/>
        </p:nvGrpSpPr>
        <p:grpSpPr>
          <a:xfrm rot="0">
            <a:off x="6169876" y="2051856"/>
            <a:ext cx="11682012" cy="3034179"/>
            <a:chOff x="0" y="0"/>
            <a:chExt cx="15576017" cy="4045572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9525" y="9525"/>
              <a:ext cx="15556992" cy="4026535"/>
            </a:xfrm>
            <a:custGeom>
              <a:avLst/>
              <a:gdLst/>
              <a:ahLst/>
              <a:cxnLst/>
              <a:rect r="r" b="b" t="t" l="l"/>
              <a:pathLst>
                <a:path h="4026535" w="15556992">
                  <a:moveTo>
                    <a:pt x="0" y="0"/>
                  </a:moveTo>
                  <a:lnTo>
                    <a:pt x="15556992" y="0"/>
                  </a:lnTo>
                  <a:lnTo>
                    <a:pt x="15556992" y="4026535"/>
                  </a:lnTo>
                  <a:lnTo>
                    <a:pt x="0" y="402653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5576042" cy="4045585"/>
            </a:xfrm>
            <a:custGeom>
              <a:avLst/>
              <a:gdLst/>
              <a:ahLst/>
              <a:cxnLst/>
              <a:rect r="r" b="b" t="t" l="l"/>
              <a:pathLst>
                <a:path h="4045585" w="15576042">
                  <a:moveTo>
                    <a:pt x="9525" y="0"/>
                  </a:moveTo>
                  <a:lnTo>
                    <a:pt x="15566517" y="0"/>
                  </a:lnTo>
                  <a:cubicBezTo>
                    <a:pt x="15571724" y="0"/>
                    <a:pt x="15576042" y="4318"/>
                    <a:pt x="15576042" y="9525"/>
                  </a:cubicBezTo>
                  <a:lnTo>
                    <a:pt x="15576042" y="4036060"/>
                  </a:lnTo>
                  <a:cubicBezTo>
                    <a:pt x="15576042" y="4041267"/>
                    <a:pt x="15571724" y="4045585"/>
                    <a:pt x="15566517" y="4045585"/>
                  </a:cubicBezTo>
                  <a:lnTo>
                    <a:pt x="9525" y="4045585"/>
                  </a:lnTo>
                  <a:cubicBezTo>
                    <a:pt x="4318" y="4045585"/>
                    <a:pt x="0" y="4041267"/>
                    <a:pt x="0" y="4036060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4036060"/>
                  </a:lnTo>
                  <a:lnTo>
                    <a:pt x="9525" y="4036060"/>
                  </a:lnTo>
                  <a:lnTo>
                    <a:pt x="9525" y="4026535"/>
                  </a:lnTo>
                  <a:lnTo>
                    <a:pt x="15566517" y="4026535"/>
                  </a:lnTo>
                  <a:lnTo>
                    <a:pt x="15566517" y="4036060"/>
                  </a:lnTo>
                  <a:lnTo>
                    <a:pt x="15556992" y="4036060"/>
                  </a:lnTo>
                  <a:lnTo>
                    <a:pt x="15556992" y="9525"/>
                  </a:lnTo>
                  <a:lnTo>
                    <a:pt x="15566517" y="9525"/>
                  </a:lnTo>
                  <a:lnTo>
                    <a:pt x="15566517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059669"/>
            </a:solidFill>
          </p:spPr>
        </p:sp>
      </p:grpSp>
      <p:sp>
        <p:nvSpPr>
          <p:cNvPr name="TextBox 40" id="40"/>
          <p:cNvSpPr txBox="true"/>
          <p:nvPr/>
        </p:nvSpPr>
        <p:spPr>
          <a:xfrm rot="0">
            <a:off x="6268469" y="2185968"/>
            <a:ext cx="11484835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 b="true">
                <a:solidFill>
                  <a:srgbClr val="05966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INGEST PIPELINE</a:t>
            </a:r>
          </a:p>
        </p:txBody>
      </p:sp>
      <p:grpSp>
        <p:nvGrpSpPr>
          <p:cNvPr name="Group 41" id="41"/>
          <p:cNvGrpSpPr/>
          <p:nvPr/>
        </p:nvGrpSpPr>
        <p:grpSpPr>
          <a:xfrm rot="0">
            <a:off x="6375778" y="2600925"/>
            <a:ext cx="2553738" cy="2279209"/>
            <a:chOff x="0" y="0"/>
            <a:chExt cx="3404984" cy="3038945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9525" y="9525"/>
              <a:ext cx="3385947" cy="3019933"/>
            </a:xfrm>
            <a:custGeom>
              <a:avLst/>
              <a:gdLst/>
              <a:ahLst/>
              <a:cxnLst/>
              <a:rect r="r" b="b" t="t" l="l"/>
              <a:pathLst>
                <a:path h="3019933" w="3385947">
                  <a:moveTo>
                    <a:pt x="0" y="0"/>
                  </a:moveTo>
                  <a:lnTo>
                    <a:pt x="3385947" y="0"/>
                  </a:lnTo>
                  <a:lnTo>
                    <a:pt x="3385947" y="3019933"/>
                  </a:lnTo>
                  <a:lnTo>
                    <a:pt x="0" y="3019933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3404997" cy="3038983"/>
            </a:xfrm>
            <a:custGeom>
              <a:avLst/>
              <a:gdLst/>
              <a:ahLst/>
              <a:cxnLst/>
              <a:rect r="r" b="b" t="t" l="l"/>
              <a:pathLst>
                <a:path h="3038983" w="3404997">
                  <a:moveTo>
                    <a:pt x="9525" y="0"/>
                  </a:moveTo>
                  <a:lnTo>
                    <a:pt x="3395472" y="0"/>
                  </a:lnTo>
                  <a:cubicBezTo>
                    <a:pt x="3400679" y="0"/>
                    <a:pt x="3404997" y="4318"/>
                    <a:pt x="3404997" y="9525"/>
                  </a:cubicBezTo>
                  <a:lnTo>
                    <a:pt x="3404997" y="3029458"/>
                  </a:lnTo>
                  <a:cubicBezTo>
                    <a:pt x="3404997" y="3034665"/>
                    <a:pt x="3400679" y="3038983"/>
                    <a:pt x="3395472" y="3038983"/>
                  </a:cubicBezTo>
                  <a:lnTo>
                    <a:pt x="9525" y="3038983"/>
                  </a:lnTo>
                  <a:cubicBezTo>
                    <a:pt x="4318" y="3038983"/>
                    <a:pt x="0" y="3034665"/>
                    <a:pt x="0" y="3029458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3029458"/>
                  </a:lnTo>
                  <a:lnTo>
                    <a:pt x="9525" y="3029458"/>
                  </a:lnTo>
                  <a:lnTo>
                    <a:pt x="9525" y="3019933"/>
                  </a:lnTo>
                  <a:lnTo>
                    <a:pt x="3395472" y="3019933"/>
                  </a:lnTo>
                  <a:lnTo>
                    <a:pt x="3395472" y="3029458"/>
                  </a:lnTo>
                  <a:lnTo>
                    <a:pt x="3385947" y="3029458"/>
                  </a:lnTo>
                  <a:lnTo>
                    <a:pt x="3385947" y="9525"/>
                  </a:lnTo>
                  <a:lnTo>
                    <a:pt x="3395472" y="9525"/>
                  </a:lnTo>
                  <a:lnTo>
                    <a:pt x="3395472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44" id="44"/>
          <p:cNvSpPr txBox="true"/>
          <p:nvPr/>
        </p:nvSpPr>
        <p:spPr>
          <a:xfrm rot="0">
            <a:off x="6474371" y="2656875"/>
            <a:ext cx="2356561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82"/>
              </a:lnSpc>
            </a:pPr>
            <a:r>
              <a:rPr lang="en-US" sz="24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📄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6474371" y="3164767"/>
            <a:ext cx="2356561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1"/>
              </a:lnSpc>
            </a:pPr>
            <a:r>
              <a:rPr lang="en-US" sz="15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PyMuPDF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6474371" y="3595621"/>
            <a:ext cx="2356561" cy="10257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extract text</a:t>
            </a:r>
          </a:p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no token limit</a:t>
            </a:r>
          </a:p>
        </p:txBody>
      </p:sp>
      <p:grpSp>
        <p:nvGrpSpPr>
          <p:cNvPr name="Group 47" id="47"/>
          <p:cNvGrpSpPr/>
          <p:nvPr/>
        </p:nvGrpSpPr>
        <p:grpSpPr>
          <a:xfrm rot="0">
            <a:off x="9052484" y="2600925"/>
            <a:ext cx="2553738" cy="2279209"/>
            <a:chOff x="0" y="0"/>
            <a:chExt cx="3404984" cy="3038945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9525" y="9525"/>
              <a:ext cx="3385947" cy="3019933"/>
            </a:xfrm>
            <a:custGeom>
              <a:avLst/>
              <a:gdLst/>
              <a:ahLst/>
              <a:cxnLst/>
              <a:rect r="r" b="b" t="t" l="l"/>
              <a:pathLst>
                <a:path h="3019933" w="3385947">
                  <a:moveTo>
                    <a:pt x="0" y="0"/>
                  </a:moveTo>
                  <a:lnTo>
                    <a:pt x="3385947" y="0"/>
                  </a:lnTo>
                  <a:lnTo>
                    <a:pt x="3385947" y="3019933"/>
                  </a:lnTo>
                  <a:lnTo>
                    <a:pt x="0" y="3019933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3404997" cy="3038983"/>
            </a:xfrm>
            <a:custGeom>
              <a:avLst/>
              <a:gdLst/>
              <a:ahLst/>
              <a:cxnLst/>
              <a:rect r="r" b="b" t="t" l="l"/>
              <a:pathLst>
                <a:path h="3038983" w="3404997">
                  <a:moveTo>
                    <a:pt x="9525" y="0"/>
                  </a:moveTo>
                  <a:lnTo>
                    <a:pt x="3395472" y="0"/>
                  </a:lnTo>
                  <a:cubicBezTo>
                    <a:pt x="3400679" y="0"/>
                    <a:pt x="3404997" y="4318"/>
                    <a:pt x="3404997" y="9525"/>
                  </a:cubicBezTo>
                  <a:lnTo>
                    <a:pt x="3404997" y="3029458"/>
                  </a:lnTo>
                  <a:cubicBezTo>
                    <a:pt x="3404997" y="3034665"/>
                    <a:pt x="3400679" y="3038983"/>
                    <a:pt x="3395472" y="3038983"/>
                  </a:cubicBezTo>
                  <a:lnTo>
                    <a:pt x="9525" y="3038983"/>
                  </a:lnTo>
                  <a:cubicBezTo>
                    <a:pt x="4318" y="3038983"/>
                    <a:pt x="0" y="3034665"/>
                    <a:pt x="0" y="3029458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3029458"/>
                  </a:lnTo>
                  <a:lnTo>
                    <a:pt x="9525" y="3029458"/>
                  </a:lnTo>
                  <a:lnTo>
                    <a:pt x="9525" y="3019933"/>
                  </a:lnTo>
                  <a:lnTo>
                    <a:pt x="3395472" y="3019933"/>
                  </a:lnTo>
                  <a:lnTo>
                    <a:pt x="3395472" y="3029458"/>
                  </a:lnTo>
                  <a:lnTo>
                    <a:pt x="3385947" y="3029458"/>
                  </a:lnTo>
                  <a:lnTo>
                    <a:pt x="3385947" y="9525"/>
                  </a:lnTo>
                  <a:lnTo>
                    <a:pt x="3395472" y="9525"/>
                  </a:lnTo>
                  <a:lnTo>
                    <a:pt x="3395472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50" id="50"/>
          <p:cNvSpPr txBox="true"/>
          <p:nvPr/>
        </p:nvSpPr>
        <p:spPr>
          <a:xfrm rot="0">
            <a:off x="9151077" y="2656875"/>
            <a:ext cx="2356561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82"/>
              </a:lnSpc>
            </a:pPr>
            <a:r>
              <a:rPr lang="en-US" sz="24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✂️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9151077" y="3164767"/>
            <a:ext cx="2356561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1"/>
              </a:lnSpc>
            </a:pPr>
            <a:r>
              <a:rPr lang="en-US" sz="15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tiktoken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9151077" y="3595621"/>
            <a:ext cx="2356561" cy="10257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count tokens</a:t>
            </a:r>
          </a:p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compute_params</a:t>
            </a:r>
          </a:p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chunk+overlap</a:t>
            </a:r>
          </a:p>
        </p:txBody>
      </p:sp>
      <p:grpSp>
        <p:nvGrpSpPr>
          <p:cNvPr name="Group 53" id="53"/>
          <p:cNvGrpSpPr/>
          <p:nvPr/>
        </p:nvGrpSpPr>
        <p:grpSpPr>
          <a:xfrm rot="0">
            <a:off x="11729199" y="2600925"/>
            <a:ext cx="2553738" cy="2279209"/>
            <a:chOff x="0" y="0"/>
            <a:chExt cx="3404984" cy="3038945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9525" y="9525"/>
              <a:ext cx="3385947" cy="3019933"/>
            </a:xfrm>
            <a:custGeom>
              <a:avLst/>
              <a:gdLst/>
              <a:ahLst/>
              <a:cxnLst/>
              <a:rect r="r" b="b" t="t" l="l"/>
              <a:pathLst>
                <a:path h="3019933" w="3385947">
                  <a:moveTo>
                    <a:pt x="0" y="0"/>
                  </a:moveTo>
                  <a:lnTo>
                    <a:pt x="3385947" y="0"/>
                  </a:lnTo>
                  <a:lnTo>
                    <a:pt x="3385947" y="3019933"/>
                  </a:lnTo>
                  <a:lnTo>
                    <a:pt x="0" y="3019933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3404997" cy="3038983"/>
            </a:xfrm>
            <a:custGeom>
              <a:avLst/>
              <a:gdLst/>
              <a:ahLst/>
              <a:cxnLst/>
              <a:rect r="r" b="b" t="t" l="l"/>
              <a:pathLst>
                <a:path h="3038983" w="3404997">
                  <a:moveTo>
                    <a:pt x="9525" y="0"/>
                  </a:moveTo>
                  <a:lnTo>
                    <a:pt x="3395472" y="0"/>
                  </a:lnTo>
                  <a:cubicBezTo>
                    <a:pt x="3400679" y="0"/>
                    <a:pt x="3404997" y="4318"/>
                    <a:pt x="3404997" y="9525"/>
                  </a:cubicBezTo>
                  <a:lnTo>
                    <a:pt x="3404997" y="3029458"/>
                  </a:lnTo>
                  <a:cubicBezTo>
                    <a:pt x="3404997" y="3034665"/>
                    <a:pt x="3400679" y="3038983"/>
                    <a:pt x="3395472" y="3038983"/>
                  </a:cubicBezTo>
                  <a:lnTo>
                    <a:pt x="9525" y="3038983"/>
                  </a:lnTo>
                  <a:cubicBezTo>
                    <a:pt x="4318" y="3038983"/>
                    <a:pt x="0" y="3034665"/>
                    <a:pt x="0" y="3029458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3029458"/>
                  </a:lnTo>
                  <a:lnTo>
                    <a:pt x="9525" y="3029458"/>
                  </a:lnTo>
                  <a:lnTo>
                    <a:pt x="9525" y="3019933"/>
                  </a:lnTo>
                  <a:lnTo>
                    <a:pt x="3395472" y="3019933"/>
                  </a:lnTo>
                  <a:lnTo>
                    <a:pt x="3395472" y="3029458"/>
                  </a:lnTo>
                  <a:lnTo>
                    <a:pt x="3385947" y="3029458"/>
                  </a:lnTo>
                  <a:lnTo>
                    <a:pt x="3385947" y="9525"/>
                  </a:lnTo>
                  <a:lnTo>
                    <a:pt x="3395472" y="9525"/>
                  </a:lnTo>
                  <a:lnTo>
                    <a:pt x="3395472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4285F4"/>
            </a:solidFill>
          </p:spPr>
        </p:sp>
      </p:grpSp>
      <p:sp>
        <p:nvSpPr>
          <p:cNvPr name="TextBox 56" id="56"/>
          <p:cNvSpPr txBox="true"/>
          <p:nvPr/>
        </p:nvSpPr>
        <p:spPr>
          <a:xfrm rot="0">
            <a:off x="11827793" y="2656875"/>
            <a:ext cx="2356561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82"/>
              </a:lnSpc>
            </a:pPr>
            <a:r>
              <a:rPr lang="en-US" sz="24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🧠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11827793" y="3164767"/>
            <a:ext cx="2356561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1"/>
              </a:lnSpc>
            </a:pPr>
            <a:r>
              <a:rPr lang="en-US" sz="15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Gemini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11827793" y="3595621"/>
            <a:ext cx="2356561" cy="10257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embedding-2</a:t>
            </a:r>
          </a:p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768-dim</a:t>
            </a:r>
          </a:p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concurrent+retry</a:t>
            </a:r>
          </a:p>
        </p:txBody>
      </p:sp>
      <p:grpSp>
        <p:nvGrpSpPr>
          <p:cNvPr name="Group 59" id="59"/>
          <p:cNvGrpSpPr/>
          <p:nvPr/>
        </p:nvGrpSpPr>
        <p:grpSpPr>
          <a:xfrm rot="0">
            <a:off x="14405915" y="2600925"/>
            <a:ext cx="2553738" cy="2279209"/>
            <a:chOff x="0" y="0"/>
            <a:chExt cx="3404984" cy="3038945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9525" y="9525"/>
              <a:ext cx="3385947" cy="3019933"/>
            </a:xfrm>
            <a:custGeom>
              <a:avLst/>
              <a:gdLst/>
              <a:ahLst/>
              <a:cxnLst/>
              <a:rect r="r" b="b" t="t" l="l"/>
              <a:pathLst>
                <a:path h="3019933" w="3385947">
                  <a:moveTo>
                    <a:pt x="0" y="0"/>
                  </a:moveTo>
                  <a:lnTo>
                    <a:pt x="3385947" y="0"/>
                  </a:lnTo>
                  <a:lnTo>
                    <a:pt x="3385947" y="3019933"/>
                  </a:lnTo>
                  <a:lnTo>
                    <a:pt x="0" y="3019933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3404997" cy="3038983"/>
            </a:xfrm>
            <a:custGeom>
              <a:avLst/>
              <a:gdLst/>
              <a:ahLst/>
              <a:cxnLst/>
              <a:rect r="r" b="b" t="t" l="l"/>
              <a:pathLst>
                <a:path h="3038983" w="3404997">
                  <a:moveTo>
                    <a:pt x="9525" y="0"/>
                  </a:moveTo>
                  <a:lnTo>
                    <a:pt x="3395472" y="0"/>
                  </a:lnTo>
                  <a:cubicBezTo>
                    <a:pt x="3400679" y="0"/>
                    <a:pt x="3404997" y="4318"/>
                    <a:pt x="3404997" y="9525"/>
                  </a:cubicBezTo>
                  <a:lnTo>
                    <a:pt x="3404997" y="3029458"/>
                  </a:lnTo>
                  <a:cubicBezTo>
                    <a:pt x="3404997" y="3034665"/>
                    <a:pt x="3400679" y="3038983"/>
                    <a:pt x="3395472" y="3038983"/>
                  </a:cubicBezTo>
                  <a:lnTo>
                    <a:pt x="9525" y="3038983"/>
                  </a:lnTo>
                  <a:cubicBezTo>
                    <a:pt x="4318" y="3038983"/>
                    <a:pt x="0" y="3034665"/>
                    <a:pt x="0" y="3029458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3029458"/>
                  </a:lnTo>
                  <a:lnTo>
                    <a:pt x="9525" y="3029458"/>
                  </a:lnTo>
                  <a:lnTo>
                    <a:pt x="9525" y="3019933"/>
                  </a:lnTo>
                  <a:lnTo>
                    <a:pt x="3395472" y="3019933"/>
                  </a:lnTo>
                  <a:lnTo>
                    <a:pt x="3395472" y="3029458"/>
                  </a:lnTo>
                  <a:lnTo>
                    <a:pt x="3385947" y="3029458"/>
                  </a:lnTo>
                  <a:lnTo>
                    <a:pt x="3385947" y="9525"/>
                  </a:lnTo>
                  <a:lnTo>
                    <a:pt x="3395472" y="9525"/>
                  </a:lnTo>
                  <a:lnTo>
                    <a:pt x="3395472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336791"/>
            </a:solidFill>
          </p:spPr>
        </p:sp>
      </p:grpSp>
      <p:sp>
        <p:nvSpPr>
          <p:cNvPr name="TextBox 62" id="62"/>
          <p:cNvSpPr txBox="true"/>
          <p:nvPr/>
        </p:nvSpPr>
        <p:spPr>
          <a:xfrm rot="0">
            <a:off x="14504499" y="2656875"/>
            <a:ext cx="2356561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82"/>
              </a:lnSpc>
            </a:pPr>
            <a:r>
              <a:rPr lang="en-US" sz="24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🗄️</a:t>
            </a:r>
          </a:p>
        </p:txBody>
      </p:sp>
      <p:sp>
        <p:nvSpPr>
          <p:cNvPr name="TextBox 63" id="63"/>
          <p:cNvSpPr txBox="true"/>
          <p:nvPr/>
        </p:nvSpPr>
        <p:spPr>
          <a:xfrm rot="0">
            <a:off x="14504499" y="3164767"/>
            <a:ext cx="2356561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1"/>
              </a:lnSpc>
            </a:pPr>
            <a:r>
              <a:rPr lang="en-US" sz="15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Postgres</a:t>
            </a:r>
          </a:p>
        </p:txBody>
      </p:sp>
      <p:sp>
        <p:nvSpPr>
          <p:cNvPr name="TextBox 64" id="64"/>
          <p:cNvSpPr txBox="true"/>
          <p:nvPr/>
        </p:nvSpPr>
        <p:spPr>
          <a:xfrm rot="0">
            <a:off x="14504499" y="3595621"/>
            <a:ext cx="2356561" cy="10257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chunks+parent_text</a:t>
            </a:r>
          </a:p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doc_meta</a:t>
            </a:r>
          </a:p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pgvector HNSW</a:t>
            </a:r>
          </a:p>
        </p:txBody>
      </p:sp>
      <p:grpSp>
        <p:nvGrpSpPr>
          <p:cNvPr name="Group 65" id="65"/>
          <p:cNvGrpSpPr/>
          <p:nvPr/>
        </p:nvGrpSpPr>
        <p:grpSpPr>
          <a:xfrm rot="0">
            <a:off x="6169876" y="5346278"/>
            <a:ext cx="11682012" cy="3034179"/>
            <a:chOff x="0" y="0"/>
            <a:chExt cx="15576017" cy="4045572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9525" y="9525"/>
              <a:ext cx="15556992" cy="4026535"/>
            </a:xfrm>
            <a:custGeom>
              <a:avLst/>
              <a:gdLst/>
              <a:ahLst/>
              <a:cxnLst/>
              <a:rect r="r" b="b" t="t" l="l"/>
              <a:pathLst>
                <a:path h="4026535" w="15556992">
                  <a:moveTo>
                    <a:pt x="0" y="0"/>
                  </a:moveTo>
                  <a:lnTo>
                    <a:pt x="15556992" y="0"/>
                  </a:lnTo>
                  <a:lnTo>
                    <a:pt x="15556992" y="4026535"/>
                  </a:lnTo>
                  <a:lnTo>
                    <a:pt x="0" y="402653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15576042" cy="4045585"/>
            </a:xfrm>
            <a:custGeom>
              <a:avLst/>
              <a:gdLst/>
              <a:ahLst/>
              <a:cxnLst/>
              <a:rect r="r" b="b" t="t" l="l"/>
              <a:pathLst>
                <a:path h="4045585" w="15576042">
                  <a:moveTo>
                    <a:pt x="9525" y="0"/>
                  </a:moveTo>
                  <a:lnTo>
                    <a:pt x="15566517" y="0"/>
                  </a:lnTo>
                  <a:cubicBezTo>
                    <a:pt x="15571724" y="0"/>
                    <a:pt x="15576042" y="4318"/>
                    <a:pt x="15576042" y="9525"/>
                  </a:cubicBezTo>
                  <a:lnTo>
                    <a:pt x="15576042" y="4036060"/>
                  </a:lnTo>
                  <a:cubicBezTo>
                    <a:pt x="15576042" y="4041267"/>
                    <a:pt x="15571724" y="4045585"/>
                    <a:pt x="15566517" y="4045585"/>
                  </a:cubicBezTo>
                  <a:lnTo>
                    <a:pt x="9525" y="4045585"/>
                  </a:lnTo>
                  <a:cubicBezTo>
                    <a:pt x="4318" y="4045585"/>
                    <a:pt x="0" y="4041267"/>
                    <a:pt x="0" y="4036060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4036060"/>
                  </a:lnTo>
                  <a:lnTo>
                    <a:pt x="9525" y="4036060"/>
                  </a:lnTo>
                  <a:lnTo>
                    <a:pt x="9525" y="4026535"/>
                  </a:lnTo>
                  <a:lnTo>
                    <a:pt x="15566517" y="4026535"/>
                  </a:lnTo>
                  <a:lnTo>
                    <a:pt x="15566517" y="4036060"/>
                  </a:lnTo>
                  <a:lnTo>
                    <a:pt x="15556992" y="4036060"/>
                  </a:lnTo>
                  <a:lnTo>
                    <a:pt x="15556992" y="9525"/>
                  </a:lnTo>
                  <a:lnTo>
                    <a:pt x="15566517" y="9525"/>
                  </a:lnTo>
                  <a:lnTo>
                    <a:pt x="15566517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sp>
        <p:nvSpPr>
          <p:cNvPr name="TextBox 68" id="68"/>
          <p:cNvSpPr txBox="true"/>
          <p:nvPr/>
        </p:nvSpPr>
        <p:spPr>
          <a:xfrm rot="0">
            <a:off x="6268469" y="5480380"/>
            <a:ext cx="11484835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QUERY PIPELINE</a:t>
            </a:r>
          </a:p>
        </p:txBody>
      </p:sp>
      <p:grpSp>
        <p:nvGrpSpPr>
          <p:cNvPr name="Group 69" id="69"/>
          <p:cNvGrpSpPr/>
          <p:nvPr/>
        </p:nvGrpSpPr>
        <p:grpSpPr>
          <a:xfrm rot="0">
            <a:off x="6375778" y="5895346"/>
            <a:ext cx="2553738" cy="2279209"/>
            <a:chOff x="0" y="0"/>
            <a:chExt cx="3404984" cy="3038945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9525" y="9525"/>
              <a:ext cx="3385947" cy="3019933"/>
            </a:xfrm>
            <a:custGeom>
              <a:avLst/>
              <a:gdLst/>
              <a:ahLst/>
              <a:cxnLst/>
              <a:rect r="r" b="b" t="t" l="l"/>
              <a:pathLst>
                <a:path h="3019933" w="3385947">
                  <a:moveTo>
                    <a:pt x="0" y="0"/>
                  </a:moveTo>
                  <a:lnTo>
                    <a:pt x="3385947" y="0"/>
                  </a:lnTo>
                  <a:lnTo>
                    <a:pt x="3385947" y="3019933"/>
                  </a:lnTo>
                  <a:lnTo>
                    <a:pt x="0" y="3019933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3404997" cy="3038983"/>
            </a:xfrm>
            <a:custGeom>
              <a:avLst/>
              <a:gdLst/>
              <a:ahLst/>
              <a:cxnLst/>
              <a:rect r="r" b="b" t="t" l="l"/>
              <a:pathLst>
                <a:path h="3038983" w="3404997">
                  <a:moveTo>
                    <a:pt x="9525" y="0"/>
                  </a:moveTo>
                  <a:lnTo>
                    <a:pt x="3395472" y="0"/>
                  </a:lnTo>
                  <a:cubicBezTo>
                    <a:pt x="3400679" y="0"/>
                    <a:pt x="3404997" y="4318"/>
                    <a:pt x="3404997" y="9525"/>
                  </a:cubicBezTo>
                  <a:lnTo>
                    <a:pt x="3404997" y="3029458"/>
                  </a:lnTo>
                  <a:cubicBezTo>
                    <a:pt x="3404997" y="3034665"/>
                    <a:pt x="3400679" y="3038983"/>
                    <a:pt x="3395472" y="3038983"/>
                  </a:cubicBezTo>
                  <a:lnTo>
                    <a:pt x="9525" y="3038983"/>
                  </a:lnTo>
                  <a:cubicBezTo>
                    <a:pt x="4318" y="3038983"/>
                    <a:pt x="0" y="3034665"/>
                    <a:pt x="0" y="3029458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3029458"/>
                  </a:lnTo>
                  <a:lnTo>
                    <a:pt x="9525" y="3029458"/>
                  </a:lnTo>
                  <a:lnTo>
                    <a:pt x="9525" y="3019933"/>
                  </a:lnTo>
                  <a:lnTo>
                    <a:pt x="3395472" y="3019933"/>
                  </a:lnTo>
                  <a:lnTo>
                    <a:pt x="3395472" y="3029458"/>
                  </a:lnTo>
                  <a:lnTo>
                    <a:pt x="3385947" y="3029458"/>
                  </a:lnTo>
                  <a:lnTo>
                    <a:pt x="3385947" y="9525"/>
                  </a:lnTo>
                  <a:lnTo>
                    <a:pt x="3395472" y="9525"/>
                  </a:lnTo>
                  <a:lnTo>
                    <a:pt x="3395472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4285F4"/>
            </a:solidFill>
          </p:spPr>
        </p:sp>
      </p:grpSp>
      <p:sp>
        <p:nvSpPr>
          <p:cNvPr name="TextBox 72" id="72"/>
          <p:cNvSpPr txBox="true"/>
          <p:nvPr/>
        </p:nvSpPr>
        <p:spPr>
          <a:xfrm rot="0">
            <a:off x="6474371" y="5951296"/>
            <a:ext cx="2356561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82"/>
              </a:lnSpc>
            </a:pPr>
            <a:r>
              <a:rPr lang="en-US" sz="24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🧠</a:t>
            </a:r>
          </a:p>
        </p:txBody>
      </p:sp>
      <p:sp>
        <p:nvSpPr>
          <p:cNvPr name="TextBox 73" id="73"/>
          <p:cNvSpPr txBox="true"/>
          <p:nvPr/>
        </p:nvSpPr>
        <p:spPr>
          <a:xfrm rot="0">
            <a:off x="6474371" y="6459179"/>
            <a:ext cx="2356561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1"/>
              </a:lnSpc>
            </a:pPr>
            <a:r>
              <a:rPr lang="en-US" sz="15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Embed query</a:t>
            </a:r>
          </a:p>
        </p:txBody>
      </p:sp>
      <p:sp>
        <p:nvSpPr>
          <p:cNvPr name="TextBox 74" id="74"/>
          <p:cNvSpPr txBox="true"/>
          <p:nvPr/>
        </p:nvSpPr>
        <p:spPr>
          <a:xfrm rot="0">
            <a:off x="6474371" y="6890033"/>
            <a:ext cx="2356561" cy="10257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RETRIEVAL_QUERY</a:t>
            </a:r>
          </a:p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768-dim</a:t>
            </a:r>
          </a:p>
        </p:txBody>
      </p:sp>
      <p:grpSp>
        <p:nvGrpSpPr>
          <p:cNvPr name="Group 75" id="75"/>
          <p:cNvGrpSpPr/>
          <p:nvPr/>
        </p:nvGrpSpPr>
        <p:grpSpPr>
          <a:xfrm rot="0">
            <a:off x="9052484" y="5895346"/>
            <a:ext cx="2553738" cy="2279209"/>
            <a:chOff x="0" y="0"/>
            <a:chExt cx="3404984" cy="3038945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9525" y="9525"/>
              <a:ext cx="3385947" cy="3019933"/>
            </a:xfrm>
            <a:custGeom>
              <a:avLst/>
              <a:gdLst/>
              <a:ahLst/>
              <a:cxnLst/>
              <a:rect r="r" b="b" t="t" l="l"/>
              <a:pathLst>
                <a:path h="3019933" w="3385947">
                  <a:moveTo>
                    <a:pt x="0" y="0"/>
                  </a:moveTo>
                  <a:lnTo>
                    <a:pt x="3385947" y="0"/>
                  </a:lnTo>
                  <a:lnTo>
                    <a:pt x="3385947" y="3019933"/>
                  </a:lnTo>
                  <a:lnTo>
                    <a:pt x="0" y="3019933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3404997" cy="3038983"/>
            </a:xfrm>
            <a:custGeom>
              <a:avLst/>
              <a:gdLst/>
              <a:ahLst/>
              <a:cxnLst/>
              <a:rect r="r" b="b" t="t" l="l"/>
              <a:pathLst>
                <a:path h="3038983" w="3404997">
                  <a:moveTo>
                    <a:pt x="9525" y="0"/>
                  </a:moveTo>
                  <a:lnTo>
                    <a:pt x="3395472" y="0"/>
                  </a:lnTo>
                  <a:cubicBezTo>
                    <a:pt x="3400679" y="0"/>
                    <a:pt x="3404997" y="4318"/>
                    <a:pt x="3404997" y="9525"/>
                  </a:cubicBezTo>
                  <a:lnTo>
                    <a:pt x="3404997" y="3029458"/>
                  </a:lnTo>
                  <a:cubicBezTo>
                    <a:pt x="3404997" y="3034665"/>
                    <a:pt x="3400679" y="3038983"/>
                    <a:pt x="3395472" y="3038983"/>
                  </a:cubicBezTo>
                  <a:lnTo>
                    <a:pt x="9525" y="3038983"/>
                  </a:lnTo>
                  <a:cubicBezTo>
                    <a:pt x="4318" y="3038983"/>
                    <a:pt x="0" y="3034665"/>
                    <a:pt x="0" y="3029458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3029458"/>
                  </a:lnTo>
                  <a:lnTo>
                    <a:pt x="9525" y="3029458"/>
                  </a:lnTo>
                  <a:lnTo>
                    <a:pt x="9525" y="3019933"/>
                  </a:lnTo>
                  <a:lnTo>
                    <a:pt x="3395472" y="3019933"/>
                  </a:lnTo>
                  <a:lnTo>
                    <a:pt x="3395472" y="3029458"/>
                  </a:lnTo>
                  <a:lnTo>
                    <a:pt x="3385947" y="3029458"/>
                  </a:lnTo>
                  <a:lnTo>
                    <a:pt x="3385947" y="9525"/>
                  </a:lnTo>
                  <a:lnTo>
                    <a:pt x="3395472" y="9525"/>
                  </a:lnTo>
                  <a:lnTo>
                    <a:pt x="3395472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336791"/>
            </a:solidFill>
          </p:spPr>
        </p:sp>
      </p:grpSp>
      <p:sp>
        <p:nvSpPr>
          <p:cNvPr name="TextBox 78" id="78"/>
          <p:cNvSpPr txBox="true"/>
          <p:nvPr/>
        </p:nvSpPr>
        <p:spPr>
          <a:xfrm rot="0">
            <a:off x="9151077" y="5951296"/>
            <a:ext cx="2356561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82"/>
              </a:lnSpc>
            </a:pPr>
            <a:r>
              <a:rPr lang="en-US" sz="24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🔍</a:t>
            </a:r>
          </a:p>
        </p:txBody>
      </p:sp>
      <p:sp>
        <p:nvSpPr>
          <p:cNvPr name="TextBox 79" id="79"/>
          <p:cNvSpPr txBox="true"/>
          <p:nvPr/>
        </p:nvSpPr>
        <p:spPr>
          <a:xfrm rot="0">
            <a:off x="9151077" y="6459179"/>
            <a:ext cx="2356561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1"/>
              </a:lnSpc>
            </a:pPr>
            <a:r>
              <a:rPr lang="en-US" sz="15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Hybrid search</a:t>
            </a:r>
          </a:p>
        </p:txBody>
      </p:sp>
      <p:sp>
        <p:nvSpPr>
          <p:cNvPr name="TextBox 80" id="80"/>
          <p:cNvSpPr txBox="true"/>
          <p:nvPr/>
        </p:nvSpPr>
        <p:spPr>
          <a:xfrm rot="0">
            <a:off x="9151077" y="6890033"/>
            <a:ext cx="2356561" cy="10257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BM25 + pgvector</a:t>
            </a:r>
          </a:p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RRF fusion</a:t>
            </a:r>
          </a:p>
        </p:txBody>
      </p:sp>
      <p:grpSp>
        <p:nvGrpSpPr>
          <p:cNvPr name="Group 81" id="81"/>
          <p:cNvGrpSpPr/>
          <p:nvPr/>
        </p:nvGrpSpPr>
        <p:grpSpPr>
          <a:xfrm rot="0">
            <a:off x="11729199" y="5895346"/>
            <a:ext cx="2553738" cy="2279209"/>
            <a:chOff x="0" y="0"/>
            <a:chExt cx="3404984" cy="3038945"/>
          </a:xfrm>
        </p:grpSpPr>
        <p:sp>
          <p:nvSpPr>
            <p:cNvPr name="Freeform 82" id="82"/>
            <p:cNvSpPr/>
            <p:nvPr/>
          </p:nvSpPr>
          <p:spPr>
            <a:xfrm flipH="false" flipV="false" rot="0">
              <a:off x="9525" y="9525"/>
              <a:ext cx="3385947" cy="3019933"/>
            </a:xfrm>
            <a:custGeom>
              <a:avLst/>
              <a:gdLst/>
              <a:ahLst/>
              <a:cxnLst/>
              <a:rect r="r" b="b" t="t" l="l"/>
              <a:pathLst>
                <a:path h="3019933" w="3385947">
                  <a:moveTo>
                    <a:pt x="0" y="0"/>
                  </a:moveTo>
                  <a:lnTo>
                    <a:pt x="3385947" y="0"/>
                  </a:lnTo>
                  <a:lnTo>
                    <a:pt x="3385947" y="3019933"/>
                  </a:lnTo>
                  <a:lnTo>
                    <a:pt x="0" y="3019933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3404997" cy="3038983"/>
            </a:xfrm>
            <a:custGeom>
              <a:avLst/>
              <a:gdLst/>
              <a:ahLst/>
              <a:cxnLst/>
              <a:rect r="r" b="b" t="t" l="l"/>
              <a:pathLst>
                <a:path h="3038983" w="3404997">
                  <a:moveTo>
                    <a:pt x="9525" y="0"/>
                  </a:moveTo>
                  <a:lnTo>
                    <a:pt x="3395472" y="0"/>
                  </a:lnTo>
                  <a:cubicBezTo>
                    <a:pt x="3400679" y="0"/>
                    <a:pt x="3404997" y="4318"/>
                    <a:pt x="3404997" y="9525"/>
                  </a:cubicBezTo>
                  <a:lnTo>
                    <a:pt x="3404997" y="3029458"/>
                  </a:lnTo>
                  <a:cubicBezTo>
                    <a:pt x="3404997" y="3034665"/>
                    <a:pt x="3400679" y="3038983"/>
                    <a:pt x="3395472" y="3038983"/>
                  </a:cubicBezTo>
                  <a:lnTo>
                    <a:pt x="9525" y="3038983"/>
                  </a:lnTo>
                  <a:cubicBezTo>
                    <a:pt x="4318" y="3038983"/>
                    <a:pt x="0" y="3034665"/>
                    <a:pt x="0" y="3029458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3029458"/>
                  </a:lnTo>
                  <a:lnTo>
                    <a:pt x="9525" y="3029458"/>
                  </a:lnTo>
                  <a:lnTo>
                    <a:pt x="9525" y="3019933"/>
                  </a:lnTo>
                  <a:lnTo>
                    <a:pt x="3395472" y="3019933"/>
                  </a:lnTo>
                  <a:lnTo>
                    <a:pt x="3395472" y="3029458"/>
                  </a:lnTo>
                  <a:lnTo>
                    <a:pt x="3385947" y="3029458"/>
                  </a:lnTo>
                  <a:lnTo>
                    <a:pt x="3385947" y="9525"/>
                  </a:lnTo>
                  <a:lnTo>
                    <a:pt x="3395472" y="9525"/>
                  </a:lnTo>
                  <a:lnTo>
                    <a:pt x="3395472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sp>
        <p:nvSpPr>
          <p:cNvPr name="TextBox 84" id="84"/>
          <p:cNvSpPr txBox="true"/>
          <p:nvPr/>
        </p:nvSpPr>
        <p:spPr>
          <a:xfrm rot="0">
            <a:off x="11827793" y="5951296"/>
            <a:ext cx="2356561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82"/>
              </a:lnSpc>
            </a:pPr>
            <a:r>
              <a:rPr lang="en-US" sz="24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🔃</a:t>
            </a:r>
          </a:p>
        </p:txBody>
      </p:sp>
      <p:sp>
        <p:nvSpPr>
          <p:cNvPr name="TextBox 85" id="85"/>
          <p:cNvSpPr txBox="true"/>
          <p:nvPr/>
        </p:nvSpPr>
        <p:spPr>
          <a:xfrm rot="0">
            <a:off x="11827793" y="6459179"/>
            <a:ext cx="2356561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1"/>
              </a:lnSpc>
            </a:pPr>
            <a:r>
              <a:rPr lang="en-US" sz="15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Re-rank</a:t>
            </a:r>
          </a:p>
        </p:txBody>
      </p:sp>
      <p:sp>
        <p:nvSpPr>
          <p:cNvPr name="TextBox 86" id="86"/>
          <p:cNvSpPr txBox="true"/>
          <p:nvPr/>
        </p:nvSpPr>
        <p:spPr>
          <a:xfrm rot="0">
            <a:off x="11827793" y="6890033"/>
            <a:ext cx="2356561" cy="10257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Gemini ranks</a:t>
            </a:r>
          </a:p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top k/2</a:t>
            </a:r>
          </a:p>
        </p:txBody>
      </p:sp>
      <p:grpSp>
        <p:nvGrpSpPr>
          <p:cNvPr name="Group 87" id="87"/>
          <p:cNvGrpSpPr/>
          <p:nvPr/>
        </p:nvGrpSpPr>
        <p:grpSpPr>
          <a:xfrm rot="0">
            <a:off x="14405915" y="5895346"/>
            <a:ext cx="2553738" cy="2279209"/>
            <a:chOff x="0" y="0"/>
            <a:chExt cx="3404984" cy="3038945"/>
          </a:xfrm>
        </p:grpSpPr>
        <p:sp>
          <p:nvSpPr>
            <p:cNvPr name="Freeform 88" id="88"/>
            <p:cNvSpPr/>
            <p:nvPr/>
          </p:nvSpPr>
          <p:spPr>
            <a:xfrm flipH="false" flipV="false" rot="0">
              <a:off x="9525" y="9525"/>
              <a:ext cx="3385947" cy="3019933"/>
            </a:xfrm>
            <a:custGeom>
              <a:avLst/>
              <a:gdLst/>
              <a:ahLst/>
              <a:cxnLst/>
              <a:rect r="r" b="b" t="t" l="l"/>
              <a:pathLst>
                <a:path h="3019933" w="3385947">
                  <a:moveTo>
                    <a:pt x="0" y="0"/>
                  </a:moveTo>
                  <a:lnTo>
                    <a:pt x="3385947" y="0"/>
                  </a:lnTo>
                  <a:lnTo>
                    <a:pt x="3385947" y="3019933"/>
                  </a:lnTo>
                  <a:lnTo>
                    <a:pt x="0" y="3019933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3404997" cy="3038983"/>
            </a:xfrm>
            <a:custGeom>
              <a:avLst/>
              <a:gdLst/>
              <a:ahLst/>
              <a:cxnLst/>
              <a:rect r="r" b="b" t="t" l="l"/>
              <a:pathLst>
                <a:path h="3038983" w="3404997">
                  <a:moveTo>
                    <a:pt x="9525" y="0"/>
                  </a:moveTo>
                  <a:lnTo>
                    <a:pt x="3395472" y="0"/>
                  </a:lnTo>
                  <a:cubicBezTo>
                    <a:pt x="3400679" y="0"/>
                    <a:pt x="3404997" y="4318"/>
                    <a:pt x="3404997" y="9525"/>
                  </a:cubicBezTo>
                  <a:lnTo>
                    <a:pt x="3404997" y="3029458"/>
                  </a:lnTo>
                  <a:cubicBezTo>
                    <a:pt x="3404997" y="3034665"/>
                    <a:pt x="3400679" y="3038983"/>
                    <a:pt x="3395472" y="3038983"/>
                  </a:cubicBezTo>
                  <a:lnTo>
                    <a:pt x="9525" y="3038983"/>
                  </a:lnTo>
                  <a:cubicBezTo>
                    <a:pt x="4318" y="3038983"/>
                    <a:pt x="0" y="3034665"/>
                    <a:pt x="0" y="3029458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3029458"/>
                  </a:lnTo>
                  <a:lnTo>
                    <a:pt x="9525" y="3029458"/>
                  </a:lnTo>
                  <a:lnTo>
                    <a:pt x="9525" y="3019933"/>
                  </a:lnTo>
                  <a:lnTo>
                    <a:pt x="3395472" y="3019933"/>
                  </a:lnTo>
                  <a:lnTo>
                    <a:pt x="3395472" y="3029458"/>
                  </a:lnTo>
                  <a:lnTo>
                    <a:pt x="3385947" y="3029458"/>
                  </a:lnTo>
                  <a:lnTo>
                    <a:pt x="3385947" y="9525"/>
                  </a:lnTo>
                  <a:lnTo>
                    <a:pt x="3395472" y="9525"/>
                  </a:lnTo>
                  <a:lnTo>
                    <a:pt x="3395472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90" id="90"/>
          <p:cNvSpPr txBox="true"/>
          <p:nvPr/>
        </p:nvSpPr>
        <p:spPr>
          <a:xfrm rot="0">
            <a:off x="14504499" y="5951296"/>
            <a:ext cx="2356561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82"/>
              </a:lnSpc>
            </a:pPr>
            <a:r>
              <a:rPr lang="en-US" sz="24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📎</a:t>
            </a:r>
          </a:p>
        </p:txBody>
      </p:sp>
      <p:sp>
        <p:nvSpPr>
          <p:cNvPr name="TextBox 91" id="91"/>
          <p:cNvSpPr txBox="true"/>
          <p:nvPr/>
        </p:nvSpPr>
        <p:spPr>
          <a:xfrm rot="0">
            <a:off x="14504499" y="6459179"/>
            <a:ext cx="2356561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1"/>
              </a:lnSpc>
            </a:pPr>
            <a:r>
              <a:rPr lang="en-US" sz="15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Response</a:t>
            </a:r>
          </a:p>
        </p:txBody>
      </p:sp>
      <p:sp>
        <p:nvSpPr>
          <p:cNvPr name="TextBox 92" id="92"/>
          <p:cNvSpPr txBox="true"/>
          <p:nvPr/>
        </p:nvSpPr>
        <p:spPr>
          <a:xfrm rot="0">
            <a:off x="14504499" y="6890033"/>
            <a:ext cx="2356561" cy="10257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[Chunk N] cites</a:t>
            </a:r>
          </a:p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similarity %</a:t>
            </a:r>
          </a:p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SSE</a:t>
            </a:r>
          </a:p>
        </p:txBody>
      </p:sp>
      <p:sp>
        <p:nvSpPr>
          <p:cNvPr name="TextBox 93" id="93"/>
          <p:cNvSpPr txBox="true"/>
          <p:nvPr/>
        </p:nvSpPr>
        <p:spPr>
          <a:xfrm rot="0">
            <a:off x="5719391" y="3458347"/>
            <a:ext cx="1052522" cy="3394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41"/>
              </a:lnSpc>
            </a:pPr>
            <a:r>
              <a:rPr lang="en-US" sz="1200">
                <a:solidFill>
                  <a:srgbClr val="059669"/>
                </a:solidFill>
                <a:latin typeface="Calibri (MS)"/>
                <a:ea typeface="Calibri (MS)"/>
                <a:cs typeface="Calibri (MS)"/>
                <a:sym typeface="Calibri (MS)"/>
              </a:rPr>
              <a:t>ingest →</a:t>
            </a:r>
          </a:p>
        </p:txBody>
      </p:sp>
      <p:sp>
        <p:nvSpPr>
          <p:cNvPr name="TextBox 94" id="94"/>
          <p:cNvSpPr txBox="true"/>
          <p:nvPr/>
        </p:nvSpPr>
        <p:spPr>
          <a:xfrm rot="0">
            <a:off x="5719391" y="6752768"/>
            <a:ext cx="1052522" cy="3394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query →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5048" y="488051"/>
            <a:ext cx="16289188" cy="427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PIPELINE DETAIL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15048" y="989495"/>
            <a:ext cx="16289188" cy="13669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64"/>
              </a:lnSpc>
            </a:pPr>
            <a:r>
              <a:rPr lang="en-US" sz="4803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Ingest flow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23608" y="1853108"/>
            <a:ext cx="16650519" cy="57198"/>
            <a:chOff x="0" y="0"/>
            <a:chExt cx="22200692" cy="7626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2200743" cy="76200"/>
            </a:xfrm>
            <a:custGeom>
              <a:avLst/>
              <a:gdLst/>
              <a:ahLst/>
              <a:cxnLst/>
              <a:rect r="r" b="b" t="t" l="l"/>
              <a:pathLst>
                <a:path h="76200" w="22200743">
                  <a:moveTo>
                    <a:pt x="0" y="0"/>
                  </a:moveTo>
                  <a:lnTo>
                    <a:pt x="22200743" y="0"/>
                  </a:lnTo>
                  <a:lnTo>
                    <a:pt x="22200743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059669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404651" y="2189131"/>
            <a:ext cx="4269581" cy="7426728"/>
            <a:chOff x="0" y="0"/>
            <a:chExt cx="5692775" cy="990230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9525" y="9525"/>
              <a:ext cx="5673725" cy="9883267"/>
            </a:xfrm>
            <a:custGeom>
              <a:avLst/>
              <a:gdLst/>
              <a:ahLst/>
              <a:cxnLst/>
              <a:rect r="r" b="b" t="t" l="l"/>
              <a:pathLst>
                <a:path h="9883267" w="5673725">
                  <a:moveTo>
                    <a:pt x="0" y="0"/>
                  </a:moveTo>
                  <a:lnTo>
                    <a:pt x="5673725" y="0"/>
                  </a:lnTo>
                  <a:lnTo>
                    <a:pt x="5673725" y="9883267"/>
                  </a:lnTo>
                  <a:lnTo>
                    <a:pt x="0" y="9883267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92775" cy="9902317"/>
            </a:xfrm>
            <a:custGeom>
              <a:avLst/>
              <a:gdLst/>
              <a:ahLst/>
              <a:cxnLst/>
              <a:rect r="r" b="b" t="t" l="l"/>
              <a:pathLst>
                <a:path h="9902317" w="5692775">
                  <a:moveTo>
                    <a:pt x="9525" y="0"/>
                  </a:moveTo>
                  <a:lnTo>
                    <a:pt x="5683250" y="0"/>
                  </a:lnTo>
                  <a:cubicBezTo>
                    <a:pt x="5688457" y="0"/>
                    <a:pt x="5692775" y="4318"/>
                    <a:pt x="5692775" y="9525"/>
                  </a:cubicBezTo>
                  <a:lnTo>
                    <a:pt x="5692775" y="9892792"/>
                  </a:lnTo>
                  <a:cubicBezTo>
                    <a:pt x="5692775" y="9897999"/>
                    <a:pt x="5688457" y="9902317"/>
                    <a:pt x="5683250" y="9902317"/>
                  </a:cubicBezTo>
                  <a:lnTo>
                    <a:pt x="9525" y="9902317"/>
                  </a:lnTo>
                  <a:cubicBezTo>
                    <a:pt x="4318" y="9902317"/>
                    <a:pt x="0" y="9897999"/>
                    <a:pt x="0" y="9892792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9892792"/>
                  </a:lnTo>
                  <a:lnTo>
                    <a:pt x="9525" y="9892792"/>
                  </a:lnTo>
                  <a:lnTo>
                    <a:pt x="9525" y="9883267"/>
                  </a:lnTo>
                  <a:lnTo>
                    <a:pt x="5683250" y="9883267"/>
                  </a:lnTo>
                  <a:lnTo>
                    <a:pt x="5683250" y="9892792"/>
                  </a:lnTo>
                  <a:lnTo>
                    <a:pt x="5673725" y="9892792"/>
                  </a:lnTo>
                  <a:lnTo>
                    <a:pt x="5673725" y="9525"/>
                  </a:lnTo>
                  <a:lnTo>
                    <a:pt x="5683250" y="9525"/>
                  </a:lnTo>
                  <a:lnTo>
                    <a:pt x="5683250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059669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503244" y="2243957"/>
            <a:ext cx="4072404" cy="7302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23"/>
              </a:lnSpc>
            </a:pPr>
            <a:r>
              <a:rPr lang="en-US" sz="36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📄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503244" y="3017977"/>
            <a:ext cx="4072404" cy="505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41"/>
              </a:lnSpc>
            </a:pPr>
            <a:r>
              <a:rPr lang="en-US" sz="19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 · Extract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709146" y="3654723"/>
            <a:ext cx="3660600" cy="32315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PyMuPDF reads every page verbatim with no token output limit. Null bytes stripped for Postgres UTF-8 compatibility.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12934" y="7133130"/>
            <a:ext cx="3853015" cy="627231"/>
            <a:chOff x="0" y="0"/>
            <a:chExt cx="5137353" cy="836308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6350" y="6350"/>
              <a:ext cx="5124704" cy="823595"/>
            </a:xfrm>
            <a:custGeom>
              <a:avLst/>
              <a:gdLst/>
              <a:ahLst/>
              <a:cxnLst/>
              <a:rect r="r" b="b" t="t" l="l"/>
              <a:pathLst>
                <a:path h="823595" w="5124704">
                  <a:moveTo>
                    <a:pt x="0" y="0"/>
                  </a:moveTo>
                  <a:lnTo>
                    <a:pt x="5124704" y="0"/>
                  </a:lnTo>
                  <a:lnTo>
                    <a:pt x="5124704" y="823595"/>
                  </a:lnTo>
                  <a:lnTo>
                    <a:pt x="0" y="82359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5137404" cy="836295"/>
            </a:xfrm>
            <a:custGeom>
              <a:avLst/>
              <a:gdLst/>
              <a:ahLst/>
              <a:cxnLst/>
              <a:rect r="r" b="b" t="t" l="l"/>
              <a:pathLst>
                <a:path h="836295" w="5137404">
                  <a:moveTo>
                    <a:pt x="6350" y="0"/>
                  </a:moveTo>
                  <a:lnTo>
                    <a:pt x="5131054" y="0"/>
                  </a:lnTo>
                  <a:cubicBezTo>
                    <a:pt x="5134610" y="0"/>
                    <a:pt x="5137404" y="2794"/>
                    <a:pt x="5137404" y="6350"/>
                  </a:cubicBezTo>
                  <a:lnTo>
                    <a:pt x="5137404" y="829945"/>
                  </a:lnTo>
                  <a:cubicBezTo>
                    <a:pt x="5137404" y="833501"/>
                    <a:pt x="5134610" y="836295"/>
                    <a:pt x="5131054" y="836295"/>
                  </a:cubicBezTo>
                  <a:lnTo>
                    <a:pt x="6350" y="836295"/>
                  </a:lnTo>
                  <a:cubicBezTo>
                    <a:pt x="2794" y="836295"/>
                    <a:pt x="0" y="833501"/>
                    <a:pt x="0" y="829945"/>
                  </a:cubicBezTo>
                  <a:lnTo>
                    <a:pt x="0" y="6350"/>
                  </a:lnTo>
                  <a:cubicBezTo>
                    <a:pt x="0" y="2794"/>
                    <a:pt x="2794" y="0"/>
                    <a:pt x="6350" y="0"/>
                  </a:cubicBezTo>
                  <a:moveTo>
                    <a:pt x="6350" y="12700"/>
                  </a:moveTo>
                  <a:lnTo>
                    <a:pt x="6350" y="6350"/>
                  </a:lnTo>
                  <a:lnTo>
                    <a:pt x="12700" y="6350"/>
                  </a:lnTo>
                  <a:lnTo>
                    <a:pt x="12700" y="829945"/>
                  </a:lnTo>
                  <a:lnTo>
                    <a:pt x="6350" y="829945"/>
                  </a:lnTo>
                  <a:lnTo>
                    <a:pt x="6350" y="823595"/>
                  </a:lnTo>
                  <a:lnTo>
                    <a:pt x="5131054" y="823595"/>
                  </a:lnTo>
                  <a:lnTo>
                    <a:pt x="5131054" y="829945"/>
                  </a:lnTo>
                  <a:lnTo>
                    <a:pt x="5124704" y="829945"/>
                  </a:lnTo>
                  <a:lnTo>
                    <a:pt x="5124704" y="6350"/>
                  </a:lnTo>
                  <a:lnTo>
                    <a:pt x="5131054" y="6350"/>
                  </a:lnTo>
                  <a:lnTo>
                    <a:pt x="5131054" y="12700"/>
                  </a:lnTo>
                  <a:lnTo>
                    <a:pt x="6350" y="127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777773" y="7251125"/>
            <a:ext cx="3523336" cy="4175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1"/>
              </a:lnSpc>
            </a:pPr>
            <a:r>
              <a:rPr lang="en-US" sz="1351">
                <a:solidFill>
                  <a:srgbClr val="5B21B6"/>
                </a:solidFill>
                <a:latin typeface="Calibri (MS)"/>
                <a:ea typeface="Calibri (MS)"/>
                <a:cs typeface="Calibri (MS)"/>
                <a:sym typeface="Calibri (MS)"/>
              </a:rPr>
              <a:t>fitz.open(stream=…)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4824660" y="2189131"/>
            <a:ext cx="4269581" cy="7426728"/>
            <a:chOff x="0" y="0"/>
            <a:chExt cx="5692775" cy="9902304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9525" y="9525"/>
              <a:ext cx="5673725" cy="9883267"/>
            </a:xfrm>
            <a:custGeom>
              <a:avLst/>
              <a:gdLst/>
              <a:ahLst/>
              <a:cxnLst/>
              <a:rect r="r" b="b" t="t" l="l"/>
              <a:pathLst>
                <a:path h="9883267" w="5673725">
                  <a:moveTo>
                    <a:pt x="0" y="0"/>
                  </a:moveTo>
                  <a:lnTo>
                    <a:pt x="5673725" y="0"/>
                  </a:lnTo>
                  <a:lnTo>
                    <a:pt x="5673725" y="9883267"/>
                  </a:lnTo>
                  <a:lnTo>
                    <a:pt x="0" y="9883267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5692775" cy="9902317"/>
            </a:xfrm>
            <a:custGeom>
              <a:avLst/>
              <a:gdLst/>
              <a:ahLst/>
              <a:cxnLst/>
              <a:rect r="r" b="b" t="t" l="l"/>
              <a:pathLst>
                <a:path h="9902317" w="5692775">
                  <a:moveTo>
                    <a:pt x="9525" y="0"/>
                  </a:moveTo>
                  <a:lnTo>
                    <a:pt x="5683250" y="0"/>
                  </a:lnTo>
                  <a:cubicBezTo>
                    <a:pt x="5688457" y="0"/>
                    <a:pt x="5692775" y="4318"/>
                    <a:pt x="5692775" y="9525"/>
                  </a:cubicBezTo>
                  <a:lnTo>
                    <a:pt x="5692775" y="9892792"/>
                  </a:lnTo>
                  <a:cubicBezTo>
                    <a:pt x="5692775" y="9897999"/>
                    <a:pt x="5688457" y="9902317"/>
                    <a:pt x="5683250" y="9902317"/>
                  </a:cubicBezTo>
                  <a:lnTo>
                    <a:pt x="9525" y="9902317"/>
                  </a:lnTo>
                  <a:cubicBezTo>
                    <a:pt x="4318" y="9902317"/>
                    <a:pt x="0" y="9897999"/>
                    <a:pt x="0" y="9892792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9892792"/>
                  </a:lnTo>
                  <a:lnTo>
                    <a:pt x="9525" y="9892792"/>
                  </a:lnTo>
                  <a:lnTo>
                    <a:pt x="9525" y="9883267"/>
                  </a:lnTo>
                  <a:lnTo>
                    <a:pt x="5683250" y="9883267"/>
                  </a:lnTo>
                  <a:lnTo>
                    <a:pt x="5683250" y="9892792"/>
                  </a:lnTo>
                  <a:lnTo>
                    <a:pt x="5673725" y="9892792"/>
                  </a:lnTo>
                  <a:lnTo>
                    <a:pt x="5673725" y="9525"/>
                  </a:lnTo>
                  <a:lnTo>
                    <a:pt x="5683250" y="9525"/>
                  </a:lnTo>
                  <a:lnTo>
                    <a:pt x="5683250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A78BFA"/>
            </a:solidFill>
          </p:spPr>
        </p:sp>
      </p:grpSp>
      <p:sp>
        <p:nvSpPr>
          <p:cNvPr name="TextBox 19" id="19"/>
          <p:cNvSpPr txBox="true"/>
          <p:nvPr/>
        </p:nvSpPr>
        <p:spPr>
          <a:xfrm rot="0">
            <a:off x="4923244" y="2243957"/>
            <a:ext cx="4072404" cy="7302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23"/>
              </a:lnSpc>
            </a:pPr>
            <a:r>
              <a:rPr lang="en-US" sz="36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✂️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4923244" y="3017977"/>
            <a:ext cx="4072404" cy="505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41"/>
              </a:lnSpc>
            </a:pPr>
            <a:r>
              <a:rPr lang="en-US" sz="19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2 · Chunk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5129146" y="3654723"/>
            <a:ext cx="3660600" cy="32315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tiktoken counts total tokens → compute_params() selects chunk_size and k. Sentence-boundary splits with 64-token overlap. Parent text (prev+self+next) stored for LLM context.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5032943" y="7133130"/>
            <a:ext cx="3853015" cy="627231"/>
            <a:chOff x="0" y="0"/>
            <a:chExt cx="5137353" cy="836308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6350" y="6350"/>
              <a:ext cx="5124704" cy="823595"/>
            </a:xfrm>
            <a:custGeom>
              <a:avLst/>
              <a:gdLst/>
              <a:ahLst/>
              <a:cxnLst/>
              <a:rect r="r" b="b" t="t" l="l"/>
              <a:pathLst>
                <a:path h="823595" w="5124704">
                  <a:moveTo>
                    <a:pt x="0" y="0"/>
                  </a:moveTo>
                  <a:lnTo>
                    <a:pt x="5124704" y="0"/>
                  </a:lnTo>
                  <a:lnTo>
                    <a:pt x="5124704" y="823595"/>
                  </a:lnTo>
                  <a:lnTo>
                    <a:pt x="0" y="82359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5137404" cy="836295"/>
            </a:xfrm>
            <a:custGeom>
              <a:avLst/>
              <a:gdLst/>
              <a:ahLst/>
              <a:cxnLst/>
              <a:rect r="r" b="b" t="t" l="l"/>
              <a:pathLst>
                <a:path h="836295" w="5137404">
                  <a:moveTo>
                    <a:pt x="6350" y="0"/>
                  </a:moveTo>
                  <a:lnTo>
                    <a:pt x="5131054" y="0"/>
                  </a:lnTo>
                  <a:cubicBezTo>
                    <a:pt x="5134610" y="0"/>
                    <a:pt x="5137404" y="2794"/>
                    <a:pt x="5137404" y="6350"/>
                  </a:cubicBezTo>
                  <a:lnTo>
                    <a:pt x="5137404" y="829945"/>
                  </a:lnTo>
                  <a:cubicBezTo>
                    <a:pt x="5137404" y="833501"/>
                    <a:pt x="5134610" y="836295"/>
                    <a:pt x="5131054" y="836295"/>
                  </a:cubicBezTo>
                  <a:lnTo>
                    <a:pt x="6350" y="836295"/>
                  </a:lnTo>
                  <a:cubicBezTo>
                    <a:pt x="2794" y="836295"/>
                    <a:pt x="0" y="833501"/>
                    <a:pt x="0" y="829945"/>
                  </a:cubicBezTo>
                  <a:lnTo>
                    <a:pt x="0" y="6350"/>
                  </a:lnTo>
                  <a:cubicBezTo>
                    <a:pt x="0" y="2794"/>
                    <a:pt x="2794" y="0"/>
                    <a:pt x="6350" y="0"/>
                  </a:cubicBezTo>
                  <a:moveTo>
                    <a:pt x="6350" y="12700"/>
                  </a:moveTo>
                  <a:lnTo>
                    <a:pt x="6350" y="6350"/>
                  </a:lnTo>
                  <a:lnTo>
                    <a:pt x="12700" y="6350"/>
                  </a:lnTo>
                  <a:lnTo>
                    <a:pt x="12700" y="829945"/>
                  </a:lnTo>
                  <a:lnTo>
                    <a:pt x="6350" y="829945"/>
                  </a:lnTo>
                  <a:lnTo>
                    <a:pt x="6350" y="823595"/>
                  </a:lnTo>
                  <a:lnTo>
                    <a:pt x="5131054" y="823595"/>
                  </a:lnTo>
                  <a:lnTo>
                    <a:pt x="5131054" y="829945"/>
                  </a:lnTo>
                  <a:lnTo>
                    <a:pt x="5124704" y="829945"/>
                  </a:lnTo>
                  <a:lnTo>
                    <a:pt x="5124704" y="6350"/>
                  </a:lnTo>
                  <a:lnTo>
                    <a:pt x="5131054" y="6350"/>
                  </a:lnTo>
                  <a:lnTo>
                    <a:pt x="5131054" y="12700"/>
                  </a:lnTo>
                  <a:lnTo>
                    <a:pt x="6350" y="127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25" id="25"/>
          <p:cNvSpPr txBox="true"/>
          <p:nvPr/>
        </p:nvSpPr>
        <p:spPr>
          <a:xfrm rot="0">
            <a:off x="5197783" y="7251125"/>
            <a:ext cx="3523336" cy="4175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1"/>
              </a:lnSpc>
            </a:pPr>
            <a:r>
              <a:rPr lang="en-US" sz="1351">
                <a:solidFill>
                  <a:srgbClr val="5B21B6"/>
                </a:solidFill>
                <a:latin typeface="Calibri (MS)"/>
                <a:ea typeface="Calibri (MS)"/>
                <a:cs typeface="Calibri (MS)"/>
                <a:sym typeface="Calibri (MS)"/>
              </a:rPr>
              <a:t>chunk_text(text, chunk_size)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9244660" y="2189131"/>
            <a:ext cx="4269581" cy="7426728"/>
            <a:chOff x="0" y="0"/>
            <a:chExt cx="5692775" cy="9902304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9525" y="9525"/>
              <a:ext cx="5673725" cy="9883267"/>
            </a:xfrm>
            <a:custGeom>
              <a:avLst/>
              <a:gdLst/>
              <a:ahLst/>
              <a:cxnLst/>
              <a:rect r="r" b="b" t="t" l="l"/>
              <a:pathLst>
                <a:path h="9883267" w="5673725">
                  <a:moveTo>
                    <a:pt x="0" y="0"/>
                  </a:moveTo>
                  <a:lnTo>
                    <a:pt x="5673725" y="0"/>
                  </a:lnTo>
                  <a:lnTo>
                    <a:pt x="5673725" y="9883267"/>
                  </a:lnTo>
                  <a:lnTo>
                    <a:pt x="0" y="9883267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5692775" cy="9902317"/>
            </a:xfrm>
            <a:custGeom>
              <a:avLst/>
              <a:gdLst/>
              <a:ahLst/>
              <a:cxnLst/>
              <a:rect r="r" b="b" t="t" l="l"/>
              <a:pathLst>
                <a:path h="9902317" w="5692775">
                  <a:moveTo>
                    <a:pt x="9525" y="0"/>
                  </a:moveTo>
                  <a:lnTo>
                    <a:pt x="5683250" y="0"/>
                  </a:lnTo>
                  <a:cubicBezTo>
                    <a:pt x="5688457" y="0"/>
                    <a:pt x="5692775" y="4318"/>
                    <a:pt x="5692775" y="9525"/>
                  </a:cubicBezTo>
                  <a:lnTo>
                    <a:pt x="5692775" y="9892792"/>
                  </a:lnTo>
                  <a:cubicBezTo>
                    <a:pt x="5692775" y="9897999"/>
                    <a:pt x="5688457" y="9902317"/>
                    <a:pt x="5683250" y="9902317"/>
                  </a:cubicBezTo>
                  <a:lnTo>
                    <a:pt x="9525" y="9902317"/>
                  </a:lnTo>
                  <a:cubicBezTo>
                    <a:pt x="4318" y="9902317"/>
                    <a:pt x="0" y="9897999"/>
                    <a:pt x="0" y="9892792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9892792"/>
                  </a:lnTo>
                  <a:lnTo>
                    <a:pt x="9525" y="9892792"/>
                  </a:lnTo>
                  <a:lnTo>
                    <a:pt x="9525" y="9883267"/>
                  </a:lnTo>
                  <a:lnTo>
                    <a:pt x="5683250" y="9883267"/>
                  </a:lnTo>
                  <a:lnTo>
                    <a:pt x="5683250" y="9892792"/>
                  </a:lnTo>
                  <a:lnTo>
                    <a:pt x="5673725" y="9892792"/>
                  </a:lnTo>
                  <a:lnTo>
                    <a:pt x="5673725" y="9525"/>
                  </a:lnTo>
                  <a:lnTo>
                    <a:pt x="5683250" y="9525"/>
                  </a:lnTo>
                  <a:lnTo>
                    <a:pt x="5683250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4285F4"/>
            </a:solidFill>
          </p:spPr>
        </p:sp>
      </p:grpSp>
      <p:sp>
        <p:nvSpPr>
          <p:cNvPr name="TextBox 29" id="29"/>
          <p:cNvSpPr txBox="true"/>
          <p:nvPr/>
        </p:nvSpPr>
        <p:spPr>
          <a:xfrm rot="0">
            <a:off x="9343253" y="2243957"/>
            <a:ext cx="4072404" cy="7302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23"/>
              </a:lnSpc>
            </a:pPr>
            <a:r>
              <a:rPr lang="en-US" sz="36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🧠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9343253" y="3017977"/>
            <a:ext cx="4072404" cy="505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41"/>
              </a:lnSpc>
            </a:pPr>
            <a:r>
              <a:rPr lang="en-US" sz="19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3 · Embed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9549155" y="3654723"/>
            <a:ext cx="3660600" cy="32315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All chunks embedded concurrently via asyncio.gather. Exponential backoff retries on 429/503. Task type RETRIEVAL_DOCUMENT for higher retrieval accuracy.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9452943" y="7133130"/>
            <a:ext cx="3853015" cy="627231"/>
            <a:chOff x="0" y="0"/>
            <a:chExt cx="5137353" cy="836308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6350" y="6350"/>
              <a:ext cx="5124704" cy="823595"/>
            </a:xfrm>
            <a:custGeom>
              <a:avLst/>
              <a:gdLst/>
              <a:ahLst/>
              <a:cxnLst/>
              <a:rect r="r" b="b" t="t" l="l"/>
              <a:pathLst>
                <a:path h="823595" w="5124704">
                  <a:moveTo>
                    <a:pt x="0" y="0"/>
                  </a:moveTo>
                  <a:lnTo>
                    <a:pt x="5124704" y="0"/>
                  </a:lnTo>
                  <a:lnTo>
                    <a:pt x="5124704" y="823595"/>
                  </a:lnTo>
                  <a:lnTo>
                    <a:pt x="0" y="82359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5137404" cy="836295"/>
            </a:xfrm>
            <a:custGeom>
              <a:avLst/>
              <a:gdLst/>
              <a:ahLst/>
              <a:cxnLst/>
              <a:rect r="r" b="b" t="t" l="l"/>
              <a:pathLst>
                <a:path h="836295" w="5137404">
                  <a:moveTo>
                    <a:pt x="6350" y="0"/>
                  </a:moveTo>
                  <a:lnTo>
                    <a:pt x="5131054" y="0"/>
                  </a:lnTo>
                  <a:cubicBezTo>
                    <a:pt x="5134610" y="0"/>
                    <a:pt x="5137404" y="2794"/>
                    <a:pt x="5137404" y="6350"/>
                  </a:cubicBezTo>
                  <a:lnTo>
                    <a:pt x="5137404" y="829945"/>
                  </a:lnTo>
                  <a:cubicBezTo>
                    <a:pt x="5137404" y="833501"/>
                    <a:pt x="5134610" y="836295"/>
                    <a:pt x="5131054" y="836295"/>
                  </a:cubicBezTo>
                  <a:lnTo>
                    <a:pt x="6350" y="836295"/>
                  </a:lnTo>
                  <a:cubicBezTo>
                    <a:pt x="2794" y="836295"/>
                    <a:pt x="0" y="833501"/>
                    <a:pt x="0" y="829945"/>
                  </a:cubicBezTo>
                  <a:lnTo>
                    <a:pt x="0" y="6350"/>
                  </a:lnTo>
                  <a:cubicBezTo>
                    <a:pt x="0" y="2794"/>
                    <a:pt x="2794" y="0"/>
                    <a:pt x="6350" y="0"/>
                  </a:cubicBezTo>
                  <a:moveTo>
                    <a:pt x="6350" y="12700"/>
                  </a:moveTo>
                  <a:lnTo>
                    <a:pt x="6350" y="6350"/>
                  </a:lnTo>
                  <a:lnTo>
                    <a:pt x="12700" y="6350"/>
                  </a:lnTo>
                  <a:lnTo>
                    <a:pt x="12700" y="829945"/>
                  </a:lnTo>
                  <a:lnTo>
                    <a:pt x="6350" y="829945"/>
                  </a:lnTo>
                  <a:lnTo>
                    <a:pt x="6350" y="823595"/>
                  </a:lnTo>
                  <a:lnTo>
                    <a:pt x="5131054" y="823595"/>
                  </a:lnTo>
                  <a:lnTo>
                    <a:pt x="5131054" y="829945"/>
                  </a:lnTo>
                  <a:lnTo>
                    <a:pt x="5124704" y="829945"/>
                  </a:lnTo>
                  <a:lnTo>
                    <a:pt x="5124704" y="6350"/>
                  </a:lnTo>
                  <a:lnTo>
                    <a:pt x="5131054" y="6350"/>
                  </a:lnTo>
                  <a:lnTo>
                    <a:pt x="5131054" y="12700"/>
                  </a:lnTo>
                  <a:lnTo>
                    <a:pt x="6350" y="127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35" id="35"/>
          <p:cNvSpPr txBox="true"/>
          <p:nvPr/>
        </p:nvSpPr>
        <p:spPr>
          <a:xfrm rot="0">
            <a:off x="9617783" y="7251125"/>
            <a:ext cx="3523336" cy="4175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1"/>
              </a:lnSpc>
            </a:pPr>
            <a:r>
              <a:rPr lang="en-US" sz="1351">
                <a:solidFill>
                  <a:srgbClr val="5B21B6"/>
                </a:solidFill>
                <a:latin typeface="Calibri (MS)"/>
                <a:ea typeface="Calibri (MS)"/>
                <a:cs typeface="Calibri (MS)"/>
                <a:sym typeface="Calibri (MS)"/>
              </a:rPr>
              <a:t>gemini-embedding-2 · 768-dim</a:t>
            </a:r>
          </a:p>
        </p:txBody>
      </p:sp>
      <p:grpSp>
        <p:nvGrpSpPr>
          <p:cNvPr name="Group 36" id="36"/>
          <p:cNvGrpSpPr/>
          <p:nvPr/>
        </p:nvGrpSpPr>
        <p:grpSpPr>
          <a:xfrm rot="0">
            <a:off x="13664670" y="2189131"/>
            <a:ext cx="4269581" cy="7426728"/>
            <a:chOff x="0" y="0"/>
            <a:chExt cx="5692775" cy="9902304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9525" y="9525"/>
              <a:ext cx="5673725" cy="9883267"/>
            </a:xfrm>
            <a:custGeom>
              <a:avLst/>
              <a:gdLst/>
              <a:ahLst/>
              <a:cxnLst/>
              <a:rect r="r" b="b" t="t" l="l"/>
              <a:pathLst>
                <a:path h="9883267" w="5673725">
                  <a:moveTo>
                    <a:pt x="0" y="0"/>
                  </a:moveTo>
                  <a:lnTo>
                    <a:pt x="5673725" y="0"/>
                  </a:lnTo>
                  <a:lnTo>
                    <a:pt x="5673725" y="9883267"/>
                  </a:lnTo>
                  <a:lnTo>
                    <a:pt x="0" y="9883267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5692775" cy="9902317"/>
            </a:xfrm>
            <a:custGeom>
              <a:avLst/>
              <a:gdLst/>
              <a:ahLst/>
              <a:cxnLst/>
              <a:rect r="r" b="b" t="t" l="l"/>
              <a:pathLst>
                <a:path h="9902317" w="5692775">
                  <a:moveTo>
                    <a:pt x="9525" y="0"/>
                  </a:moveTo>
                  <a:lnTo>
                    <a:pt x="5683250" y="0"/>
                  </a:lnTo>
                  <a:cubicBezTo>
                    <a:pt x="5688457" y="0"/>
                    <a:pt x="5692775" y="4318"/>
                    <a:pt x="5692775" y="9525"/>
                  </a:cubicBezTo>
                  <a:lnTo>
                    <a:pt x="5692775" y="9892792"/>
                  </a:lnTo>
                  <a:cubicBezTo>
                    <a:pt x="5692775" y="9897999"/>
                    <a:pt x="5688457" y="9902317"/>
                    <a:pt x="5683250" y="9902317"/>
                  </a:cubicBezTo>
                  <a:lnTo>
                    <a:pt x="9525" y="9902317"/>
                  </a:lnTo>
                  <a:cubicBezTo>
                    <a:pt x="4318" y="9902317"/>
                    <a:pt x="0" y="9897999"/>
                    <a:pt x="0" y="9892792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9892792"/>
                  </a:lnTo>
                  <a:lnTo>
                    <a:pt x="9525" y="9892792"/>
                  </a:lnTo>
                  <a:lnTo>
                    <a:pt x="9525" y="9883267"/>
                  </a:lnTo>
                  <a:lnTo>
                    <a:pt x="5683250" y="9883267"/>
                  </a:lnTo>
                  <a:lnTo>
                    <a:pt x="5683250" y="9892792"/>
                  </a:lnTo>
                  <a:lnTo>
                    <a:pt x="5673725" y="9892792"/>
                  </a:lnTo>
                  <a:lnTo>
                    <a:pt x="5673725" y="9525"/>
                  </a:lnTo>
                  <a:lnTo>
                    <a:pt x="5683250" y="9525"/>
                  </a:lnTo>
                  <a:lnTo>
                    <a:pt x="5683250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336791"/>
            </a:solidFill>
          </p:spPr>
        </p:sp>
      </p:grpSp>
      <p:sp>
        <p:nvSpPr>
          <p:cNvPr name="TextBox 39" id="39"/>
          <p:cNvSpPr txBox="true"/>
          <p:nvPr/>
        </p:nvSpPr>
        <p:spPr>
          <a:xfrm rot="0">
            <a:off x="13763254" y="2243957"/>
            <a:ext cx="4072404" cy="7302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23"/>
              </a:lnSpc>
            </a:pPr>
            <a:r>
              <a:rPr lang="en-US" sz="36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🗄️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3763254" y="3017977"/>
            <a:ext cx="4072404" cy="505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41"/>
              </a:lnSpc>
            </a:pPr>
            <a:r>
              <a:rPr lang="en-US" sz="19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4 · Store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3969155" y="3654723"/>
            <a:ext cx="3660600" cy="32315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Chunks + vectors + parent_text written to chunks table. doc_meta persists chunk_count and k. If same PDF is re-uploaded, doc_exists() detects the SHA-256 match and skips all of the above.</a:t>
            </a:r>
          </a:p>
        </p:txBody>
      </p:sp>
      <p:grpSp>
        <p:nvGrpSpPr>
          <p:cNvPr name="Group 42" id="42"/>
          <p:cNvGrpSpPr/>
          <p:nvPr/>
        </p:nvGrpSpPr>
        <p:grpSpPr>
          <a:xfrm rot="0">
            <a:off x="13872953" y="7133130"/>
            <a:ext cx="3853015" cy="627231"/>
            <a:chOff x="0" y="0"/>
            <a:chExt cx="5137353" cy="836308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6350" y="6350"/>
              <a:ext cx="5124704" cy="823595"/>
            </a:xfrm>
            <a:custGeom>
              <a:avLst/>
              <a:gdLst/>
              <a:ahLst/>
              <a:cxnLst/>
              <a:rect r="r" b="b" t="t" l="l"/>
              <a:pathLst>
                <a:path h="823595" w="5124704">
                  <a:moveTo>
                    <a:pt x="0" y="0"/>
                  </a:moveTo>
                  <a:lnTo>
                    <a:pt x="5124704" y="0"/>
                  </a:lnTo>
                  <a:lnTo>
                    <a:pt x="5124704" y="823595"/>
                  </a:lnTo>
                  <a:lnTo>
                    <a:pt x="0" y="82359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5137404" cy="836295"/>
            </a:xfrm>
            <a:custGeom>
              <a:avLst/>
              <a:gdLst/>
              <a:ahLst/>
              <a:cxnLst/>
              <a:rect r="r" b="b" t="t" l="l"/>
              <a:pathLst>
                <a:path h="836295" w="5137404">
                  <a:moveTo>
                    <a:pt x="6350" y="0"/>
                  </a:moveTo>
                  <a:lnTo>
                    <a:pt x="5131054" y="0"/>
                  </a:lnTo>
                  <a:cubicBezTo>
                    <a:pt x="5134610" y="0"/>
                    <a:pt x="5137404" y="2794"/>
                    <a:pt x="5137404" y="6350"/>
                  </a:cubicBezTo>
                  <a:lnTo>
                    <a:pt x="5137404" y="829945"/>
                  </a:lnTo>
                  <a:cubicBezTo>
                    <a:pt x="5137404" y="833501"/>
                    <a:pt x="5134610" y="836295"/>
                    <a:pt x="5131054" y="836295"/>
                  </a:cubicBezTo>
                  <a:lnTo>
                    <a:pt x="6350" y="836295"/>
                  </a:lnTo>
                  <a:cubicBezTo>
                    <a:pt x="2794" y="836295"/>
                    <a:pt x="0" y="833501"/>
                    <a:pt x="0" y="829945"/>
                  </a:cubicBezTo>
                  <a:lnTo>
                    <a:pt x="0" y="6350"/>
                  </a:lnTo>
                  <a:cubicBezTo>
                    <a:pt x="0" y="2794"/>
                    <a:pt x="2794" y="0"/>
                    <a:pt x="6350" y="0"/>
                  </a:cubicBezTo>
                  <a:moveTo>
                    <a:pt x="6350" y="12700"/>
                  </a:moveTo>
                  <a:lnTo>
                    <a:pt x="6350" y="6350"/>
                  </a:lnTo>
                  <a:lnTo>
                    <a:pt x="12700" y="6350"/>
                  </a:lnTo>
                  <a:lnTo>
                    <a:pt x="12700" y="829945"/>
                  </a:lnTo>
                  <a:lnTo>
                    <a:pt x="6350" y="829945"/>
                  </a:lnTo>
                  <a:lnTo>
                    <a:pt x="6350" y="823595"/>
                  </a:lnTo>
                  <a:lnTo>
                    <a:pt x="5131054" y="823595"/>
                  </a:lnTo>
                  <a:lnTo>
                    <a:pt x="5131054" y="829945"/>
                  </a:lnTo>
                  <a:lnTo>
                    <a:pt x="5124704" y="829945"/>
                  </a:lnTo>
                  <a:lnTo>
                    <a:pt x="5124704" y="6350"/>
                  </a:lnTo>
                  <a:lnTo>
                    <a:pt x="5131054" y="6350"/>
                  </a:lnTo>
                  <a:lnTo>
                    <a:pt x="5131054" y="12700"/>
                  </a:lnTo>
                  <a:lnTo>
                    <a:pt x="6350" y="127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45" id="45"/>
          <p:cNvSpPr txBox="true"/>
          <p:nvPr/>
        </p:nvSpPr>
        <p:spPr>
          <a:xfrm rot="0">
            <a:off x="14037793" y="7251125"/>
            <a:ext cx="3523336" cy="4175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1"/>
              </a:lnSpc>
            </a:pPr>
            <a:r>
              <a:rPr lang="en-US" sz="1351">
                <a:solidFill>
                  <a:srgbClr val="5B21B6"/>
                </a:solidFill>
                <a:latin typeface="Calibri (MS)"/>
                <a:ea typeface="Calibri (MS)"/>
                <a:cs typeface="Calibri (MS)"/>
                <a:sym typeface="Calibri (MS)"/>
              </a:rPr>
              <a:t>HNSW index · GIN tsvector index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5048" y="488051"/>
            <a:ext cx="16289188" cy="427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PIPELINE DETAIL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15048" y="989495"/>
            <a:ext cx="16289188" cy="13669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64"/>
              </a:lnSpc>
            </a:pPr>
            <a:r>
              <a:rPr lang="en-US" sz="4803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Query flow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23608" y="1853108"/>
            <a:ext cx="16650519" cy="57198"/>
            <a:chOff x="0" y="0"/>
            <a:chExt cx="22200692" cy="7626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2200743" cy="76200"/>
            </a:xfrm>
            <a:custGeom>
              <a:avLst/>
              <a:gdLst/>
              <a:ahLst/>
              <a:cxnLst/>
              <a:rect r="r" b="b" t="t" l="l"/>
              <a:pathLst>
                <a:path h="76200" w="22200743">
                  <a:moveTo>
                    <a:pt x="0" y="0"/>
                  </a:moveTo>
                  <a:lnTo>
                    <a:pt x="22200743" y="0"/>
                  </a:lnTo>
                  <a:lnTo>
                    <a:pt x="22200743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404651" y="2257758"/>
            <a:ext cx="17488414" cy="2210572"/>
            <a:chOff x="0" y="0"/>
            <a:chExt cx="23317886" cy="294742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9525" y="9525"/>
              <a:ext cx="23298786" cy="2928366"/>
            </a:xfrm>
            <a:custGeom>
              <a:avLst/>
              <a:gdLst/>
              <a:ahLst/>
              <a:cxnLst/>
              <a:rect r="r" b="b" t="t" l="l"/>
              <a:pathLst>
                <a:path h="2928366" w="23298786">
                  <a:moveTo>
                    <a:pt x="0" y="0"/>
                  </a:moveTo>
                  <a:lnTo>
                    <a:pt x="23298786" y="0"/>
                  </a:lnTo>
                  <a:lnTo>
                    <a:pt x="23298786" y="2928366"/>
                  </a:lnTo>
                  <a:lnTo>
                    <a:pt x="0" y="2928366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3317836" cy="2947416"/>
            </a:xfrm>
            <a:custGeom>
              <a:avLst/>
              <a:gdLst/>
              <a:ahLst/>
              <a:cxnLst/>
              <a:rect r="r" b="b" t="t" l="l"/>
              <a:pathLst>
                <a:path h="2947416" w="23317836">
                  <a:moveTo>
                    <a:pt x="9525" y="0"/>
                  </a:moveTo>
                  <a:lnTo>
                    <a:pt x="23308311" y="0"/>
                  </a:lnTo>
                  <a:cubicBezTo>
                    <a:pt x="23313518" y="0"/>
                    <a:pt x="23317836" y="4318"/>
                    <a:pt x="23317836" y="9525"/>
                  </a:cubicBezTo>
                  <a:lnTo>
                    <a:pt x="23317836" y="2937891"/>
                  </a:lnTo>
                  <a:cubicBezTo>
                    <a:pt x="23317836" y="2943098"/>
                    <a:pt x="23313518" y="2947416"/>
                    <a:pt x="23308311" y="2947416"/>
                  </a:cubicBezTo>
                  <a:lnTo>
                    <a:pt x="9525" y="2947416"/>
                  </a:lnTo>
                  <a:cubicBezTo>
                    <a:pt x="4318" y="2947416"/>
                    <a:pt x="0" y="2943098"/>
                    <a:pt x="0" y="2937891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2937891"/>
                  </a:lnTo>
                  <a:lnTo>
                    <a:pt x="9525" y="2937891"/>
                  </a:lnTo>
                  <a:lnTo>
                    <a:pt x="9525" y="2928366"/>
                  </a:lnTo>
                  <a:lnTo>
                    <a:pt x="23308311" y="2928366"/>
                  </a:lnTo>
                  <a:lnTo>
                    <a:pt x="23308311" y="2937891"/>
                  </a:lnTo>
                  <a:lnTo>
                    <a:pt x="23298786" y="2937891"/>
                  </a:lnTo>
                  <a:lnTo>
                    <a:pt x="23298786" y="9525"/>
                  </a:lnTo>
                  <a:lnTo>
                    <a:pt x="23308311" y="9525"/>
                  </a:lnTo>
                  <a:lnTo>
                    <a:pt x="23308311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503244" y="2349570"/>
            <a:ext cx="2974267" cy="5834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42"/>
              </a:lnSpc>
            </a:pPr>
            <a:r>
              <a:rPr lang="en-US" sz="27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💬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503244" y="2968390"/>
            <a:ext cx="2974267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User question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503244" y="3380194"/>
            <a:ext cx="2974267" cy="2803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plain text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3770205" y="2349570"/>
            <a:ext cx="2974267" cy="5834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42"/>
              </a:lnSpc>
            </a:pPr>
            <a:r>
              <a:rPr lang="en-US" sz="27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🧠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3770205" y="2968390"/>
            <a:ext cx="2974267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Embed query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3770205" y="3380194"/>
            <a:ext cx="2974267" cy="2803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RETRIEVAL_QUERY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7037165" y="2349570"/>
            <a:ext cx="2974267" cy="5834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42"/>
              </a:lnSpc>
            </a:pPr>
            <a:r>
              <a:rPr lang="en-US" sz="27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🔍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7037165" y="2968390"/>
            <a:ext cx="2974267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Hybrid search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7037165" y="3380194"/>
            <a:ext cx="2974267" cy="2803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BM25 + vector RRF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0304126" y="2349570"/>
            <a:ext cx="2974267" cy="5834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42"/>
              </a:lnSpc>
            </a:pPr>
            <a:r>
              <a:rPr lang="en-US" sz="27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🔃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0304126" y="2968390"/>
            <a:ext cx="2974267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Re-rank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0304126" y="3380194"/>
            <a:ext cx="2974267" cy="2803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Gemini · top k/2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3571087" y="2349570"/>
            <a:ext cx="2974267" cy="5834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42"/>
              </a:lnSpc>
            </a:pPr>
            <a:r>
              <a:rPr lang="en-US" sz="27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📎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3571087" y="2968390"/>
            <a:ext cx="2974267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Stream answer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3571087" y="3380194"/>
            <a:ext cx="2974267" cy="2803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SSE + citations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404651" y="4797200"/>
            <a:ext cx="8387601" cy="2759640"/>
            <a:chOff x="0" y="0"/>
            <a:chExt cx="11183468" cy="367952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9525" y="9525"/>
              <a:ext cx="11164443" cy="3660521"/>
            </a:xfrm>
            <a:custGeom>
              <a:avLst/>
              <a:gdLst/>
              <a:ahLst/>
              <a:cxnLst/>
              <a:rect r="r" b="b" t="t" l="l"/>
              <a:pathLst>
                <a:path h="3660521" w="11164443">
                  <a:moveTo>
                    <a:pt x="0" y="0"/>
                  </a:moveTo>
                  <a:lnTo>
                    <a:pt x="11164443" y="0"/>
                  </a:lnTo>
                  <a:lnTo>
                    <a:pt x="11164443" y="3660521"/>
                  </a:lnTo>
                  <a:lnTo>
                    <a:pt x="0" y="3660521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1183493" cy="3679571"/>
            </a:xfrm>
            <a:custGeom>
              <a:avLst/>
              <a:gdLst/>
              <a:ahLst/>
              <a:cxnLst/>
              <a:rect r="r" b="b" t="t" l="l"/>
              <a:pathLst>
                <a:path h="3679571" w="11183493">
                  <a:moveTo>
                    <a:pt x="9525" y="0"/>
                  </a:moveTo>
                  <a:lnTo>
                    <a:pt x="11173968" y="0"/>
                  </a:lnTo>
                  <a:cubicBezTo>
                    <a:pt x="11179175" y="0"/>
                    <a:pt x="11183493" y="4318"/>
                    <a:pt x="11183493" y="9525"/>
                  </a:cubicBezTo>
                  <a:lnTo>
                    <a:pt x="11183493" y="3670046"/>
                  </a:lnTo>
                  <a:cubicBezTo>
                    <a:pt x="11183493" y="3675253"/>
                    <a:pt x="11179175" y="3679571"/>
                    <a:pt x="11173968" y="3679571"/>
                  </a:cubicBezTo>
                  <a:lnTo>
                    <a:pt x="9525" y="3679571"/>
                  </a:lnTo>
                  <a:cubicBezTo>
                    <a:pt x="4318" y="3679571"/>
                    <a:pt x="0" y="3675253"/>
                    <a:pt x="0" y="3670046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3670046"/>
                  </a:lnTo>
                  <a:lnTo>
                    <a:pt x="9525" y="3670046"/>
                  </a:lnTo>
                  <a:lnTo>
                    <a:pt x="9525" y="3660521"/>
                  </a:lnTo>
                  <a:lnTo>
                    <a:pt x="11173968" y="3660521"/>
                  </a:lnTo>
                  <a:lnTo>
                    <a:pt x="11173968" y="3670046"/>
                  </a:lnTo>
                  <a:lnTo>
                    <a:pt x="11164443" y="3670046"/>
                  </a:lnTo>
                  <a:lnTo>
                    <a:pt x="11164443" y="9525"/>
                  </a:lnTo>
                  <a:lnTo>
                    <a:pt x="11173968" y="9525"/>
                  </a:lnTo>
                  <a:lnTo>
                    <a:pt x="11173968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27" id="27"/>
          <p:cNvSpPr txBox="true"/>
          <p:nvPr/>
        </p:nvSpPr>
        <p:spPr>
          <a:xfrm rot="0">
            <a:off x="777773" y="5008350"/>
            <a:ext cx="7641355" cy="436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System prompt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777773" y="5576468"/>
            <a:ext cx="7641355" cy="1721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i="true">
                <a:solidFill>
                  <a:srgbClr val="7C3AED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"Answer using ONLY the provided context. If insufficient: "I don't know." Cite sources as [Chunk N] inline."</a:t>
            </a:r>
          </a:p>
        </p:txBody>
      </p:sp>
      <p:grpSp>
        <p:nvGrpSpPr>
          <p:cNvPr name="Group 29" id="29"/>
          <p:cNvGrpSpPr/>
          <p:nvPr/>
        </p:nvGrpSpPr>
        <p:grpSpPr>
          <a:xfrm rot="0">
            <a:off x="9230935" y="4797200"/>
            <a:ext cx="8662130" cy="2759640"/>
            <a:chOff x="0" y="0"/>
            <a:chExt cx="11549507" cy="367952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9525" y="9525"/>
              <a:ext cx="11530457" cy="3660521"/>
            </a:xfrm>
            <a:custGeom>
              <a:avLst/>
              <a:gdLst/>
              <a:ahLst/>
              <a:cxnLst/>
              <a:rect r="r" b="b" t="t" l="l"/>
              <a:pathLst>
                <a:path h="3660521" w="11530457">
                  <a:moveTo>
                    <a:pt x="0" y="0"/>
                  </a:moveTo>
                  <a:lnTo>
                    <a:pt x="11530457" y="0"/>
                  </a:lnTo>
                  <a:lnTo>
                    <a:pt x="11530457" y="3660521"/>
                  </a:lnTo>
                  <a:lnTo>
                    <a:pt x="0" y="3660521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1549507" cy="3679571"/>
            </a:xfrm>
            <a:custGeom>
              <a:avLst/>
              <a:gdLst/>
              <a:ahLst/>
              <a:cxnLst/>
              <a:rect r="r" b="b" t="t" l="l"/>
              <a:pathLst>
                <a:path h="3679571" w="11549507">
                  <a:moveTo>
                    <a:pt x="9525" y="0"/>
                  </a:moveTo>
                  <a:lnTo>
                    <a:pt x="11539982" y="0"/>
                  </a:lnTo>
                  <a:cubicBezTo>
                    <a:pt x="11545188" y="0"/>
                    <a:pt x="11549507" y="4318"/>
                    <a:pt x="11549507" y="9525"/>
                  </a:cubicBezTo>
                  <a:lnTo>
                    <a:pt x="11549507" y="3670046"/>
                  </a:lnTo>
                  <a:cubicBezTo>
                    <a:pt x="11549507" y="3675253"/>
                    <a:pt x="11545188" y="3679571"/>
                    <a:pt x="11539982" y="3679571"/>
                  </a:cubicBezTo>
                  <a:lnTo>
                    <a:pt x="9525" y="3679571"/>
                  </a:lnTo>
                  <a:cubicBezTo>
                    <a:pt x="4318" y="3679571"/>
                    <a:pt x="0" y="3675253"/>
                    <a:pt x="0" y="3670046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3670046"/>
                  </a:lnTo>
                  <a:lnTo>
                    <a:pt x="9525" y="3670046"/>
                  </a:lnTo>
                  <a:lnTo>
                    <a:pt x="9525" y="3660521"/>
                  </a:lnTo>
                  <a:lnTo>
                    <a:pt x="11539982" y="3660521"/>
                  </a:lnTo>
                  <a:lnTo>
                    <a:pt x="11539982" y="3670046"/>
                  </a:lnTo>
                  <a:lnTo>
                    <a:pt x="11530457" y="3670046"/>
                  </a:lnTo>
                  <a:lnTo>
                    <a:pt x="11530457" y="9525"/>
                  </a:lnTo>
                  <a:lnTo>
                    <a:pt x="11539982" y="9525"/>
                  </a:lnTo>
                  <a:lnTo>
                    <a:pt x="11539982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32" id="32"/>
          <p:cNvSpPr txBox="true"/>
          <p:nvPr/>
        </p:nvSpPr>
        <p:spPr>
          <a:xfrm rot="0">
            <a:off x="9604057" y="5008350"/>
            <a:ext cx="7915885" cy="436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05966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Grounding guarantee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9604057" y="5576468"/>
            <a:ext cx="7915885" cy="1721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If pgvector returns zero results, the answer is short-circuited to 'I don't know.' before the LLM is called — no hallucination possible on empty retrieval.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503244" y="7841380"/>
            <a:ext cx="17291237" cy="4862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Both ingest progress and answer tokens stream via Server-Sent Events — no polling, real-time UI updates.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5048" y="488051"/>
            <a:ext cx="16289188" cy="427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KEY FEATURE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15048" y="989495"/>
            <a:ext cx="16289188" cy="13669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64"/>
              </a:lnSpc>
            </a:pPr>
            <a:r>
              <a:rPr lang="en-US" sz="4803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Auto-scaled chunk size &amp; k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23608" y="1853108"/>
            <a:ext cx="16650519" cy="57198"/>
            <a:chOff x="0" y="0"/>
            <a:chExt cx="22200692" cy="7626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2200743" cy="76200"/>
            </a:xfrm>
            <a:custGeom>
              <a:avLst/>
              <a:gdLst/>
              <a:ahLst/>
              <a:cxnLst/>
              <a:rect r="r" b="b" t="t" l="l"/>
              <a:pathLst>
                <a:path h="76200" w="22200743">
                  <a:moveTo>
                    <a:pt x="0" y="0"/>
                  </a:moveTo>
                  <a:lnTo>
                    <a:pt x="22200743" y="0"/>
                  </a:lnTo>
                  <a:lnTo>
                    <a:pt x="22200743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A78BFA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915048" y="2057105"/>
            <a:ext cx="16467639" cy="7111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A fixed chunk size performs poorly at both extremes. compute_params(total_tokens) selects both values from five tiers — the chosen k is persisted to doc_meta and restored on server restart.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816454" y="2944092"/>
            <a:ext cx="16664816" cy="6671758"/>
            <a:chOff x="0" y="0"/>
            <a:chExt cx="22219755" cy="8895677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9525" y="9525"/>
              <a:ext cx="22200743" cy="8876665"/>
            </a:xfrm>
            <a:custGeom>
              <a:avLst/>
              <a:gdLst/>
              <a:ahLst/>
              <a:cxnLst/>
              <a:rect r="r" b="b" t="t" l="l"/>
              <a:pathLst>
                <a:path h="8876665" w="22200743">
                  <a:moveTo>
                    <a:pt x="0" y="0"/>
                  </a:moveTo>
                  <a:lnTo>
                    <a:pt x="22200743" y="0"/>
                  </a:lnTo>
                  <a:lnTo>
                    <a:pt x="22200743" y="8876665"/>
                  </a:lnTo>
                  <a:lnTo>
                    <a:pt x="0" y="887666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219793" cy="8895715"/>
            </a:xfrm>
            <a:custGeom>
              <a:avLst/>
              <a:gdLst/>
              <a:ahLst/>
              <a:cxnLst/>
              <a:rect r="r" b="b" t="t" l="l"/>
              <a:pathLst>
                <a:path h="8895715" w="22219793">
                  <a:moveTo>
                    <a:pt x="9525" y="0"/>
                  </a:moveTo>
                  <a:lnTo>
                    <a:pt x="22210268" y="0"/>
                  </a:lnTo>
                  <a:cubicBezTo>
                    <a:pt x="22215475" y="0"/>
                    <a:pt x="22219793" y="4318"/>
                    <a:pt x="22219793" y="9525"/>
                  </a:cubicBezTo>
                  <a:lnTo>
                    <a:pt x="22219793" y="8886190"/>
                  </a:lnTo>
                  <a:cubicBezTo>
                    <a:pt x="22219793" y="8891397"/>
                    <a:pt x="22215475" y="8895715"/>
                    <a:pt x="22210268" y="8895715"/>
                  </a:cubicBezTo>
                  <a:lnTo>
                    <a:pt x="9525" y="8895715"/>
                  </a:lnTo>
                  <a:cubicBezTo>
                    <a:pt x="4318" y="8895715"/>
                    <a:pt x="0" y="8891397"/>
                    <a:pt x="0" y="8886190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8886190"/>
                  </a:lnTo>
                  <a:lnTo>
                    <a:pt x="9525" y="8886190"/>
                  </a:lnTo>
                  <a:lnTo>
                    <a:pt x="9525" y="8876665"/>
                  </a:lnTo>
                  <a:lnTo>
                    <a:pt x="22210268" y="8876665"/>
                  </a:lnTo>
                  <a:lnTo>
                    <a:pt x="22210268" y="8886190"/>
                  </a:lnTo>
                  <a:lnTo>
                    <a:pt x="22200743" y="8886190"/>
                  </a:lnTo>
                  <a:lnTo>
                    <a:pt x="22200743" y="9525"/>
                  </a:lnTo>
                  <a:lnTo>
                    <a:pt x="22210268" y="9525"/>
                  </a:lnTo>
                  <a:lnTo>
                    <a:pt x="22210268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120940" y="3096130"/>
            <a:ext cx="2425198" cy="427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Document size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3934920" y="3096130"/>
            <a:ext cx="2150659" cy="427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Token range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542999" y="3096130"/>
            <a:ext cx="1189796" cy="427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chunk_size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190205" y="3096130"/>
            <a:ext cx="1189796" cy="427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k retrieved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9837410" y="3096130"/>
            <a:ext cx="7092286" cy="427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Rationale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120940" y="3713836"/>
            <a:ext cx="2425198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Tiny  (&lt;20 pages)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3934920" y="3713836"/>
            <a:ext cx="2150659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&lt; 10 K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6542999" y="3713836"/>
            <a:ext cx="1189796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256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8190205" y="3713836"/>
            <a:ext cx="1189796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5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9837410" y="3713836"/>
            <a:ext cx="7092286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Tight chunks; few results enough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120940" y="4564894"/>
            <a:ext cx="2425198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Small (20–100 p)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3934920" y="4564894"/>
            <a:ext cx="2150659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&lt; 50 K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6542999" y="4564894"/>
            <a:ext cx="1189796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384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8190205" y="4564894"/>
            <a:ext cx="1189796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8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9837410" y="4564894"/>
            <a:ext cx="7092286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Balanced default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120940" y="5415953"/>
            <a:ext cx="2425198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Medium (100–400 p)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3934920" y="5415953"/>
            <a:ext cx="2150659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&lt; 200 K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542999" y="5415953"/>
            <a:ext cx="1189796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512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8190205" y="5415953"/>
            <a:ext cx="1189796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12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9837410" y="5415953"/>
            <a:ext cx="7092286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More context needed per chunk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120940" y="6267002"/>
            <a:ext cx="2425198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Large (400–1000 p)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3934920" y="6267002"/>
            <a:ext cx="2150659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&lt; 500 K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6542999" y="6267002"/>
            <a:ext cx="1189796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768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8190205" y="6267002"/>
            <a:ext cx="1189796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15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9837410" y="6267002"/>
            <a:ext cx="7092286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Wide chunks, broad retrieval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120940" y="7118061"/>
            <a:ext cx="2425198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Huge  (1000+ pages)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3934920" y="7118061"/>
            <a:ext cx="2150659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≥ 500 K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6542999" y="7118061"/>
            <a:ext cx="1189796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1024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8190205" y="7118061"/>
            <a:ext cx="1189796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20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9837410" y="7118061"/>
            <a:ext cx="7092286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Maximum context coverage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5048" y="488051"/>
            <a:ext cx="16289188" cy="427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TECHNOLOGY CHOICES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15048" y="989495"/>
            <a:ext cx="16289188" cy="13669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64"/>
              </a:lnSpc>
            </a:pPr>
            <a:r>
              <a:rPr lang="en-US" sz="4803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Stack &amp; rationale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23608" y="1853108"/>
            <a:ext cx="16650519" cy="57198"/>
            <a:chOff x="0" y="0"/>
            <a:chExt cx="22200692" cy="7626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2200743" cy="76200"/>
            </a:xfrm>
            <a:custGeom>
              <a:avLst/>
              <a:gdLst/>
              <a:ahLst/>
              <a:cxnLst/>
              <a:rect r="r" b="b" t="t" l="l"/>
              <a:pathLst>
                <a:path h="76200" w="22200743">
                  <a:moveTo>
                    <a:pt x="0" y="0"/>
                  </a:moveTo>
                  <a:lnTo>
                    <a:pt x="22200743" y="0"/>
                  </a:lnTo>
                  <a:lnTo>
                    <a:pt x="22200743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816454" y="2120494"/>
            <a:ext cx="16664816" cy="7769895"/>
            <a:chOff x="0" y="0"/>
            <a:chExt cx="22219755" cy="1035986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9525" y="9525"/>
              <a:ext cx="22200743" cy="10340848"/>
            </a:xfrm>
            <a:custGeom>
              <a:avLst/>
              <a:gdLst/>
              <a:ahLst/>
              <a:cxnLst/>
              <a:rect r="r" b="b" t="t" l="l"/>
              <a:pathLst>
                <a:path h="10340848" w="22200743">
                  <a:moveTo>
                    <a:pt x="0" y="0"/>
                  </a:moveTo>
                  <a:lnTo>
                    <a:pt x="22200743" y="0"/>
                  </a:lnTo>
                  <a:lnTo>
                    <a:pt x="22200743" y="10340848"/>
                  </a:lnTo>
                  <a:lnTo>
                    <a:pt x="0" y="103408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2219793" cy="10359898"/>
            </a:xfrm>
            <a:custGeom>
              <a:avLst/>
              <a:gdLst/>
              <a:ahLst/>
              <a:cxnLst/>
              <a:rect r="r" b="b" t="t" l="l"/>
              <a:pathLst>
                <a:path h="10359898" w="22219793">
                  <a:moveTo>
                    <a:pt x="9525" y="0"/>
                  </a:moveTo>
                  <a:lnTo>
                    <a:pt x="22210268" y="0"/>
                  </a:lnTo>
                  <a:cubicBezTo>
                    <a:pt x="22215475" y="0"/>
                    <a:pt x="22219793" y="4318"/>
                    <a:pt x="22219793" y="9525"/>
                  </a:cubicBezTo>
                  <a:lnTo>
                    <a:pt x="22219793" y="10350373"/>
                  </a:lnTo>
                  <a:cubicBezTo>
                    <a:pt x="22219793" y="10355580"/>
                    <a:pt x="22215475" y="10359898"/>
                    <a:pt x="22210268" y="10359898"/>
                  </a:cubicBezTo>
                  <a:lnTo>
                    <a:pt x="9525" y="10359898"/>
                  </a:lnTo>
                  <a:cubicBezTo>
                    <a:pt x="4318" y="10359898"/>
                    <a:pt x="0" y="10355580"/>
                    <a:pt x="0" y="10350373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10350373"/>
                  </a:lnTo>
                  <a:lnTo>
                    <a:pt x="9525" y="10350373"/>
                  </a:lnTo>
                  <a:lnTo>
                    <a:pt x="9525" y="10340848"/>
                  </a:lnTo>
                  <a:lnTo>
                    <a:pt x="22210268" y="10340848"/>
                  </a:lnTo>
                  <a:lnTo>
                    <a:pt x="22210268" y="10350373"/>
                  </a:lnTo>
                  <a:lnTo>
                    <a:pt x="22200743" y="10350373"/>
                  </a:lnTo>
                  <a:lnTo>
                    <a:pt x="22200743" y="9525"/>
                  </a:lnTo>
                  <a:lnTo>
                    <a:pt x="22210268" y="9525"/>
                  </a:lnTo>
                  <a:lnTo>
                    <a:pt x="22210268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1120940" y="2350684"/>
            <a:ext cx="2562463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PDF extraction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4003558" y="2350684"/>
            <a:ext cx="2837002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PyMuPDF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7160704" y="2350684"/>
            <a:ext cx="9837630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Gemini extraction silently truncates at 65 K output tokens — a 100-page PDF returned 6 chunks. PyMuPDF has no output limit.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120940" y="3339008"/>
            <a:ext cx="2562463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Token counting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4003558" y="3339008"/>
            <a:ext cx="2837002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tiktoken cl100k_base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7160704" y="3339008"/>
            <a:ext cx="9837630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Same encoding the chunker uses — no unit mismatch. Character counts are unreliable across document types.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120940" y="4327341"/>
            <a:ext cx="2562463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Embeddings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4003558" y="4327341"/>
            <a:ext cx="2837002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gemini-embedding-2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7160704" y="4327341"/>
            <a:ext cx="9837630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Separate RETRIEVAL_DOCUMENT / RETRIEVAL_QUERY task types improve accuracy over symmetric embeddings.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120940" y="5315664"/>
            <a:ext cx="2562463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Vector store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4003558" y="5315664"/>
            <a:ext cx="2837002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Postgres + pgvector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7160704" y="5315664"/>
            <a:ext cx="9837630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HNSW needs no pre-training. One service handles relational + vector + full-text search. No extra infra.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120940" y="6303988"/>
            <a:ext cx="2562463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DB driver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4003558" y="6303988"/>
            <a:ext cx="2837002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asyncpg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7160704" y="6303988"/>
            <a:ext cx="9837630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Binary wire protocol — lower latency than psycopg. No ORM overhead for a minimal schema.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120940" y="7292311"/>
            <a:ext cx="2562463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Generation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4003558" y="7292311"/>
            <a:ext cx="2837002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Gemini 2.5 Flash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7160704" y="7292311"/>
            <a:ext cx="9837630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Fast, cost-effective, streamed output via SSE for a responsive UX. Also used for re-ranking.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120940" y="8280635"/>
            <a:ext cx="2562463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Frontend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4003558" y="8280635"/>
            <a:ext cx="2837002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Single HTML file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7160704" y="8280635"/>
            <a:ext cx="9837630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No build tools, no Node.js. Served by FastAPI — one uvicorn command to run everything.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5048" y="488051"/>
            <a:ext cx="16289188" cy="427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ENGINEERING CHOICES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15048" y="989495"/>
            <a:ext cx="16289188" cy="13669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64"/>
              </a:lnSpc>
            </a:pPr>
            <a:r>
              <a:rPr lang="en-US" sz="4803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Key design decisions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23608" y="1853108"/>
            <a:ext cx="16650519" cy="57198"/>
            <a:chOff x="0" y="0"/>
            <a:chExt cx="22200692" cy="7626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2200743" cy="76200"/>
            </a:xfrm>
            <a:custGeom>
              <a:avLst/>
              <a:gdLst/>
              <a:ahLst/>
              <a:cxnLst/>
              <a:rect r="r" b="b" t="t" l="l"/>
              <a:pathLst>
                <a:path h="76200" w="22200743">
                  <a:moveTo>
                    <a:pt x="0" y="0"/>
                  </a:moveTo>
                  <a:lnTo>
                    <a:pt x="22200743" y="0"/>
                  </a:lnTo>
                  <a:lnTo>
                    <a:pt x="22200743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404651" y="2189131"/>
            <a:ext cx="8387601" cy="3034179"/>
            <a:chOff x="0" y="0"/>
            <a:chExt cx="11183468" cy="404557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9525" y="9525"/>
              <a:ext cx="11164443" cy="4026535"/>
            </a:xfrm>
            <a:custGeom>
              <a:avLst/>
              <a:gdLst/>
              <a:ahLst/>
              <a:cxnLst/>
              <a:rect r="r" b="b" t="t" l="l"/>
              <a:pathLst>
                <a:path h="4026535" w="11164443">
                  <a:moveTo>
                    <a:pt x="0" y="0"/>
                  </a:moveTo>
                  <a:lnTo>
                    <a:pt x="11164443" y="0"/>
                  </a:lnTo>
                  <a:lnTo>
                    <a:pt x="11164443" y="4026535"/>
                  </a:lnTo>
                  <a:lnTo>
                    <a:pt x="0" y="402653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1183493" cy="4045585"/>
            </a:xfrm>
            <a:custGeom>
              <a:avLst/>
              <a:gdLst/>
              <a:ahLst/>
              <a:cxnLst/>
              <a:rect r="r" b="b" t="t" l="l"/>
              <a:pathLst>
                <a:path h="4045585" w="11183493">
                  <a:moveTo>
                    <a:pt x="9525" y="0"/>
                  </a:moveTo>
                  <a:lnTo>
                    <a:pt x="11173968" y="0"/>
                  </a:lnTo>
                  <a:cubicBezTo>
                    <a:pt x="11179175" y="0"/>
                    <a:pt x="11183493" y="4318"/>
                    <a:pt x="11183493" y="9525"/>
                  </a:cubicBezTo>
                  <a:lnTo>
                    <a:pt x="11183493" y="4036060"/>
                  </a:lnTo>
                  <a:cubicBezTo>
                    <a:pt x="11183493" y="4041267"/>
                    <a:pt x="11179175" y="4045585"/>
                    <a:pt x="11173968" y="4045585"/>
                  </a:cubicBezTo>
                  <a:lnTo>
                    <a:pt x="9525" y="4045585"/>
                  </a:lnTo>
                  <a:cubicBezTo>
                    <a:pt x="4318" y="4045585"/>
                    <a:pt x="0" y="4041267"/>
                    <a:pt x="0" y="4036060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4036060"/>
                  </a:lnTo>
                  <a:lnTo>
                    <a:pt x="9525" y="4036060"/>
                  </a:lnTo>
                  <a:lnTo>
                    <a:pt x="9525" y="4026535"/>
                  </a:lnTo>
                  <a:lnTo>
                    <a:pt x="11173968" y="4026535"/>
                  </a:lnTo>
                  <a:lnTo>
                    <a:pt x="11173968" y="4036060"/>
                  </a:lnTo>
                  <a:lnTo>
                    <a:pt x="11164443" y="4036060"/>
                  </a:lnTo>
                  <a:lnTo>
                    <a:pt x="11164443" y="9525"/>
                  </a:lnTo>
                  <a:lnTo>
                    <a:pt x="11173968" y="9525"/>
                  </a:lnTo>
                  <a:lnTo>
                    <a:pt x="11173968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9" id="9"/>
          <p:cNvGrpSpPr/>
          <p:nvPr/>
        </p:nvGrpSpPr>
        <p:grpSpPr>
          <a:xfrm rot="0">
            <a:off x="411804" y="2196274"/>
            <a:ext cx="76257" cy="3019882"/>
            <a:chOff x="0" y="0"/>
            <a:chExt cx="101676" cy="402651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01727" cy="4026535"/>
            </a:xfrm>
            <a:custGeom>
              <a:avLst/>
              <a:gdLst/>
              <a:ahLst/>
              <a:cxnLst/>
              <a:rect r="r" b="b" t="t" l="l"/>
              <a:pathLst>
                <a:path h="4026535" w="101727">
                  <a:moveTo>
                    <a:pt x="0" y="0"/>
                  </a:moveTo>
                  <a:lnTo>
                    <a:pt x="101727" y="0"/>
                  </a:lnTo>
                  <a:lnTo>
                    <a:pt x="101727" y="4026535"/>
                  </a:lnTo>
                  <a:lnTo>
                    <a:pt x="0" y="4026535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777773" y="2468909"/>
            <a:ext cx="7641355" cy="505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🔄  Concurrent embedding with retry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777773" y="3096130"/>
            <a:ext cx="7641355" cy="18684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All chunks embedded via asyncio.gather — no serial bottleneck. 429/503 errors retry with exponential backoff (2 → 64 s). Non-retryable errors surface immediately.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9230935" y="2189131"/>
            <a:ext cx="8387601" cy="3034179"/>
            <a:chOff x="0" y="0"/>
            <a:chExt cx="11183468" cy="4045572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9525" y="9525"/>
              <a:ext cx="11164443" cy="4026535"/>
            </a:xfrm>
            <a:custGeom>
              <a:avLst/>
              <a:gdLst/>
              <a:ahLst/>
              <a:cxnLst/>
              <a:rect r="r" b="b" t="t" l="l"/>
              <a:pathLst>
                <a:path h="4026535" w="11164443">
                  <a:moveTo>
                    <a:pt x="0" y="0"/>
                  </a:moveTo>
                  <a:lnTo>
                    <a:pt x="11164443" y="0"/>
                  </a:lnTo>
                  <a:lnTo>
                    <a:pt x="11164443" y="4026535"/>
                  </a:lnTo>
                  <a:lnTo>
                    <a:pt x="0" y="402653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1183493" cy="4045585"/>
            </a:xfrm>
            <a:custGeom>
              <a:avLst/>
              <a:gdLst/>
              <a:ahLst/>
              <a:cxnLst/>
              <a:rect r="r" b="b" t="t" l="l"/>
              <a:pathLst>
                <a:path h="4045585" w="11183493">
                  <a:moveTo>
                    <a:pt x="9525" y="0"/>
                  </a:moveTo>
                  <a:lnTo>
                    <a:pt x="11173968" y="0"/>
                  </a:lnTo>
                  <a:cubicBezTo>
                    <a:pt x="11179175" y="0"/>
                    <a:pt x="11183493" y="4318"/>
                    <a:pt x="11183493" y="9525"/>
                  </a:cubicBezTo>
                  <a:lnTo>
                    <a:pt x="11183493" y="4036060"/>
                  </a:lnTo>
                  <a:cubicBezTo>
                    <a:pt x="11183493" y="4041267"/>
                    <a:pt x="11179175" y="4045585"/>
                    <a:pt x="11173968" y="4045585"/>
                  </a:cubicBezTo>
                  <a:lnTo>
                    <a:pt x="9525" y="4045585"/>
                  </a:lnTo>
                  <a:cubicBezTo>
                    <a:pt x="4318" y="4045585"/>
                    <a:pt x="0" y="4041267"/>
                    <a:pt x="0" y="4036060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4036060"/>
                  </a:lnTo>
                  <a:lnTo>
                    <a:pt x="9525" y="4036060"/>
                  </a:lnTo>
                  <a:lnTo>
                    <a:pt x="9525" y="4026535"/>
                  </a:lnTo>
                  <a:lnTo>
                    <a:pt x="11173968" y="4026535"/>
                  </a:lnTo>
                  <a:lnTo>
                    <a:pt x="11173968" y="4036060"/>
                  </a:lnTo>
                  <a:lnTo>
                    <a:pt x="11164443" y="4036060"/>
                  </a:lnTo>
                  <a:lnTo>
                    <a:pt x="11164443" y="9525"/>
                  </a:lnTo>
                  <a:lnTo>
                    <a:pt x="11173968" y="9525"/>
                  </a:lnTo>
                  <a:lnTo>
                    <a:pt x="11173968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9238088" y="2196274"/>
            <a:ext cx="76257" cy="3019882"/>
            <a:chOff x="0" y="0"/>
            <a:chExt cx="101676" cy="402651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01727" cy="4026535"/>
            </a:xfrm>
            <a:custGeom>
              <a:avLst/>
              <a:gdLst/>
              <a:ahLst/>
              <a:cxnLst/>
              <a:rect r="r" b="b" t="t" l="l"/>
              <a:pathLst>
                <a:path h="4026535" w="101727">
                  <a:moveTo>
                    <a:pt x="0" y="0"/>
                  </a:moveTo>
                  <a:lnTo>
                    <a:pt x="101727" y="0"/>
                  </a:lnTo>
                  <a:lnTo>
                    <a:pt x="101727" y="4026535"/>
                  </a:lnTo>
                  <a:lnTo>
                    <a:pt x="0" y="4026535"/>
                  </a:lnTo>
                  <a:close/>
                </a:path>
              </a:pathLst>
            </a:custGeom>
            <a:solidFill>
              <a:srgbClr val="059669"/>
            </a:solidFill>
          </p:spPr>
        </p:sp>
      </p:grpSp>
      <p:sp>
        <p:nvSpPr>
          <p:cNvPr name="TextBox 18" id="18"/>
          <p:cNvSpPr txBox="true"/>
          <p:nvPr/>
        </p:nvSpPr>
        <p:spPr>
          <a:xfrm rot="0">
            <a:off x="9604057" y="2468909"/>
            <a:ext cx="7641355" cy="505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💾  State survives restarts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9604057" y="3096130"/>
            <a:ext cx="7641355" cy="18684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doc_meta table stores doc_id, chunk_count, and k. FastAPI lifespan hook restores all three on startup — no re-upload needed after a server bounce.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404651" y="5620807"/>
            <a:ext cx="8387601" cy="3034179"/>
            <a:chOff x="0" y="0"/>
            <a:chExt cx="11183468" cy="4045572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9525" y="9525"/>
              <a:ext cx="11164443" cy="4026535"/>
            </a:xfrm>
            <a:custGeom>
              <a:avLst/>
              <a:gdLst/>
              <a:ahLst/>
              <a:cxnLst/>
              <a:rect r="r" b="b" t="t" l="l"/>
              <a:pathLst>
                <a:path h="4026535" w="11164443">
                  <a:moveTo>
                    <a:pt x="0" y="0"/>
                  </a:moveTo>
                  <a:lnTo>
                    <a:pt x="11164443" y="0"/>
                  </a:lnTo>
                  <a:lnTo>
                    <a:pt x="11164443" y="4026535"/>
                  </a:lnTo>
                  <a:lnTo>
                    <a:pt x="0" y="402653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1183493" cy="4045585"/>
            </a:xfrm>
            <a:custGeom>
              <a:avLst/>
              <a:gdLst/>
              <a:ahLst/>
              <a:cxnLst/>
              <a:rect r="r" b="b" t="t" l="l"/>
              <a:pathLst>
                <a:path h="4045585" w="11183493">
                  <a:moveTo>
                    <a:pt x="9525" y="0"/>
                  </a:moveTo>
                  <a:lnTo>
                    <a:pt x="11173968" y="0"/>
                  </a:lnTo>
                  <a:cubicBezTo>
                    <a:pt x="11179175" y="0"/>
                    <a:pt x="11183493" y="4318"/>
                    <a:pt x="11183493" y="9525"/>
                  </a:cubicBezTo>
                  <a:lnTo>
                    <a:pt x="11183493" y="4036060"/>
                  </a:lnTo>
                  <a:cubicBezTo>
                    <a:pt x="11183493" y="4041267"/>
                    <a:pt x="11179175" y="4045585"/>
                    <a:pt x="11173968" y="4045585"/>
                  </a:cubicBezTo>
                  <a:lnTo>
                    <a:pt x="9525" y="4045585"/>
                  </a:lnTo>
                  <a:cubicBezTo>
                    <a:pt x="4318" y="4045585"/>
                    <a:pt x="0" y="4041267"/>
                    <a:pt x="0" y="4036060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4036060"/>
                  </a:lnTo>
                  <a:lnTo>
                    <a:pt x="9525" y="4036060"/>
                  </a:lnTo>
                  <a:lnTo>
                    <a:pt x="9525" y="4026535"/>
                  </a:lnTo>
                  <a:lnTo>
                    <a:pt x="11173968" y="4026535"/>
                  </a:lnTo>
                  <a:lnTo>
                    <a:pt x="11173968" y="4036060"/>
                  </a:lnTo>
                  <a:lnTo>
                    <a:pt x="11164443" y="4036060"/>
                  </a:lnTo>
                  <a:lnTo>
                    <a:pt x="11164443" y="9525"/>
                  </a:lnTo>
                  <a:lnTo>
                    <a:pt x="11173968" y="9525"/>
                  </a:lnTo>
                  <a:lnTo>
                    <a:pt x="11173968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411804" y="5627951"/>
            <a:ext cx="76257" cy="3019882"/>
            <a:chOff x="0" y="0"/>
            <a:chExt cx="101676" cy="402651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01727" cy="4026535"/>
            </a:xfrm>
            <a:custGeom>
              <a:avLst/>
              <a:gdLst/>
              <a:ahLst/>
              <a:cxnLst/>
              <a:rect r="r" b="b" t="t" l="l"/>
              <a:pathLst>
                <a:path h="4026535" w="101727">
                  <a:moveTo>
                    <a:pt x="0" y="0"/>
                  </a:moveTo>
                  <a:lnTo>
                    <a:pt x="101727" y="0"/>
                  </a:lnTo>
                  <a:lnTo>
                    <a:pt x="101727" y="4026535"/>
                  </a:lnTo>
                  <a:lnTo>
                    <a:pt x="0" y="4026535"/>
                  </a:lnTo>
                  <a:close/>
                </a:path>
              </a:pathLst>
            </a:custGeom>
            <a:solidFill>
              <a:srgbClr val="A78BFA"/>
            </a:solidFill>
          </p:spPr>
        </p:sp>
      </p:grpSp>
      <p:sp>
        <p:nvSpPr>
          <p:cNvPr name="TextBox 25" id="25"/>
          <p:cNvSpPr txBox="true"/>
          <p:nvPr/>
        </p:nvSpPr>
        <p:spPr>
          <a:xfrm rot="0">
            <a:off x="777773" y="5900585"/>
            <a:ext cx="7641355" cy="505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🪟  Sentence-boundary overlap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777773" y="6527816"/>
            <a:ext cx="7641355" cy="18684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Each chunk seeds itself with the last 64 tokens of the previous chunk. Prevents context loss when an argument spans a chunk boundary.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9230935" y="5620807"/>
            <a:ext cx="8387601" cy="3034179"/>
            <a:chOff x="0" y="0"/>
            <a:chExt cx="11183468" cy="4045572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9525" y="9525"/>
              <a:ext cx="11164443" cy="4026535"/>
            </a:xfrm>
            <a:custGeom>
              <a:avLst/>
              <a:gdLst/>
              <a:ahLst/>
              <a:cxnLst/>
              <a:rect r="r" b="b" t="t" l="l"/>
              <a:pathLst>
                <a:path h="4026535" w="11164443">
                  <a:moveTo>
                    <a:pt x="0" y="0"/>
                  </a:moveTo>
                  <a:lnTo>
                    <a:pt x="11164443" y="0"/>
                  </a:lnTo>
                  <a:lnTo>
                    <a:pt x="11164443" y="4026535"/>
                  </a:lnTo>
                  <a:lnTo>
                    <a:pt x="0" y="402653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1183493" cy="4045585"/>
            </a:xfrm>
            <a:custGeom>
              <a:avLst/>
              <a:gdLst/>
              <a:ahLst/>
              <a:cxnLst/>
              <a:rect r="r" b="b" t="t" l="l"/>
              <a:pathLst>
                <a:path h="4045585" w="11183493">
                  <a:moveTo>
                    <a:pt x="9525" y="0"/>
                  </a:moveTo>
                  <a:lnTo>
                    <a:pt x="11173968" y="0"/>
                  </a:lnTo>
                  <a:cubicBezTo>
                    <a:pt x="11179175" y="0"/>
                    <a:pt x="11183493" y="4318"/>
                    <a:pt x="11183493" y="9525"/>
                  </a:cubicBezTo>
                  <a:lnTo>
                    <a:pt x="11183493" y="4036060"/>
                  </a:lnTo>
                  <a:cubicBezTo>
                    <a:pt x="11183493" y="4041267"/>
                    <a:pt x="11179175" y="4045585"/>
                    <a:pt x="11173968" y="4045585"/>
                  </a:cubicBezTo>
                  <a:lnTo>
                    <a:pt x="9525" y="4045585"/>
                  </a:lnTo>
                  <a:cubicBezTo>
                    <a:pt x="4318" y="4045585"/>
                    <a:pt x="0" y="4041267"/>
                    <a:pt x="0" y="4036060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4036060"/>
                  </a:lnTo>
                  <a:lnTo>
                    <a:pt x="9525" y="4036060"/>
                  </a:lnTo>
                  <a:lnTo>
                    <a:pt x="9525" y="4026535"/>
                  </a:lnTo>
                  <a:lnTo>
                    <a:pt x="11173968" y="4026535"/>
                  </a:lnTo>
                  <a:lnTo>
                    <a:pt x="11173968" y="4036060"/>
                  </a:lnTo>
                  <a:lnTo>
                    <a:pt x="11164443" y="4036060"/>
                  </a:lnTo>
                  <a:lnTo>
                    <a:pt x="11164443" y="9525"/>
                  </a:lnTo>
                  <a:lnTo>
                    <a:pt x="11173968" y="9525"/>
                  </a:lnTo>
                  <a:lnTo>
                    <a:pt x="11173968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9238088" y="5627951"/>
            <a:ext cx="76257" cy="3019882"/>
            <a:chOff x="0" y="0"/>
            <a:chExt cx="101676" cy="402651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01727" cy="4026535"/>
            </a:xfrm>
            <a:custGeom>
              <a:avLst/>
              <a:gdLst/>
              <a:ahLst/>
              <a:cxnLst/>
              <a:rect r="r" b="b" t="t" l="l"/>
              <a:pathLst>
                <a:path h="4026535" w="101727">
                  <a:moveTo>
                    <a:pt x="0" y="0"/>
                  </a:moveTo>
                  <a:lnTo>
                    <a:pt x="101727" y="0"/>
                  </a:lnTo>
                  <a:lnTo>
                    <a:pt x="101727" y="4026535"/>
                  </a:lnTo>
                  <a:lnTo>
                    <a:pt x="0" y="4026535"/>
                  </a:lnTo>
                  <a:close/>
                </a:path>
              </a:pathLst>
            </a:custGeom>
            <a:solidFill>
              <a:srgbClr val="F97316"/>
            </a:solidFill>
          </p:spPr>
        </p:sp>
      </p:grpSp>
      <p:sp>
        <p:nvSpPr>
          <p:cNvPr name="TextBox 32" id="32"/>
          <p:cNvSpPr txBox="true"/>
          <p:nvPr/>
        </p:nvSpPr>
        <p:spPr>
          <a:xfrm rot="0">
            <a:off x="9604057" y="5900585"/>
            <a:ext cx="7641355" cy="505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📡  Server-Sent Events streaming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9604057" y="6527816"/>
            <a:ext cx="7641355" cy="18684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Ingest progress (extracting → chunking → embedding → done) and answer tokens both stream via SSE. No polling, no page reload — real-time updates throughout.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5048" y="488051"/>
            <a:ext cx="16289188" cy="427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ADDITIONAL FEATURES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15048" y="989495"/>
            <a:ext cx="16289188" cy="13669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64"/>
              </a:lnSpc>
            </a:pPr>
            <a:r>
              <a:rPr lang="en-US" sz="4803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Retrieval quality improvements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23608" y="1853108"/>
            <a:ext cx="16650519" cy="57198"/>
            <a:chOff x="0" y="0"/>
            <a:chExt cx="22200692" cy="7626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2200743" cy="76200"/>
            </a:xfrm>
            <a:custGeom>
              <a:avLst/>
              <a:gdLst/>
              <a:ahLst/>
              <a:cxnLst/>
              <a:rect r="r" b="b" t="t" l="l"/>
              <a:pathLst>
                <a:path h="76200" w="22200743">
                  <a:moveTo>
                    <a:pt x="0" y="0"/>
                  </a:moveTo>
                  <a:lnTo>
                    <a:pt x="22200743" y="0"/>
                  </a:lnTo>
                  <a:lnTo>
                    <a:pt x="22200743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059669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404651" y="2189131"/>
            <a:ext cx="5299091" cy="3445983"/>
            <a:chOff x="0" y="0"/>
            <a:chExt cx="7065454" cy="459464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9525" y="9525"/>
              <a:ext cx="7046341" cy="4575556"/>
            </a:xfrm>
            <a:custGeom>
              <a:avLst/>
              <a:gdLst/>
              <a:ahLst/>
              <a:cxnLst/>
              <a:rect r="r" b="b" t="t" l="l"/>
              <a:pathLst>
                <a:path h="4575556" w="7046341">
                  <a:moveTo>
                    <a:pt x="0" y="0"/>
                  </a:moveTo>
                  <a:lnTo>
                    <a:pt x="7046341" y="0"/>
                  </a:lnTo>
                  <a:lnTo>
                    <a:pt x="7046341" y="4575556"/>
                  </a:lnTo>
                  <a:lnTo>
                    <a:pt x="0" y="4575556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065391" cy="4594606"/>
            </a:xfrm>
            <a:custGeom>
              <a:avLst/>
              <a:gdLst/>
              <a:ahLst/>
              <a:cxnLst/>
              <a:rect r="r" b="b" t="t" l="l"/>
              <a:pathLst>
                <a:path h="4594606" w="7065391">
                  <a:moveTo>
                    <a:pt x="9525" y="0"/>
                  </a:moveTo>
                  <a:lnTo>
                    <a:pt x="7055866" y="0"/>
                  </a:lnTo>
                  <a:cubicBezTo>
                    <a:pt x="7061073" y="0"/>
                    <a:pt x="7065391" y="4318"/>
                    <a:pt x="7065391" y="9525"/>
                  </a:cubicBezTo>
                  <a:lnTo>
                    <a:pt x="7065391" y="4585081"/>
                  </a:lnTo>
                  <a:cubicBezTo>
                    <a:pt x="7065391" y="4590288"/>
                    <a:pt x="7061073" y="4594606"/>
                    <a:pt x="7055866" y="4594606"/>
                  </a:cubicBezTo>
                  <a:lnTo>
                    <a:pt x="9525" y="4594606"/>
                  </a:lnTo>
                  <a:cubicBezTo>
                    <a:pt x="4318" y="4594606"/>
                    <a:pt x="0" y="4590288"/>
                    <a:pt x="0" y="4585081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4585081"/>
                  </a:lnTo>
                  <a:lnTo>
                    <a:pt x="9525" y="4585081"/>
                  </a:lnTo>
                  <a:lnTo>
                    <a:pt x="9525" y="4575556"/>
                  </a:lnTo>
                  <a:lnTo>
                    <a:pt x="7055866" y="4575556"/>
                  </a:lnTo>
                  <a:lnTo>
                    <a:pt x="7055866" y="4585081"/>
                  </a:lnTo>
                  <a:lnTo>
                    <a:pt x="7046341" y="4585081"/>
                  </a:lnTo>
                  <a:lnTo>
                    <a:pt x="7046341" y="9525"/>
                  </a:lnTo>
                  <a:lnTo>
                    <a:pt x="7055866" y="9525"/>
                  </a:lnTo>
                  <a:lnTo>
                    <a:pt x="7055866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9" id="9"/>
          <p:cNvGrpSpPr/>
          <p:nvPr/>
        </p:nvGrpSpPr>
        <p:grpSpPr>
          <a:xfrm rot="0">
            <a:off x="411804" y="2196274"/>
            <a:ext cx="5284784" cy="57198"/>
            <a:chOff x="0" y="0"/>
            <a:chExt cx="7046379" cy="76264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7046341" cy="76200"/>
            </a:xfrm>
            <a:custGeom>
              <a:avLst/>
              <a:gdLst/>
              <a:ahLst/>
              <a:cxnLst/>
              <a:rect r="r" b="b" t="t" l="l"/>
              <a:pathLst>
                <a:path h="76200" w="7046341">
                  <a:moveTo>
                    <a:pt x="0" y="0"/>
                  </a:moveTo>
                  <a:lnTo>
                    <a:pt x="7046341" y="0"/>
                  </a:lnTo>
                  <a:lnTo>
                    <a:pt x="7046341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709146" y="2368620"/>
            <a:ext cx="4690110" cy="4682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🔍  Hybrid Search (BM25 + Vector)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709146" y="2958865"/>
            <a:ext cx="4690110" cy="24174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pgvector cosine similarity fused with Postgres tsvector BM25 via Reciprocal Rank Fusion (k=60). Dense retrieval catches semantic matches; BM25 catches exact keyword matches. Zero new infrastructure — Postgres handles both. Generated tsv column with GIN index.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6101239" y="2189131"/>
            <a:ext cx="5299091" cy="3445983"/>
            <a:chOff x="0" y="0"/>
            <a:chExt cx="7065454" cy="4594644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9525" y="9525"/>
              <a:ext cx="7046341" cy="4575556"/>
            </a:xfrm>
            <a:custGeom>
              <a:avLst/>
              <a:gdLst/>
              <a:ahLst/>
              <a:cxnLst/>
              <a:rect r="r" b="b" t="t" l="l"/>
              <a:pathLst>
                <a:path h="4575556" w="7046341">
                  <a:moveTo>
                    <a:pt x="0" y="0"/>
                  </a:moveTo>
                  <a:lnTo>
                    <a:pt x="7046341" y="0"/>
                  </a:lnTo>
                  <a:lnTo>
                    <a:pt x="7046341" y="4575556"/>
                  </a:lnTo>
                  <a:lnTo>
                    <a:pt x="0" y="4575556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7065391" cy="4594606"/>
            </a:xfrm>
            <a:custGeom>
              <a:avLst/>
              <a:gdLst/>
              <a:ahLst/>
              <a:cxnLst/>
              <a:rect r="r" b="b" t="t" l="l"/>
              <a:pathLst>
                <a:path h="4594606" w="7065391">
                  <a:moveTo>
                    <a:pt x="9525" y="0"/>
                  </a:moveTo>
                  <a:lnTo>
                    <a:pt x="7055866" y="0"/>
                  </a:lnTo>
                  <a:cubicBezTo>
                    <a:pt x="7061073" y="0"/>
                    <a:pt x="7065391" y="4318"/>
                    <a:pt x="7065391" y="9525"/>
                  </a:cubicBezTo>
                  <a:lnTo>
                    <a:pt x="7065391" y="4585081"/>
                  </a:lnTo>
                  <a:cubicBezTo>
                    <a:pt x="7065391" y="4590288"/>
                    <a:pt x="7061073" y="4594606"/>
                    <a:pt x="7055866" y="4594606"/>
                  </a:cubicBezTo>
                  <a:lnTo>
                    <a:pt x="9525" y="4594606"/>
                  </a:lnTo>
                  <a:cubicBezTo>
                    <a:pt x="4318" y="4594606"/>
                    <a:pt x="0" y="4590288"/>
                    <a:pt x="0" y="4585081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4585081"/>
                  </a:lnTo>
                  <a:lnTo>
                    <a:pt x="9525" y="4585081"/>
                  </a:lnTo>
                  <a:lnTo>
                    <a:pt x="9525" y="4575556"/>
                  </a:lnTo>
                  <a:lnTo>
                    <a:pt x="7055866" y="4575556"/>
                  </a:lnTo>
                  <a:lnTo>
                    <a:pt x="7055866" y="4585081"/>
                  </a:lnTo>
                  <a:lnTo>
                    <a:pt x="7046341" y="4585081"/>
                  </a:lnTo>
                  <a:lnTo>
                    <a:pt x="7046341" y="9525"/>
                  </a:lnTo>
                  <a:lnTo>
                    <a:pt x="7055866" y="9525"/>
                  </a:lnTo>
                  <a:lnTo>
                    <a:pt x="7055866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6108392" y="2196274"/>
            <a:ext cx="5284784" cy="57198"/>
            <a:chOff x="0" y="0"/>
            <a:chExt cx="7046379" cy="76264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7046341" cy="76200"/>
            </a:xfrm>
            <a:custGeom>
              <a:avLst/>
              <a:gdLst/>
              <a:ahLst/>
              <a:cxnLst/>
              <a:rect r="r" b="b" t="t" l="l"/>
              <a:pathLst>
                <a:path h="76200" w="7046341">
                  <a:moveTo>
                    <a:pt x="0" y="0"/>
                  </a:moveTo>
                  <a:lnTo>
                    <a:pt x="7046341" y="0"/>
                  </a:lnTo>
                  <a:lnTo>
                    <a:pt x="7046341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059669"/>
            </a:solidFill>
          </p:spPr>
        </p:sp>
      </p:grpSp>
      <p:sp>
        <p:nvSpPr>
          <p:cNvPr name="TextBox 18" id="18"/>
          <p:cNvSpPr txBox="true"/>
          <p:nvPr/>
        </p:nvSpPr>
        <p:spPr>
          <a:xfrm rot="0">
            <a:off x="6405734" y="2368620"/>
            <a:ext cx="4690110" cy="4682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🔃  Gemini Re-ranking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405734" y="2958865"/>
            <a:ext cx="4690110" cy="24174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After hybrid retrieval returns k chunks, Gemini ranks them by relevance to the question and keeps the top k/2. Filters out chunks that are semantically close but topically irrelevant before they reach the LLM context window.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11797836" y="2189131"/>
            <a:ext cx="5299091" cy="3445983"/>
            <a:chOff x="0" y="0"/>
            <a:chExt cx="7065454" cy="4594644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9525" y="9525"/>
              <a:ext cx="7046341" cy="4575556"/>
            </a:xfrm>
            <a:custGeom>
              <a:avLst/>
              <a:gdLst/>
              <a:ahLst/>
              <a:cxnLst/>
              <a:rect r="r" b="b" t="t" l="l"/>
              <a:pathLst>
                <a:path h="4575556" w="7046341">
                  <a:moveTo>
                    <a:pt x="0" y="0"/>
                  </a:moveTo>
                  <a:lnTo>
                    <a:pt x="7046341" y="0"/>
                  </a:lnTo>
                  <a:lnTo>
                    <a:pt x="7046341" y="4575556"/>
                  </a:lnTo>
                  <a:lnTo>
                    <a:pt x="0" y="4575556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7065391" cy="4594606"/>
            </a:xfrm>
            <a:custGeom>
              <a:avLst/>
              <a:gdLst/>
              <a:ahLst/>
              <a:cxnLst/>
              <a:rect r="r" b="b" t="t" l="l"/>
              <a:pathLst>
                <a:path h="4594606" w="7065391">
                  <a:moveTo>
                    <a:pt x="9525" y="0"/>
                  </a:moveTo>
                  <a:lnTo>
                    <a:pt x="7055866" y="0"/>
                  </a:lnTo>
                  <a:cubicBezTo>
                    <a:pt x="7061073" y="0"/>
                    <a:pt x="7065391" y="4318"/>
                    <a:pt x="7065391" y="9525"/>
                  </a:cubicBezTo>
                  <a:lnTo>
                    <a:pt x="7065391" y="4585081"/>
                  </a:lnTo>
                  <a:cubicBezTo>
                    <a:pt x="7065391" y="4590288"/>
                    <a:pt x="7061073" y="4594606"/>
                    <a:pt x="7055866" y="4594606"/>
                  </a:cubicBezTo>
                  <a:lnTo>
                    <a:pt x="9525" y="4594606"/>
                  </a:lnTo>
                  <a:cubicBezTo>
                    <a:pt x="4318" y="4594606"/>
                    <a:pt x="0" y="4590288"/>
                    <a:pt x="0" y="4585081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4585081"/>
                  </a:lnTo>
                  <a:lnTo>
                    <a:pt x="9525" y="4585081"/>
                  </a:lnTo>
                  <a:lnTo>
                    <a:pt x="9525" y="4575556"/>
                  </a:lnTo>
                  <a:lnTo>
                    <a:pt x="7055866" y="4575556"/>
                  </a:lnTo>
                  <a:lnTo>
                    <a:pt x="7055866" y="4585081"/>
                  </a:lnTo>
                  <a:lnTo>
                    <a:pt x="7046341" y="4585081"/>
                  </a:lnTo>
                  <a:lnTo>
                    <a:pt x="7046341" y="9525"/>
                  </a:lnTo>
                  <a:lnTo>
                    <a:pt x="7055866" y="9525"/>
                  </a:lnTo>
                  <a:lnTo>
                    <a:pt x="7055866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11804980" y="2196274"/>
            <a:ext cx="5284784" cy="57198"/>
            <a:chOff x="0" y="0"/>
            <a:chExt cx="7046379" cy="76264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7046341" cy="76200"/>
            </a:xfrm>
            <a:custGeom>
              <a:avLst/>
              <a:gdLst/>
              <a:ahLst/>
              <a:cxnLst/>
              <a:rect r="r" b="b" t="t" l="l"/>
              <a:pathLst>
                <a:path h="76200" w="7046341">
                  <a:moveTo>
                    <a:pt x="0" y="0"/>
                  </a:moveTo>
                  <a:lnTo>
                    <a:pt x="7046341" y="0"/>
                  </a:lnTo>
                  <a:lnTo>
                    <a:pt x="7046341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A78BFA"/>
            </a:solidFill>
          </p:spPr>
        </p:sp>
      </p:grpSp>
      <p:sp>
        <p:nvSpPr>
          <p:cNvPr name="TextBox 25" id="25"/>
          <p:cNvSpPr txBox="true"/>
          <p:nvPr/>
        </p:nvSpPr>
        <p:spPr>
          <a:xfrm rot="0">
            <a:off x="12102322" y="2368620"/>
            <a:ext cx="4690110" cy="4682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🪟  Parent-Child Chunking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2102322" y="2958865"/>
            <a:ext cx="4690110" cy="24174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Small chunks (precise retrieval) are embedded and retrieved. Each chunk also stores its adjacent-window text (prev + self + next chunk) as parent_text. The LLM receives the wider context; citations show only the precise matched chunk.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3218631" y="5895346"/>
            <a:ext cx="6191326" cy="3720513"/>
            <a:chOff x="0" y="0"/>
            <a:chExt cx="8255102" cy="4960684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9525" y="9525"/>
              <a:ext cx="8236077" cy="4941570"/>
            </a:xfrm>
            <a:custGeom>
              <a:avLst/>
              <a:gdLst/>
              <a:ahLst/>
              <a:cxnLst/>
              <a:rect r="r" b="b" t="t" l="l"/>
              <a:pathLst>
                <a:path h="4941570" w="8236077">
                  <a:moveTo>
                    <a:pt x="0" y="0"/>
                  </a:moveTo>
                  <a:lnTo>
                    <a:pt x="8236077" y="0"/>
                  </a:lnTo>
                  <a:lnTo>
                    <a:pt x="8236077" y="4941570"/>
                  </a:lnTo>
                  <a:lnTo>
                    <a:pt x="0" y="494157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8255127" cy="4960620"/>
            </a:xfrm>
            <a:custGeom>
              <a:avLst/>
              <a:gdLst/>
              <a:ahLst/>
              <a:cxnLst/>
              <a:rect r="r" b="b" t="t" l="l"/>
              <a:pathLst>
                <a:path h="4960620" w="8255127">
                  <a:moveTo>
                    <a:pt x="9525" y="0"/>
                  </a:moveTo>
                  <a:lnTo>
                    <a:pt x="8245602" y="0"/>
                  </a:lnTo>
                  <a:cubicBezTo>
                    <a:pt x="8250809" y="0"/>
                    <a:pt x="8255127" y="4318"/>
                    <a:pt x="8255127" y="9525"/>
                  </a:cubicBezTo>
                  <a:lnTo>
                    <a:pt x="8255127" y="4951095"/>
                  </a:lnTo>
                  <a:cubicBezTo>
                    <a:pt x="8255127" y="4956302"/>
                    <a:pt x="8250809" y="4960620"/>
                    <a:pt x="8245602" y="4960620"/>
                  </a:cubicBezTo>
                  <a:lnTo>
                    <a:pt x="9525" y="4960620"/>
                  </a:lnTo>
                  <a:cubicBezTo>
                    <a:pt x="4318" y="4960620"/>
                    <a:pt x="0" y="4956302"/>
                    <a:pt x="0" y="4951095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4951095"/>
                  </a:lnTo>
                  <a:lnTo>
                    <a:pt x="9525" y="4951095"/>
                  </a:lnTo>
                  <a:lnTo>
                    <a:pt x="9525" y="4941570"/>
                  </a:lnTo>
                  <a:lnTo>
                    <a:pt x="8245602" y="4941570"/>
                  </a:lnTo>
                  <a:lnTo>
                    <a:pt x="8245602" y="4951095"/>
                  </a:lnTo>
                  <a:lnTo>
                    <a:pt x="8236077" y="4951095"/>
                  </a:lnTo>
                  <a:lnTo>
                    <a:pt x="8236077" y="9525"/>
                  </a:lnTo>
                  <a:lnTo>
                    <a:pt x="8245602" y="9525"/>
                  </a:lnTo>
                  <a:lnTo>
                    <a:pt x="8245602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3225784" y="5902490"/>
            <a:ext cx="6177029" cy="57198"/>
            <a:chOff x="0" y="0"/>
            <a:chExt cx="8236039" cy="76264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8236077" cy="76200"/>
            </a:xfrm>
            <a:custGeom>
              <a:avLst/>
              <a:gdLst/>
              <a:ahLst/>
              <a:cxnLst/>
              <a:rect r="r" b="b" t="t" l="l"/>
              <a:pathLst>
                <a:path h="76200" w="8236077">
                  <a:moveTo>
                    <a:pt x="0" y="0"/>
                  </a:moveTo>
                  <a:lnTo>
                    <a:pt x="8236077" y="0"/>
                  </a:lnTo>
                  <a:lnTo>
                    <a:pt x="8236077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97316"/>
            </a:solidFill>
          </p:spPr>
        </p:sp>
      </p:grpSp>
      <p:sp>
        <p:nvSpPr>
          <p:cNvPr name="TextBox 32" id="32"/>
          <p:cNvSpPr txBox="true"/>
          <p:nvPr/>
        </p:nvSpPr>
        <p:spPr>
          <a:xfrm rot="0">
            <a:off x="3523117" y="6074835"/>
            <a:ext cx="5582345" cy="4682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⚡  Duplicate Upload Detection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3523117" y="6665081"/>
            <a:ext cx="5582345" cy="26920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doc_id is a SHA-256 hash of the PDF bytes. On upload, doc_exists() checks doc_meta before extraction begins. Identical file re-uploads skip PyMuPDF, tiktoken, all Gemini embedding calls, and DB writes — instant load from cache.</a:t>
            </a:r>
          </a:p>
        </p:txBody>
      </p:sp>
      <p:grpSp>
        <p:nvGrpSpPr>
          <p:cNvPr name="Group 34" id="34"/>
          <p:cNvGrpSpPr/>
          <p:nvPr/>
        </p:nvGrpSpPr>
        <p:grpSpPr>
          <a:xfrm rot="0">
            <a:off x="8915219" y="5895346"/>
            <a:ext cx="6191326" cy="3720513"/>
            <a:chOff x="0" y="0"/>
            <a:chExt cx="8255102" cy="4960684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9525" y="9525"/>
              <a:ext cx="8236077" cy="4941570"/>
            </a:xfrm>
            <a:custGeom>
              <a:avLst/>
              <a:gdLst/>
              <a:ahLst/>
              <a:cxnLst/>
              <a:rect r="r" b="b" t="t" l="l"/>
              <a:pathLst>
                <a:path h="4941570" w="8236077">
                  <a:moveTo>
                    <a:pt x="0" y="0"/>
                  </a:moveTo>
                  <a:lnTo>
                    <a:pt x="8236077" y="0"/>
                  </a:lnTo>
                  <a:lnTo>
                    <a:pt x="8236077" y="4941570"/>
                  </a:lnTo>
                  <a:lnTo>
                    <a:pt x="0" y="494157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8255127" cy="4960620"/>
            </a:xfrm>
            <a:custGeom>
              <a:avLst/>
              <a:gdLst/>
              <a:ahLst/>
              <a:cxnLst/>
              <a:rect r="r" b="b" t="t" l="l"/>
              <a:pathLst>
                <a:path h="4960620" w="8255127">
                  <a:moveTo>
                    <a:pt x="9525" y="0"/>
                  </a:moveTo>
                  <a:lnTo>
                    <a:pt x="8245602" y="0"/>
                  </a:lnTo>
                  <a:cubicBezTo>
                    <a:pt x="8250809" y="0"/>
                    <a:pt x="8255127" y="4318"/>
                    <a:pt x="8255127" y="9525"/>
                  </a:cubicBezTo>
                  <a:lnTo>
                    <a:pt x="8255127" y="4951095"/>
                  </a:lnTo>
                  <a:cubicBezTo>
                    <a:pt x="8255127" y="4956302"/>
                    <a:pt x="8250809" y="4960620"/>
                    <a:pt x="8245602" y="4960620"/>
                  </a:cubicBezTo>
                  <a:lnTo>
                    <a:pt x="9525" y="4960620"/>
                  </a:lnTo>
                  <a:cubicBezTo>
                    <a:pt x="4318" y="4960620"/>
                    <a:pt x="0" y="4956302"/>
                    <a:pt x="0" y="4951095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4951095"/>
                  </a:lnTo>
                  <a:lnTo>
                    <a:pt x="9525" y="4951095"/>
                  </a:lnTo>
                  <a:lnTo>
                    <a:pt x="9525" y="4941570"/>
                  </a:lnTo>
                  <a:lnTo>
                    <a:pt x="8245602" y="4941570"/>
                  </a:lnTo>
                  <a:lnTo>
                    <a:pt x="8245602" y="4951095"/>
                  </a:lnTo>
                  <a:lnTo>
                    <a:pt x="8236077" y="4951095"/>
                  </a:lnTo>
                  <a:lnTo>
                    <a:pt x="8236077" y="9525"/>
                  </a:lnTo>
                  <a:lnTo>
                    <a:pt x="8245602" y="9525"/>
                  </a:lnTo>
                  <a:lnTo>
                    <a:pt x="8245602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37" id="37"/>
          <p:cNvGrpSpPr/>
          <p:nvPr/>
        </p:nvGrpSpPr>
        <p:grpSpPr>
          <a:xfrm rot="0">
            <a:off x="8922372" y="5902490"/>
            <a:ext cx="6177029" cy="57198"/>
            <a:chOff x="0" y="0"/>
            <a:chExt cx="8236039" cy="76264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8236077" cy="76200"/>
            </a:xfrm>
            <a:custGeom>
              <a:avLst/>
              <a:gdLst/>
              <a:ahLst/>
              <a:cxnLst/>
              <a:rect r="r" b="b" t="t" l="l"/>
              <a:pathLst>
                <a:path h="76200" w="8236077">
                  <a:moveTo>
                    <a:pt x="0" y="0"/>
                  </a:moveTo>
                  <a:lnTo>
                    <a:pt x="8236077" y="0"/>
                  </a:lnTo>
                  <a:lnTo>
                    <a:pt x="8236077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9E0B"/>
            </a:solidFill>
          </p:spPr>
        </p:sp>
      </p:grpSp>
      <p:sp>
        <p:nvSpPr>
          <p:cNvPr name="TextBox 39" id="39"/>
          <p:cNvSpPr txBox="true"/>
          <p:nvPr/>
        </p:nvSpPr>
        <p:spPr>
          <a:xfrm rot="0">
            <a:off x="9219714" y="6074835"/>
            <a:ext cx="5582345" cy="4682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📎  Numbered Citations, PDF Viewer &amp; Memory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9219714" y="6665081"/>
            <a:ext cx="5582345" cy="26920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Inline numbered [1][2][3] citations in every answer. Click any badge to open the PDF viewer highlighting the exact source chunk. Conversation memory persists across turns. — a low min_sim signals k is too small for the document. Citation pills in the UI show a colour-coded % badge: green ≥75%, amber ≥50%, red &lt;50%.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5048" y="488051"/>
            <a:ext cx="16289188" cy="427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DEMONSTRATION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15048" y="989495"/>
            <a:ext cx="16289188" cy="13669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64"/>
              </a:lnSpc>
            </a:pPr>
            <a:r>
              <a:rPr lang="en-US" sz="4803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Live demo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23608" y="1853108"/>
            <a:ext cx="16650519" cy="57198"/>
            <a:chOff x="0" y="0"/>
            <a:chExt cx="22200692" cy="7626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2200743" cy="76200"/>
            </a:xfrm>
            <a:custGeom>
              <a:avLst/>
              <a:gdLst/>
              <a:ahLst/>
              <a:cxnLst/>
              <a:rect r="r" b="b" t="t" l="l"/>
              <a:pathLst>
                <a:path h="76200" w="22200743">
                  <a:moveTo>
                    <a:pt x="0" y="0"/>
                  </a:moveTo>
                  <a:lnTo>
                    <a:pt x="22200743" y="0"/>
                  </a:lnTo>
                  <a:lnTo>
                    <a:pt x="22200743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059669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816454" y="2189131"/>
            <a:ext cx="16664816" cy="6191326"/>
            <a:chOff x="0" y="0"/>
            <a:chExt cx="22219755" cy="825510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9525" y="9525"/>
              <a:ext cx="22200743" cy="8236077"/>
            </a:xfrm>
            <a:custGeom>
              <a:avLst/>
              <a:gdLst/>
              <a:ahLst/>
              <a:cxnLst/>
              <a:rect r="r" b="b" t="t" l="l"/>
              <a:pathLst>
                <a:path h="8236077" w="22200743">
                  <a:moveTo>
                    <a:pt x="0" y="0"/>
                  </a:moveTo>
                  <a:lnTo>
                    <a:pt x="22200743" y="0"/>
                  </a:lnTo>
                  <a:lnTo>
                    <a:pt x="22200743" y="8236077"/>
                  </a:lnTo>
                  <a:lnTo>
                    <a:pt x="0" y="8236077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2219793" cy="8255127"/>
            </a:xfrm>
            <a:custGeom>
              <a:avLst/>
              <a:gdLst/>
              <a:ahLst/>
              <a:cxnLst/>
              <a:rect r="r" b="b" t="t" l="l"/>
              <a:pathLst>
                <a:path h="8255127" w="22219793">
                  <a:moveTo>
                    <a:pt x="9525" y="0"/>
                  </a:moveTo>
                  <a:lnTo>
                    <a:pt x="22210268" y="0"/>
                  </a:lnTo>
                  <a:cubicBezTo>
                    <a:pt x="22215475" y="0"/>
                    <a:pt x="22219793" y="4318"/>
                    <a:pt x="22219793" y="9525"/>
                  </a:cubicBezTo>
                  <a:lnTo>
                    <a:pt x="22219793" y="8245602"/>
                  </a:lnTo>
                  <a:cubicBezTo>
                    <a:pt x="22219793" y="8250809"/>
                    <a:pt x="22215475" y="8255127"/>
                    <a:pt x="22210268" y="8255127"/>
                  </a:cubicBezTo>
                  <a:lnTo>
                    <a:pt x="9525" y="8255127"/>
                  </a:lnTo>
                  <a:cubicBezTo>
                    <a:pt x="4318" y="8255127"/>
                    <a:pt x="0" y="8250809"/>
                    <a:pt x="0" y="8245602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8245602"/>
                  </a:lnTo>
                  <a:lnTo>
                    <a:pt x="9525" y="8245602"/>
                  </a:lnTo>
                  <a:lnTo>
                    <a:pt x="9525" y="8236077"/>
                  </a:lnTo>
                  <a:lnTo>
                    <a:pt x="22210268" y="8236077"/>
                  </a:lnTo>
                  <a:lnTo>
                    <a:pt x="22210268" y="8245602"/>
                  </a:lnTo>
                  <a:lnTo>
                    <a:pt x="22200743" y="8245602"/>
                  </a:lnTo>
                  <a:lnTo>
                    <a:pt x="22200743" y="9525"/>
                  </a:lnTo>
                  <a:lnTo>
                    <a:pt x="22210268" y="9525"/>
                  </a:lnTo>
                  <a:lnTo>
                    <a:pt x="22210268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1326842" y="2468909"/>
            <a:ext cx="15602855" cy="505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Demo flow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326842" y="3145717"/>
            <a:ext cx="503453" cy="7206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2"/>
              </a:lnSpc>
            </a:pPr>
            <a:r>
              <a:rPr lang="en-US" sz="27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1️⃣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2150450" y="3223879"/>
            <a:ext cx="14916512" cy="436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Upload a PDF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150450" y="3695910"/>
            <a:ext cx="14916512" cy="4175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Drag &amp; drop — watch ingest progress: extract → chunk → embed → done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326842" y="4312491"/>
            <a:ext cx="503453" cy="7206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2"/>
              </a:lnSpc>
            </a:pPr>
            <a:r>
              <a:rPr lang="en-US" sz="27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2️⃣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2150450" y="4390644"/>
            <a:ext cx="14916512" cy="436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Ask a specific question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2150450" y="4862674"/>
            <a:ext cx="14916512" cy="4175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Observe streamed response, citation pills with similarity % badges, and hover for raw chunk text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326842" y="5479256"/>
            <a:ext cx="503453" cy="7206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2"/>
              </a:lnSpc>
            </a:pPr>
            <a:r>
              <a:rPr lang="en-US" sz="27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3️⃣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2150450" y="5557418"/>
            <a:ext cx="14916512" cy="436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Re-upload the same PDF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2150450" y="6029449"/>
            <a:ext cx="14916512" cy="4175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Ingest completes instantly — duplicate detection skips all embedding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326842" y="6646031"/>
            <a:ext cx="503453" cy="7206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2"/>
              </a:lnSpc>
            </a:pPr>
            <a:r>
              <a:rPr lang="en-US" sz="27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4️⃣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2150450" y="6724193"/>
            <a:ext cx="14916512" cy="436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Ask something unanswerable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2150450" y="7196223"/>
            <a:ext cx="14916512" cy="4175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System responds "I don't know." — no hallucination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5048" y="8664978"/>
            <a:ext cx="16467639" cy="4862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http://localhost:8000   ·   docker compose up -d &amp;&amp; uvicorn backend.main:app --reload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5048" y="488051"/>
            <a:ext cx="16289188" cy="427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ROADMAP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15048" y="989495"/>
            <a:ext cx="16289188" cy="13669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64"/>
              </a:lnSpc>
            </a:pPr>
            <a:r>
              <a:rPr lang="en-US" sz="4803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Next steps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23608" y="1853108"/>
            <a:ext cx="16650519" cy="57198"/>
            <a:chOff x="0" y="0"/>
            <a:chExt cx="22200692" cy="7626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2200743" cy="76200"/>
            </a:xfrm>
            <a:custGeom>
              <a:avLst/>
              <a:gdLst/>
              <a:ahLst/>
              <a:cxnLst/>
              <a:rect r="r" b="b" t="t" l="l"/>
              <a:pathLst>
                <a:path h="76200" w="22200743">
                  <a:moveTo>
                    <a:pt x="0" y="0"/>
                  </a:moveTo>
                  <a:lnTo>
                    <a:pt x="22200743" y="0"/>
                  </a:lnTo>
                  <a:lnTo>
                    <a:pt x="22200743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404651" y="2189131"/>
            <a:ext cx="5710885" cy="7632630"/>
            <a:chOff x="0" y="0"/>
            <a:chExt cx="7614514" cy="1017684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9525" y="9525"/>
              <a:ext cx="7595489" cy="10157841"/>
            </a:xfrm>
            <a:custGeom>
              <a:avLst/>
              <a:gdLst/>
              <a:ahLst/>
              <a:cxnLst/>
              <a:rect r="r" b="b" t="t" l="l"/>
              <a:pathLst>
                <a:path h="10157841" w="7595489">
                  <a:moveTo>
                    <a:pt x="0" y="0"/>
                  </a:moveTo>
                  <a:lnTo>
                    <a:pt x="7595489" y="0"/>
                  </a:lnTo>
                  <a:lnTo>
                    <a:pt x="7595489" y="10157841"/>
                  </a:lnTo>
                  <a:lnTo>
                    <a:pt x="0" y="10157841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614539" cy="10176891"/>
            </a:xfrm>
            <a:custGeom>
              <a:avLst/>
              <a:gdLst/>
              <a:ahLst/>
              <a:cxnLst/>
              <a:rect r="r" b="b" t="t" l="l"/>
              <a:pathLst>
                <a:path h="10176891" w="7614539">
                  <a:moveTo>
                    <a:pt x="9525" y="0"/>
                  </a:moveTo>
                  <a:lnTo>
                    <a:pt x="7605014" y="0"/>
                  </a:lnTo>
                  <a:cubicBezTo>
                    <a:pt x="7610221" y="0"/>
                    <a:pt x="7614539" y="4318"/>
                    <a:pt x="7614539" y="9525"/>
                  </a:cubicBezTo>
                  <a:lnTo>
                    <a:pt x="7614539" y="10167366"/>
                  </a:lnTo>
                  <a:cubicBezTo>
                    <a:pt x="7614539" y="10172573"/>
                    <a:pt x="7610221" y="10176891"/>
                    <a:pt x="7605014" y="10176891"/>
                  </a:cubicBezTo>
                  <a:lnTo>
                    <a:pt x="9525" y="10176891"/>
                  </a:lnTo>
                  <a:cubicBezTo>
                    <a:pt x="4318" y="10176891"/>
                    <a:pt x="0" y="10172573"/>
                    <a:pt x="0" y="10167366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10167366"/>
                  </a:lnTo>
                  <a:lnTo>
                    <a:pt x="9525" y="10167366"/>
                  </a:lnTo>
                  <a:lnTo>
                    <a:pt x="9525" y="10157841"/>
                  </a:lnTo>
                  <a:lnTo>
                    <a:pt x="7605014" y="10157841"/>
                  </a:lnTo>
                  <a:lnTo>
                    <a:pt x="7605014" y="10167366"/>
                  </a:lnTo>
                  <a:lnTo>
                    <a:pt x="7595489" y="10167366"/>
                  </a:lnTo>
                  <a:lnTo>
                    <a:pt x="7595489" y="9525"/>
                  </a:lnTo>
                  <a:lnTo>
                    <a:pt x="7605014" y="9525"/>
                  </a:lnTo>
                  <a:lnTo>
                    <a:pt x="7605014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9" id="9"/>
          <p:cNvGrpSpPr/>
          <p:nvPr/>
        </p:nvGrpSpPr>
        <p:grpSpPr>
          <a:xfrm rot="0">
            <a:off x="411804" y="2196274"/>
            <a:ext cx="5696588" cy="57198"/>
            <a:chOff x="0" y="0"/>
            <a:chExt cx="7595451" cy="76264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7595489" cy="76200"/>
            </a:xfrm>
            <a:custGeom>
              <a:avLst/>
              <a:gdLst/>
              <a:ahLst/>
              <a:cxnLst/>
              <a:rect r="r" b="b" t="t" l="l"/>
              <a:pathLst>
                <a:path h="76200" w="7595489">
                  <a:moveTo>
                    <a:pt x="0" y="0"/>
                  </a:moveTo>
                  <a:lnTo>
                    <a:pt x="7595489" y="0"/>
                  </a:lnTo>
                  <a:lnTo>
                    <a:pt x="7595489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709146" y="2331634"/>
            <a:ext cx="5101904" cy="505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🔧  Reliability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709146" y="3027502"/>
            <a:ext cx="5101904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OCR for scanned PDFs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709146" y="3439297"/>
            <a:ext cx="5101904" cy="7702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Tesseract or Google Vision fallback when PyMuPDF returns empty text — currently image-based PDFs produce no chunks.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709146" y="4537443"/>
            <a:ext cx="5101904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Upload queue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709146" y="4949238"/>
            <a:ext cx="5101904" cy="7702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Background job for large PDFs — free the HTTP request immediately and let the client poll for status.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709146" y="6047375"/>
            <a:ext cx="5101904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Auth + multi-user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709146" y="6459179"/>
            <a:ext cx="5101904" cy="7702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Session isolation so multiple users can each have their own document state without shared _state.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6293415" y="2189131"/>
            <a:ext cx="5710885" cy="7632630"/>
            <a:chOff x="0" y="0"/>
            <a:chExt cx="7614514" cy="1017684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9525" y="9525"/>
              <a:ext cx="7595489" cy="10157841"/>
            </a:xfrm>
            <a:custGeom>
              <a:avLst/>
              <a:gdLst/>
              <a:ahLst/>
              <a:cxnLst/>
              <a:rect r="r" b="b" t="t" l="l"/>
              <a:pathLst>
                <a:path h="10157841" w="7595489">
                  <a:moveTo>
                    <a:pt x="0" y="0"/>
                  </a:moveTo>
                  <a:lnTo>
                    <a:pt x="7595489" y="0"/>
                  </a:lnTo>
                  <a:lnTo>
                    <a:pt x="7595489" y="10157841"/>
                  </a:lnTo>
                  <a:lnTo>
                    <a:pt x="0" y="10157841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7614539" cy="10176891"/>
            </a:xfrm>
            <a:custGeom>
              <a:avLst/>
              <a:gdLst/>
              <a:ahLst/>
              <a:cxnLst/>
              <a:rect r="r" b="b" t="t" l="l"/>
              <a:pathLst>
                <a:path h="10176891" w="7614539">
                  <a:moveTo>
                    <a:pt x="9525" y="0"/>
                  </a:moveTo>
                  <a:lnTo>
                    <a:pt x="7605014" y="0"/>
                  </a:lnTo>
                  <a:cubicBezTo>
                    <a:pt x="7610221" y="0"/>
                    <a:pt x="7614539" y="4318"/>
                    <a:pt x="7614539" y="9525"/>
                  </a:cubicBezTo>
                  <a:lnTo>
                    <a:pt x="7614539" y="10167366"/>
                  </a:lnTo>
                  <a:cubicBezTo>
                    <a:pt x="7614539" y="10172573"/>
                    <a:pt x="7610221" y="10176891"/>
                    <a:pt x="7605014" y="10176891"/>
                  </a:cubicBezTo>
                  <a:lnTo>
                    <a:pt x="9525" y="10176891"/>
                  </a:lnTo>
                  <a:cubicBezTo>
                    <a:pt x="4318" y="10176891"/>
                    <a:pt x="0" y="10172573"/>
                    <a:pt x="0" y="10167366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10167366"/>
                  </a:lnTo>
                  <a:lnTo>
                    <a:pt x="9525" y="10167366"/>
                  </a:lnTo>
                  <a:lnTo>
                    <a:pt x="9525" y="10157841"/>
                  </a:lnTo>
                  <a:lnTo>
                    <a:pt x="7605014" y="10157841"/>
                  </a:lnTo>
                  <a:lnTo>
                    <a:pt x="7605014" y="10167366"/>
                  </a:lnTo>
                  <a:lnTo>
                    <a:pt x="7595489" y="10167366"/>
                  </a:lnTo>
                  <a:lnTo>
                    <a:pt x="7595489" y="9525"/>
                  </a:lnTo>
                  <a:lnTo>
                    <a:pt x="7605014" y="9525"/>
                  </a:lnTo>
                  <a:lnTo>
                    <a:pt x="7605014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6300568" y="2196274"/>
            <a:ext cx="5696588" cy="57198"/>
            <a:chOff x="0" y="0"/>
            <a:chExt cx="7595451" cy="76264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7595489" cy="76200"/>
            </a:xfrm>
            <a:custGeom>
              <a:avLst/>
              <a:gdLst/>
              <a:ahLst/>
              <a:cxnLst/>
              <a:rect r="r" b="b" t="t" l="l"/>
              <a:pathLst>
                <a:path h="76200" w="7595489">
                  <a:moveTo>
                    <a:pt x="0" y="0"/>
                  </a:moveTo>
                  <a:lnTo>
                    <a:pt x="7595489" y="0"/>
                  </a:lnTo>
                  <a:lnTo>
                    <a:pt x="7595489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A78BFA"/>
            </a:solid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6597910" y="2331634"/>
            <a:ext cx="5101904" cy="505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5B21B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🧩  Quality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6597910" y="3027502"/>
            <a:ext cx="5101904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Query expansion / HyDE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6597910" y="3439297"/>
            <a:ext cx="5101904" cy="7702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Generate a hypothetical answer, embed it, use that for retrieval — improves recall on vague or abstract questions.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6597910" y="4537443"/>
            <a:ext cx="5101904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Structured chunk types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597910" y="4949238"/>
            <a:ext cx="5101904" cy="7702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Detect headings, tables, and lists in PDFs and split at structural boundaries rather than sentence boundaries.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6597910" y="6047375"/>
            <a:ext cx="5101904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Eval harness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6597910" y="6459179"/>
            <a:ext cx="5101904" cy="7702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Automated Q&amp;A pairs against known answers to measure retrieval precision, recall, and answer faithfulness.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12182180" y="2189131"/>
            <a:ext cx="5710885" cy="7632630"/>
            <a:chOff x="0" y="0"/>
            <a:chExt cx="7614514" cy="1017684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9525" y="9525"/>
              <a:ext cx="7595489" cy="10157841"/>
            </a:xfrm>
            <a:custGeom>
              <a:avLst/>
              <a:gdLst/>
              <a:ahLst/>
              <a:cxnLst/>
              <a:rect r="r" b="b" t="t" l="l"/>
              <a:pathLst>
                <a:path h="10157841" w="7595489">
                  <a:moveTo>
                    <a:pt x="0" y="0"/>
                  </a:moveTo>
                  <a:lnTo>
                    <a:pt x="7595489" y="0"/>
                  </a:lnTo>
                  <a:lnTo>
                    <a:pt x="7595489" y="10157841"/>
                  </a:lnTo>
                  <a:lnTo>
                    <a:pt x="0" y="10157841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7614539" cy="10176891"/>
            </a:xfrm>
            <a:custGeom>
              <a:avLst/>
              <a:gdLst/>
              <a:ahLst/>
              <a:cxnLst/>
              <a:rect r="r" b="b" t="t" l="l"/>
              <a:pathLst>
                <a:path h="10176891" w="7614539">
                  <a:moveTo>
                    <a:pt x="9525" y="0"/>
                  </a:moveTo>
                  <a:lnTo>
                    <a:pt x="7605014" y="0"/>
                  </a:lnTo>
                  <a:cubicBezTo>
                    <a:pt x="7610221" y="0"/>
                    <a:pt x="7614539" y="4318"/>
                    <a:pt x="7614539" y="9525"/>
                  </a:cubicBezTo>
                  <a:lnTo>
                    <a:pt x="7614539" y="10167366"/>
                  </a:lnTo>
                  <a:cubicBezTo>
                    <a:pt x="7614539" y="10172573"/>
                    <a:pt x="7610221" y="10176891"/>
                    <a:pt x="7605014" y="10176891"/>
                  </a:cubicBezTo>
                  <a:lnTo>
                    <a:pt x="9525" y="10176891"/>
                  </a:lnTo>
                  <a:cubicBezTo>
                    <a:pt x="4318" y="10176891"/>
                    <a:pt x="0" y="10172573"/>
                    <a:pt x="0" y="10167366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10167366"/>
                  </a:lnTo>
                  <a:lnTo>
                    <a:pt x="9525" y="10167366"/>
                  </a:lnTo>
                  <a:lnTo>
                    <a:pt x="9525" y="10157841"/>
                  </a:lnTo>
                  <a:lnTo>
                    <a:pt x="7605014" y="10157841"/>
                  </a:lnTo>
                  <a:lnTo>
                    <a:pt x="7605014" y="10167366"/>
                  </a:lnTo>
                  <a:lnTo>
                    <a:pt x="7595489" y="10167366"/>
                  </a:lnTo>
                  <a:lnTo>
                    <a:pt x="7595489" y="9525"/>
                  </a:lnTo>
                  <a:lnTo>
                    <a:pt x="7605014" y="9525"/>
                  </a:lnTo>
                  <a:lnTo>
                    <a:pt x="7605014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12189333" y="2196274"/>
            <a:ext cx="5696588" cy="57198"/>
            <a:chOff x="0" y="0"/>
            <a:chExt cx="7595451" cy="76264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7595489" cy="76200"/>
            </a:xfrm>
            <a:custGeom>
              <a:avLst/>
              <a:gdLst/>
              <a:ahLst/>
              <a:cxnLst/>
              <a:rect r="r" b="b" t="t" l="l"/>
              <a:pathLst>
                <a:path h="76200" w="7595489">
                  <a:moveTo>
                    <a:pt x="0" y="0"/>
                  </a:moveTo>
                  <a:lnTo>
                    <a:pt x="7595489" y="0"/>
                  </a:lnTo>
                  <a:lnTo>
                    <a:pt x="7595489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059669"/>
            </a:solidFill>
          </p:spPr>
        </p:sp>
      </p:grpSp>
      <p:sp>
        <p:nvSpPr>
          <p:cNvPr name="TextBox 35" id="35"/>
          <p:cNvSpPr txBox="true"/>
          <p:nvPr/>
        </p:nvSpPr>
        <p:spPr>
          <a:xfrm rot="0">
            <a:off x="12486675" y="2331634"/>
            <a:ext cx="5101904" cy="505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05966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📦  Scale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2486675" y="3027502"/>
            <a:ext cx="5101904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Multi-document library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2486675" y="3439297"/>
            <a:ext cx="5101904" cy="7702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Doc picker with per-doc metadata — query across multiple PDFs with doc_id filtering.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2486675" y="4537443"/>
            <a:ext cx="5101904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Streaming embed batches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2486675" y="4949238"/>
            <a:ext cx="5101904" cy="7702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For very large docs, stream embedding in fixed batches rather than one giant asyncio.gather to bound peak memory.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2486675" y="6047375"/>
            <a:ext cx="5101904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Persistent conversation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2486675" y="6459179"/>
            <a:ext cx="5101904" cy="7702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Store chat history per session so follow-up questions can reference earlier answers.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440" y="1550051"/>
            <a:ext cx="18114845" cy="14241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646"/>
              </a:lnSpc>
            </a:pPr>
            <a:r>
              <a:rPr lang="en-US" sz="7205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🙏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1440" y="3059992"/>
            <a:ext cx="18114845" cy="14241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646"/>
              </a:lnSpc>
            </a:pPr>
            <a:r>
              <a:rPr lang="en-US" sz="7205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Thank you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91440" y="4646133"/>
            <a:ext cx="18114845" cy="7988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2"/>
              </a:lnSpc>
            </a:pPr>
            <a:r>
              <a:rPr lang="en-US" sz="3002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Questions &amp; live Q&amp;A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4794818" y="5755691"/>
            <a:ext cx="8708079" cy="705402"/>
            <a:chOff x="0" y="0"/>
            <a:chExt cx="11610772" cy="94053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2700" y="12700"/>
              <a:ext cx="11585321" cy="915162"/>
            </a:xfrm>
            <a:custGeom>
              <a:avLst/>
              <a:gdLst/>
              <a:ahLst/>
              <a:cxnLst/>
              <a:rect r="r" b="b" t="t" l="l"/>
              <a:pathLst>
                <a:path h="915162" w="11585321">
                  <a:moveTo>
                    <a:pt x="0" y="0"/>
                  </a:moveTo>
                  <a:lnTo>
                    <a:pt x="11585321" y="0"/>
                  </a:lnTo>
                  <a:lnTo>
                    <a:pt x="11585321" y="915162"/>
                  </a:lnTo>
                  <a:lnTo>
                    <a:pt x="0" y="915162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1610721" cy="940562"/>
            </a:xfrm>
            <a:custGeom>
              <a:avLst/>
              <a:gdLst/>
              <a:ahLst/>
              <a:cxnLst/>
              <a:rect r="r" b="b" t="t" l="l"/>
              <a:pathLst>
                <a:path h="940562" w="11610721">
                  <a:moveTo>
                    <a:pt x="12700" y="0"/>
                  </a:moveTo>
                  <a:lnTo>
                    <a:pt x="11598021" y="0"/>
                  </a:lnTo>
                  <a:cubicBezTo>
                    <a:pt x="11605006" y="0"/>
                    <a:pt x="11610721" y="5715"/>
                    <a:pt x="11610721" y="12700"/>
                  </a:cubicBezTo>
                  <a:lnTo>
                    <a:pt x="11610721" y="927862"/>
                  </a:lnTo>
                  <a:cubicBezTo>
                    <a:pt x="11610721" y="934847"/>
                    <a:pt x="11605006" y="940562"/>
                    <a:pt x="11598021" y="940562"/>
                  </a:cubicBezTo>
                  <a:lnTo>
                    <a:pt x="12700" y="940562"/>
                  </a:lnTo>
                  <a:cubicBezTo>
                    <a:pt x="5715" y="940562"/>
                    <a:pt x="0" y="934847"/>
                    <a:pt x="0" y="927862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927862"/>
                  </a:lnTo>
                  <a:lnTo>
                    <a:pt x="12700" y="927862"/>
                  </a:lnTo>
                  <a:lnTo>
                    <a:pt x="12700" y="915162"/>
                  </a:lnTo>
                  <a:lnTo>
                    <a:pt x="11598021" y="915162"/>
                  </a:lnTo>
                  <a:lnTo>
                    <a:pt x="11598021" y="927862"/>
                  </a:lnTo>
                  <a:lnTo>
                    <a:pt x="11585321" y="927862"/>
                  </a:lnTo>
                  <a:lnTo>
                    <a:pt x="11585321" y="12700"/>
                  </a:lnTo>
                  <a:lnTo>
                    <a:pt x="11598021" y="12700"/>
                  </a:lnTo>
                  <a:lnTo>
                    <a:pt x="11598021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4895793" y="5868934"/>
            <a:ext cx="8506139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github.com/GaneshMadarasu/nymbl-demo-RAG-system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189577" y="7429576"/>
            <a:ext cx="3935139" cy="4862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🔍 Hybrid BM25 + vector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5307597" y="7429576"/>
            <a:ext cx="3935139" cy="4862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🔃 Gemini re-ranking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9425616" y="7429576"/>
            <a:ext cx="3935139" cy="4862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🪟 Parent-child chunks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3543626" y="7429576"/>
            <a:ext cx="3935139" cy="4862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⚡ Dedup + similarity scores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84632"/>
            <a:ext cx="16285463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7C3AED"/>
                </a:solidFill>
              </a:rP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628546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4C1D95"/>
                </a:solidFill>
              </a:rPr>
              <a:t>Current scope — known constraints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856231"/>
            <a:ext cx="16651224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2336" y="2185416"/>
            <a:ext cx="5303520" cy="34472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02336" y="2185416"/>
            <a:ext cx="5303520" cy="6400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2359152"/>
            <a:ext cx="489204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C1D95"/>
                </a:solidFill>
              </a:rPr>
              <a:t>🚫  Single Document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962656"/>
            <a:ext cx="4892040" cy="2414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7C3AED"/>
                </a:solidFill>
              </a:rPr>
              <a:t>One PDF at a time. Uploading a new document wipes the previous one — no multi-doc library or cross-document queries.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17336" y="2185416"/>
            <a:ext cx="5303520" cy="34472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17336" y="2185416"/>
            <a:ext cx="5303520" cy="6400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2359152"/>
            <a:ext cx="489204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C1D95"/>
                </a:solidFill>
              </a:rPr>
              <a:t>🔍  No Scanned PDF / OCR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962656"/>
            <a:ext cx="4892040" cy="2414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7C3AED"/>
                </a:solidFill>
              </a:rPr>
              <a:t>PyMuPDF extracts text from digital PDFs only. Image-based or scanned pages return empty text — no Tesseract / Vision fallback.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832336" y="2185416"/>
            <a:ext cx="5303520" cy="34472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832336" y="2185416"/>
            <a:ext cx="5303520" cy="6400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134088" y="2359152"/>
            <a:ext cx="489204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C1D95"/>
                </a:solidFill>
              </a:rPr>
              <a:t>👤  No Auth / Multi-User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34088" y="2962656"/>
            <a:ext cx="4892040" cy="2414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7C3AED"/>
                </a:solidFill>
              </a:rPr>
              <a:t>Single shared server state. No session isolation — concurrent users share the same document with no login or permission model.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36" y="5806440"/>
            <a:ext cx="5303520" cy="34472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02336" y="5806440"/>
            <a:ext cx="5303520" cy="640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088" y="5980176"/>
            <a:ext cx="489204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C1D95"/>
                </a:solidFill>
              </a:rPr>
              <a:t>💬  No Persistent Chat History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" y="6583679"/>
            <a:ext cx="4892040" cy="2414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7C3AED"/>
                </a:solidFill>
              </a:rPr>
              <a:t>Conversation context resets on page reload. Follow-up questions cannot reference answers from a previous browsing session.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17336" y="5806440"/>
            <a:ext cx="5303520" cy="34472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17336" y="5806440"/>
            <a:ext cx="5303520" cy="640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5980176"/>
            <a:ext cx="489204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C1D95"/>
                </a:solidFill>
              </a:rPr>
              <a:t>⚡  Gemini API Rate Limits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6583679"/>
            <a:ext cx="4892040" cy="2414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7C3AED"/>
                </a:solidFill>
              </a:rPr>
              <a:t>Concurrent embedding calls hit 429 limits on large documents. Exponential backoff adds latency for 100+ page PDFs.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832336" y="5806440"/>
            <a:ext cx="5303520" cy="34472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832336" y="5806440"/>
            <a:ext cx="5303520" cy="640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134088" y="5980176"/>
            <a:ext cx="489204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C1D95"/>
                </a:solidFill>
              </a:rPr>
              <a:t>🔤  PyMuPDF ≠ PDF.js Extraction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134088" y="6583679"/>
            <a:ext cx="4892040" cy="2414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7C3AED"/>
                </a:solidFill>
              </a:rPr>
              <a:t>Math and symbols render differently at ingest (PyMuPDF) and in the viewer (PDF.js), requiring fuzzy word-anchor matching for highlighting.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84632"/>
            <a:ext cx="16285463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7C3AED"/>
                </a:solidFill>
              </a:rPr>
              <a:t>SYSTEM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628546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4C1D95"/>
                </a:solidFill>
              </a:rPr>
              <a:t>Component architecture &amp; data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856231"/>
            <a:ext cx="16651224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3291840"/>
            <a:ext cx="3474720" cy="3474720"/>
          </a:xfrm>
          <a:prstGeom prst="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3291840"/>
            <a:ext cx="3474720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456432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4C1D95"/>
                </a:solidFill>
              </a:rPr>
              <a:t>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77639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C1D95"/>
                </a:solidFill>
              </a:rPr>
              <a:t>Browser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80560"/>
            <a:ext cx="3108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7C3AED"/>
                </a:solidFill>
              </a:rPr>
              <a:t>index.html
PDF.js viewer
SSE streaming
citation pills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2194560"/>
            <a:ext cx="3474720" cy="5120640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2194560"/>
            <a:ext cx="347472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35240" y="2359152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4C1D95"/>
                </a:solidFill>
              </a:rPr>
              <a:t>⚙️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28803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C1D95"/>
                </a:solidFill>
              </a:rPr>
              <a:t>FastAPI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3383280"/>
            <a:ext cx="31089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7C3AED"/>
                </a:solidFill>
              </a:rPr>
              <a:t>POST /ingest
POST /query
DELETE /doc
GET /doc/info
GET /health
asyncpg · uvicorn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493240" y="3291840"/>
            <a:ext cx="3474720" cy="3474720"/>
          </a:xfrm>
          <a:prstGeom prst="rect">
            <a:avLst/>
          </a:prstGeom>
          <a:solidFill>
            <a:srgbClr val="FFFFFF"/>
          </a:solidFill>
          <a:ln w="1905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4493240" y="3291840"/>
            <a:ext cx="3474720" cy="54864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721840" y="3456432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4C1D95"/>
                </a:solidFill>
              </a:rPr>
              <a:t>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721840" y="3977639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C1D95"/>
                </a:solidFill>
              </a:rPr>
              <a:t>Gemini API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721840" y="4480560"/>
            <a:ext cx="3108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7C3AED"/>
                </a:solidFill>
              </a:rPr>
              <a:t>embedding-2 (768-dim)
RETRIEVAL_DOCUMENT/QUERY
2.5-flash rerank
2.5-flash answer (SSE)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06640" y="7863840"/>
            <a:ext cx="3474720" cy="2103120"/>
          </a:xfrm>
          <a:prstGeom prst="rect">
            <a:avLst/>
          </a:prstGeom>
          <a:solidFill>
            <a:srgbClr val="FFFFFF"/>
          </a:solidFill>
          <a:ln w="19050">
            <a:solidFill>
              <a:srgbClr val="3367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06640" y="7863840"/>
            <a:ext cx="3474720" cy="54864"/>
          </a:xfrm>
          <a:prstGeom prst="rect">
            <a:avLst/>
          </a:prstGeom>
          <a:solidFill>
            <a:srgbClr val="336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35240" y="8028431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4C1D95"/>
                </a:solidFill>
              </a:rPr>
              <a:t>🗄️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40" y="85496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C1D95"/>
                </a:solidFill>
              </a:rPr>
              <a:t>PostgreSQL + pgvector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35240" y="9052560"/>
            <a:ext cx="3108960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7C3AED"/>
                </a:solidFill>
              </a:rPr>
              <a:t>chunks · doc_meta
HNSW cosine · tsvector BM25
RRF fusion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794759" y="4297680"/>
            <a:ext cx="3611881" cy="0"/>
          </a:xfrm>
          <a:prstGeom prst="line">
            <a:avLst/>
          </a:prstGeom>
          <a:ln w="25400">
            <a:solidFill>
              <a:srgbClr val="7C3AED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840479" y="3977640"/>
            <a:ext cx="3520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4748B"/>
                </a:solidFill>
              </a:rPr>
              <a:t>upload PDF / query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3794759" y="5486400"/>
            <a:ext cx="3611881" cy="0"/>
          </a:xfrm>
          <a:prstGeom prst="line">
            <a:avLst/>
          </a:prstGeom>
          <a:ln w="25400">
            <a:solidFill>
              <a:srgbClr val="05966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840479" y="5559552"/>
            <a:ext cx="3520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4748B"/>
                </a:solidFill>
              </a:rPr>
              <a:t>SSE stream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0881359" y="4297680"/>
            <a:ext cx="3611881" cy="0"/>
          </a:xfrm>
          <a:prstGeom prst="line">
            <a:avLst/>
          </a:prstGeom>
          <a:ln w="25400">
            <a:solidFill>
              <a:srgbClr val="4285F4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0927080" y="3977640"/>
            <a:ext cx="3520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4748B"/>
                </a:solidFill>
              </a:rPr>
              <a:t>embed / rerank / answer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10881359" y="5577840"/>
            <a:ext cx="3611881" cy="0"/>
          </a:xfrm>
          <a:prstGeom prst="line">
            <a:avLst/>
          </a:prstGeom>
          <a:ln w="25400">
            <a:solidFill>
              <a:srgbClr val="4285F4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10927080" y="5650992"/>
            <a:ext cx="3520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4748B"/>
                </a:solidFill>
              </a:rPr>
              <a:t>vectors / rankings / tokens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144000" y="7315200"/>
            <a:ext cx="0" cy="548640"/>
          </a:xfrm>
          <a:prstGeom prst="line">
            <a:avLst/>
          </a:prstGeom>
          <a:ln w="25400">
            <a:solidFill>
              <a:srgbClr val="33679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9235440" y="7424928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</a:rPr>
              <a:t>store &amp; retrieve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10058400"/>
            <a:ext cx="1737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Ingest flow: Browser → FastAPI → Gemini (embed) → Postgres (store)     Query flow: Browser → FastAPI → Postgres (hybrid search) → Gemini (rerank+answer) → Browser (SSE)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DAHJG9ljMf8</dc:identifier>
  <dcterms:modified xsi:type="dcterms:W3CDTF">2011-08-01T06:04:30Z</dcterms:modified>
  <cp:revision>1</cp:revision>
  <dc:title>DocRAG.pptx</dc:title>
</cp:coreProperties>
</file>