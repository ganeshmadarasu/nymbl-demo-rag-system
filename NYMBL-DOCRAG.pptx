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8" r:id="rId21"/>
    <p:sldId id="269" r:id="rId22"/>
    <p:sldId id="267" r:id="rId17"/>
  </p:sldIdLst>
  <p:sldSz cx="18288000" cy="10287000"/>
  <p:notesSz cx="6858000" cy="9144000"/>
  <p:embeddedFontLst>
    <p:embeddedFont>
      <p:font typeface="Calibri (MS) Bold" charset="1" panose="020F0702030404030204"/>
      <p:regular r:id="rId18"/>
    </p:embeddedFont>
    <p:embeddedFont>
      <p:font typeface="Calibri (MS)" charset="1" panose="020F0502020204030204"/>
      <p:regular r:id="rId19"/>
    </p:embeddedFont>
    <p:embeddedFont>
      <p:font typeface="Calibri (MS) Italics" charset="1" panose="020F05020202040A02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4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slide" Target="slides/slide12.xml"/><Relationship Id="rId22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95039" y="0"/>
            <a:ext cx="8236039" cy="10295039"/>
            <a:chOff x="0" y="0"/>
            <a:chExt cx="10981385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81436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10981436">
                  <a:moveTo>
                    <a:pt x="0" y="0"/>
                  </a:moveTo>
                  <a:lnTo>
                    <a:pt x="10981436" y="0"/>
                  </a:lnTo>
                  <a:lnTo>
                    <a:pt x="10981436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915048" y="1929365"/>
            <a:ext cx="942582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Ganesh Madarasu X </a:t>
            </a: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AI Engineer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15048" y="2463298"/>
            <a:ext cx="9425826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8"/>
              </a:lnSpc>
            </a:pPr>
            <a:r>
              <a:rPr lang="en-US" sz="9007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Nymbl - </a:t>
            </a:r>
            <a:r>
              <a:rPr lang="en-US" sz="9007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Doc RAG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15048" y="4655658"/>
            <a:ext cx="9425826" cy="652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Single-document Q&amp;A grounded in your PDF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4073" y="5618426"/>
            <a:ext cx="2627138" cy="540677"/>
            <a:chOff x="0" y="0"/>
            <a:chExt cx="3502850" cy="72090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24861" y="5663032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 Embeddings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559416" y="5618426"/>
            <a:ext cx="2627138" cy="540677"/>
            <a:chOff x="0" y="0"/>
            <a:chExt cx="3502850" cy="7209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3770205" y="5663032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pgvector + BM25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4968392" y="6799269"/>
            <a:ext cx="2627138" cy="540677"/>
            <a:chOff x="0" y="0"/>
            <a:chExt cx="3502850" cy="72090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5179181" y="6843874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FastAPI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713736" y="6799269"/>
            <a:ext cx="2627138" cy="540677"/>
            <a:chOff x="0" y="0"/>
            <a:chExt cx="3502850" cy="72090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7924524" y="6843874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F9731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RAG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347352" y="2478434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  Upload any PDF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47352" y="3192218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  Auto-scaled chunking + parent context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347352" y="3906012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  Gemini semantic embeddings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347352" y="4619796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  Hybrid BM25 + vector search (RRF)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347352" y="5333590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🔃  Gemini re-ranking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347352" y="6047375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  Streaming answers with markdown rendering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47352" y="6761169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  Numbered [N] citations + PDF viewer + similarity %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Doc RAG does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89131"/>
            <a:ext cx="8113062" cy="2210572"/>
            <a:chOff x="0" y="0"/>
            <a:chExt cx="10817416" cy="29474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10798302" cy="2928366"/>
            </a:xfrm>
            <a:custGeom>
              <a:avLst/>
              <a:gdLst/>
              <a:ahLst/>
              <a:cxnLst/>
              <a:rect r="r" b="b" t="t" l="l"/>
              <a:pathLst>
                <a:path h="2928366" w="10798302">
                  <a:moveTo>
                    <a:pt x="0" y="0"/>
                  </a:moveTo>
                  <a:lnTo>
                    <a:pt x="10798302" y="0"/>
                  </a:lnTo>
                  <a:lnTo>
                    <a:pt x="10798302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817352" cy="2947416"/>
            </a:xfrm>
            <a:custGeom>
              <a:avLst/>
              <a:gdLst/>
              <a:ahLst/>
              <a:cxnLst/>
              <a:rect r="r" b="b" t="t" l="l"/>
              <a:pathLst>
                <a:path h="2947416" w="10817352">
                  <a:moveTo>
                    <a:pt x="9525" y="0"/>
                  </a:moveTo>
                  <a:lnTo>
                    <a:pt x="10807827" y="0"/>
                  </a:lnTo>
                  <a:cubicBezTo>
                    <a:pt x="10813034" y="0"/>
                    <a:pt x="10817352" y="4318"/>
                    <a:pt x="10817352" y="9525"/>
                  </a:cubicBezTo>
                  <a:lnTo>
                    <a:pt x="10817352" y="2937891"/>
                  </a:lnTo>
                  <a:cubicBezTo>
                    <a:pt x="10817352" y="2943098"/>
                    <a:pt x="10813034" y="2947416"/>
                    <a:pt x="10807827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10807827" y="2928366"/>
                  </a:lnTo>
                  <a:lnTo>
                    <a:pt x="10807827" y="2937891"/>
                  </a:lnTo>
                  <a:lnTo>
                    <a:pt x="10798302" y="2937891"/>
                  </a:lnTo>
                  <a:lnTo>
                    <a:pt x="10798302" y="9525"/>
                  </a:lnTo>
                  <a:lnTo>
                    <a:pt x="10807827" y="9525"/>
                  </a:lnTo>
                  <a:lnTo>
                    <a:pt x="1080782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89577" y="2400271"/>
            <a:ext cx="7366816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🧩  The problem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9577" y="2958865"/>
            <a:ext cx="7366816" cy="1182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LLMs hallucinate when asked about documents they haven't seen. Generic chat can't cite specific passages or say "I don't know" reliably.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368199" y="2189131"/>
            <a:ext cx="8113062" cy="2210572"/>
            <a:chOff x="0" y="0"/>
            <a:chExt cx="10817416" cy="294742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9525" y="9525"/>
              <a:ext cx="10798302" cy="2928366"/>
            </a:xfrm>
            <a:custGeom>
              <a:avLst/>
              <a:gdLst/>
              <a:ahLst/>
              <a:cxnLst/>
              <a:rect r="r" b="b" t="t" l="l"/>
              <a:pathLst>
                <a:path h="2928366" w="10798302">
                  <a:moveTo>
                    <a:pt x="0" y="0"/>
                  </a:moveTo>
                  <a:lnTo>
                    <a:pt x="10798302" y="0"/>
                  </a:lnTo>
                  <a:lnTo>
                    <a:pt x="10798302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817352" cy="2947416"/>
            </a:xfrm>
            <a:custGeom>
              <a:avLst/>
              <a:gdLst/>
              <a:ahLst/>
              <a:cxnLst/>
              <a:rect r="r" b="b" t="t" l="l"/>
              <a:pathLst>
                <a:path h="2947416" w="10817352">
                  <a:moveTo>
                    <a:pt x="9525" y="0"/>
                  </a:moveTo>
                  <a:lnTo>
                    <a:pt x="10807827" y="0"/>
                  </a:lnTo>
                  <a:cubicBezTo>
                    <a:pt x="10813034" y="0"/>
                    <a:pt x="10817352" y="4318"/>
                    <a:pt x="10817352" y="9525"/>
                  </a:cubicBezTo>
                  <a:lnTo>
                    <a:pt x="10817352" y="2937891"/>
                  </a:lnTo>
                  <a:cubicBezTo>
                    <a:pt x="10817352" y="2943098"/>
                    <a:pt x="10813034" y="2947416"/>
                    <a:pt x="10807827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10807827" y="2928366"/>
                  </a:lnTo>
                  <a:lnTo>
                    <a:pt x="10807827" y="2937891"/>
                  </a:lnTo>
                  <a:lnTo>
                    <a:pt x="10798302" y="2937891"/>
                  </a:lnTo>
                  <a:lnTo>
                    <a:pt x="10798302" y="9525"/>
                  </a:lnTo>
                  <a:lnTo>
                    <a:pt x="10807827" y="9525"/>
                  </a:lnTo>
                  <a:lnTo>
                    <a:pt x="1080782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741322" y="2400271"/>
            <a:ext cx="7366816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✅  The solution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41322" y="2958865"/>
            <a:ext cx="7366816" cy="1182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Retrieval-Augmented Generation — ground every answer in retrieved chunks from the actual document, with inline citations so claims can be verified.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16454" y="4659935"/>
            <a:ext cx="16664816" cy="2347846"/>
            <a:chOff x="0" y="0"/>
            <a:chExt cx="22219755" cy="313046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9525" y="9525"/>
              <a:ext cx="22200743" cy="3111373"/>
            </a:xfrm>
            <a:custGeom>
              <a:avLst/>
              <a:gdLst/>
              <a:ahLst/>
              <a:cxnLst/>
              <a:rect r="r" b="b" t="t" l="l"/>
              <a:pathLst>
                <a:path h="3111373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3111373"/>
                  </a:lnTo>
                  <a:lnTo>
                    <a:pt x="0" y="311137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219793" cy="3130423"/>
            </a:xfrm>
            <a:custGeom>
              <a:avLst/>
              <a:gdLst/>
              <a:ahLst/>
              <a:cxnLst/>
              <a:rect r="r" b="b" t="t" l="l"/>
              <a:pathLst>
                <a:path h="3130423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3120898"/>
                  </a:lnTo>
                  <a:cubicBezTo>
                    <a:pt x="22219793" y="3126105"/>
                    <a:pt x="22215475" y="3130423"/>
                    <a:pt x="22210268" y="3130423"/>
                  </a:cubicBezTo>
                  <a:lnTo>
                    <a:pt x="9525" y="3130423"/>
                  </a:lnTo>
                  <a:cubicBezTo>
                    <a:pt x="4318" y="3130423"/>
                    <a:pt x="0" y="3126105"/>
                    <a:pt x="0" y="312089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120898"/>
                  </a:lnTo>
                  <a:lnTo>
                    <a:pt x="9525" y="3120898"/>
                  </a:lnTo>
                  <a:lnTo>
                    <a:pt x="9525" y="3111373"/>
                  </a:lnTo>
                  <a:lnTo>
                    <a:pt x="22210268" y="3111373"/>
                  </a:lnTo>
                  <a:lnTo>
                    <a:pt x="22210268" y="3120898"/>
                  </a:lnTo>
                  <a:lnTo>
                    <a:pt x="22200743" y="3120898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090984" y="4934474"/>
            <a:ext cx="2896914" cy="1798777"/>
            <a:chOff x="0" y="0"/>
            <a:chExt cx="3862553" cy="23983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189577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9577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PDF Upload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89577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any size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4110866" y="4934474"/>
            <a:ext cx="2896914" cy="1798777"/>
            <a:chOff x="0" y="0"/>
            <a:chExt cx="3862553" cy="23983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4209459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209459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Extract &amp; Chunk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209459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PyMuPDF + tiktoken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7130748" y="4934474"/>
            <a:ext cx="2896914" cy="1798777"/>
            <a:chOff x="0" y="0"/>
            <a:chExt cx="3862553" cy="23983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7229332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229332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229332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gemini-embedding-2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0150631" y="4934474"/>
            <a:ext cx="2896914" cy="1798777"/>
            <a:chOff x="0" y="0"/>
            <a:chExt cx="3862553" cy="239837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10249214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249214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Store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249214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Postgres + pgvector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3170503" y="4934474"/>
            <a:ext cx="2896914" cy="1798777"/>
            <a:chOff x="0" y="0"/>
            <a:chExt cx="3862553" cy="239837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46" id="46"/>
          <p:cNvSpPr txBox="true"/>
          <p:nvPr/>
        </p:nvSpPr>
        <p:spPr>
          <a:xfrm rot="0">
            <a:off x="13269097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3269097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Answer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3269097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2.5 Flash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SYSTEM DESIGN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Architecture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3836337"/>
            <a:ext cx="2210572" cy="2073307"/>
            <a:chOff x="0" y="0"/>
            <a:chExt cx="2947429" cy="276440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928366" cy="2745359"/>
            </a:xfrm>
            <a:custGeom>
              <a:avLst/>
              <a:gdLst/>
              <a:ahLst/>
              <a:cxnLst/>
              <a:rect r="r" b="b" t="t" l="l"/>
              <a:pathLst>
                <a:path h="2745359" w="2928366">
                  <a:moveTo>
                    <a:pt x="0" y="0"/>
                  </a:moveTo>
                  <a:lnTo>
                    <a:pt x="2928366" y="0"/>
                  </a:lnTo>
                  <a:lnTo>
                    <a:pt x="2928366" y="2745359"/>
                  </a:lnTo>
                  <a:lnTo>
                    <a:pt x="0" y="274535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47416" cy="2764409"/>
            </a:xfrm>
            <a:custGeom>
              <a:avLst/>
              <a:gdLst/>
              <a:ahLst/>
              <a:cxnLst/>
              <a:rect r="r" b="b" t="t" l="l"/>
              <a:pathLst>
                <a:path h="2764409" w="2947416">
                  <a:moveTo>
                    <a:pt x="9525" y="0"/>
                  </a:moveTo>
                  <a:lnTo>
                    <a:pt x="2937891" y="0"/>
                  </a:lnTo>
                  <a:cubicBezTo>
                    <a:pt x="2943098" y="0"/>
                    <a:pt x="2947416" y="4318"/>
                    <a:pt x="2947416" y="9525"/>
                  </a:cubicBezTo>
                  <a:lnTo>
                    <a:pt x="2947416" y="2754884"/>
                  </a:lnTo>
                  <a:cubicBezTo>
                    <a:pt x="2947416" y="2760091"/>
                    <a:pt x="2943098" y="2764409"/>
                    <a:pt x="2937891" y="2764409"/>
                  </a:cubicBezTo>
                  <a:lnTo>
                    <a:pt x="9525" y="2764409"/>
                  </a:lnTo>
                  <a:cubicBezTo>
                    <a:pt x="4318" y="2764409"/>
                    <a:pt x="0" y="2760091"/>
                    <a:pt x="0" y="2754884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754884"/>
                  </a:lnTo>
                  <a:lnTo>
                    <a:pt x="9525" y="2754884"/>
                  </a:lnTo>
                  <a:lnTo>
                    <a:pt x="9525" y="2745359"/>
                  </a:lnTo>
                  <a:lnTo>
                    <a:pt x="2937891" y="2745359"/>
                  </a:lnTo>
                  <a:lnTo>
                    <a:pt x="2937891" y="2754884"/>
                  </a:lnTo>
                  <a:lnTo>
                    <a:pt x="2928366" y="2754884"/>
                  </a:lnTo>
                  <a:lnTo>
                    <a:pt x="2928366" y="9525"/>
                  </a:lnTo>
                  <a:lnTo>
                    <a:pt x="2937891" y="9525"/>
                  </a:lnTo>
                  <a:lnTo>
                    <a:pt x="2937891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3891163"/>
            <a:ext cx="2013394" cy="661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2"/>
              </a:lnSpc>
            </a:pPr>
            <a:r>
              <a:rPr lang="en-US" sz="30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🌐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4478331"/>
            <a:ext cx="2013394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Browser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03244" y="4890135"/>
            <a:ext cx="2013394" cy="760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index.html</a:t>
            </a:r>
          </a:p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 streaming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99518" y="4743336"/>
            <a:ext cx="36618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→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3149994" y="2463660"/>
            <a:ext cx="2622375" cy="4818650"/>
            <a:chOff x="0" y="0"/>
            <a:chExt cx="3496500" cy="642486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3477387" cy="6405753"/>
            </a:xfrm>
            <a:custGeom>
              <a:avLst/>
              <a:gdLst/>
              <a:ahLst/>
              <a:cxnLst/>
              <a:rect r="r" b="b" t="t" l="l"/>
              <a:pathLst>
                <a:path h="6405753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405753"/>
                  </a:lnTo>
                  <a:lnTo>
                    <a:pt x="0" y="640575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496437" cy="6424803"/>
            </a:xfrm>
            <a:custGeom>
              <a:avLst/>
              <a:gdLst/>
              <a:ahLst/>
              <a:cxnLst/>
              <a:rect r="r" b="b" t="t" l="l"/>
              <a:pathLst>
                <a:path h="6424803" w="3496437">
                  <a:moveTo>
                    <a:pt x="9525" y="0"/>
                  </a:moveTo>
                  <a:lnTo>
                    <a:pt x="3486912" y="0"/>
                  </a:lnTo>
                  <a:cubicBezTo>
                    <a:pt x="3492119" y="0"/>
                    <a:pt x="3496437" y="4318"/>
                    <a:pt x="3496437" y="9525"/>
                  </a:cubicBezTo>
                  <a:lnTo>
                    <a:pt x="3496437" y="6415278"/>
                  </a:lnTo>
                  <a:cubicBezTo>
                    <a:pt x="3496437" y="6420485"/>
                    <a:pt x="3492119" y="6424803"/>
                    <a:pt x="3486912" y="6424803"/>
                  </a:cubicBezTo>
                  <a:lnTo>
                    <a:pt x="9525" y="6424803"/>
                  </a:lnTo>
                  <a:cubicBezTo>
                    <a:pt x="4318" y="6424803"/>
                    <a:pt x="0" y="6420485"/>
                    <a:pt x="0" y="641527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6415278"/>
                  </a:lnTo>
                  <a:lnTo>
                    <a:pt x="9525" y="6415278"/>
                  </a:lnTo>
                  <a:lnTo>
                    <a:pt x="9525" y="6405753"/>
                  </a:lnTo>
                  <a:lnTo>
                    <a:pt x="3486912" y="6405753"/>
                  </a:lnTo>
                  <a:lnTo>
                    <a:pt x="3486912" y="6415278"/>
                  </a:lnTo>
                  <a:lnTo>
                    <a:pt x="3477387" y="6415278"/>
                  </a:lnTo>
                  <a:lnTo>
                    <a:pt x="3477387" y="9525"/>
                  </a:lnTo>
                  <a:lnTo>
                    <a:pt x="3486912" y="9525"/>
                  </a:lnTo>
                  <a:lnTo>
                    <a:pt x="348691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248587" y="2615698"/>
            <a:ext cx="2425198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FastAPI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3317100" y="3221012"/>
            <a:ext cx="2288172" cy="531152"/>
            <a:chOff x="0" y="0"/>
            <a:chExt cx="3050896" cy="70820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3413303" y="3311557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POST /ingest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3317100" y="3907346"/>
            <a:ext cx="2288172" cy="531152"/>
            <a:chOff x="0" y="0"/>
            <a:chExt cx="3050896" cy="7082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3413303" y="3997900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POST /query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3317100" y="4593688"/>
            <a:ext cx="2288172" cy="531152"/>
            <a:chOff x="0" y="0"/>
            <a:chExt cx="3050896" cy="70820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3413303" y="4684233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DELETE /doc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3317100" y="5280022"/>
            <a:ext cx="2288172" cy="531152"/>
            <a:chOff x="0" y="0"/>
            <a:chExt cx="3050896" cy="70820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3413303" y="5370566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GET /doc/info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3317100" y="5966355"/>
            <a:ext cx="2288172" cy="531152"/>
            <a:chOff x="0" y="0"/>
            <a:chExt cx="3050896" cy="70820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3413303" y="6056900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GET /health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169876" y="2051856"/>
            <a:ext cx="11682012" cy="3034179"/>
            <a:chOff x="0" y="0"/>
            <a:chExt cx="15576017" cy="404557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9525" y="9525"/>
              <a:ext cx="15556992" cy="4026535"/>
            </a:xfrm>
            <a:custGeom>
              <a:avLst/>
              <a:gdLst/>
              <a:ahLst/>
              <a:cxnLst/>
              <a:rect r="r" b="b" t="t" l="l"/>
              <a:pathLst>
                <a:path h="4026535" w="15556992">
                  <a:moveTo>
                    <a:pt x="0" y="0"/>
                  </a:moveTo>
                  <a:lnTo>
                    <a:pt x="15556992" y="0"/>
                  </a:lnTo>
                  <a:lnTo>
                    <a:pt x="15556992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5576042" cy="4045585"/>
            </a:xfrm>
            <a:custGeom>
              <a:avLst/>
              <a:gdLst/>
              <a:ahLst/>
              <a:cxnLst/>
              <a:rect r="r" b="b" t="t" l="l"/>
              <a:pathLst>
                <a:path h="4045585" w="15576042">
                  <a:moveTo>
                    <a:pt x="9525" y="0"/>
                  </a:moveTo>
                  <a:lnTo>
                    <a:pt x="15566517" y="0"/>
                  </a:lnTo>
                  <a:cubicBezTo>
                    <a:pt x="15571724" y="0"/>
                    <a:pt x="15576042" y="4318"/>
                    <a:pt x="15576042" y="9525"/>
                  </a:cubicBezTo>
                  <a:lnTo>
                    <a:pt x="15576042" y="4036060"/>
                  </a:lnTo>
                  <a:cubicBezTo>
                    <a:pt x="15576042" y="4041267"/>
                    <a:pt x="15571724" y="4045585"/>
                    <a:pt x="15566517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5566517" y="4026535"/>
                  </a:lnTo>
                  <a:lnTo>
                    <a:pt x="15566517" y="4036060"/>
                  </a:lnTo>
                  <a:lnTo>
                    <a:pt x="15556992" y="4036060"/>
                  </a:lnTo>
                  <a:lnTo>
                    <a:pt x="15556992" y="9525"/>
                  </a:lnTo>
                  <a:lnTo>
                    <a:pt x="15566517" y="9525"/>
                  </a:lnTo>
                  <a:lnTo>
                    <a:pt x="1556651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6268469" y="2185968"/>
            <a:ext cx="11484835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INGEST PIPELINE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375778" y="2600925"/>
            <a:ext cx="2553738" cy="2279209"/>
            <a:chOff x="0" y="0"/>
            <a:chExt cx="3404984" cy="303894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6474371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6474371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PyMuPDF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6474371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extract text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no token limit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9052484" y="2600925"/>
            <a:ext cx="2553738" cy="2279209"/>
            <a:chOff x="0" y="0"/>
            <a:chExt cx="3404984" cy="3038945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9151077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151077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tiktoken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151077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count tokens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compute_params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chunk+overlap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1729199" y="2600925"/>
            <a:ext cx="2553738" cy="2279209"/>
            <a:chOff x="0" y="0"/>
            <a:chExt cx="3404984" cy="303894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56" id="56"/>
          <p:cNvSpPr txBox="true"/>
          <p:nvPr/>
        </p:nvSpPr>
        <p:spPr>
          <a:xfrm rot="0">
            <a:off x="11827793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1827793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1827793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embedding-2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768-dim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concurrent+retry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4405915" y="2600925"/>
            <a:ext cx="2553738" cy="2279209"/>
            <a:chOff x="0" y="0"/>
            <a:chExt cx="3404984" cy="3038945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14504499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4504499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Postgres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4504499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chunks+parent_text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doc_meta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pgvector HNSW</a:t>
            </a:r>
          </a:p>
        </p:txBody>
      </p:sp>
      <p:grpSp>
        <p:nvGrpSpPr>
          <p:cNvPr name="Group 65" id="65"/>
          <p:cNvGrpSpPr/>
          <p:nvPr/>
        </p:nvGrpSpPr>
        <p:grpSpPr>
          <a:xfrm rot="0">
            <a:off x="6169876" y="5346278"/>
            <a:ext cx="11682012" cy="3034179"/>
            <a:chOff x="0" y="0"/>
            <a:chExt cx="15576017" cy="40455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9525" y="9525"/>
              <a:ext cx="15556992" cy="4026535"/>
            </a:xfrm>
            <a:custGeom>
              <a:avLst/>
              <a:gdLst/>
              <a:ahLst/>
              <a:cxnLst/>
              <a:rect r="r" b="b" t="t" l="l"/>
              <a:pathLst>
                <a:path h="4026535" w="15556992">
                  <a:moveTo>
                    <a:pt x="0" y="0"/>
                  </a:moveTo>
                  <a:lnTo>
                    <a:pt x="15556992" y="0"/>
                  </a:lnTo>
                  <a:lnTo>
                    <a:pt x="15556992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5576042" cy="4045585"/>
            </a:xfrm>
            <a:custGeom>
              <a:avLst/>
              <a:gdLst/>
              <a:ahLst/>
              <a:cxnLst/>
              <a:rect r="r" b="b" t="t" l="l"/>
              <a:pathLst>
                <a:path h="4045585" w="15576042">
                  <a:moveTo>
                    <a:pt x="9525" y="0"/>
                  </a:moveTo>
                  <a:lnTo>
                    <a:pt x="15566517" y="0"/>
                  </a:lnTo>
                  <a:cubicBezTo>
                    <a:pt x="15571724" y="0"/>
                    <a:pt x="15576042" y="4318"/>
                    <a:pt x="15576042" y="9525"/>
                  </a:cubicBezTo>
                  <a:lnTo>
                    <a:pt x="15576042" y="4036060"/>
                  </a:lnTo>
                  <a:cubicBezTo>
                    <a:pt x="15576042" y="4041267"/>
                    <a:pt x="15571724" y="4045585"/>
                    <a:pt x="15566517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5566517" y="4026535"/>
                  </a:lnTo>
                  <a:lnTo>
                    <a:pt x="15566517" y="4036060"/>
                  </a:lnTo>
                  <a:lnTo>
                    <a:pt x="15556992" y="4036060"/>
                  </a:lnTo>
                  <a:lnTo>
                    <a:pt x="15556992" y="9525"/>
                  </a:lnTo>
                  <a:lnTo>
                    <a:pt x="15566517" y="9525"/>
                  </a:lnTo>
                  <a:lnTo>
                    <a:pt x="1556651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6268469" y="5480380"/>
            <a:ext cx="11484835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QUERY PIPELINE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6375778" y="5895346"/>
            <a:ext cx="2553738" cy="2279209"/>
            <a:chOff x="0" y="0"/>
            <a:chExt cx="3404984" cy="303894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72" id="72"/>
          <p:cNvSpPr txBox="true"/>
          <p:nvPr/>
        </p:nvSpPr>
        <p:spPr>
          <a:xfrm rot="0">
            <a:off x="6474371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474371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 query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6474371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RETRIEVAL_QUERY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768-dim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9052484" y="5895346"/>
            <a:ext cx="2553738" cy="2279209"/>
            <a:chOff x="0" y="0"/>
            <a:chExt cx="3404984" cy="3038945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78" id="78"/>
          <p:cNvSpPr txBox="true"/>
          <p:nvPr/>
        </p:nvSpPr>
        <p:spPr>
          <a:xfrm rot="0">
            <a:off x="9151077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9151077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search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151077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BM25 + pgvector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RRF fusion</a:t>
            </a:r>
          </a:p>
        </p:txBody>
      </p:sp>
      <p:grpSp>
        <p:nvGrpSpPr>
          <p:cNvPr name="Group 81" id="81"/>
          <p:cNvGrpSpPr/>
          <p:nvPr/>
        </p:nvGrpSpPr>
        <p:grpSpPr>
          <a:xfrm rot="0">
            <a:off x="11729199" y="5895346"/>
            <a:ext cx="2553738" cy="2279209"/>
            <a:chOff x="0" y="0"/>
            <a:chExt cx="3404984" cy="3038945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84" id="84"/>
          <p:cNvSpPr txBox="true"/>
          <p:nvPr/>
        </p:nvSpPr>
        <p:spPr>
          <a:xfrm rot="0">
            <a:off x="11827793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1827793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Generate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1827793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2.5 Flash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streamed SSE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14405915" y="5895346"/>
            <a:ext cx="2553738" cy="2279209"/>
            <a:chOff x="0" y="0"/>
            <a:chExt cx="3404984" cy="3038945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0" id="90"/>
          <p:cNvSpPr txBox="true"/>
          <p:nvPr/>
        </p:nvSpPr>
        <p:spPr>
          <a:xfrm rot="0">
            <a:off x="14504499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14504499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Response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14504499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[Chunk N] cites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similarity %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5719391" y="3458347"/>
            <a:ext cx="1052522" cy="339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059669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→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5719391" y="6752768"/>
            <a:ext cx="1052522" cy="339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query →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PIPELINE DETAIL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Ingest flow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4269581" cy="7426728"/>
            <a:chOff x="0" y="0"/>
            <a:chExt cx="5692775" cy="990230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 · Extract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09146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PyMuPDF reads every page verbatim with no token output limit. Null bytes stripped for Postgres UTF-8 compatibility.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12934" y="7133130"/>
            <a:ext cx="3853015" cy="627231"/>
            <a:chOff x="0" y="0"/>
            <a:chExt cx="5137353" cy="83630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77777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fitz.open(stream=…)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4824660" y="2189131"/>
            <a:ext cx="4269581" cy="7426728"/>
            <a:chOff x="0" y="0"/>
            <a:chExt cx="5692775" cy="990230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492324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92324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 · Chunk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29146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tiktoken counts total tokens → compute_params() selects chunk_size and k. Sentence-boundary splits with 64-token overlap. Parent text (prev+self+next) stored for LLM context.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032943" y="7133130"/>
            <a:ext cx="3853015" cy="627231"/>
            <a:chOff x="0" y="0"/>
            <a:chExt cx="5137353" cy="83630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519778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chunk_text(text, chunk_size)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244660" y="2189131"/>
            <a:ext cx="4269581" cy="7426728"/>
            <a:chOff x="0" y="0"/>
            <a:chExt cx="5692775" cy="99023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9343253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343253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 · Embed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549155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All chunks embedded concurrently via asyncio.gather. Exponential backoff retries on 429/503. Task type RETRIEVAL_DOCUMENT for higher retrieval accuracy.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452943" y="7133130"/>
            <a:ext cx="3853015" cy="627231"/>
            <a:chOff x="0" y="0"/>
            <a:chExt cx="5137353" cy="83630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961778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gemini-embedding-2 · 768-dim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3664670" y="2189131"/>
            <a:ext cx="4269581" cy="7426728"/>
            <a:chOff x="0" y="0"/>
            <a:chExt cx="5692775" cy="990230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1376325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376325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 · Store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3969155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Chunks + vectors + parent_text written to chunks table. doc_meta persists chunk_count and k. If same PDF is re-uploaded, doc_exists() detects the SHA-256 match and skips all of the above.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3872953" y="7133130"/>
            <a:ext cx="3853015" cy="627231"/>
            <a:chOff x="0" y="0"/>
            <a:chExt cx="5137353" cy="83630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5" id="45"/>
          <p:cNvSpPr txBox="true"/>
          <p:nvPr/>
        </p:nvSpPr>
        <p:spPr>
          <a:xfrm rot="0">
            <a:off x="1403779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HNSW index · GIN tsvector index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PIPELINE DETAIL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Query flow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257758"/>
            <a:ext cx="17488414" cy="2210572"/>
            <a:chOff x="0" y="0"/>
            <a:chExt cx="23317886" cy="29474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3298786" cy="2928366"/>
            </a:xfrm>
            <a:custGeom>
              <a:avLst/>
              <a:gdLst/>
              <a:ahLst/>
              <a:cxnLst/>
              <a:rect r="r" b="b" t="t" l="l"/>
              <a:pathLst>
                <a:path h="2928366" w="23298786">
                  <a:moveTo>
                    <a:pt x="0" y="0"/>
                  </a:moveTo>
                  <a:lnTo>
                    <a:pt x="23298786" y="0"/>
                  </a:lnTo>
                  <a:lnTo>
                    <a:pt x="23298786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317836" cy="2947416"/>
            </a:xfrm>
            <a:custGeom>
              <a:avLst/>
              <a:gdLst/>
              <a:ahLst/>
              <a:cxnLst/>
              <a:rect r="r" b="b" t="t" l="l"/>
              <a:pathLst>
                <a:path h="2947416" w="23317836">
                  <a:moveTo>
                    <a:pt x="9525" y="0"/>
                  </a:moveTo>
                  <a:lnTo>
                    <a:pt x="23308311" y="0"/>
                  </a:lnTo>
                  <a:cubicBezTo>
                    <a:pt x="23313518" y="0"/>
                    <a:pt x="23317836" y="4318"/>
                    <a:pt x="23317836" y="9525"/>
                  </a:cubicBezTo>
                  <a:lnTo>
                    <a:pt x="23317836" y="2937891"/>
                  </a:lnTo>
                  <a:cubicBezTo>
                    <a:pt x="23317836" y="2943098"/>
                    <a:pt x="23313518" y="2947416"/>
                    <a:pt x="23308311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23308311" y="2928366"/>
                  </a:lnTo>
                  <a:lnTo>
                    <a:pt x="23308311" y="2937891"/>
                  </a:lnTo>
                  <a:lnTo>
                    <a:pt x="23298786" y="2937891"/>
                  </a:lnTo>
                  <a:lnTo>
                    <a:pt x="23298786" y="9525"/>
                  </a:lnTo>
                  <a:lnTo>
                    <a:pt x="23308311" y="9525"/>
                  </a:lnTo>
                  <a:lnTo>
                    <a:pt x="23308311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User question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03244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plain text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770205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770205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 query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770205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RETRIEVAL_QUERY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37165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37165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search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37165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BM25 + vector RRF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304126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🔃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04126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Re-rank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304126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· top k/2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571087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71087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Stream answer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571087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 + citations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04651" y="4797200"/>
            <a:ext cx="8387601" cy="2759640"/>
            <a:chOff x="0" y="0"/>
            <a:chExt cx="11183468" cy="3679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9525" y="9525"/>
              <a:ext cx="11164443" cy="3660521"/>
            </a:xfrm>
            <a:custGeom>
              <a:avLst/>
              <a:gdLst/>
              <a:ahLst/>
              <a:cxnLst/>
              <a:rect r="r" b="b" t="t" l="l"/>
              <a:pathLst>
                <a:path h="3660521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183493" cy="3679571"/>
            </a:xfrm>
            <a:custGeom>
              <a:avLst/>
              <a:gdLst/>
              <a:ahLst/>
              <a:cxnLst/>
              <a:rect r="r" b="b" t="t" l="l"/>
              <a:pathLst>
                <a:path h="3679571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3670046"/>
                  </a:lnTo>
                  <a:cubicBezTo>
                    <a:pt x="11183493" y="3675253"/>
                    <a:pt x="11179175" y="3679571"/>
                    <a:pt x="11173968" y="3679571"/>
                  </a:cubicBezTo>
                  <a:lnTo>
                    <a:pt x="9525" y="3679571"/>
                  </a:lnTo>
                  <a:cubicBezTo>
                    <a:pt x="4318" y="3679571"/>
                    <a:pt x="0" y="3675253"/>
                    <a:pt x="0" y="367004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670046"/>
                  </a:lnTo>
                  <a:lnTo>
                    <a:pt x="9525" y="3670046"/>
                  </a:lnTo>
                  <a:lnTo>
                    <a:pt x="9525" y="3660521"/>
                  </a:lnTo>
                  <a:lnTo>
                    <a:pt x="11173968" y="3660521"/>
                  </a:lnTo>
                  <a:lnTo>
                    <a:pt x="11173968" y="3670046"/>
                  </a:lnTo>
                  <a:lnTo>
                    <a:pt x="11164443" y="3670046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77773" y="5008350"/>
            <a:ext cx="7641355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System prompt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77773" y="5576468"/>
            <a:ext cx="7641355" cy="172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7C3AED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"Answer using ONLY the provided context. If insufficient: "I don't know." Cite sources as [Chunk N] inline."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230935" y="4797200"/>
            <a:ext cx="8662130" cy="2759640"/>
            <a:chOff x="0" y="0"/>
            <a:chExt cx="11549507" cy="36795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9525" y="9525"/>
              <a:ext cx="11530457" cy="3660521"/>
            </a:xfrm>
            <a:custGeom>
              <a:avLst/>
              <a:gdLst/>
              <a:ahLst/>
              <a:cxnLst/>
              <a:rect r="r" b="b" t="t" l="l"/>
              <a:pathLst>
                <a:path h="3660521" w="11530457">
                  <a:moveTo>
                    <a:pt x="0" y="0"/>
                  </a:moveTo>
                  <a:lnTo>
                    <a:pt x="11530457" y="0"/>
                  </a:lnTo>
                  <a:lnTo>
                    <a:pt x="11530457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549507" cy="3679571"/>
            </a:xfrm>
            <a:custGeom>
              <a:avLst/>
              <a:gdLst/>
              <a:ahLst/>
              <a:cxnLst/>
              <a:rect r="r" b="b" t="t" l="l"/>
              <a:pathLst>
                <a:path h="3679571" w="11549507">
                  <a:moveTo>
                    <a:pt x="9525" y="0"/>
                  </a:moveTo>
                  <a:lnTo>
                    <a:pt x="11539982" y="0"/>
                  </a:lnTo>
                  <a:cubicBezTo>
                    <a:pt x="11545188" y="0"/>
                    <a:pt x="11549507" y="4318"/>
                    <a:pt x="11549507" y="9525"/>
                  </a:cubicBezTo>
                  <a:lnTo>
                    <a:pt x="11549507" y="3670046"/>
                  </a:lnTo>
                  <a:cubicBezTo>
                    <a:pt x="11549507" y="3675253"/>
                    <a:pt x="11545188" y="3679571"/>
                    <a:pt x="11539982" y="3679571"/>
                  </a:cubicBezTo>
                  <a:lnTo>
                    <a:pt x="9525" y="3679571"/>
                  </a:lnTo>
                  <a:cubicBezTo>
                    <a:pt x="4318" y="3679571"/>
                    <a:pt x="0" y="3675253"/>
                    <a:pt x="0" y="367004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670046"/>
                  </a:lnTo>
                  <a:lnTo>
                    <a:pt x="9525" y="3670046"/>
                  </a:lnTo>
                  <a:lnTo>
                    <a:pt x="9525" y="3660521"/>
                  </a:lnTo>
                  <a:lnTo>
                    <a:pt x="11539982" y="3660521"/>
                  </a:lnTo>
                  <a:lnTo>
                    <a:pt x="11539982" y="3670046"/>
                  </a:lnTo>
                  <a:lnTo>
                    <a:pt x="11530457" y="3670046"/>
                  </a:lnTo>
                  <a:lnTo>
                    <a:pt x="11530457" y="9525"/>
                  </a:lnTo>
                  <a:lnTo>
                    <a:pt x="11539982" y="9525"/>
                  </a:lnTo>
                  <a:lnTo>
                    <a:pt x="1153998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9604057" y="5008350"/>
            <a:ext cx="7915885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Grounding guarantee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604057" y="5576468"/>
            <a:ext cx="7915885" cy="172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If pgvector returns zero results, the answer is short-circuited to 'I don't know.' before the LLM is called — no hallucination possible on empty retrieval.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03244" y="7841380"/>
            <a:ext cx="17291237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Both ingest progress and answer tokens stream via Server-Sent Events — no polling, real-time UI updates.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KEY FEATURE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Auto-scaled chunk size &amp; k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15048" y="2057105"/>
            <a:ext cx="16467639" cy="711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 fixed chunk size performs poorly at both extremes. compute_params(total_tokens) selects both values from five tiers — the chosen k is persisted to doc_meta and restored on server restart.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6454" y="2944092"/>
            <a:ext cx="16664816" cy="6671758"/>
            <a:chOff x="0" y="0"/>
            <a:chExt cx="22219755" cy="88956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9525" y="9525"/>
              <a:ext cx="22200743" cy="8876665"/>
            </a:xfrm>
            <a:custGeom>
              <a:avLst/>
              <a:gdLst/>
              <a:ahLst/>
              <a:cxnLst/>
              <a:rect r="r" b="b" t="t" l="l"/>
              <a:pathLst>
                <a:path h="8876665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8876665"/>
                  </a:lnTo>
                  <a:lnTo>
                    <a:pt x="0" y="887666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219793" cy="8895715"/>
            </a:xfrm>
            <a:custGeom>
              <a:avLst/>
              <a:gdLst/>
              <a:ahLst/>
              <a:cxnLst/>
              <a:rect r="r" b="b" t="t" l="l"/>
              <a:pathLst>
                <a:path h="8895715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8886190"/>
                  </a:lnTo>
                  <a:cubicBezTo>
                    <a:pt x="22219793" y="8891397"/>
                    <a:pt x="22215475" y="8895715"/>
                    <a:pt x="22210268" y="8895715"/>
                  </a:cubicBezTo>
                  <a:lnTo>
                    <a:pt x="9525" y="8895715"/>
                  </a:lnTo>
                  <a:cubicBezTo>
                    <a:pt x="4318" y="8895715"/>
                    <a:pt x="0" y="8891397"/>
                    <a:pt x="0" y="888619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8886190"/>
                  </a:lnTo>
                  <a:lnTo>
                    <a:pt x="9525" y="8886190"/>
                  </a:lnTo>
                  <a:lnTo>
                    <a:pt x="9525" y="8876665"/>
                  </a:lnTo>
                  <a:lnTo>
                    <a:pt x="22210268" y="8876665"/>
                  </a:lnTo>
                  <a:lnTo>
                    <a:pt x="22210268" y="8886190"/>
                  </a:lnTo>
                  <a:lnTo>
                    <a:pt x="22200743" y="8886190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120940" y="3096130"/>
            <a:ext cx="242519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Document size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934920" y="3096130"/>
            <a:ext cx="2150659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Token range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42999" y="3096130"/>
            <a:ext cx="118979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chunk_size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190205" y="3096130"/>
            <a:ext cx="118979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 retrieved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37410" y="3096130"/>
            <a:ext cx="709228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Rationale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0940" y="3713836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Tiny  (&lt;20 pages)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934920" y="3713836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10 K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542999" y="3713836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256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190205" y="3713836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5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837410" y="3713836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Tight chunks; few results enough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20940" y="4564894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Small (20–100 p)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934920" y="4564894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50 K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42999" y="4564894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384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190205" y="4564894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8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837410" y="4564894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Balanced default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20940" y="5415953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Medium (100–400 p)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934920" y="5415953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200 K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42999" y="5415953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512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190205" y="5415953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12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837410" y="5415953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More context needed per chunk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20940" y="6267002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Large (400–1000 p)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934920" y="6267002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500 K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542999" y="6267002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190205" y="6267002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15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837410" y="6267002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Wide chunks, broad retrieval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20940" y="7118061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Huge  (1000+ pages)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934920" y="7118061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≥ 500 K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542999" y="7118061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1024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190205" y="7118061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20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837410" y="7118061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Maximum context coverage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TECHNOLOGY CHOICES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Stack &amp; rationale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20494"/>
            <a:ext cx="16664816" cy="7769895"/>
            <a:chOff x="0" y="0"/>
            <a:chExt cx="22219755" cy="103598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2200743" cy="10340848"/>
            </a:xfrm>
            <a:custGeom>
              <a:avLst/>
              <a:gdLst/>
              <a:ahLst/>
              <a:cxnLst/>
              <a:rect r="r" b="b" t="t" l="l"/>
              <a:pathLst>
                <a:path h="10340848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10340848"/>
                  </a:lnTo>
                  <a:lnTo>
                    <a:pt x="0" y="103408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19793" cy="10359898"/>
            </a:xfrm>
            <a:custGeom>
              <a:avLst/>
              <a:gdLst/>
              <a:ahLst/>
              <a:cxnLst/>
              <a:rect r="r" b="b" t="t" l="l"/>
              <a:pathLst>
                <a:path h="10359898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10350373"/>
                  </a:lnTo>
                  <a:cubicBezTo>
                    <a:pt x="22219793" y="10355580"/>
                    <a:pt x="22215475" y="10359898"/>
                    <a:pt x="22210268" y="10359898"/>
                  </a:cubicBezTo>
                  <a:lnTo>
                    <a:pt x="9525" y="10359898"/>
                  </a:lnTo>
                  <a:cubicBezTo>
                    <a:pt x="4318" y="10359898"/>
                    <a:pt x="0" y="10355580"/>
                    <a:pt x="0" y="10350373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350373"/>
                  </a:lnTo>
                  <a:lnTo>
                    <a:pt x="9525" y="10350373"/>
                  </a:lnTo>
                  <a:lnTo>
                    <a:pt x="9525" y="10340848"/>
                  </a:lnTo>
                  <a:lnTo>
                    <a:pt x="22210268" y="10340848"/>
                  </a:lnTo>
                  <a:lnTo>
                    <a:pt x="22210268" y="10350373"/>
                  </a:lnTo>
                  <a:lnTo>
                    <a:pt x="22200743" y="10350373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0940" y="2350684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PDF extraction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03558" y="2350684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PyMuPDF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160704" y="2350684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extraction silently truncates at 65 K output tokens — a 100-page PDF returned 6 chunks. PyMuPDF has no output limit.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20940" y="3339008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Token counting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003558" y="3339008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tiktoken cl100k_base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160704" y="3339008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Same encoding the chunker uses — no unit mismatch. Character counts are unreliable across document types.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0940" y="4327341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Embeddings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003558" y="4327341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gemini-embedding-2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160704" y="4327341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Separate RETRIEVAL_DOCUMENT / RETRIEVAL_QUERY task types improve accuracy over symmetric embeddings.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20940" y="5315664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Vector store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003558" y="5315664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Postgres + pgvector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60704" y="5315664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HNSW needs no pre-training. One service handles relational + vector + full-text search. No extra infra.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20940" y="6303988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DB driver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003558" y="6303988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asyncpg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160704" y="6303988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Binary wire protocol — lower latency than psycopg. No ORM overhead for a minimal schema.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20940" y="7292311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Generation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003558" y="7292311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 2.5 Flash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160704" y="7292311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Fast, cost-effective, streamed output via SSE for a responsive UX. Also used for re-ranking.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20940" y="8280635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Frontend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003558" y="8280635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Single HTML file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160704" y="8280635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No build tools, no Node.js. Served by FastAPI — one uvicorn command to run everything.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ENGINEERING CHOICES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Key design decisions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8387601" cy="3034179"/>
            <a:chOff x="0" y="0"/>
            <a:chExt cx="11183468" cy="404557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76257" cy="3019882"/>
            <a:chOff x="0" y="0"/>
            <a:chExt cx="101676" cy="402651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7773" y="2468909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🔄  Concurrent embedding with retry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77773" y="3096130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All chunks embedded via asyncio.gather — no serial bottleneck. 429/503 errors retry with exponential backoff (2 → 64 s). Non-retryable errors surface immediately.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30935" y="2189131"/>
            <a:ext cx="8387601" cy="3034179"/>
            <a:chOff x="0" y="0"/>
            <a:chExt cx="11183468" cy="404557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238088" y="2196274"/>
            <a:ext cx="76257" cy="3019882"/>
            <a:chOff x="0" y="0"/>
            <a:chExt cx="101676" cy="402651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9604057" y="2468909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💾  State survives restarts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604057" y="3096130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doc_meta table stores doc_id, chunk_count, and k. FastAPI lifespan hook restores all three on startup — no re-upload needed after a server bounce.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404651" y="5620807"/>
            <a:ext cx="8387601" cy="3034179"/>
            <a:chOff x="0" y="0"/>
            <a:chExt cx="11183468" cy="40455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411804" y="5627951"/>
            <a:ext cx="76257" cy="3019882"/>
            <a:chOff x="0" y="0"/>
            <a:chExt cx="101676" cy="402651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777773" y="5900585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🪟  Sentence-boundary overlap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77773" y="6527816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Each chunk seeds itself with the last 64 tokens of the previous chunk. Prevents context loss when an argument spans a chunk boundary.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230935" y="5620807"/>
            <a:ext cx="8387601" cy="3034179"/>
            <a:chOff x="0" y="0"/>
            <a:chExt cx="11183468" cy="404557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238088" y="5627951"/>
            <a:ext cx="76257" cy="3019882"/>
            <a:chOff x="0" y="0"/>
            <a:chExt cx="101676" cy="402651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9604057" y="5900585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📡  Server-Sent Events streaming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604057" y="6527816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progress (extracting → chunking → embedding → done) and answer tokens both stream via SSE. No polling, no page reload — real-time updates throughout.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ADDITIONAL FEATURES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Retrieval quality improvements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5299091" cy="3445983"/>
            <a:chOff x="0" y="0"/>
            <a:chExt cx="7065454" cy="45946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5284784" cy="57198"/>
            <a:chOff x="0" y="0"/>
            <a:chExt cx="7046379" cy="762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09146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🔍  Hybrid Search (BM25 + Vector)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9146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pgvector cosine similarity fused with Postgres tsvector BM25 via Reciprocal Rank Fusion (k=60). Dense retrieval catches semantic matches; BM25 catches exact keyword matches. Zero new infrastructure — Postgres handles both. Generated tsv column with GIN index.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101239" y="2189131"/>
            <a:ext cx="5299091" cy="3445983"/>
            <a:chOff x="0" y="0"/>
            <a:chExt cx="7065454" cy="45946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08392" y="2196274"/>
            <a:ext cx="5284784" cy="57198"/>
            <a:chOff x="0" y="0"/>
            <a:chExt cx="7046379" cy="7626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405734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🔃  Gemini Re-ranking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405734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After hybrid retrieval returns k chunks, Gemini ranks them by relevance to the question and keeps the top k/2. Filters out chunks that are semantically close but topically irrelevant before they reach the LLM context window.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1797836" y="2189131"/>
            <a:ext cx="5299091" cy="3445983"/>
            <a:chOff x="0" y="0"/>
            <a:chExt cx="7065454" cy="45946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804980" y="2196274"/>
            <a:ext cx="5284784" cy="57198"/>
            <a:chOff x="0" y="0"/>
            <a:chExt cx="7046379" cy="7626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2102322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🪟  Parent-Child Chunking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102322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Small chunks (precise retrieval) are embedded and retrieved. Each chunk also stores its adjacent-window text (prev + self + next chunk) as parent_text. The LLM receives the wider context; citations show only the precise matched chunk.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3218631" y="5895346"/>
            <a:ext cx="6191326" cy="3720513"/>
            <a:chOff x="0" y="0"/>
            <a:chExt cx="8255102" cy="496068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9525" y="9525"/>
              <a:ext cx="8236077" cy="4941570"/>
            </a:xfrm>
            <a:custGeom>
              <a:avLst/>
              <a:gdLst/>
              <a:ahLst/>
              <a:cxnLst/>
              <a:rect r="r" b="b" t="t" l="l"/>
              <a:pathLst>
                <a:path h="494157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4941570"/>
                  </a:lnTo>
                  <a:lnTo>
                    <a:pt x="0" y="494157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255127" cy="4960620"/>
            </a:xfrm>
            <a:custGeom>
              <a:avLst/>
              <a:gdLst/>
              <a:ahLst/>
              <a:cxnLst/>
              <a:rect r="r" b="b" t="t" l="l"/>
              <a:pathLst>
                <a:path h="4960620" w="8255127">
                  <a:moveTo>
                    <a:pt x="9525" y="0"/>
                  </a:moveTo>
                  <a:lnTo>
                    <a:pt x="8245602" y="0"/>
                  </a:lnTo>
                  <a:cubicBezTo>
                    <a:pt x="8250809" y="0"/>
                    <a:pt x="8255127" y="4318"/>
                    <a:pt x="8255127" y="9525"/>
                  </a:cubicBezTo>
                  <a:lnTo>
                    <a:pt x="8255127" y="4951095"/>
                  </a:lnTo>
                  <a:cubicBezTo>
                    <a:pt x="8255127" y="4956302"/>
                    <a:pt x="8250809" y="4960620"/>
                    <a:pt x="8245602" y="4960620"/>
                  </a:cubicBezTo>
                  <a:lnTo>
                    <a:pt x="9525" y="4960620"/>
                  </a:lnTo>
                  <a:cubicBezTo>
                    <a:pt x="4318" y="4960620"/>
                    <a:pt x="0" y="4956302"/>
                    <a:pt x="0" y="4951095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951095"/>
                  </a:lnTo>
                  <a:lnTo>
                    <a:pt x="9525" y="4951095"/>
                  </a:lnTo>
                  <a:lnTo>
                    <a:pt x="9525" y="4941570"/>
                  </a:lnTo>
                  <a:lnTo>
                    <a:pt x="8245602" y="4941570"/>
                  </a:lnTo>
                  <a:lnTo>
                    <a:pt x="8245602" y="4951095"/>
                  </a:lnTo>
                  <a:lnTo>
                    <a:pt x="8236077" y="4951095"/>
                  </a:lnTo>
                  <a:lnTo>
                    <a:pt x="8236077" y="9525"/>
                  </a:lnTo>
                  <a:lnTo>
                    <a:pt x="8245602" y="9525"/>
                  </a:lnTo>
                  <a:lnTo>
                    <a:pt x="824560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3225784" y="5902490"/>
            <a:ext cx="6177029" cy="57198"/>
            <a:chOff x="0" y="0"/>
            <a:chExt cx="8236039" cy="7626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236077" cy="76200"/>
            </a:xfrm>
            <a:custGeom>
              <a:avLst/>
              <a:gdLst/>
              <a:ahLst/>
              <a:cxnLst/>
              <a:rect r="r" b="b" t="t" l="l"/>
              <a:pathLst>
                <a:path h="7620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3523117" y="6074835"/>
            <a:ext cx="5582345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⚡  Duplicate Upload Detection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523117" y="6665081"/>
            <a:ext cx="5582345" cy="2692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doc_id is a SHA-256 hash of the PDF bytes. On upload, doc_exists() checks doc_meta before extraction begins. Identical file re-uploads skip PyMuPDF, tiktoken, all Gemini embedding calls, and DB writes — instant load from cache.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8915219" y="5895346"/>
            <a:ext cx="6191326" cy="3720513"/>
            <a:chOff x="0" y="0"/>
            <a:chExt cx="8255102" cy="496068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9525" y="9525"/>
              <a:ext cx="8236077" cy="4941570"/>
            </a:xfrm>
            <a:custGeom>
              <a:avLst/>
              <a:gdLst/>
              <a:ahLst/>
              <a:cxnLst/>
              <a:rect r="r" b="b" t="t" l="l"/>
              <a:pathLst>
                <a:path h="494157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4941570"/>
                  </a:lnTo>
                  <a:lnTo>
                    <a:pt x="0" y="494157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255127" cy="4960620"/>
            </a:xfrm>
            <a:custGeom>
              <a:avLst/>
              <a:gdLst/>
              <a:ahLst/>
              <a:cxnLst/>
              <a:rect r="r" b="b" t="t" l="l"/>
              <a:pathLst>
                <a:path h="4960620" w="8255127">
                  <a:moveTo>
                    <a:pt x="9525" y="0"/>
                  </a:moveTo>
                  <a:lnTo>
                    <a:pt x="8245602" y="0"/>
                  </a:lnTo>
                  <a:cubicBezTo>
                    <a:pt x="8250809" y="0"/>
                    <a:pt x="8255127" y="4318"/>
                    <a:pt x="8255127" y="9525"/>
                  </a:cubicBezTo>
                  <a:lnTo>
                    <a:pt x="8255127" y="4951095"/>
                  </a:lnTo>
                  <a:cubicBezTo>
                    <a:pt x="8255127" y="4956302"/>
                    <a:pt x="8250809" y="4960620"/>
                    <a:pt x="8245602" y="4960620"/>
                  </a:cubicBezTo>
                  <a:lnTo>
                    <a:pt x="9525" y="4960620"/>
                  </a:lnTo>
                  <a:cubicBezTo>
                    <a:pt x="4318" y="4960620"/>
                    <a:pt x="0" y="4956302"/>
                    <a:pt x="0" y="4951095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951095"/>
                  </a:lnTo>
                  <a:lnTo>
                    <a:pt x="9525" y="4951095"/>
                  </a:lnTo>
                  <a:lnTo>
                    <a:pt x="9525" y="4941570"/>
                  </a:lnTo>
                  <a:lnTo>
                    <a:pt x="8245602" y="4941570"/>
                  </a:lnTo>
                  <a:lnTo>
                    <a:pt x="8245602" y="4951095"/>
                  </a:lnTo>
                  <a:lnTo>
                    <a:pt x="8236077" y="4951095"/>
                  </a:lnTo>
                  <a:lnTo>
                    <a:pt x="8236077" y="9525"/>
                  </a:lnTo>
                  <a:lnTo>
                    <a:pt x="8245602" y="9525"/>
                  </a:lnTo>
                  <a:lnTo>
                    <a:pt x="824560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922372" y="5902490"/>
            <a:ext cx="6177029" cy="57198"/>
            <a:chOff x="0" y="0"/>
            <a:chExt cx="8236039" cy="7626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236077" cy="76200"/>
            </a:xfrm>
            <a:custGeom>
              <a:avLst/>
              <a:gdLst/>
              <a:ahLst/>
              <a:cxnLst/>
              <a:rect r="r" b="b" t="t" l="l"/>
              <a:pathLst>
                <a:path h="7620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9E0B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9219714" y="6074835"/>
            <a:ext cx="5582345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📎  Numbered Citations, PDF Viewer &amp; Memory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219714" y="6665081"/>
            <a:ext cx="5582345" cy="2692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Inline numbered [1][2][3] citations in every answer. Click any badge to open the PDF viewer highlighting the exact source chunk. Conversation memory persists across turns. — a low min_sim signals k is too small for the document. Citation pills in the UI show a colour-coded % badge: green ≥75%, amber ≥50%, red &lt;50%.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DEMONSTRATION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Live demo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89131"/>
            <a:ext cx="16664816" cy="6191326"/>
            <a:chOff x="0" y="0"/>
            <a:chExt cx="22219755" cy="825510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2200743" cy="8236077"/>
            </a:xfrm>
            <a:custGeom>
              <a:avLst/>
              <a:gdLst/>
              <a:ahLst/>
              <a:cxnLst/>
              <a:rect r="r" b="b" t="t" l="l"/>
              <a:pathLst>
                <a:path h="8236077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8236077"/>
                  </a:lnTo>
                  <a:lnTo>
                    <a:pt x="0" y="823607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19793" cy="8255127"/>
            </a:xfrm>
            <a:custGeom>
              <a:avLst/>
              <a:gdLst/>
              <a:ahLst/>
              <a:cxnLst/>
              <a:rect r="r" b="b" t="t" l="l"/>
              <a:pathLst>
                <a:path h="8255127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8245602"/>
                  </a:lnTo>
                  <a:cubicBezTo>
                    <a:pt x="22219793" y="8250809"/>
                    <a:pt x="22215475" y="8255127"/>
                    <a:pt x="22210268" y="8255127"/>
                  </a:cubicBezTo>
                  <a:lnTo>
                    <a:pt x="9525" y="8255127"/>
                  </a:lnTo>
                  <a:cubicBezTo>
                    <a:pt x="4318" y="8255127"/>
                    <a:pt x="0" y="8250809"/>
                    <a:pt x="0" y="824560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8245602"/>
                  </a:lnTo>
                  <a:lnTo>
                    <a:pt x="9525" y="8245602"/>
                  </a:lnTo>
                  <a:lnTo>
                    <a:pt x="9525" y="8236077"/>
                  </a:lnTo>
                  <a:lnTo>
                    <a:pt x="22210268" y="8236077"/>
                  </a:lnTo>
                  <a:lnTo>
                    <a:pt x="22210268" y="8245602"/>
                  </a:lnTo>
                  <a:lnTo>
                    <a:pt x="22200743" y="8245602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326842" y="2468909"/>
            <a:ext cx="156028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Demo flow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26842" y="3145717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1️⃣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50450" y="3223879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Upload a PDF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50450" y="3695910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Drag &amp; drop — watch ingest progress: extract → chunk → embed → done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26842" y="4312491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2️⃣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150450" y="4390644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Ask a specific question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150450" y="4862674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Observe streamed response, citation pills with similarity % badges, and hover for raw chunk text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26842" y="5479256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3️⃣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150450" y="5557418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Re-upload the same PDF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150450" y="6029449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completes instantly — duplicate detection skips all embedding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26842" y="6646031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4️⃣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150450" y="6724193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Ask something unanswerable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50450" y="7196223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System responds "I don't know." — no hallucination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5048" y="8664978"/>
            <a:ext cx="164676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http://localhost:8000   ·   docker compose up -d &amp;&amp; uvicorn backend.main:app --reload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ROADMAP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Next steps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5710885" cy="7632630"/>
            <a:chOff x="0" y="0"/>
            <a:chExt cx="7614514" cy="10176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5696588" cy="57198"/>
            <a:chOff x="0" y="0"/>
            <a:chExt cx="7595451" cy="762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09146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🔧  Reliability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9146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OCR for scanned PDFs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09146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Tesseract or Google Vision fallback when PyMuPDF returns empty text — currently image-based PDFs produce no chunks.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9146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Upload queue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9146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Background job for large PDFs — free the HTTP request immediately and let the client poll for status.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9146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Auth + multi-user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9146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Session isolation so multiple users can each have their own document state without shared _state.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293415" y="2189131"/>
            <a:ext cx="5710885" cy="7632630"/>
            <a:chOff x="0" y="0"/>
            <a:chExt cx="7614514" cy="10176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300568" y="2196274"/>
            <a:ext cx="5696588" cy="57198"/>
            <a:chOff x="0" y="0"/>
            <a:chExt cx="7595451" cy="7626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597910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🧩  Quality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597910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Query expansion / HyDE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597910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Generate a hypothetical answer, embed it, use that for retrieval — improves recall on vague or abstract questions.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597910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Structured chunk types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97910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Detect headings, tables, and lists in PDFs and split at structural boundaries rather than sentence boundaries.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597910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Eval harness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597910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Q&amp;A pairs against known answers to measure retrieval precision, recall, and answer faithfulness.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182180" y="2189131"/>
            <a:ext cx="5710885" cy="7632630"/>
            <a:chOff x="0" y="0"/>
            <a:chExt cx="7614514" cy="101768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189333" y="2196274"/>
            <a:ext cx="5696588" cy="57198"/>
            <a:chOff x="0" y="0"/>
            <a:chExt cx="7595451" cy="762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2486675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📦  Scale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486675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Multi-document library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486675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 picker with per-doc metadata — query across multiple PDFs with doc_id filtering.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486675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Streaming embed batches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486675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For very large docs, stream embedding in fixed batches rather than one giant asyncio.gather to bound peak memory.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486675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Persistent conversation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486675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Store chat history per session so follow-up questions can reference earlier answers.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84632"/>
            <a:ext cx="16285463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62854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4C1D95"/>
                </a:solidFill>
              </a:rPr>
              <a:t>Current scope — known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56231"/>
            <a:ext cx="16651224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2185416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2336" y="2185416"/>
            <a:ext cx="53035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359152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🚫  Single Document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962656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One PDF at a time. Uploading a new document wipes the previous one — no multi-doc library or cross-document queries.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7336" y="2185416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17336" y="2185416"/>
            <a:ext cx="53035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2359152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🔍  No Scanned PDF / OCR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962656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PyMuPDF extracts text from digital PDFs only. Image-based or scanned pages return empty text — no Tesseract / Vision fallback.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32336" y="2185416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32336" y="2185416"/>
            <a:ext cx="53035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34088" y="2359152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👤  No Auth / Multi-User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34088" y="2962656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Single shared server state. No session isolation — concurrent users share the same document with no login or permission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5806440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2336" y="5806440"/>
            <a:ext cx="53035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980176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💬  No Persistent Chat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6583679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Conversation context resets on page reload. Follow-up questions cannot reference answers from a previous browsing session.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7336" y="5806440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17336" y="5806440"/>
            <a:ext cx="53035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5980176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⚡  Gemini API Rate Limits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6583679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Concurrent embedding calls hit 429 limits on large documents. Exponential backoff adds latency for 100+ page PDFs.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32336" y="5806440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32336" y="5806440"/>
            <a:ext cx="53035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34088" y="5980176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🔤  PyMuPDF ≠ PDF.js Extraction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34088" y="6583679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Math and symbols render differently at ingest (PyMuPDF) and in the viewer (PDF.js), requiring fuzzy word-anchor matching for highlighting.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84632"/>
            <a:ext cx="16285463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</a:rPr>
              <a:t>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62854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4C1D95"/>
                </a:solidFill>
              </a:rPr>
              <a:t>Component architecture &amp;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56231"/>
            <a:ext cx="1665122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3291840"/>
            <a:ext cx="347472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3291840"/>
            <a:ext cx="347472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45643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>index.html
PDF.js viewer
SSE streaming
citation pills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194560"/>
            <a:ext cx="347472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2194560"/>
            <a:ext cx="34747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235915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⚙️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880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FastAPI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338328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>POST /ingest
POST /query
DELETE /doc
GET /doc/info
GET /health
asyncpg · uvicorn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493240" y="3291840"/>
            <a:ext cx="347472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493240" y="3291840"/>
            <a:ext cx="3474720" cy="54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721840" y="345643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21840" y="397763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Gemini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0" y="44805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7863840"/>
            <a:ext cx="34747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7863840"/>
            <a:ext cx="3474720" cy="54864"/>
          </a:xfrm>
          <a:prstGeom prst="rect">
            <a:avLst/>
          </a:prstGeom>
          <a:solidFill>
            <a:srgbClr val="336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8028431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🗄️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8549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PostgreSQL + pgvector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9052560"/>
            <a:ext cx="310896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>chunks · doc_meta
HNSW cosine · tsvector BM25
RRF fusion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94759" y="4297680"/>
            <a:ext cx="3611881" cy="0"/>
          </a:xfrm>
          <a:prstGeom prst="line">
            <a:avLst/>
          </a:prstGeom>
          <a:ln w="25400">
            <a:solidFill>
              <a:srgbClr val="7C3AED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840479" y="397764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upload PDF / query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794759" y="5486400"/>
            <a:ext cx="3611881" cy="0"/>
          </a:xfrm>
          <a:prstGeom prst="line">
            <a:avLst/>
          </a:prstGeom>
          <a:ln w="25400">
            <a:solidFill>
              <a:srgbClr val="05966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79" y="5559552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SSE stream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881359" y="4297680"/>
            <a:ext cx="3611881" cy="0"/>
          </a:xfrm>
          <a:prstGeom prst="line">
            <a:avLst/>
          </a:prstGeom>
          <a:ln w="25400">
            <a:solidFill>
              <a:srgbClr val="4285F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927080" y="397764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embed / answer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10881359" y="5577840"/>
            <a:ext cx="3611881" cy="0"/>
          </a:xfrm>
          <a:prstGeom prst="line">
            <a:avLst/>
          </a:prstGeom>
          <a:ln w="25400">
            <a:solidFill>
              <a:srgbClr val="4285F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927080" y="5650992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embeddings / tokens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44000" y="7315200"/>
            <a:ext cx="0" cy="548640"/>
          </a:xfrm>
          <a:prstGeom prst="line">
            <a:avLst/>
          </a:prstGeom>
          <a:ln w="25400">
            <a:solidFill>
              <a:srgbClr val="33679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235440" y="742492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store &amp; retrieve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10058400"/>
            <a:ext cx="1737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Ingest flow: Browser → FastAPI → Gemini (embed) → Postgres (store)   Query flow: Browser → FastAPI → Postgres (hybrid search) → Gemini (+answer) → Browser (SSE)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" y="1550051"/>
            <a:ext cx="18114845" cy="1424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🙏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440" y="3059992"/>
            <a:ext cx="18114845" cy="1424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Thank you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1440" y="4646133"/>
            <a:ext cx="18114845" cy="798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2"/>
              </a:lnSpc>
            </a:pPr>
            <a:r>
              <a:rPr lang="en-US" sz="3002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Questions &amp; live Q&amp;A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794818" y="5755691"/>
            <a:ext cx="8708079" cy="705402"/>
            <a:chOff x="0" y="0"/>
            <a:chExt cx="11610772" cy="9405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700" y="12700"/>
              <a:ext cx="11585321" cy="915162"/>
            </a:xfrm>
            <a:custGeom>
              <a:avLst/>
              <a:gdLst/>
              <a:ahLst/>
              <a:cxnLst/>
              <a:rect r="r" b="b" t="t" l="l"/>
              <a:pathLst>
                <a:path h="915162" w="11585321">
                  <a:moveTo>
                    <a:pt x="0" y="0"/>
                  </a:moveTo>
                  <a:lnTo>
                    <a:pt x="11585321" y="0"/>
                  </a:lnTo>
                  <a:lnTo>
                    <a:pt x="11585321" y="915162"/>
                  </a:lnTo>
                  <a:lnTo>
                    <a:pt x="0" y="91516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610721" cy="940562"/>
            </a:xfrm>
            <a:custGeom>
              <a:avLst/>
              <a:gdLst/>
              <a:ahLst/>
              <a:cxnLst/>
              <a:rect r="r" b="b" t="t" l="l"/>
              <a:pathLst>
                <a:path h="940562" w="11610721">
                  <a:moveTo>
                    <a:pt x="12700" y="0"/>
                  </a:moveTo>
                  <a:lnTo>
                    <a:pt x="11598021" y="0"/>
                  </a:lnTo>
                  <a:cubicBezTo>
                    <a:pt x="11605006" y="0"/>
                    <a:pt x="11610721" y="5715"/>
                    <a:pt x="11610721" y="12700"/>
                  </a:cubicBezTo>
                  <a:lnTo>
                    <a:pt x="11610721" y="927862"/>
                  </a:lnTo>
                  <a:cubicBezTo>
                    <a:pt x="11610721" y="934847"/>
                    <a:pt x="11605006" y="940562"/>
                    <a:pt x="11598021" y="940562"/>
                  </a:cubicBezTo>
                  <a:lnTo>
                    <a:pt x="12700" y="940562"/>
                  </a:lnTo>
                  <a:cubicBezTo>
                    <a:pt x="5715" y="940562"/>
                    <a:pt x="0" y="934847"/>
                    <a:pt x="0" y="92786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927862"/>
                  </a:lnTo>
                  <a:lnTo>
                    <a:pt x="12700" y="927862"/>
                  </a:lnTo>
                  <a:lnTo>
                    <a:pt x="12700" y="915162"/>
                  </a:lnTo>
                  <a:lnTo>
                    <a:pt x="11598021" y="915162"/>
                  </a:lnTo>
                  <a:lnTo>
                    <a:pt x="11598021" y="927862"/>
                  </a:lnTo>
                  <a:lnTo>
                    <a:pt x="11585321" y="927862"/>
                  </a:lnTo>
                  <a:lnTo>
                    <a:pt x="11585321" y="12700"/>
                  </a:lnTo>
                  <a:lnTo>
                    <a:pt x="11598021" y="12700"/>
                  </a:lnTo>
                  <a:lnTo>
                    <a:pt x="11598021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4895793" y="5868934"/>
            <a:ext cx="850613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github.com/GaneshMadarasu/nymbl-demo-RAG-system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89577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🔍 Hybrid BM25 + vector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307597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🔃 Gemini re-ranking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425616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🪟 Parent-child chunks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543626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⚡ Dedup + similarity scores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DAHJG9ljMf8</dc:identifier>
  <dcterms:modified xsi:type="dcterms:W3CDTF">2011-08-01T06:04:30Z</dcterms:modified>
  <cp:revision>1</cp:revision>
  <dc:title>DocRAG.pptx</dc:title>
</cp:coreProperties>
</file>