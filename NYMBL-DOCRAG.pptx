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Lst>
  <p:sldSz cx="18288000" cy="10287000"/>
  <p:notesSz cx="6858000" cy="9144000"/>
  <p:embeddedFontLst>
    <p:embeddedFont>
      <p:font typeface="ABeeZee Bold" charset="1" panose="02000000000000000000"/>
      <p:regular r:id="rId16"/>
    </p:embeddedFont>
    <p:embeddedFont>
      <p:font typeface="ABeeZee" charset="1" panose="02000000000000000000"/>
      <p:regular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fonts/font16.fntdata" Type="http://schemas.openxmlformats.org/officeDocument/2006/relationships/font"/><Relationship Id="rId17" Target="fonts/font17.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7.png" Type="http://schemas.openxmlformats.org/officeDocument/2006/relationships/image"/><Relationship Id="rId11" Target="../media/image18.svg" Type="http://schemas.openxmlformats.org/officeDocument/2006/relationships/image"/><Relationship Id="rId12" Target="../media/image19.png" Type="http://schemas.openxmlformats.org/officeDocument/2006/relationships/image"/><Relationship Id="rId13" Target="../media/image20.svg" Type="http://schemas.openxmlformats.org/officeDocument/2006/relationships/image"/><Relationship Id="rId14" Target="../media/image21.png" Type="http://schemas.openxmlformats.org/officeDocument/2006/relationships/image"/><Relationship Id="rId15" Target="../media/image22.svg" Type="http://schemas.openxmlformats.org/officeDocument/2006/relationships/image"/><Relationship Id="rId2" Target="../media/image9.png" Type="http://schemas.openxmlformats.org/officeDocument/2006/relationships/image"/><Relationship Id="rId3" Target="../media/image10.svg" Type="http://schemas.openxmlformats.org/officeDocument/2006/relationships/image"/><Relationship Id="rId4" Target="../media/image11.png" Type="http://schemas.openxmlformats.org/officeDocument/2006/relationships/image"/><Relationship Id="rId5" Target="../media/image12.svg" Type="http://schemas.openxmlformats.org/officeDocument/2006/relationships/image"/><Relationship Id="rId6" Target="../media/image13.png" Type="http://schemas.openxmlformats.org/officeDocument/2006/relationships/image"/><Relationship Id="rId7" Target="../media/image14.svg" Type="http://schemas.openxmlformats.org/officeDocument/2006/relationships/image"/><Relationship Id="rId8" Target="../media/image15.png" Type="http://schemas.openxmlformats.org/officeDocument/2006/relationships/image"/><Relationship Id="rId9" Target="../media/image1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31.png" Type="http://schemas.openxmlformats.org/officeDocument/2006/relationships/image"/><Relationship Id="rId11" Target="../media/image32.svg" Type="http://schemas.openxmlformats.org/officeDocument/2006/relationships/image"/><Relationship Id="rId12" Target="../media/image33.png" Type="http://schemas.openxmlformats.org/officeDocument/2006/relationships/image"/><Relationship Id="rId13" Target="../media/image34.svg" Type="http://schemas.openxmlformats.org/officeDocument/2006/relationships/image"/><Relationship Id="rId14" Target="../media/image35.png" Type="http://schemas.openxmlformats.org/officeDocument/2006/relationships/image"/><Relationship Id="rId15" Target="../media/image36.svg" Type="http://schemas.openxmlformats.org/officeDocument/2006/relationships/image"/><Relationship Id="rId16" Target="../media/image37.png" Type="http://schemas.openxmlformats.org/officeDocument/2006/relationships/image"/><Relationship Id="rId17" Target="../media/image38.svg" Type="http://schemas.openxmlformats.org/officeDocument/2006/relationships/image"/><Relationship Id="rId18" Target="../media/image39.png" Type="http://schemas.openxmlformats.org/officeDocument/2006/relationships/image"/><Relationship Id="rId19" Target="../media/image40.svg" Type="http://schemas.openxmlformats.org/officeDocument/2006/relationships/image"/><Relationship Id="rId2" Target="../media/image23.png" Type="http://schemas.openxmlformats.org/officeDocument/2006/relationships/image"/><Relationship Id="rId3" Target="../media/image24.svg" Type="http://schemas.openxmlformats.org/officeDocument/2006/relationships/image"/><Relationship Id="rId4" Target="../media/image25.png" Type="http://schemas.openxmlformats.org/officeDocument/2006/relationships/image"/><Relationship Id="rId5" Target="../media/image26.svg" Type="http://schemas.openxmlformats.org/officeDocument/2006/relationships/image"/><Relationship Id="rId6" Target="../media/image27.png" Type="http://schemas.openxmlformats.org/officeDocument/2006/relationships/image"/><Relationship Id="rId7" Target="../media/image28.svg" Type="http://schemas.openxmlformats.org/officeDocument/2006/relationships/image"/><Relationship Id="rId8" Target="../media/image29.png" Type="http://schemas.openxmlformats.org/officeDocument/2006/relationships/image"/><Relationship Id="rId9" Target="../media/image30.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1.png" Type="http://schemas.openxmlformats.org/officeDocument/2006/relationships/image"/><Relationship Id="rId3" Target="../media/image42.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3.png" Type="http://schemas.openxmlformats.org/officeDocument/2006/relationships/image"/><Relationship Id="rId3" Target="../media/image44.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5.png" Type="http://schemas.openxmlformats.org/officeDocument/2006/relationships/image"/><Relationship Id="rId3" Target="../media/image46.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7.png" Type="http://schemas.openxmlformats.org/officeDocument/2006/relationships/image"/><Relationship Id="rId3" Target="../media/image48.svg" Type="http://schemas.openxmlformats.org/officeDocument/2006/relationships/image"/><Relationship Id="rId4" Target="../media/image49.png" Type="http://schemas.openxmlformats.org/officeDocument/2006/relationships/image"/><Relationship Id="rId5" Target="../media/image50.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1.png" Type="http://schemas.openxmlformats.org/officeDocument/2006/relationships/image"/><Relationship Id="rId3" Target="../media/image52.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3587350" y="864120"/>
            <a:ext cx="11475294" cy="334245"/>
          </a:xfrm>
          <a:prstGeom prst="rect">
            <a:avLst/>
          </a:prstGeom>
        </p:spPr>
        <p:txBody>
          <a:bodyPr anchor="t" rtlCol="false" tIns="0" lIns="0" bIns="0" rIns="0">
            <a:spAutoFit/>
          </a:bodyPr>
          <a:lstStyle/>
          <a:p>
            <a:pPr algn="l">
              <a:lnSpc>
                <a:spcPts val="2630"/>
              </a:lnSpc>
            </a:pPr>
            <a:r>
              <a:rPr lang="en-US" sz="2192">
                <a:solidFill>
                  <a:srgbClr val="7C3AED"/>
                </a:solidFill>
                <a:latin typeface="ABeeZee Bold"/>
                <a:ea typeface="ABeeZee Bold"/>
                <a:cs typeface="ABeeZee Bold"/>
                <a:sym typeface="ABeeZee Bold"/>
              </a:rPr>
              <a:t>Ganesh Madarasu X AI Engineer</a:t>
            </a:r>
          </a:p>
        </p:txBody>
      </p:sp>
      <p:sp>
        <p:nvSpPr>
          <p:cNvPr name="TextBox 3" id="3"/>
          <p:cNvSpPr txBox="true"/>
          <p:nvPr/>
        </p:nvSpPr>
        <p:spPr>
          <a:xfrm rot="0">
            <a:off x="3163921" y="1861409"/>
            <a:ext cx="11475294" cy="1633030"/>
          </a:xfrm>
          <a:prstGeom prst="rect">
            <a:avLst/>
          </a:prstGeom>
        </p:spPr>
        <p:txBody>
          <a:bodyPr anchor="t" rtlCol="false" tIns="0" lIns="0" bIns="0" rIns="0">
            <a:spAutoFit/>
          </a:bodyPr>
          <a:lstStyle/>
          <a:p>
            <a:pPr algn="l">
              <a:lnSpc>
                <a:spcPts val="12865"/>
              </a:lnSpc>
            </a:pPr>
            <a:r>
              <a:rPr lang="en-US" sz="10721">
                <a:solidFill>
                  <a:srgbClr val="4C1D95"/>
                </a:solidFill>
                <a:latin typeface="ABeeZee Bold"/>
                <a:ea typeface="ABeeZee Bold"/>
                <a:cs typeface="ABeeZee Bold"/>
                <a:sym typeface="ABeeZee Bold"/>
              </a:rPr>
              <a:t>Nymbl - Doc RAG</a:t>
            </a:r>
          </a:p>
        </p:txBody>
      </p:sp>
      <p:sp>
        <p:nvSpPr>
          <p:cNvPr name="TextBox 4" id="4"/>
          <p:cNvSpPr txBox="true"/>
          <p:nvPr/>
        </p:nvSpPr>
        <p:spPr>
          <a:xfrm rot="0">
            <a:off x="3587350" y="4369785"/>
            <a:ext cx="11475294" cy="508216"/>
          </a:xfrm>
          <a:prstGeom prst="rect">
            <a:avLst/>
          </a:prstGeom>
        </p:spPr>
        <p:txBody>
          <a:bodyPr anchor="t" rtlCol="false" tIns="0" lIns="0" bIns="0" rIns="0">
            <a:spAutoFit/>
          </a:bodyPr>
          <a:lstStyle/>
          <a:p>
            <a:pPr algn="l">
              <a:lnSpc>
                <a:spcPts val="3946"/>
              </a:lnSpc>
            </a:pPr>
            <a:r>
              <a:rPr lang="en-US" sz="3289">
                <a:solidFill>
                  <a:srgbClr val="7C3AED"/>
                </a:solidFill>
                <a:latin typeface="ABeeZee"/>
                <a:ea typeface="ABeeZee"/>
                <a:cs typeface="ABeeZee"/>
                <a:sym typeface="ABeeZee"/>
              </a:rPr>
              <a:t>One</a:t>
            </a:r>
            <a:r>
              <a:rPr lang="en-US" sz="3289">
                <a:solidFill>
                  <a:srgbClr val="7C3AED"/>
                </a:solidFill>
                <a:latin typeface="ABeeZee"/>
                <a:ea typeface="ABeeZee"/>
                <a:cs typeface="ABeeZee"/>
                <a:sym typeface="ABeeZee"/>
              </a:rPr>
              <a:t>-PDF tiny RAG System</a:t>
            </a:r>
          </a:p>
        </p:txBody>
      </p:sp>
      <p:sp>
        <p:nvSpPr>
          <p:cNvPr name="Freeform 5" id="5"/>
          <p:cNvSpPr/>
          <p:nvPr/>
        </p:nvSpPr>
        <p:spPr>
          <a:xfrm flipH="false" flipV="false" rot="0">
            <a:off x="3525914" y="6528994"/>
            <a:ext cx="3198301" cy="658191"/>
          </a:xfrm>
          <a:custGeom>
            <a:avLst/>
            <a:gdLst/>
            <a:ahLst/>
            <a:cxnLst/>
            <a:rect r="r" b="b" t="t" l="l"/>
            <a:pathLst>
              <a:path h="658191" w="3198301">
                <a:moveTo>
                  <a:pt x="0" y="0"/>
                </a:moveTo>
                <a:lnTo>
                  <a:pt x="3198302" y="0"/>
                </a:lnTo>
                <a:lnTo>
                  <a:pt x="3198302" y="658191"/>
                </a:lnTo>
                <a:lnTo>
                  <a:pt x="0" y="65819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3782534" y="6573773"/>
            <a:ext cx="2701841" cy="287861"/>
          </a:xfrm>
          <a:prstGeom prst="rect">
            <a:avLst/>
          </a:prstGeom>
        </p:spPr>
        <p:txBody>
          <a:bodyPr anchor="t" rtlCol="false" tIns="0" lIns="0" bIns="0" rIns="0">
            <a:spAutoFit/>
          </a:bodyPr>
          <a:lstStyle/>
          <a:p>
            <a:pPr algn="ctr">
              <a:lnSpc>
                <a:spcPts val="2192"/>
              </a:lnSpc>
            </a:pPr>
            <a:r>
              <a:rPr lang="en-US" sz="1827">
                <a:solidFill>
                  <a:srgbClr val="7C3AED"/>
                </a:solidFill>
                <a:latin typeface="ABeeZee Bold"/>
                <a:ea typeface="ABeeZee Bold"/>
                <a:cs typeface="ABeeZee Bold"/>
                <a:sym typeface="ABeeZee Bold"/>
              </a:rPr>
              <a:t>Gemini Embeddings</a:t>
            </a:r>
          </a:p>
        </p:txBody>
      </p:sp>
      <p:sp>
        <p:nvSpPr>
          <p:cNvPr name="Freeform 7" id="7"/>
          <p:cNvSpPr/>
          <p:nvPr/>
        </p:nvSpPr>
        <p:spPr>
          <a:xfrm flipH="false" flipV="false" rot="0">
            <a:off x="6868180" y="6528994"/>
            <a:ext cx="3198301" cy="658191"/>
          </a:xfrm>
          <a:custGeom>
            <a:avLst/>
            <a:gdLst/>
            <a:ahLst/>
            <a:cxnLst/>
            <a:rect r="r" b="b" t="t" l="l"/>
            <a:pathLst>
              <a:path h="658191" w="3198301">
                <a:moveTo>
                  <a:pt x="0" y="0"/>
                </a:moveTo>
                <a:lnTo>
                  <a:pt x="3198302" y="0"/>
                </a:lnTo>
                <a:lnTo>
                  <a:pt x="3198302" y="658191"/>
                </a:lnTo>
                <a:lnTo>
                  <a:pt x="0" y="65819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8" id="8"/>
          <p:cNvSpPr txBox="true"/>
          <p:nvPr/>
        </p:nvSpPr>
        <p:spPr>
          <a:xfrm rot="0">
            <a:off x="7124800" y="6573773"/>
            <a:ext cx="2701841" cy="287861"/>
          </a:xfrm>
          <a:prstGeom prst="rect">
            <a:avLst/>
          </a:prstGeom>
        </p:spPr>
        <p:txBody>
          <a:bodyPr anchor="t" rtlCol="false" tIns="0" lIns="0" bIns="0" rIns="0">
            <a:spAutoFit/>
          </a:bodyPr>
          <a:lstStyle/>
          <a:p>
            <a:pPr algn="ctr">
              <a:lnSpc>
                <a:spcPts val="2192"/>
              </a:lnSpc>
            </a:pPr>
            <a:r>
              <a:rPr lang="en-US" sz="1827">
                <a:solidFill>
                  <a:srgbClr val="059669"/>
                </a:solidFill>
                <a:latin typeface="ABeeZee Bold"/>
                <a:ea typeface="ABeeZee Bold"/>
                <a:cs typeface="ABeeZee Bold"/>
                <a:sym typeface="ABeeZee Bold"/>
              </a:rPr>
              <a:t>pgvector + BM25</a:t>
            </a:r>
          </a:p>
        </p:txBody>
      </p:sp>
      <p:sp>
        <p:nvSpPr>
          <p:cNvPr name="Freeform 9" id="9"/>
          <p:cNvSpPr/>
          <p:nvPr/>
        </p:nvSpPr>
        <p:spPr>
          <a:xfrm flipH="false" flipV="false" rot="0">
            <a:off x="8583512" y="7966589"/>
            <a:ext cx="3198301" cy="658191"/>
          </a:xfrm>
          <a:custGeom>
            <a:avLst/>
            <a:gdLst/>
            <a:ahLst/>
            <a:cxnLst/>
            <a:rect r="r" b="b" t="t" l="l"/>
            <a:pathLst>
              <a:path h="658191" w="3198301">
                <a:moveTo>
                  <a:pt x="0" y="0"/>
                </a:moveTo>
                <a:lnTo>
                  <a:pt x="3198301" y="0"/>
                </a:lnTo>
                <a:lnTo>
                  <a:pt x="3198301" y="658190"/>
                </a:lnTo>
                <a:lnTo>
                  <a:pt x="0" y="65819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8840132" y="8011368"/>
            <a:ext cx="2701841" cy="287861"/>
          </a:xfrm>
          <a:prstGeom prst="rect">
            <a:avLst/>
          </a:prstGeom>
        </p:spPr>
        <p:txBody>
          <a:bodyPr anchor="t" rtlCol="false" tIns="0" lIns="0" bIns="0" rIns="0">
            <a:spAutoFit/>
          </a:bodyPr>
          <a:lstStyle/>
          <a:p>
            <a:pPr algn="ctr">
              <a:lnSpc>
                <a:spcPts val="2192"/>
              </a:lnSpc>
            </a:pPr>
            <a:r>
              <a:rPr lang="en-US" sz="1827">
                <a:solidFill>
                  <a:srgbClr val="5B21B6"/>
                </a:solidFill>
                <a:latin typeface="ABeeZee Bold"/>
                <a:ea typeface="ABeeZee Bold"/>
                <a:cs typeface="ABeeZee Bold"/>
                <a:sym typeface="ABeeZee Bold"/>
              </a:rPr>
              <a:t>FastAPI</a:t>
            </a:r>
          </a:p>
        </p:txBody>
      </p:sp>
      <p:sp>
        <p:nvSpPr>
          <p:cNvPr name="Freeform 11" id="11"/>
          <p:cNvSpPr/>
          <p:nvPr/>
        </p:nvSpPr>
        <p:spPr>
          <a:xfrm flipH="false" flipV="false" rot="0">
            <a:off x="11925778" y="7966589"/>
            <a:ext cx="3198301" cy="658191"/>
          </a:xfrm>
          <a:custGeom>
            <a:avLst/>
            <a:gdLst/>
            <a:ahLst/>
            <a:cxnLst/>
            <a:rect r="r" b="b" t="t" l="l"/>
            <a:pathLst>
              <a:path h="658191" w="3198301">
                <a:moveTo>
                  <a:pt x="0" y="0"/>
                </a:moveTo>
                <a:lnTo>
                  <a:pt x="3198301" y="0"/>
                </a:lnTo>
                <a:lnTo>
                  <a:pt x="3198301" y="658190"/>
                </a:lnTo>
                <a:lnTo>
                  <a:pt x="0" y="65819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2" id="12"/>
          <p:cNvSpPr txBox="true"/>
          <p:nvPr/>
        </p:nvSpPr>
        <p:spPr>
          <a:xfrm rot="0">
            <a:off x="12182398" y="8011368"/>
            <a:ext cx="2701841" cy="287861"/>
          </a:xfrm>
          <a:prstGeom prst="rect">
            <a:avLst/>
          </a:prstGeom>
        </p:spPr>
        <p:txBody>
          <a:bodyPr anchor="t" rtlCol="false" tIns="0" lIns="0" bIns="0" rIns="0">
            <a:spAutoFit/>
          </a:bodyPr>
          <a:lstStyle/>
          <a:p>
            <a:pPr algn="ctr">
              <a:lnSpc>
                <a:spcPts val="2192"/>
              </a:lnSpc>
            </a:pPr>
            <a:r>
              <a:rPr lang="en-US" sz="1827">
                <a:solidFill>
                  <a:srgbClr val="F97316"/>
                </a:solidFill>
                <a:latin typeface="ABeeZee Bold"/>
                <a:ea typeface="ABeeZee Bold"/>
                <a:cs typeface="ABeeZee Bold"/>
                <a:sym typeface="ABeeZee Bold"/>
              </a:rPr>
              <a:t>Hybrid RAG</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739713"/>
            <a:ext cx="16289188" cy="247675"/>
          </a:xfrm>
          <a:prstGeom prst="rect">
            <a:avLst/>
          </a:prstGeom>
        </p:spPr>
        <p:txBody>
          <a:bodyPr anchor="t" rtlCol="false" tIns="0" lIns="0" bIns="0" rIns="0">
            <a:spAutoFit/>
          </a:bodyPr>
          <a:lstStyle/>
          <a:p>
            <a:pPr algn="l">
              <a:lnSpc>
                <a:spcPts val="1800"/>
              </a:lnSpc>
            </a:pPr>
            <a:r>
              <a:rPr lang="en-US" sz="1500">
                <a:solidFill>
                  <a:srgbClr val="7C3AED"/>
                </a:solidFill>
                <a:latin typeface="ABeeZee Bold"/>
                <a:ea typeface="ABeeZee Bold"/>
                <a:cs typeface="ABeeZee Bold"/>
                <a:sym typeface="ABeeZee Bold"/>
              </a:rPr>
              <a:t>OVERVIEW</a:t>
            </a:r>
          </a:p>
        </p:txBody>
      </p:sp>
      <p:sp>
        <p:nvSpPr>
          <p:cNvPr name="TextBox 3" id="3"/>
          <p:cNvSpPr txBox="true"/>
          <p:nvPr/>
        </p:nvSpPr>
        <p:spPr>
          <a:xfrm rot="0">
            <a:off x="1028700" y="1250682"/>
            <a:ext cx="16289188" cy="733374"/>
          </a:xfrm>
          <a:prstGeom prst="rect">
            <a:avLst/>
          </a:prstGeom>
        </p:spPr>
        <p:txBody>
          <a:bodyPr anchor="t" rtlCol="false" tIns="0" lIns="0" bIns="0" rIns="0">
            <a:spAutoFit/>
          </a:bodyPr>
          <a:lstStyle/>
          <a:p>
            <a:pPr algn="l">
              <a:lnSpc>
                <a:spcPts val="5763"/>
              </a:lnSpc>
            </a:pPr>
            <a:r>
              <a:rPr lang="en-US" sz="4802">
                <a:solidFill>
                  <a:srgbClr val="4C1D95"/>
                </a:solidFill>
                <a:latin typeface="ABeeZee Bold"/>
                <a:ea typeface="ABeeZee Bold"/>
                <a:cs typeface="ABeeZee Bold"/>
                <a:sym typeface="ABeeZee Bold"/>
              </a:rPr>
              <a:t>What Doc RAG does</a:t>
            </a:r>
          </a:p>
        </p:txBody>
      </p:sp>
      <p:sp>
        <p:nvSpPr>
          <p:cNvPr name="Freeform 4" id="4"/>
          <p:cNvSpPr/>
          <p:nvPr/>
        </p:nvSpPr>
        <p:spPr>
          <a:xfrm flipH="false" flipV="false" rot="0">
            <a:off x="840915" y="2932938"/>
            <a:ext cx="8113014" cy="2210562"/>
          </a:xfrm>
          <a:custGeom>
            <a:avLst/>
            <a:gdLst/>
            <a:ahLst/>
            <a:cxnLst/>
            <a:rect r="r" b="b" t="t" l="l"/>
            <a:pathLst>
              <a:path h="2210562" w="8113014">
                <a:moveTo>
                  <a:pt x="0" y="0"/>
                </a:moveTo>
                <a:lnTo>
                  <a:pt x="8113014" y="0"/>
                </a:lnTo>
                <a:lnTo>
                  <a:pt x="8113014" y="2210562"/>
                </a:lnTo>
                <a:lnTo>
                  <a:pt x="0" y="221056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1214037" y="3134554"/>
            <a:ext cx="7366816" cy="304825"/>
          </a:xfrm>
          <a:prstGeom prst="rect">
            <a:avLst/>
          </a:prstGeom>
        </p:spPr>
        <p:txBody>
          <a:bodyPr anchor="t" rtlCol="false" tIns="0" lIns="0" bIns="0" rIns="0">
            <a:spAutoFit/>
          </a:bodyPr>
          <a:lstStyle/>
          <a:p>
            <a:pPr algn="l">
              <a:lnSpc>
                <a:spcPts val="2341"/>
              </a:lnSpc>
            </a:pPr>
            <a:r>
              <a:rPr lang="en-US" sz="1951">
                <a:solidFill>
                  <a:srgbClr val="4C1D95"/>
                </a:solidFill>
                <a:latin typeface="ABeeZee Bold"/>
                <a:ea typeface="ABeeZee Bold"/>
                <a:cs typeface="ABeeZee Bold"/>
                <a:sym typeface="ABeeZee Bold"/>
              </a:rPr>
              <a:t>🧩  The problem</a:t>
            </a:r>
          </a:p>
        </p:txBody>
      </p:sp>
      <p:sp>
        <p:nvSpPr>
          <p:cNvPr name="TextBox 6" id="6"/>
          <p:cNvSpPr txBox="true"/>
          <p:nvPr/>
        </p:nvSpPr>
        <p:spPr>
          <a:xfrm rot="0">
            <a:off x="1214037" y="3693147"/>
            <a:ext cx="7366816" cy="8096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LLMs hallucinate when asked about documents they haven't seen. Generic chat can't cite specific passages or say "I don't know" reliably.</a:t>
            </a:r>
          </a:p>
        </p:txBody>
      </p:sp>
      <p:sp>
        <p:nvSpPr>
          <p:cNvPr name="Freeform 7" id="7"/>
          <p:cNvSpPr/>
          <p:nvPr/>
        </p:nvSpPr>
        <p:spPr>
          <a:xfrm flipH="false" flipV="false" rot="0">
            <a:off x="9392660" y="2932938"/>
            <a:ext cx="8113014" cy="2210562"/>
          </a:xfrm>
          <a:custGeom>
            <a:avLst/>
            <a:gdLst/>
            <a:ahLst/>
            <a:cxnLst/>
            <a:rect r="r" b="b" t="t" l="l"/>
            <a:pathLst>
              <a:path h="2210562" w="8113014">
                <a:moveTo>
                  <a:pt x="0" y="0"/>
                </a:moveTo>
                <a:lnTo>
                  <a:pt x="8113014" y="0"/>
                </a:lnTo>
                <a:lnTo>
                  <a:pt x="8113014" y="2210562"/>
                </a:lnTo>
                <a:lnTo>
                  <a:pt x="0" y="221056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9765782" y="3134554"/>
            <a:ext cx="7366816" cy="304825"/>
          </a:xfrm>
          <a:prstGeom prst="rect">
            <a:avLst/>
          </a:prstGeom>
        </p:spPr>
        <p:txBody>
          <a:bodyPr anchor="t" rtlCol="false" tIns="0" lIns="0" bIns="0" rIns="0">
            <a:spAutoFit/>
          </a:bodyPr>
          <a:lstStyle/>
          <a:p>
            <a:pPr algn="l">
              <a:lnSpc>
                <a:spcPts val="2341"/>
              </a:lnSpc>
            </a:pPr>
            <a:r>
              <a:rPr lang="en-US" sz="1951">
                <a:solidFill>
                  <a:srgbClr val="4C1D95"/>
                </a:solidFill>
                <a:latin typeface="ABeeZee Bold"/>
                <a:ea typeface="ABeeZee Bold"/>
                <a:cs typeface="ABeeZee Bold"/>
                <a:sym typeface="ABeeZee Bold"/>
              </a:rPr>
              <a:t>✅  The solution</a:t>
            </a:r>
          </a:p>
        </p:txBody>
      </p:sp>
      <p:sp>
        <p:nvSpPr>
          <p:cNvPr name="TextBox 9" id="9"/>
          <p:cNvSpPr txBox="true"/>
          <p:nvPr/>
        </p:nvSpPr>
        <p:spPr>
          <a:xfrm rot="0">
            <a:off x="9765782" y="3693147"/>
            <a:ext cx="7366816" cy="8096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Retrieval-Augmented Generation — ground every answer in retrieved chunks from the actual document, with inline citations so claims can be verified.</a:t>
            </a:r>
          </a:p>
        </p:txBody>
      </p:sp>
      <p:sp>
        <p:nvSpPr>
          <p:cNvPr name="Freeform 10" id="10"/>
          <p:cNvSpPr/>
          <p:nvPr/>
        </p:nvSpPr>
        <p:spPr>
          <a:xfrm flipH="false" flipV="false" rot="0">
            <a:off x="915048" y="6298678"/>
            <a:ext cx="16664845" cy="2347817"/>
          </a:xfrm>
          <a:custGeom>
            <a:avLst/>
            <a:gdLst/>
            <a:ahLst/>
            <a:cxnLst/>
            <a:rect r="r" b="b" t="t" l="l"/>
            <a:pathLst>
              <a:path h="2347817" w="16664845">
                <a:moveTo>
                  <a:pt x="0" y="0"/>
                </a:moveTo>
                <a:lnTo>
                  <a:pt x="16664844" y="0"/>
                </a:lnTo>
                <a:lnTo>
                  <a:pt x="16664844" y="2347817"/>
                </a:lnTo>
                <a:lnTo>
                  <a:pt x="0" y="234781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false" rot="0">
            <a:off x="1189577" y="6573217"/>
            <a:ext cx="2896934" cy="1798796"/>
          </a:xfrm>
          <a:custGeom>
            <a:avLst/>
            <a:gdLst/>
            <a:ahLst/>
            <a:cxnLst/>
            <a:rect r="r" b="b" t="t" l="l"/>
            <a:pathLst>
              <a:path h="1798796" w="2896934">
                <a:moveTo>
                  <a:pt x="0" y="0"/>
                </a:moveTo>
                <a:lnTo>
                  <a:pt x="2896934" y="0"/>
                </a:lnTo>
                <a:lnTo>
                  <a:pt x="2896934" y="1798796"/>
                </a:lnTo>
                <a:lnTo>
                  <a:pt x="0" y="179879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2" id="12"/>
          <p:cNvSpPr txBox="true"/>
          <p:nvPr/>
        </p:nvSpPr>
        <p:spPr>
          <a:xfrm rot="0">
            <a:off x="1288171" y="6628042"/>
            <a:ext cx="2699728" cy="419151"/>
          </a:xfrm>
          <a:prstGeom prst="rect">
            <a:avLst/>
          </a:prstGeom>
        </p:spPr>
        <p:txBody>
          <a:bodyPr anchor="t" rtlCol="false" tIns="0" lIns="0" bIns="0" rIns="0">
            <a:spAutoFit/>
          </a:bodyPr>
          <a:lstStyle/>
          <a:p>
            <a:pPr algn="ctr">
              <a:lnSpc>
                <a:spcPts val="3242"/>
              </a:lnSpc>
            </a:pPr>
            <a:r>
              <a:rPr lang="en-US" sz="2701">
                <a:solidFill>
                  <a:srgbClr val="4C1D95"/>
                </a:solidFill>
                <a:latin typeface="ABeeZee"/>
                <a:ea typeface="ABeeZee"/>
                <a:cs typeface="ABeeZee"/>
                <a:sym typeface="ABeeZee"/>
              </a:rPr>
              <a:t>📄</a:t>
            </a:r>
          </a:p>
        </p:txBody>
      </p:sp>
      <p:sp>
        <p:nvSpPr>
          <p:cNvPr name="TextBox 13" id="13"/>
          <p:cNvSpPr txBox="true"/>
          <p:nvPr/>
        </p:nvSpPr>
        <p:spPr>
          <a:xfrm rot="0">
            <a:off x="1288171" y="7283839"/>
            <a:ext cx="2699728" cy="247675"/>
          </a:xfrm>
          <a:prstGeom prst="rect">
            <a:avLst/>
          </a:prstGeom>
        </p:spPr>
        <p:txBody>
          <a:bodyPr anchor="t" rtlCol="false" tIns="0" lIns="0" bIns="0" rIns="0">
            <a:spAutoFit/>
          </a:bodyPr>
          <a:lstStyle/>
          <a:p>
            <a:pPr algn="ctr">
              <a:lnSpc>
                <a:spcPts val="1980"/>
              </a:lnSpc>
            </a:pPr>
            <a:r>
              <a:rPr lang="en-US" sz="1651">
                <a:solidFill>
                  <a:srgbClr val="4C1D95"/>
                </a:solidFill>
                <a:latin typeface="ABeeZee Bold"/>
                <a:ea typeface="ABeeZee Bold"/>
                <a:cs typeface="ABeeZee Bold"/>
                <a:sym typeface="ABeeZee Bold"/>
              </a:rPr>
              <a:t>PDF Upload</a:t>
            </a:r>
          </a:p>
        </p:txBody>
      </p:sp>
      <p:sp>
        <p:nvSpPr>
          <p:cNvPr name="TextBox 14" id="14"/>
          <p:cNvSpPr txBox="true"/>
          <p:nvPr/>
        </p:nvSpPr>
        <p:spPr>
          <a:xfrm rot="0">
            <a:off x="1288171" y="7754755"/>
            <a:ext cx="2699728" cy="209575"/>
          </a:xfrm>
          <a:prstGeom prst="rect">
            <a:avLst/>
          </a:prstGeom>
        </p:spPr>
        <p:txBody>
          <a:bodyPr anchor="t" rtlCol="false" tIns="0" lIns="0" bIns="0" rIns="0">
            <a:spAutoFit/>
          </a:bodyPr>
          <a:lstStyle/>
          <a:p>
            <a:pPr algn="ctr">
              <a:lnSpc>
                <a:spcPts val="1621"/>
              </a:lnSpc>
            </a:pPr>
            <a:r>
              <a:rPr lang="en-US" sz="1350">
                <a:solidFill>
                  <a:srgbClr val="7C3AED"/>
                </a:solidFill>
                <a:latin typeface="ABeeZee"/>
                <a:ea typeface="ABeeZee"/>
                <a:cs typeface="ABeeZee"/>
                <a:sym typeface="ABeeZee"/>
              </a:rPr>
              <a:t>any size</a:t>
            </a:r>
          </a:p>
        </p:txBody>
      </p:sp>
      <p:sp>
        <p:nvSpPr>
          <p:cNvPr name="Freeform 15" id="15"/>
          <p:cNvSpPr/>
          <p:nvPr/>
        </p:nvSpPr>
        <p:spPr>
          <a:xfrm flipH="false" flipV="false" rot="0">
            <a:off x="4209459" y="6573217"/>
            <a:ext cx="2896933" cy="1798796"/>
          </a:xfrm>
          <a:custGeom>
            <a:avLst/>
            <a:gdLst/>
            <a:ahLst/>
            <a:cxnLst/>
            <a:rect r="r" b="b" t="t" l="l"/>
            <a:pathLst>
              <a:path h="1798796" w="2896933">
                <a:moveTo>
                  <a:pt x="0" y="0"/>
                </a:moveTo>
                <a:lnTo>
                  <a:pt x="2896934" y="0"/>
                </a:lnTo>
                <a:lnTo>
                  <a:pt x="2896934" y="1798796"/>
                </a:lnTo>
                <a:lnTo>
                  <a:pt x="0" y="179879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6" id="16"/>
          <p:cNvSpPr txBox="true"/>
          <p:nvPr/>
        </p:nvSpPr>
        <p:spPr>
          <a:xfrm rot="0">
            <a:off x="4308053" y="6628042"/>
            <a:ext cx="2699728" cy="419151"/>
          </a:xfrm>
          <a:prstGeom prst="rect">
            <a:avLst/>
          </a:prstGeom>
        </p:spPr>
        <p:txBody>
          <a:bodyPr anchor="t" rtlCol="false" tIns="0" lIns="0" bIns="0" rIns="0">
            <a:spAutoFit/>
          </a:bodyPr>
          <a:lstStyle/>
          <a:p>
            <a:pPr algn="ctr">
              <a:lnSpc>
                <a:spcPts val="3242"/>
              </a:lnSpc>
            </a:pPr>
            <a:r>
              <a:rPr lang="en-US" sz="2701">
                <a:solidFill>
                  <a:srgbClr val="4C1D95"/>
                </a:solidFill>
                <a:latin typeface="ABeeZee"/>
                <a:ea typeface="ABeeZee"/>
                <a:cs typeface="ABeeZee"/>
                <a:sym typeface="ABeeZee"/>
              </a:rPr>
              <a:t>✂️</a:t>
            </a:r>
          </a:p>
        </p:txBody>
      </p:sp>
      <p:sp>
        <p:nvSpPr>
          <p:cNvPr name="TextBox 17" id="17"/>
          <p:cNvSpPr txBox="true"/>
          <p:nvPr/>
        </p:nvSpPr>
        <p:spPr>
          <a:xfrm rot="0">
            <a:off x="4308053" y="7283839"/>
            <a:ext cx="2699728" cy="247675"/>
          </a:xfrm>
          <a:prstGeom prst="rect">
            <a:avLst/>
          </a:prstGeom>
        </p:spPr>
        <p:txBody>
          <a:bodyPr anchor="t" rtlCol="false" tIns="0" lIns="0" bIns="0" rIns="0">
            <a:spAutoFit/>
          </a:bodyPr>
          <a:lstStyle/>
          <a:p>
            <a:pPr algn="ctr">
              <a:lnSpc>
                <a:spcPts val="1980"/>
              </a:lnSpc>
            </a:pPr>
            <a:r>
              <a:rPr lang="en-US" sz="1651">
                <a:solidFill>
                  <a:srgbClr val="4C1D95"/>
                </a:solidFill>
                <a:latin typeface="ABeeZee Bold"/>
                <a:ea typeface="ABeeZee Bold"/>
                <a:cs typeface="ABeeZee Bold"/>
                <a:sym typeface="ABeeZee Bold"/>
              </a:rPr>
              <a:t>Extract &amp; Chunk</a:t>
            </a:r>
          </a:p>
        </p:txBody>
      </p:sp>
      <p:sp>
        <p:nvSpPr>
          <p:cNvPr name="TextBox 18" id="18"/>
          <p:cNvSpPr txBox="true"/>
          <p:nvPr/>
        </p:nvSpPr>
        <p:spPr>
          <a:xfrm rot="0">
            <a:off x="4308053" y="7754755"/>
            <a:ext cx="2699728" cy="209575"/>
          </a:xfrm>
          <a:prstGeom prst="rect">
            <a:avLst/>
          </a:prstGeom>
        </p:spPr>
        <p:txBody>
          <a:bodyPr anchor="t" rtlCol="false" tIns="0" lIns="0" bIns="0" rIns="0">
            <a:spAutoFit/>
          </a:bodyPr>
          <a:lstStyle/>
          <a:p>
            <a:pPr algn="ctr">
              <a:lnSpc>
                <a:spcPts val="1621"/>
              </a:lnSpc>
            </a:pPr>
            <a:r>
              <a:rPr lang="en-US" sz="1350">
                <a:solidFill>
                  <a:srgbClr val="7C3AED"/>
                </a:solidFill>
                <a:latin typeface="ABeeZee"/>
                <a:ea typeface="ABeeZee"/>
                <a:cs typeface="ABeeZee"/>
                <a:sym typeface="ABeeZee"/>
              </a:rPr>
              <a:t>PyMuPDF + tiktoken</a:t>
            </a:r>
          </a:p>
        </p:txBody>
      </p:sp>
      <p:sp>
        <p:nvSpPr>
          <p:cNvPr name="Freeform 19" id="19"/>
          <p:cNvSpPr/>
          <p:nvPr/>
        </p:nvSpPr>
        <p:spPr>
          <a:xfrm flipH="false" flipV="false" rot="0">
            <a:off x="7229342" y="6573217"/>
            <a:ext cx="2896934" cy="1798796"/>
          </a:xfrm>
          <a:custGeom>
            <a:avLst/>
            <a:gdLst/>
            <a:ahLst/>
            <a:cxnLst/>
            <a:rect r="r" b="b" t="t" l="l"/>
            <a:pathLst>
              <a:path h="1798796" w="2896934">
                <a:moveTo>
                  <a:pt x="0" y="0"/>
                </a:moveTo>
                <a:lnTo>
                  <a:pt x="2896933" y="0"/>
                </a:lnTo>
                <a:lnTo>
                  <a:pt x="2896933" y="1798796"/>
                </a:lnTo>
                <a:lnTo>
                  <a:pt x="0" y="179879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0" id="20"/>
          <p:cNvSpPr txBox="true"/>
          <p:nvPr/>
        </p:nvSpPr>
        <p:spPr>
          <a:xfrm rot="0">
            <a:off x="7327925" y="6628042"/>
            <a:ext cx="2699728" cy="419151"/>
          </a:xfrm>
          <a:prstGeom prst="rect">
            <a:avLst/>
          </a:prstGeom>
        </p:spPr>
        <p:txBody>
          <a:bodyPr anchor="t" rtlCol="false" tIns="0" lIns="0" bIns="0" rIns="0">
            <a:spAutoFit/>
          </a:bodyPr>
          <a:lstStyle/>
          <a:p>
            <a:pPr algn="ctr">
              <a:lnSpc>
                <a:spcPts val="3242"/>
              </a:lnSpc>
            </a:pPr>
            <a:r>
              <a:rPr lang="en-US" sz="2701">
                <a:solidFill>
                  <a:srgbClr val="4C1D95"/>
                </a:solidFill>
                <a:latin typeface="ABeeZee"/>
                <a:ea typeface="ABeeZee"/>
                <a:cs typeface="ABeeZee"/>
                <a:sym typeface="ABeeZee"/>
              </a:rPr>
              <a:t>🧠</a:t>
            </a:r>
          </a:p>
        </p:txBody>
      </p:sp>
      <p:sp>
        <p:nvSpPr>
          <p:cNvPr name="TextBox 21" id="21"/>
          <p:cNvSpPr txBox="true"/>
          <p:nvPr/>
        </p:nvSpPr>
        <p:spPr>
          <a:xfrm rot="0">
            <a:off x="7327925" y="7283839"/>
            <a:ext cx="2699728" cy="247675"/>
          </a:xfrm>
          <a:prstGeom prst="rect">
            <a:avLst/>
          </a:prstGeom>
        </p:spPr>
        <p:txBody>
          <a:bodyPr anchor="t" rtlCol="false" tIns="0" lIns="0" bIns="0" rIns="0">
            <a:spAutoFit/>
          </a:bodyPr>
          <a:lstStyle/>
          <a:p>
            <a:pPr algn="ctr">
              <a:lnSpc>
                <a:spcPts val="1980"/>
              </a:lnSpc>
            </a:pPr>
            <a:r>
              <a:rPr lang="en-US" sz="1651">
                <a:solidFill>
                  <a:srgbClr val="4C1D95"/>
                </a:solidFill>
                <a:latin typeface="ABeeZee Bold"/>
                <a:ea typeface="ABeeZee Bold"/>
                <a:cs typeface="ABeeZee Bold"/>
                <a:sym typeface="ABeeZee Bold"/>
              </a:rPr>
              <a:t>Embed</a:t>
            </a:r>
          </a:p>
        </p:txBody>
      </p:sp>
      <p:sp>
        <p:nvSpPr>
          <p:cNvPr name="TextBox 22" id="22"/>
          <p:cNvSpPr txBox="true"/>
          <p:nvPr/>
        </p:nvSpPr>
        <p:spPr>
          <a:xfrm rot="0">
            <a:off x="7327925" y="7754755"/>
            <a:ext cx="2699728" cy="209575"/>
          </a:xfrm>
          <a:prstGeom prst="rect">
            <a:avLst/>
          </a:prstGeom>
        </p:spPr>
        <p:txBody>
          <a:bodyPr anchor="t" rtlCol="false" tIns="0" lIns="0" bIns="0" rIns="0">
            <a:spAutoFit/>
          </a:bodyPr>
          <a:lstStyle/>
          <a:p>
            <a:pPr algn="ctr">
              <a:lnSpc>
                <a:spcPts val="1621"/>
              </a:lnSpc>
            </a:pPr>
            <a:r>
              <a:rPr lang="en-US" sz="1350">
                <a:solidFill>
                  <a:srgbClr val="7C3AED"/>
                </a:solidFill>
                <a:latin typeface="ABeeZee"/>
                <a:ea typeface="ABeeZee"/>
                <a:cs typeface="ABeeZee"/>
                <a:sym typeface="ABeeZee"/>
              </a:rPr>
              <a:t>gemini-embedding-2</a:t>
            </a:r>
          </a:p>
        </p:txBody>
      </p:sp>
      <p:sp>
        <p:nvSpPr>
          <p:cNvPr name="Freeform 23" id="23"/>
          <p:cNvSpPr/>
          <p:nvPr/>
        </p:nvSpPr>
        <p:spPr>
          <a:xfrm flipH="false" flipV="false" rot="0">
            <a:off x="10249224" y="6573217"/>
            <a:ext cx="2896934" cy="1798796"/>
          </a:xfrm>
          <a:custGeom>
            <a:avLst/>
            <a:gdLst/>
            <a:ahLst/>
            <a:cxnLst/>
            <a:rect r="r" b="b" t="t" l="l"/>
            <a:pathLst>
              <a:path h="1798796" w="2896934">
                <a:moveTo>
                  <a:pt x="0" y="0"/>
                </a:moveTo>
                <a:lnTo>
                  <a:pt x="2896933" y="0"/>
                </a:lnTo>
                <a:lnTo>
                  <a:pt x="2896933" y="1798796"/>
                </a:lnTo>
                <a:lnTo>
                  <a:pt x="0" y="1798796"/>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24" id="24"/>
          <p:cNvSpPr txBox="true"/>
          <p:nvPr/>
        </p:nvSpPr>
        <p:spPr>
          <a:xfrm rot="0">
            <a:off x="10347808" y="6628042"/>
            <a:ext cx="2699728" cy="419151"/>
          </a:xfrm>
          <a:prstGeom prst="rect">
            <a:avLst/>
          </a:prstGeom>
        </p:spPr>
        <p:txBody>
          <a:bodyPr anchor="t" rtlCol="false" tIns="0" lIns="0" bIns="0" rIns="0">
            <a:spAutoFit/>
          </a:bodyPr>
          <a:lstStyle/>
          <a:p>
            <a:pPr algn="ctr">
              <a:lnSpc>
                <a:spcPts val="3242"/>
              </a:lnSpc>
            </a:pPr>
            <a:r>
              <a:rPr lang="en-US" sz="2701">
                <a:solidFill>
                  <a:srgbClr val="4C1D95"/>
                </a:solidFill>
                <a:latin typeface="ABeeZee"/>
                <a:ea typeface="ABeeZee"/>
                <a:cs typeface="ABeeZee"/>
                <a:sym typeface="ABeeZee"/>
              </a:rPr>
              <a:t>🗄️</a:t>
            </a:r>
          </a:p>
        </p:txBody>
      </p:sp>
      <p:sp>
        <p:nvSpPr>
          <p:cNvPr name="TextBox 25" id="25"/>
          <p:cNvSpPr txBox="true"/>
          <p:nvPr/>
        </p:nvSpPr>
        <p:spPr>
          <a:xfrm rot="0">
            <a:off x="10347808" y="7283839"/>
            <a:ext cx="2699728" cy="247675"/>
          </a:xfrm>
          <a:prstGeom prst="rect">
            <a:avLst/>
          </a:prstGeom>
        </p:spPr>
        <p:txBody>
          <a:bodyPr anchor="t" rtlCol="false" tIns="0" lIns="0" bIns="0" rIns="0">
            <a:spAutoFit/>
          </a:bodyPr>
          <a:lstStyle/>
          <a:p>
            <a:pPr algn="ctr">
              <a:lnSpc>
                <a:spcPts val="1980"/>
              </a:lnSpc>
            </a:pPr>
            <a:r>
              <a:rPr lang="en-US" sz="1651">
                <a:solidFill>
                  <a:srgbClr val="4C1D95"/>
                </a:solidFill>
                <a:latin typeface="ABeeZee Bold"/>
                <a:ea typeface="ABeeZee Bold"/>
                <a:cs typeface="ABeeZee Bold"/>
                <a:sym typeface="ABeeZee Bold"/>
              </a:rPr>
              <a:t>Store</a:t>
            </a:r>
          </a:p>
        </p:txBody>
      </p:sp>
      <p:sp>
        <p:nvSpPr>
          <p:cNvPr name="TextBox 26" id="26"/>
          <p:cNvSpPr txBox="true"/>
          <p:nvPr/>
        </p:nvSpPr>
        <p:spPr>
          <a:xfrm rot="0">
            <a:off x="10347808" y="7754755"/>
            <a:ext cx="2699728" cy="209575"/>
          </a:xfrm>
          <a:prstGeom prst="rect">
            <a:avLst/>
          </a:prstGeom>
        </p:spPr>
        <p:txBody>
          <a:bodyPr anchor="t" rtlCol="false" tIns="0" lIns="0" bIns="0" rIns="0">
            <a:spAutoFit/>
          </a:bodyPr>
          <a:lstStyle/>
          <a:p>
            <a:pPr algn="ctr">
              <a:lnSpc>
                <a:spcPts val="1621"/>
              </a:lnSpc>
            </a:pPr>
            <a:r>
              <a:rPr lang="en-US" sz="1350">
                <a:solidFill>
                  <a:srgbClr val="7C3AED"/>
                </a:solidFill>
                <a:latin typeface="ABeeZee"/>
                <a:ea typeface="ABeeZee"/>
                <a:cs typeface="ABeeZee"/>
                <a:sym typeface="ABeeZee"/>
              </a:rPr>
              <a:t>Postgres + pgvector</a:t>
            </a:r>
          </a:p>
        </p:txBody>
      </p:sp>
      <p:sp>
        <p:nvSpPr>
          <p:cNvPr name="Freeform 27" id="27"/>
          <p:cNvSpPr/>
          <p:nvPr/>
        </p:nvSpPr>
        <p:spPr>
          <a:xfrm flipH="false" flipV="false" rot="0">
            <a:off x="13269097" y="6573217"/>
            <a:ext cx="2896934" cy="1798796"/>
          </a:xfrm>
          <a:custGeom>
            <a:avLst/>
            <a:gdLst/>
            <a:ahLst/>
            <a:cxnLst/>
            <a:rect r="r" b="b" t="t" l="l"/>
            <a:pathLst>
              <a:path h="1798796" w="2896934">
                <a:moveTo>
                  <a:pt x="0" y="0"/>
                </a:moveTo>
                <a:lnTo>
                  <a:pt x="2896933" y="0"/>
                </a:lnTo>
                <a:lnTo>
                  <a:pt x="2896933" y="1798796"/>
                </a:lnTo>
                <a:lnTo>
                  <a:pt x="0" y="1798796"/>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TextBox 28" id="28"/>
          <p:cNvSpPr txBox="true"/>
          <p:nvPr/>
        </p:nvSpPr>
        <p:spPr>
          <a:xfrm rot="0">
            <a:off x="13367690" y="6628042"/>
            <a:ext cx="2699728" cy="419151"/>
          </a:xfrm>
          <a:prstGeom prst="rect">
            <a:avLst/>
          </a:prstGeom>
        </p:spPr>
        <p:txBody>
          <a:bodyPr anchor="t" rtlCol="false" tIns="0" lIns="0" bIns="0" rIns="0">
            <a:spAutoFit/>
          </a:bodyPr>
          <a:lstStyle/>
          <a:p>
            <a:pPr algn="ctr">
              <a:lnSpc>
                <a:spcPts val="3242"/>
              </a:lnSpc>
            </a:pPr>
            <a:r>
              <a:rPr lang="en-US" sz="2701">
                <a:solidFill>
                  <a:srgbClr val="4C1D95"/>
                </a:solidFill>
                <a:latin typeface="ABeeZee"/>
                <a:ea typeface="ABeeZee"/>
                <a:cs typeface="ABeeZee"/>
                <a:sym typeface="ABeeZee"/>
              </a:rPr>
              <a:t>💬</a:t>
            </a:r>
          </a:p>
        </p:txBody>
      </p:sp>
      <p:sp>
        <p:nvSpPr>
          <p:cNvPr name="TextBox 29" id="29"/>
          <p:cNvSpPr txBox="true"/>
          <p:nvPr/>
        </p:nvSpPr>
        <p:spPr>
          <a:xfrm rot="0">
            <a:off x="13367690" y="7283839"/>
            <a:ext cx="2699728" cy="247675"/>
          </a:xfrm>
          <a:prstGeom prst="rect">
            <a:avLst/>
          </a:prstGeom>
        </p:spPr>
        <p:txBody>
          <a:bodyPr anchor="t" rtlCol="false" tIns="0" lIns="0" bIns="0" rIns="0">
            <a:spAutoFit/>
          </a:bodyPr>
          <a:lstStyle/>
          <a:p>
            <a:pPr algn="ctr">
              <a:lnSpc>
                <a:spcPts val="1980"/>
              </a:lnSpc>
            </a:pPr>
            <a:r>
              <a:rPr lang="en-US" sz="1651">
                <a:solidFill>
                  <a:srgbClr val="4C1D95"/>
                </a:solidFill>
                <a:latin typeface="ABeeZee Bold"/>
                <a:ea typeface="ABeeZee Bold"/>
                <a:cs typeface="ABeeZee Bold"/>
                <a:sym typeface="ABeeZee Bold"/>
              </a:rPr>
              <a:t>Answer</a:t>
            </a:r>
          </a:p>
        </p:txBody>
      </p:sp>
      <p:sp>
        <p:nvSpPr>
          <p:cNvPr name="TextBox 30" id="30"/>
          <p:cNvSpPr txBox="true"/>
          <p:nvPr/>
        </p:nvSpPr>
        <p:spPr>
          <a:xfrm rot="0">
            <a:off x="13367690" y="7754755"/>
            <a:ext cx="2699728" cy="209575"/>
          </a:xfrm>
          <a:prstGeom prst="rect">
            <a:avLst/>
          </a:prstGeom>
        </p:spPr>
        <p:txBody>
          <a:bodyPr anchor="t" rtlCol="false" tIns="0" lIns="0" bIns="0" rIns="0">
            <a:spAutoFit/>
          </a:bodyPr>
          <a:lstStyle/>
          <a:p>
            <a:pPr algn="ctr">
              <a:lnSpc>
                <a:spcPts val="1621"/>
              </a:lnSpc>
            </a:pPr>
            <a:r>
              <a:rPr lang="en-US" sz="1350">
                <a:solidFill>
                  <a:srgbClr val="7C3AED"/>
                </a:solidFill>
                <a:latin typeface="ABeeZee"/>
                <a:ea typeface="ABeeZee"/>
                <a:cs typeface="ABeeZee"/>
                <a:sym typeface="ABeeZee"/>
              </a:rPr>
              <a:t>Gemini 2.5 Flash</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5048" y="469001"/>
            <a:ext cx="16289188" cy="247675"/>
          </a:xfrm>
          <a:prstGeom prst="rect">
            <a:avLst/>
          </a:prstGeom>
        </p:spPr>
        <p:txBody>
          <a:bodyPr anchor="t" rtlCol="false" tIns="0" lIns="0" bIns="0" rIns="0">
            <a:spAutoFit/>
          </a:bodyPr>
          <a:lstStyle/>
          <a:p>
            <a:pPr algn="l">
              <a:lnSpc>
                <a:spcPts val="1800"/>
              </a:lnSpc>
            </a:pPr>
            <a:r>
              <a:rPr lang="en-US" sz="1500">
                <a:solidFill>
                  <a:srgbClr val="7C3AED"/>
                </a:solidFill>
                <a:latin typeface="ABeeZee Bold"/>
                <a:ea typeface="ABeeZee Bold"/>
                <a:cs typeface="ABeeZee Bold"/>
                <a:sym typeface="ABeeZee Bold"/>
              </a:rPr>
              <a:t>SYSTEM DESIGN</a:t>
            </a:r>
          </a:p>
        </p:txBody>
      </p:sp>
      <p:sp>
        <p:nvSpPr>
          <p:cNvPr name="TextBox 3" id="3"/>
          <p:cNvSpPr txBox="true"/>
          <p:nvPr/>
        </p:nvSpPr>
        <p:spPr>
          <a:xfrm rot="0">
            <a:off x="915048" y="979970"/>
            <a:ext cx="16289188" cy="733374"/>
          </a:xfrm>
          <a:prstGeom prst="rect">
            <a:avLst/>
          </a:prstGeom>
        </p:spPr>
        <p:txBody>
          <a:bodyPr anchor="t" rtlCol="false" tIns="0" lIns="0" bIns="0" rIns="0">
            <a:spAutoFit/>
          </a:bodyPr>
          <a:lstStyle/>
          <a:p>
            <a:pPr algn="l">
              <a:lnSpc>
                <a:spcPts val="5763"/>
              </a:lnSpc>
            </a:pPr>
            <a:r>
              <a:rPr lang="en-US" sz="4802">
                <a:solidFill>
                  <a:srgbClr val="4C1D95"/>
                </a:solidFill>
                <a:latin typeface="ABeeZee Bold"/>
                <a:ea typeface="ABeeZee Bold"/>
                <a:cs typeface="ABeeZee Bold"/>
                <a:sym typeface="ABeeZee Bold"/>
              </a:rPr>
              <a:t>Architecture</a:t>
            </a:r>
          </a:p>
        </p:txBody>
      </p:sp>
      <p:sp>
        <p:nvSpPr>
          <p:cNvPr name="Freeform 4" id="4"/>
          <p:cNvSpPr/>
          <p:nvPr/>
        </p:nvSpPr>
        <p:spPr>
          <a:xfrm flipH="false" flipV="false" rot="0">
            <a:off x="173193" y="3836337"/>
            <a:ext cx="2210562" cy="2073307"/>
          </a:xfrm>
          <a:custGeom>
            <a:avLst/>
            <a:gdLst/>
            <a:ahLst/>
            <a:cxnLst/>
            <a:rect r="r" b="b" t="t" l="l"/>
            <a:pathLst>
              <a:path h="2073307" w="2210562">
                <a:moveTo>
                  <a:pt x="0" y="0"/>
                </a:moveTo>
                <a:lnTo>
                  <a:pt x="2210562" y="0"/>
                </a:lnTo>
                <a:lnTo>
                  <a:pt x="2210562" y="2073306"/>
                </a:lnTo>
                <a:lnTo>
                  <a:pt x="0" y="207330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271786" y="3872113"/>
            <a:ext cx="2013394" cy="476301"/>
          </a:xfrm>
          <a:prstGeom prst="rect">
            <a:avLst/>
          </a:prstGeom>
        </p:spPr>
        <p:txBody>
          <a:bodyPr anchor="t" rtlCol="false" tIns="0" lIns="0" bIns="0" rIns="0">
            <a:spAutoFit/>
          </a:bodyPr>
          <a:lstStyle/>
          <a:p>
            <a:pPr algn="ctr">
              <a:lnSpc>
                <a:spcPts val="3601"/>
              </a:lnSpc>
            </a:pPr>
            <a:r>
              <a:rPr lang="en-US" sz="3001">
                <a:solidFill>
                  <a:srgbClr val="4C1D95"/>
                </a:solidFill>
                <a:latin typeface="ABeeZee"/>
                <a:ea typeface="ABeeZee"/>
                <a:cs typeface="ABeeZee"/>
                <a:sym typeface="ABeeZee"/>
              </a:rPr>
              <a:t>🌐</a:t>
            </a:r>
          </a:p>
        </p:txBody>
      </p:sp>
      <p:sp>
        <p:nvSpPr>
          <p:cNvPr name="TextBox 6" id="6"/>
          <p:cNvSpPr txBox="true"/>
          <p:nvPr/>
        </p:nvSpPr>
        <p:spPr>
          <a:xfrm rot="0">
            <a:off x="271786" y="4478331"/>
            <a:ext cx="2013394" cy="247675"/>
          </a:xfrm>
          <a:prstGeom prst="rect">
            <a:avLst/>
          </a:prstGeom>
        </p:spPr>
        <p:txBody>
          <a:bodyPr anchor="t" rtlCol="false" tIns="0" lIns="0" bIns="0" rIns="0">
            <a:spAutoFit/>
          </a:bodyPr>
          <a:lstStyle/>
          <a:p>
            <a:pPr algn="ctr">
              <a:lnSpc>
                <a:spcPts val="1980"/>
              </a:lnSpc>
            </a:pPr>
            <a:r>
              <a:rPr lang="en-US" sz="1651">
                <a:solidFill>
                  <a:srgbClr val="4C1D95"/>
                </a:solidFill>
                <a:latin typeface="ABeeZee Bold"/>
                <a:ea typeface="ABeeZee Bold"/>
                <a:cs typeface="ABeeZee Bold"/>
                <a:sym typeface="ABeeZee Bold"/>
              </a:rPr>
              <a:t>Browser</a:t>
            </a:r>
          </a:p>
        </p:txBody>
      </p:sp>
      <p:sp>
        <p:nvSpPr>
          <p:cNvPr name="TextBox 7" id="7"/>
          <p:cNvSpPr txBox="true"/>
          <p:nvPr/>
        </p:nvSpPr>
        <p:spPr>
          <a:xfrm rot="0">
            <a:off x="271786" y="4880610"/>
            <a:ext cx="2013394" cy="409600"/>
          </a:xfrm>
          <a:prstGeom prst="rect">
            <a:avLst/>
          </a:prstGeom>
        </p:spPr>
        <p:txBody>
          <a:bodyPr anchor="t" rtlCol="false" tIns="0" lIns="0" bIns="0" rIns="0">
            <a:spAutoFit/>
          </a:bodyPr>
          <a:lstStyle/>
          <a:p>
            <a:pPr algn="ctr">
              <a:lnSpc>
                <a:spcPts val="1621"/>
              </a:lnSpc>
            </a:pPr>
            <a:r>
              <a:rPr lang="en-US" sz="1350">
                <a:solidFill>
                  <a:srgbClr val="7C3AED"/>
                </a:solidFill>
                <a:latin typeface="ABeeZee"/>
                <a:ea typeface="ABeeZee"/>
                <a:cs typeface="ABeeZee"/>
                <a:sym typeface="ABeeZee"/>
              </a:rPr>
              <a:t>index.html</a:t>
            </a:r>
          </a:p>
          <a:p>
            <a:pPr algn="ctr">
              <a:lnSpc>
                <a:spcPts val="1621"/>
              </a:lnSpc>
            </a:pPr>
            <a:r>
              <a:rPr lang="en-US" sz="1350">
                <a:solidFill>
                  <a:srgbClr val="7C3AED"/>
                </a:solidFill>
                <a:latin typeface="ABeeZee"/>
                <a:ea typeface="ABeeZee"/>
                <a:cs typeface="ABeeZee"/>
                <a:sym typeface="ABeeZee"/>
              </a:rPr>
              <a:t>SSE streaming</a:t>
            </a:r>
          </a:p>
        </p:txBody>
      </p:sp>
      <p:sp>
        <p:nvSpPr>
          <p:cNvPr name="TextBox 8" id="8"/>
          <p:cNvSpPr txBox="true"/>
          <p:nvPr/>
        </p:nvSpPr>
        <p:spPr>
          <a:xfrm rot="0">
            <a:off x="2383755" y="4728324"/>
            <a:ext cx="366189" cy="361848"/>
          </a:xfrm>
          <a:prstGeom prst="rect">
            <a:avLst/>
          </a:prstGeom>
        </p:spPr>
        <p:txBody>
          <a:bodyPr anchor="t" rtlCol="false" tIns="0" lIns="0" bIns="0" rIns="0">
            <a:spAutoFit/>
          </a:bodyPr>
          <a:lstStyle/>
          <a:p>
            <a:pPr algn="ctr">
              <a:lnSpc>
                <a:spcPts val="2882"/>
              </a:lnSpc>
            </a:pPr>
            <a:r>
              <a:rPr lang="en-US" sz="2401">
                <a:solidFill>
                  <a:srgbClr val="7C3AED"/>
                </a:solidFill>
                <a:latin typeface="ABeeZee"/>
                <a:ea typeface="ABeeZee"/>
                <a:cs typeface="ABeeZee"/>
                <a:sym typeface="ABeeZee"/>
              </a:rPr>
              <a:t>→</a:t>
            </a:r>
          </a:p>
        </p:txBody>
      </p:sp>
      <p:sp>
        <p:nvSpPr>
          <p:cNvPr name="Freeform 9" id="9"/>
          <p:cNvSpPr/>
          <p:nvPr/>
        </p:nvSpPr>
        <p:spPr>
          <a:xfrm flipH="false" flipV="false" rot="0">
            <a:off x="2475671" y="2463689"/>
            <a:ext cx="2622328" cy="4818602"/>
          </a:xfrm>
          <a:custGeom>
            <a:avLst/>
            <a:gdLst/>
            <a:ahLst/>
            <a:cxnLst/>
            <a:rect r="r" b="b" t="t" l="l"/>
            <a:pathLst>
              <a:path h="4818602" w="2622328">
                <a:moveTo>
                  <a:pt x="0" y="0"/>
                </a:moveTo>
                <a:lnTo>
                  <a:pt x="2622328" y="0"/>
                </a:lnTo>
                <a:lnTo>
                  <a:pt x="2622328" y="4818602"/>
                </a:lnTo>
                <a:lnTo>
                  <a:pt x="0" y="481860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0" id="10"/>
          <p:cNvSpPr txBox="true"/>
          <p:nvPr/>
        </p:nvSpPr>
        <p:spPr>
          <a:xfrm rot="0">
            <a:off x="2574265" y="2606202"/>
            <a:ext cx="2425198" cy="276250"/>
          </a:xfrm>
          <a:prstGeom prst="rect">
            <a:avLst/>
          </a:prstGeom>
        </p:spPr>
        <p:txBody>
          <a:bodyPr anchor="t" rtlCol="false" tIns="0" lIns="0" bIns="0" rIns="0">
            <a:spAutoFit/>
          </a:bodyPr>
          <a:lstStyle/>
          <a:p>
            <a:pPr algn="ctr">
              <a:lnSpc>
                <a:spcPts val="2161"/>
              </a:lnSpc>
            </a:pPr>
            <a:r>
              <a:rPr lang="en-US" sz="1801">
                <a:solidFill>
                  <a:srgbClr val="7C3AED"/>
                </a:solidFill>
                <a:latin typeface="ABeeZee Bold"/>
                <a:ea typeface="ABeeZee Bold"/>
                <a:cs typeface="ABeeZee Bold"/>
                <a:sym typeface="ABeeZee Bold"/>
              </a:rPr>
              <a:t>FastAPI</a:t>
            </a:r>
          </a:p>
        </p:txBody>
      </p:sp>
      <p:sp>
        <p:nvSpPr>
          <p:cNvPr name="Freeform 11" id="11"/>
          <p:cNvSpPr/>
          <p:nvPr/>
        </p:nvSpPr>
        <p:spPr>
          <a:xfrm flipH="false" flipV="false" rot="0">
            <a:off x="2642778" y="3221041"/>
            <a:ext cx="2288191" cy="531114"/>
          </a:xfrm>
          <a:custGeom>
            <a:avLst/>
            <a:gdLst/>
            <a:ahLst/>
            <a:cxnLst/>
            <a:rect r="r" b="b" t="t" l="l"/>
            <a:pathLst>
              <a:path h="531114" w="2288191">
                <a:moveTo>
                  <a:pt x="0" y="0"/>
                </a:moveTo>
                <a:lnTo>
                  <a:pt x="2288191" y="0"/>
                </a:lnTo>
                <a:lnTo>
                  <a:pt x="2288191" y="531114"/>
                </a:lnTo>
                <a:lnTo>
                  <a:pt x="0" y="5311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2" id="12"/>
          <p:cNvSpPr txBox="true"/>
          <p:nvPr/>
        </p:nvSpPr>
        <p:spPr>
          <a:xfrm rot="0">
            <a:off x="2738980" y="3302060"/>
            <a:ext cx="2095757" cy="209575"/>
          </a:xfrm>
          <a:prstGeom prst="rect">
            <a:avLst/>
          </a:prstGeom>
        </p:spPr>
        <p:txBody>
          <a:bodyPr anchor="t" rtlCol="false" tIns="0" lIns="0" bIns="0" rIns="0">
            <a:spAutoFit/>
          </a:bodyPr>
          <a:lstStyle/>
          <a:p>
            <a:pPr algn="ctr">
              <a:lnSpc>
                <a:spcPts val="1621"/>
              </a:lnSpc>
            </a:pPr>
            <a:r>
              <a:rPr lang="en-US" sz="1350">
                <a:solidFill>
                  <a:srgbClr val="4C1D95"/>
                </a:solidFill>
                <a:latin typeface="ABeeZee"/>
                <a:ea typeface="ABeeZee"/>
                <a:cs typeface="ABeeZee"/>
                <a:sym typeface="ABeeZee"/>
              </a:rPr>
              <a:t>POST /ingest</a:t>
            </a:r>
          </a:p>
        </p:txBody>
      </p:sp>
      <p:sp>
        <p:nvSpPr>
          <p:cNvPr name="Freeform 13" id="13"/>
          <p:cNvSpPr/>
          <p:nvPr/>
        </p:nvSpPr>
        <p:spPr>
          <a:xfrm flipH="false" flipV="false" rot="0">
            <a:off x="2642778" y="3907374"/>
            <a:ext cx="2288191" cy="531114"/>
          </a:xfrm>
          <a:custGeom>
            <a:avLst/>
            <a:gdLst/>
            <a:ahLst/>
            <a:cxnLst/>
            <a:rect r="r" b="b" t="t" l="l"/>
            <a:pathLst>
              <a:path h="531114" w="2288191">
                <a:moveTo>
                  <a:pt x="0" y="0"/>
                </a:moveTo>
                <a:lnTo>
                  <a:pt x="2288191" y="0"/>
                </a:lnTo>
                <a:lnTo>
                  <a:pt x="2288191" y="531114"/>
                </a:lnTo>
                <a:lnTo>
                  <a:pt x="0" y="5311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4" id="14"/>
          <p:cNvSpPr txBox="true"/>
          <p:nvPr/>
        </p:nvSpPr>
        <p:spPr>
          <a:xfrm rot="0">
            <a:off x="2738980" y="3988403"/>
            <a:ext cx="2095757" cy="209575"/>
          </a:xfrm>
          <a:prstGeom prst="rect">
            <a:avLst/>
          </a:prstGeom>
        </p:spPr>
        <p:txBody>
          <a:bodyPr anchor="t" rtlCol="false" tIns="0" lIns="0" bIns="0" rIns="0">
            <a:spAutoFit/>
          </a:bodyPr>
          <a:lstStyle/>
          <a:p>
            <a:pPr algn="ctr">
              <a:lnSpc>
                <a:spcPts val="1621"/>
              </a:lnSpc>
            </a:pPr>
            <a:r>
              <a:rPr lang="en-US" sz="1350">
                <a:solidFill>
                  <a:srgbClr val="4C1D95"/>
                </a:solidFill>
                <a:latin typeface="ABeeZee"/>
                <a:ea typeface="ABeeZee"/>
                <a:cs typeface="ABeeZee"/>
                <a:sym typeface="ABeeZee"/>
              </a:rPr>
              <a:t>POST /query</a:t>
            </a:r>
          </a:p>
        </p:txBody>
      </p:sp>
      <p:sp>
        <p:nvSpPr>
          <p:cNvPr name="Freeform 15" id="15"/>
          <p:cNvSpPr/>
          <p:nvPr/>
        </p:nvSpPr>
        <p:spPr>
          <a:xfrm flipH="false" flipV="false" rot="0">
            <a:off x="2642778" y="4593717"/>
            <a:ext cx="2288191" cy="531114"/>
          </a:xfrm>
          <a:custGeom>
            <a:avLst/>
            <a:gdLst/>
            <a:ahLst/>
            <a:cxnLst/>
            <a:rect r="r" b="b" t="t" l="l"/>
            <a:pathLst>
              <a:path h="531114" w="2288191">
                <a:moveTo>
                  <a:pt x="0" y="0"/>
                </a:moveTo>
                <a:lnTo>
                  <a:pt x="2288191" y="0"/>
                </a:lnTo>
                <a:lnTo>
                  <a:pt x="2288191" y="531114"/>
                </a:lnTo>
                <a:lnTo>
                  <a:pt x="0" y="5311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6" id="16"/>
          <p:cNvSpPr txBox="true"/>
          <p:nvPr/>
        </p:nvSpPr>
        <p:spPr>
          <a:xfrm rot="0">
            <a:off x="2738980" y="4674737"/>
            <a:ext cx="2095757" cy="209575"/>
          </a:xfrm>
          <a:prstGeom prst="rect">
            <a:avLst/>
          </a:prstGeom>
        </p:spPr>
        <p:txBody>
          <a:bodyPr anchor="t" rtlCol="false" tIns="0" lIns="0" bIns="0" rIns="0">
            <a:spAutoFit/>
          </a:bodyPr>
          <a:lstStyle/>
          <a:p>
            <a:pPr algn="ctr">
              <a:lnSpc>
                <a:spcPts val="1621"/>
              </a:lnSpc>
            </a:pPr>
            <a:r>
              <a:rPr lang="en-US" sz="1350">
                <a:solidFill>
                  <a:srgbClr val="4C1D95"/>
                </a:solidFill>
                <a:latin typeface="ABeeZee"/>
                <a:ea typeface="ABeeZee"/>
                <a:cs typeface="ABeeZee"/>
                <a:sym typeface="ABeeZee"/>
              </a:rPr>
              <a:t>DELETE /doc</a:t>
            </a:r>
          </a:p>
        </p:txBody>
      </p:sp>
      <p:sp>
        <p:nvSpPr>
          <p:cNvPr name="Freeform 17" id="17"/>
          <p:cNvSpPr/>
          <p:nvPr/>
        </p:nvSpPr>
        <p:spPr>
          <a:xfrm flipH="false" flipV="false" rot="0">
            <a:off x="2642778" y="5280050"/>
            <a:ext cx="2288191" cy="531114"/>
          </a:xfrm>
          <a:custGeom>
            <a:avLst/>
            <a:gdLst/>
            <a:ahLst/>
            <a:cxnLst/>
            <a:rect r="r" b="b" t="t" l="l"/>
            <a:pathLst>
              <a:path h="531114" w="2288191">
                <a:moveTo>
                  <a:pt x="0" y="0"/>
                </a:moveTo>
                <a:lnTo>
                  <a:pt x="2288191" y="0"/>
                </a:lnTo>
                <a:lnTo>
                  <a:pt x="2288191" y="531114"/>
                </a:lnTo>
                <a:lnTo>
                  <a:pt x="0" y="5311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8" id="18"/>
          <p:cNvSpPr txBox="true"/>
          <p:nvPr/>
        </p:nvSpPr>
        <p:spPr>
          <a:xfrm rot="0">
            <a:off x="2738980" y="5361070"/>
            <a:ext cx="2095757" cy="209575"/>
          </a:xfrm>
          <a:prstGeom prst="rect">
            <a:avLst/>
          </a:prstGeom>
        </p:spPr>
        <p:txBody>
          <a:bodyPr anchor="t" rtlCol="false" tIns="0" lIns="0" bIns="0" rIns="0">
            <a:spAutoFit/>
          </a:bodyPr>
          <a:lstStyle/>
          <a:p>
            <a:pPr algn="ctr">
              <a:lnSpc>
                <a:spcPts val="1621"/>
              </a:lnSpc>
            </a:pPr>
            <a:r>
              <a:rPr lang="en-US" sz="1350">
                <a:solidFill>
                  <a:srgbClr val="4C1D95"/>
                </a:solidFill>
                <a:latin typeface="ABeeZee"/>
                <a:ea typeface="ABeeZee"/>
                <a:cs typeface="ABeeZee"/>
                <a:sym typeface="ABeeZee"/>
              </a:rPr>
              <a:t>GET /doc/info</a:t>
            </a:r>
          </a:p>
        </p:txBody>
      </p:sp>
      <p:sp>
        <p:nvSpPr>
          <p:cNvPr name="Freeform 19" id="19"/>
          <p:cNvSpPr/>
          <p:nvPr/>
        </p:nvSpPr>
        <p:spPr>
          <a:xfrm flipH="false" flipV="false" rot="0">
            <a:off x="2642778" y="5966384"/>
            <a:ext cx="2288191" cy="531114"/>
          </a:xfrm>
          <a:custGeom>
            <a:avLst/>
            <a:gdLst/>
            <a:ahLst/>
            <a:cxnLst/>
            <a:rect r="r" b="b" t="t" l="l"/>
            <a:pathLst>
              <a:path h="531114" w="2288191">
                <a:moveTo>
                  <a:pt x="0" y="0"/>
                </a:moveTo>
                <a:lnTo>
                  <a:pt x="2288191" y="0"/>
                </a:lnTo>
                <a:lnTo>
                  <a:pt x="2288191" y="531114"/>
                </a:lnTo>
                <a:lnTo>
                  <a:pt x="0" y="5311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0" id="20"/>
          <p:cNvSpPr txBox="true"/>
          <p:nvPr/>
        </p:nvSpPr>
        <p:spPr>
          <a:xfrm rot="0">
            <a:off x="2738980" y="6047403"/>
            <a:ext cx="2095757" cy="209575"/>
          </a:xfrm>
          <a:prstGeom prst="rect">
            <a:avLst/>
          </a:prstGeom>
        </p:spPr>
        <p:txBody>
          <a:bodyPr anchor="t" rtlCol="false" tIns="0" lIns="0" bIns="0" rIns="0">
            <a:spAutoFit/>
          </a:bodyPr>
          <a:lstStyle/>
          <a:p>
            <a:pPr algn="ctr">
              <a:lnSpc>
                <a:spcPts val="1621"/>
              </a:lnSpc>
            </a:pPr>
            <a:r>
              <a:rPr lang="en-US" sz="1350">
                <a:solidFill>
                  <a:srgbClr val="4C1D95"/>
                </a:solidFill>
                <a:latin typeface="ABeeZee"/>
                <a:ea typeface="ABeeZee"/>
                <a:cs typeface="ABeeZee"/>
                <a:sym typeface="ABeeZee"/>
              </a:rPr>
              <a:t>GET /health</a:t>
            </a:r>
          </a:p>
        </p:txBody>
      </p:sp>
      <p:sp>
        <p:nvSpPr>
          <p:cNvPr name="Freeform 21" id="21"/>
          <p:cNvSpPr/>
          <p:nvPr/>
        </p:nvSpPr>
        <p:spPr>
          <a:xfrm flipH="false" flipV="false" rot="0">
            <a:off x="6169876" y="2051856"/>
            <a:ext cx="11682032" cy="3034189"/>
          </a:xfrm>
          <a:custGeom>
            <a:avLst/>
            <a:gdLst/>
            <a:ahLst/>
            <a:cxnLst/>
            <a:rect r="r" b="b" t="t" l="l"/>
            <a:pathLst>
              <a:path h="3034189" w="11682032">
                <a:moveTo>
                  <a:pt x="0" y="0"/>
                </a:moveTo>
                <a:lnTo>
                  <a:pt x="11682031" y="0"/>
                </a:lnTo>
                <a:lnTo>
                  <a:pt x="11682031" y="3034189"/>
                </a:lnTo>
                <a:lnTo>
                  <a:pt x="0" y="303418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22" id="22"/>
          <p:cNvSpPr txBox="true"/>
          <p:nvPr/>
        </p:nvSpPr>
        <p:spPr>
          <a:xfrm rot="0">
            <a:off x="6268469" y="2176443"/>
            <a:ext cx="11484835" cy="209575"/>
          </a:xfrm>
          <a:prstGeom prst="rect">
            <a:avLst/>
          </a:prstGeom>
        </p:spPr>
        <p:txBody>
          <a:bodyPr anchor="t" rtlCol="false" tIns="0" lIns="0" bIns="0" rIns="0">
            <a:spAutoFit/>
          </a:bodyPr>
          <a:lstStyle/>
          <a:p>
            <a:pPr algn="ctr">
              <a:lnSpc>
                <a:spcPts val="1621"/>
              </a:lnSpc>
            </a:pPr>
            <a:r>
              <a:rPr lang="en-US" sz="1350">
                <a:solidFill>
                  <a:srgbClr val="059669"/>
                </a:solidFill>
                <a:latin typeface="ABeeZee Bold"/>
                <a:ea typeface="ABeeZee Bold"/>
                <a:cs typeface="ABeeZee Bold"/>
                <a:sym typeface="ABeeZee Bold"/>
              </a:rPr>
              <a:t>INGEST PIPELINE</a:t>
            </a:r>
          </a:p>
        </p:txBody>
      </p:sp>
      <p:sp>
        <p:nvSpPr>
          <p:cNvPr name="Freeform 23" id="23"/>
          <p:cNvSpPr/>
          <p:nvPr/>
        </p:nvSpPr>
        <p:spPr>
          <a:xfrm flipH="false" flipV="false" rot="0">
            <a:off x="6375778" y="2600925"/>
            <a:ext cx="2553748" cy="2279237"/>
          </a:xfrm>
          <a:custGeom>
            <a:avLst/>
            <a:gdLst/>
            <a:ahLst/>
            <a:cxnLst/>
            <a:rect r="r" b="b" t="t" l="l"/>
            <a:pathLst>
              <a:path h="2279237" w="2553748">
                <a:moveTo>
                  <a:pt x="0" y="0"/>
                </a:moveTo>
                <a:lnTo>
                  <a:pt x="2553748" y="0"/>
                </a:lnTo>
                <a:lnTo>
                  <a:pt x="2553748" y="2279237"/>
                </a:lnTo>
                <a:lnTo>
                  <a:pt x="0" y="2279237"/>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4" id="24"/>
          <p:cNvSpPr txBox="true"/>
          <p:nvPr/>
        </p:nvSpPr>
        <p:spPr>
          <a:xfrm rot="0">
            <a:off x="6474371" y="2656875"/>
            <a:ext cx="2356561" cy="361848"/>
          </a:xfrm>
          <a:prstGeom prst="rect">
            <a:avLst/>
          </a:prstGeom>
        </p:spPr>
        <p:txBody>
          <a:bodyPr anchor="t" rtlCol="false" tIns="0" lIns="0" bIns="0" rIns="0">
            <a:spAutoFit/>
          </a:bodyPr>
          <a:lstStyle/>
          <a:p>
            <a:pPr algn="ctr">
              <a:lnSpc>
                <a:spcPts val="2882"/>
              </a:lnSpc>
            </a:pPr>
            <a:r>
              <a:rPr lang="en-US" sz="2401">
                <a:solidFill>
                  <a:srgbClr val="4C1D95"/>
                </a:solidFill>
                <a:latin typeface="ABeeZee"/>
                <a:ea typeface="ABeeZee"/>
                <a:cs typeface="ABeeZee"/>
                <a:sym typeface="ABeeZee"/>
              </a:rPr>
              <a:t>📄</a:t>
            </a:r>
          </a:p>
        </p:txBody>
      </p:sp>
      <p:sp>
        <p:nvSpPr>
          <p:cNvPr name="TextBox 25" id="25"/>
          <p:cNvSpPr txBox="true"/>
          <p:nvPr/>
        </p:nvSpPr>
        <p:spPr>
          <a:xfrm rot="0">
            <a:off x="6474371" y="3145717"/>
            <a:ext cx="2356561" cy="247675"/>
          </a:xfrm>
          <a:prstGeom prst="rect">
            <a:avLst/>
          </a:prstGeom>
        </p:spPr>
        <p:txBody>
          <a:bodyPr anchor="t" rtlCol="false" tIns="0" lIns="0" bIns="0" rIns="0">
            <a:spAutoFit/>
          </a:bodyPr>
          <a:lstStyle/>
          <a:p>
            <a:pPr algn="ctr">
              <a:lnSpc>
                <a:spcPts val="1800"/>
              </a:lnSpc>
            </a:pPr>
            <a:r>
              <a:rPr lang="en-US" sz="1500">
                <a:solidFill>
                  <a:srgbClr val="4C1D95"/>
                </a:solidFill>
                <a:latin typeface="ABeeZee Bold"/>
                <a:ea typeface="ABeeZee Bold"/>
                <a:cs typeface="ABeeZee Bold"/>
                <a:sym typeface="ABeeZee Bold"/>
              </a:rPr>
              <a:t>PyMuPDF</a:t>
            </a:r>
          </a:p>
        </p:txBody>
      </p:sp>
      <p:sp>
        <p:nvSpPr>
          <p:cNvPr name="TextBox 26" id="26"/>
          <p:cNvSpPr txBox="true"/>
          <p:nvPr/>
        </p:nvSpPr>
        <p:spPr>
          <a:xfrm rot="0">
            <a:off x="6474371" y="3595621"/>
            <a:ext cx="2356561" cy="361823"/>
          </a:xfrm>
          <a:prstGeom prst="rect">
            <a:avLst/>
          </a:prstGeom>
        </p:spPr>
        <p:txBody>
          <a:bodyPr anchor="t" rtlCol="false" tIns="0" lIns="0" bIns="0" rIns="0">
            <a:spAutoFit/>
          </a:bodyPr>
          <a:lstStyle/>
          <a:p>
            <a:pPr algn="ctr">
              <a:lnSpc>
                <a:spcPts val="1440"/>
              </a:lnSpc>
            </a:pPr>
            <a:r>
              <a:rPr lang="en-US" sz="1200">
                <a:solidFill>
                  <a:srgbClr val="7C3AED"/>
                </a:solidFill>
                <a:latin typeface="ABeeZee"/>
                <a:ea typeface="ABeeZee"/>
                <a:cs typeface="ABeeZee"/>
                <a:sym typeface="ABeeZee"/>
              </a:rPr>
              <a:t>extract text</a:t>
            </a:r>
          </a:p>
          <a:p>
            <a:pPr algn="ctr">
              <a:lnSpc>
                <a:spcPts val="1440"/>
              </a:lnSpc>
            </a:pPr>
            <a:r>
              <a:rPr lang="en-US" sz="1200">
                <a:solidFill>
                  <a:srgbClr val="7C3AED"/>
                </a:solidFill>
                <a:latin typeface="ABeeZee"/>
                <a:ea typeface="ABeeZee"/>
                <a:cs typeface="ABeeZee"/>
                <a:sym typeface="ABeeZee"/>
              </a:rPr>
              <a:t>no token limit</a:t>
            </a:r>
          </a:p>
        </p:txBody>
      </p:sp>
      <p:sp>
        <p:nvSpPr>
          <p:cNvPr name="Freeform 27" id="27"/>
          <p:cNvSpPr/>
          <p:nvPr/>
        </p:nvSpPr>
        <p:spPr>
          <a:xfrm flipH="false" flipV="false" rot="0">
            <a:off x="9052484" y="2600925"/>
            <a:ext cx="2553748" cy="2279237"/>
          </a:xfrm>
          <a:custGeom>
            <a:avLst/>
            <a:gdLst/>
            <a:ahLst/>
            <a:cxnLst/>
            <a:rect r="r" b="b" t="t" l="l"/>
            <a:pathLst>
              <a:path h="2279237" w="2553748">
                <a:moveTo>
                  <a:pt x="0" y="0"/>
                </a:moveTo>
                <a:lnTo>
                  <a:pt x="2553748" y="0"/>
                </a:lnTo>
                <a:lnTo>
                  <a:pt x="2553748" y="2279237"/>
                </a:lnTo>
                <a:lnTo>
                  <a:pt x="0" y="2279237"/>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28" id="28"/>
          <p:cNvSpPr txBox="true"/>
          <p:nvPr/>
        </p:nvSpPr>
        <p:spPr>
          <a:xfrm rot="0">
            <a:off x="9151077" y="2656875"/>
            <a:ext cx="2356561" cy="361848"/>
          </a:xfrm>
          <a:prstGeom prst="rect">
            <a:avLst/>
          </a:prstGeom>
        </p:spPr>
        <p:txBody>
          <a:bodyPr anchor="t" rtlCol="false" tIns="0" lIns="0" bIns="0" rIns="0">
            <a:spAutoFit/>
          </a:bodyPr>
          <a:lstStyle/>
          <a:p>
            <a:pPr algn="ctr">
              <a:lnSpc>
                <a:spcPts val="2882"/>
              </a:lnSpc>
            </a:pPr>
            <a:r>
              <a:rPr lang="en-US" sz="2401">
                <a:solidFill>
                  <a:srgbClr val="4C1D95"/>
                </a:solidFill>
                <a:latin typeface="ABeeZee"/>
                <a:ea typeface="ABeeZee"/>
                <a:cs typeface="ABeeZee"/>
                <a:sym typeface="ABeeZee"/>
              </a:rPr>
              <a:t>✂️</a:t>
            </a:r>
          </a:p>
        </p:txBody>
      </p:sp>
      <p:sp>
        <p:nvSpPr>
          <p:cNvPr name="TextBox 29" id="29"/>
          <p:cNvSpPr txBox="true"/>
          <p:nvPr/>
        </p:nvSpPr>
        <p:spPr>
          <a:xfrm rot="0">
            <a:off x="9151077" y="3145717"/>
            <a:ext cx="2356561" cy="247675"/>
          </a:xfrm>
          <a:prstGeom prst="rect">
            <a:avLst/>
          </a:prstGeom>
        </p:spPr>
        <p:txBody>
          <a:bodyPr anchor="t" rtlCol="false" tIns="0" lIns="0" bIns="0" rIns="0">
            <a:spAutoFit/>
          </a:bodyPr>
          <a:lstStyle/>
          <a:p>
            <a:pPr algn="ctr">
              <a:lnSpc>
                <a:spcPts val="1800"/>
              </a:lnSpc>
            </a:pPr>
            <a:r>
              <a:rPr lang="en-US" sz="1500">
                <a:solidFill>
                  <a:srgbClr val="4C1D95"/>
                </a:solidFill>
                <a:latin typeface="ABeeZee Bold"/>
                <a:ea typeface="ABeeZee Bold"/>
                <a:cs typeface="ABeeZee Bold"/>
                <a:sym typeface="ABeeZee Bold"/>
              </a:rPr>
              <a:t>tiktoken</a:t>
            </a:r>
          </a:p>
        </p:txBody>
      </p:sp>
      <p:sp>
        <p:nvSpPr>
          <p:cNvPr name="TextBox 30" id="30"/>
          <p:cNvSpPr txBox="true"/>
          <p:nvPr/>
        </p:nvSpPr>
        <p:spPr>
          <a:xfrm rot="0">
            <a:off x="9151077" y="3595621"/>
            <a:ext cx="2356561" cy="542798"/>
          </a:xfrm>
          <a:prstGeom prst="rect">
            <a:avLst/>
          </a:prstGeom>
        </p:spPr>
        <p:txBody>
          <a:bodyPr anchor="t" rtlCol="false" tIns="0" lIns="0" bIns="0" rIns="0">
            <a:spAutoFit/>
          </a:bodyPr>
          <a:lstStyle/>
          <a:p>
            <a:pPr algn="ctr">
              <a:lnSpc>
                <a:spcPts val="1440"/>
              </a:lnSpc>
            </a:pPr>
            <a:r>
              <a:rPr lang="en-US" sz="1200">
                <a:solidFill>
                  <a:srgbClr val="7C3AED"/>
                </a:solidFill>
                <a:latin typeface="ABeeZee"/>
                <a:ea typeface="ABeeZee"/>
                <a:cs typeface="ABeeZee"/>
                <a:sym typeface="ABeeZee"/>
              </a:rPr>
              <a:t>count tokens</a:t>
            </a:r>
          </a:p>
          <a:p>
            <a:pPr algn="ctr">
              <a:lnSpc>
                <a:spcPts val="1440"/>
              </a:lnSpc>
            </a:pPr>
            <a:r>
              <a:rPr lang="en-US" sz="1200">
                <a:solidFill>
                  <a:srgbClr val="7C3AED"/>
                </a:solidFill>
                <a:latin typeface="ABeeZee"/>
                <a:ea typeface="ABeeZee"/>
                <a:cs typeface="ABeeZee"/>
                <a:sym typeface="ABeeZee"/>
              </a:rPr>
              <a:t>compute_params</a:t>
            </a:r>
          </a:p>
          <a:p>
            <a:pPr algn="ctr">
              <a:lnSpc>
                <a:spcPts val="1440"/>
              </a:lnSpc>
            </a:pPr>
            <a:r>
              <a:rPr lang="en-US" sz="1200">
                <a:solidFill>
                  <a:srgbClr val="7C3AED"/>
                </a:solidFill>
                <a:latin typeface="ABeeZee"/>
                <a:ea typeface="ABeeZee"/>
                <a:cs typeface="ABeeZee"/>
                <a:sym typeface="ABeeZee"/>
              </a:rPr>
              <a:t>chunk+overlap</a:t>
            </a:r>
          </a:p>
        </p:txBody>
      </p:sp>
      <p:sp>
        <p:nvSpPr>
          <p:cNvPr name="Freeform 31" id="31"/>
          <p:cNvSpPr/>
          <p:nvPr/>
        </p:nvSpPr>
        <p:spPr>
          <a:xfrm flipH="false" flipV="false" rot="0">
            <a:off x="11729199" y="2600925"/>
            <a:ext cx="2553748" cy="2279237"/>
          </a:xfrm>
          <a:custGeom>
            <a:avLst/>
            <a:gdLst/>
            <a:ahLst/>
            <a:cxnLst/>
            <a:rect r="r" b="b" t="t" l="l"/>
            <a:pathLst>
              <a:path h="2279237" w="2553748">
                <a:moveTo>
                  <a:pt x="0" y="0"/>
                </a:moveTo>
                <a:lnTo>
                  <a:pt x="2553748" y="0"/>
                </a:lnTo>
                <a:lnTo>
                  <a:pt x="2553748" y="2279237"/>
                </a:lnTo>
                <a:lnTo>
                  <a:pt x="0" y="2279237"/>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32" id="32"/>
          <p:cNvSpPr txBox="true"/>
          <p:nvPr/>
        </p:nvSpPr>
        <p:spPr>
          <a:xfrm rot="0">
            <a:off x="11827793" y="2656875"/>
            <a:ext cx="2356561" cy="361848"/>
          </a:xfrm>
          <a:prstGeom prst="rect">
            <a:avLst/>
          </a:prstGeom>
        </p:spPr>
        <p:txBody>
          <a:bodyPr anchor="t" rtlCol="false" tIns="0" lIns="0" bIns="0" rIns="0">
            <a:spAutoFit/>
          </a:bodyPr>
          <a:lstStyle/>
          <a:p>
            <a:pPr algn="ctr">
              <a:lnSpc>
                <a:spcPts val="2882"/>
              </a:lnSpc>
            </a:pPr>
            <a:r>
              <a:rPr lang="en-US" sz="2401">
                <a:solidFill>
                  <a:srgbClr val="4C1D95"/>
                </a:solidFill>
                <a:latin typeface="ABeeZee"/>
                <a:ea typeface="ABeeZee"/>
                <a:cs typeface="ABeeZee"/>
                <a:sym typeface="ABeeZee"/>
              </a:rPr>
              <a:t>🧠</a:t>
            </a:r>
          </a:p>
        </p:txBody>
      </p:sp>
      <p:sp>
        <p:nvSpPr>
          <p:cNvPr name="TextBox 33" id="33"/>
          <p:cNvSpPr txBox="true"/>
          <p:nvPr/>
        </p:nvSpPr>
        <p:spPr>
          <a:xfrm rot="0">
            <a:off x="11827793" y="3145717"/>
            <a:ext cx="2356561" cy="247675"/>
          </a:xfrm>
          <a:prstGeom prst="rect">
            <a:avLst/>
          </a:prstGeom>
        </p:spPr>
        <p:txBody>
          <a:bodyPr anchor="t" rtlCol="false" tIns="0" lIns="0" bIns="0" rIns="0">
            <a:spAutoFit/>
          </a:bodyPr>
          <a:lstStyle/>
          <a:p>
            <a:pPr algn="ctr">
              <a:lnSpc>
                <a:spcPts val="1800"/>
              </a:lnSpc>
            </a:pPr>
            <a:r>
              <a:rPr lang="en-US" sz="1500">
                <a:solidFill>
                  <a:srgbClr val="4C1D95"/>
                </a:solidFill>
                <a:latin typeface="ABeeZee Bold"/>
                <a:ea typeface="ABeeZee Bold"/>
                <a:cs typeface="ABeeZee Bold"/>
                <a:sym typeface="ABeeZee Bold"/>
              </a:rPr>
              <a:t>Gemini</a:t>
            </a:r>
          </a:p>
        </p:txBody>
      </p:sp>
      <p:sp>
        <p:nvSpPr>
          <p:cNvPr name="TextBox 34" id="34"/>
          <p:cNvSpPr txBox="true"/>
          <p:nvPr/>
        </p:nvSpPr>
        <p:spPr>
          <a:xfrm rot="0">
            <a:off x="11827793" y="3595621"/>
            <a:ext cx="2356561" cy="542798"/>
          </a:xfrm>
          <a:prstGeom prst="rect">
            <a:avLst/>
          </a:prstGeom>
        </p:spPr>
        <p:txBody>
          <a:bodyPr anchor="t" rtlCol="false" tIns="0" lIns="0" bIns="0" rIns="0">
            <a:spAutoFit/>
          </a:bodyPr>
          <a:lstStyle/>
          <a:p>
            <a:pPr algn="ctr">
              <a:lnSpc>
                <a:spcPts val="1440"/>
              </a:lnSpc>
            </a:pPr>
            <a:r>
              <a:rPr lang="en-US" sz="1200">
                <a:solidFill>
                  <a:srgbClr val="7C3AED"/>
                </a:solidFill>
                <a:latin typeface="ABeeZee"/>
                <a:ea typeface="ABeeZee"/>
                <a:cs typeface="ABeeZee"/>
                <a:sym typeface="ABeeZee"/>
              </a:rPr>
              <a:t>embedding-2</a:t>
            </a:r>
          </a:p>
          <a:p>
            <a:pPr algn="ctr">
              <a:lnSpc>
                <a:spcPts val="1440"/>
              </a:lnSpc>
            </a:pPr>
            <a:r>
              <a:rPr lang="en-US" sz="1200">
                <a:solidFill>
                  <a:srgbClr val="7C3AED"/>
                </a:solidFill>
                <a:latin typeface="ABeeZee"/>
                <a:ea typeface="ABeeZee"/>
                <a:cs typeface="ABeeZee"/>
                <a:sym typeface="ABeeZee"/>
              </a:rPr>
              <a:t>768-dim</a:t>
            </a:r>
          </a:p>
          <a:p>
            <a:pPr algn="ctr">
              <a:lnSpc>
                <a:spcPts val="1440"/>
              </a:lnSpc>
            </a:pPr>
            <a:r>
              <a:rPr lang="en-US" sz="1200">
                <a:solidFill>
                  <a:srgbClr val="7C3AED"/>
                </a:solidFill>
                <a:latin typeface="ABeeZee"/>
                <a:ea typeface="ABeeZee"/>
                <a:cs typeface="ABeeZee"/>
                <a:sym typeface="ABeeZee"/>
              </a:rPr>
              <a:t>concurrent+retry</a:t>
            </a:r>
          </a:p>
        </p:txBody>
      </p:sp>
      <p:sp>
        <p:nvSpPr>
          <p:cNvPr name="Freeform 35" id="35"/>
          <p:cNvSpPr/>
          <p:nvPr/>
        </p:nvSpPr>
        <p:spPr>
          <a:xfrm flipH="false" flipV="false" rot="0">
            <a:off x="14405915" y="2600925"/>
            <a:ext cx="2553748" cy="2279237"/>
          </a:xfrm>
          <a:custGeom>
            <a:avLst/>
            <a:gdLst/>
            <a:ahLst/>
            <a:cxnLst/>
            <a:rect r="r" b="b" t="t" l="l"/>
            <a:pathLst>
              <a:path h="2279237" w="2553748">
                <a:moveTo>
                  <a:pt x="0" y="0"/>
                </a:moveTo>
                <a:lnTo>
                  <a:pt x="2553748" y="0"/>
                </a:lnTo>
                <a:lnTo>
                  <a:pt x="2553748" y="2279237"/>
                </a:lnTo>
                <a:lnTo>
                  <a:pt x="0" y="2279237"/>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TextBox 36" id="36"/>
          <p:cNvSpPr txBox="true"/>
          <p:nvPr/>
        </p:nvSpPr>
        <p:spPr>
          <a:xfrm rot="0">
            <a:off x="14504499" y="2656875"/>
            <a:ext cx="2356561" cy="361848"/>
          </a:xfrm>
          <a:prstGeom prst="rect">
            <a:avLst/>
          </a:prstGeom>
        </p:spPr>
        <p:txBody>
          <a:bodyPr anchor="t" rtlCol="false" tIns="0" lIns="0" bIns="0" rIns="0">
            <a:spAutoFit/>
          </a:bodyPr>
          <a:lstStyle/>
          <a:p>
            <a:pPr algn="ctr">
              <a:lnSpc>
                <a:spcPts val="2882"/>
              </a:lnSpc>
            </a:pPr>
            <a:r>
              <a:rPr lang="en-US" sz="2401">
                <a:solidFill>
                  <a:srgbClr val="4C1D95"/>
                </a:solidFill>
                <a:latin typeface="ABeeZee"/>
                <a:ea typeface="ABeeZee"/>
                <a:cs typeface="ABeeZee"/>
                <a:sym typeface="ABeeZee"/>
              </a:rPr>
              <a:t>🗄️</a:t>
            </a:r>
          </a:p>
        </p:txBody>
      </p:sp>
      <p:sp>
        <p:nvSpPr>
          <p:cNvPr name="TextBox 37" id="37"/>
          <p:cNvSpPr txBox="true"/>
          <p:nvPr/>
        </p:nvSpPr>
        <p:spPr>
          <a:xfrm rot="0">
            <a:off x="14504499" y="3145717"/>
            <a:ext cx="2356561" cy="247675"/>
          </a:xfrm>
          <a:prstGeom prst="rect">
            <a:avLst/>
          </a:prstGeom>
        </p:spPr>
        <p:txBody>
          <a:bodyPr anchor="t" rtlCol="false" tIns="0" lIns="0" bIns="0" rIns="0">
            <a:spAutoFit/>
          </a:bodyPr>
          <a:lstStyle/>
          <a:p>
            <a:pPr algn="ctr">
              <a:lnSpc>
                <a:spcPts val="1800"/>
              </a:lnSpc>
            </a:pPr>
            <a:r>
              <a:rPr lang="en-US" sz="1500">
                <a:solidFill>
                  <a:srgbClr val="4C1D95"/>
                </a:solidFill>
                <a:latin typeface="ABeeZee Bold"/>
                <a:ea typeface="ABeeZee Bold"/>
                <a:cs typeface="ABeeZee Bold"/>
                <a:sym typeface="ABeeZee Bold"/>
              </a:rPr>
              <a:t>Postgres</a:t>
            </a:r>
          </a:p>
        </p:txBody>
      </p:sp>
      <p:sp>
        <p:nvSpPr>
          <p:cNvPr name="TextBox 38" id="38"/>
          <p:cNvSpPr txBox="true"/>
          <p:nvPr/>
        </p:nvSpPr>
        <p:spPr>
          <a:xfrm rot="0">
            <a:off x="14504499" y="3595621"/>
            <a:ext cx="2356561" cy="542798"/>
          </a:xfrm>
          <a:prstGeom prst="rect">
            <a:avLst/>
          </a:prstGeom>
        </p:spPr>
        <p:txBody>
          <a:bodyPr anchor="t" rtlCol="false" tIns="0" lIns="0" bIns="0" rIns="0">
            <a:spAutoFit/>
          </a:bodyPr>
          <a:lstStyle/>
          <a:p>
            <a:pPr algn="ctr">
              <a:lnSpc>
                <a:spcPts val="1440"/>
              </a:lnSpc>
            </a:pPr>
            <a:r>
              <a:rPr lang="en-US" sz="1200">
                <a:solidFill>
                  <a:srgbClr val="7C3AED"/>
                </a:solidFill>
                <a:latin typeface="ABeeZee"/>
                <a:ea typeface="ABeeZee"/>
                <a:cs typeface="ABeeZee"/>
                <a:sym typeface="ABeeZee"/>
              </a:rPr>
              <a:t>chunks+parent_text</a:t>
            </a:r>
          </a:p>
          <a:p>
            <a:pPr algn="ctr">
              <a:lnSpc>
                <a:spcPts val="1440"/>
              </a:lnSpc>
            </a:pPr>
            <a:r>
              <a:rPr lang="en-US" sz="1200">
                <a:solidFill>
                  <a:srgbClr val="7C3AED"/>
                </a:solidFill>
                <a:latin typeface="ABeeZee"/>
                <a:ea typeface="ABeeZee"/>
                <a:cs typeface="ABeeZee"/>
                <a:sym typeface="ABeeZee"/>
              </a:rPr>
              <a:t>doc_meta</a:t>
            </a:r>
          </a:p>
          <a:p>
            <a:pPr algn="ctr">
              <a:lnSpc>
                <a:spcPts val="1440"/>
              </a:lnSpc>
            </a:pPr>
            <a:r>
              <a:rPr lang="en-US" sz="1200">
                <a:solidFill>
                  <a:srgbClr val="7C3AED"/>
                </a:solidFill>
                <a:latin typeface="ABeeZee"/>
                <a:ea typeface="ABeeZee"/>
                <a:cs typeface="ABeeZee"/>
                <a:sym typeface="ABeeZee"/>
              </a:rPr>
              <a:t>pgvector HNSW</a:t>
            </a:r>
          </a:p>
        </p:txBody>
      </p:sp>
      <p:sp>
        <p:nvSpPr>
          <p:cNvPr name="Freeform 39" id="39"/>
          <p:cNvSpPr/>
          <p:nvPr/>
        </p:nvSpPr>
        <p:spPr>
          <a:xfrm flipH="false" flipV="false" rot="0">
            <a:off x="6169876" y="5346278"/>
            <a:ext cx="11682032" cy="3034189"/>
          </a:xfrm>
          <a:custGeom>
            <a:avLst/>
            <a:gdLst/>
            <a:ahLst/>
            <a:cxnLst/>
            <a:rect r="r" b="b" t="t" l="l"/>
            <a:pathLst>
              <a:path h="3034189" w="11682032">
                <a:moveTo>
                  <a:pt x="0" y="0"/>
                </a:moveTo>
                <a:lnTo>
                  <a:pt x="11682031" y="0"/>
                </a:lnTo>
                <a:lnTo>
                  <a:pt x="11682031" y="3034188"/>
                </a:lnTo>
                <a:lnTo>
                  <a:pt x="0" y="3034188"/>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40" id="40"/>
          <p:cNvSpPr txBox="true"/>
          <p:nvPr/>
        </p:nvSpPr>
        <p:spPr>
          <a:xfrm rot="0">
            <a:off x="6268469" y="5470855"/>
            <a:ext cx="11484835" cy="209575"/>
          </a:xfrm>
          <a:prstGeom prst="rect">
            <a:avLst/>
          </a:prstGeom>
        </p:spPr>
        <p:txBody>
          <a:bodyPr anchor="t" rtlCol="false" tIns="0" lIns="0" bIns="0" rIns="0">
            <a:spAutoFit/>
          </a:bodyPr>
          <a:lstStyle/>
          <a:p>
            <a:pPr algn="ctr">
              <a:lnSpc>
                <a:spcPts val="1621"/>
              </a:lnSpc>
            </a:pPr>
            <a:r>
              <a:rPr lang="en-US" sz="1350">
                <a:solidFill>
                  <a:srgbClr val="7C3AED"/>
                </a:solidFill>
                <a:latin typeface="ABeeZee Bold"/>
                <a:ea typeface="ABeeZee Bold"/>
                <a:cs typeface="ABeeZee Bold"/>
                <a:sym typeface="ABeeZee Bold"/>
              </a:rPr>
              <a:t>QUERY PIPELINE</a:t>
            </a:r>
          </a:p>
        </p:txBody>
      </p:sp>
      <p:sp>
        <p:nvSpPr>
          <p:cNvPr name="Freeform 41" id="41"/>
          <p:cNvSpPr/>
          <p:nvPr/>
        </p:nvSpPr>
        <p:spPr>
          <a:xfrm flipH="false" flipV="false" rot="0">
            <a:off x="6375778" y="5895346"/>
            <a:ext cx="2553748" cy="2279237"/>
          </a:xfrm>
          <a:custGeom>
            <a:avLst/>
            <a:gdLst/>
            <a:ahLst/>
            <a:cxnLst/>
            <a:rect r="r" b="b" t="t" l="l"/>
            <a:pathLst>
              <a:path h="2279237" w="2553748">
                <a:moveTo>
                  <a:pt x="0" y="0"/>
                </a:moveTo>
                <a:lnTo>
                  <a:pt x="2553748" y="0"/>
                </a:lnTo>
                <a:lnTo>
                  <a:pt x="2553748" y="2279238"/>
                </a:lnTo>
                <a:lnTo>
                  <a:pt x="0" y="2279238"/>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42" id="42"/>
          <p:cNvSpPr txBox="true"/>
          <p:nvPr/>
        </p:nvSpPr>
        <p:spPr>
          <a:xfrm rot="0">
            <a:off x="6474371" y="5951296"/>
            <a:ext cx="2356561" cy="361848"/>
          </a:xfrm>
          <a:prstGeom prst="rect">
            <a:avLst/>
          </a:prstGeom>
        </p:spPr>
        <p:txBody>
          <a:bodyPr anchor="t" rtlCol="false" tIns="0" lIns="0" bIns="0" rIns="0">
            <a:spAutoFit/>
          </a:bodyPr>
          <a:lstStyle/>
          <a:p>
            <a:pPr algn="ctr">
              <a:lnSpc>
                <a:spcPts val="2882"/>
              </a:lnSpc>
            </a:pPr>
            <a:r>
              <a:rPr lang="en-US" sz="2401">
                <a:solidFill>
                  <a:srgbClr val="4C1D95"/>
                </a:solidFill>
                <a:latin typeface="ABeeZee"/>
                <a:ea typeface="ABeeZee"/>
                <a:cs typeface="ABeeZee"/>
                <a:sym typeface="ABeeZee"/>
              </a:rPr>
              <a:t>🧠</a:t>
            </a:r>
          </a:p>
        </p:txBody>
      </p:sp>
      <p:sp>
        <p:nvSpPr>
          <p:cNvPr name="TextBox 43" id="43"/>
          <p:cNvSpPr txBox="true"/>
          <p:nvPr/>
        </p:nvSpPr>
        <p:spPr>
          <a:xfrm rot="0">
            <a:off x="6474371" y="6440129"/>
            <a:ext cx="2356561" cy="247675"/>
          </a:xfrm>
          <a:prstGeom prst="rect">
            <a:avLst/>
          </a:prstGeom>
        </p:spPr>
        <p:txBody>
          <a:bodyPr anchor="t" rtlCol="false" tIns="0" lIns="0" bIns="0" rIns="0">
            <a:spAutoFit/>
          </a:bodyPr>
          <a:lstStyle/>
          <a:p>
            <a:pPr algn="ctr">
              <a:lnSpc>
                <a:spcPts val="1800"/>
              </a:lnSpc>
            </a:pPr>
            <a:r>
              <a:rPr lang="en-US" sz="1500">
                <a:solidFill>
                  <a:srgbClr val="4C1D95"/>
                </a:solidFill>
                <a:latin typeface="ABeeZee Bold"/>
                <a:ea typeface="ABeeZee Bold"/>
                <a:cs typeface="ABeeZee Bold"/>
                <a:sym typeface="ABeeZee Bold"/>
              </a:rPr>
              <a:t>Embed query</a:t>
            </a:r>
          </a:p>
        </p:txBody>
      </p:sp>
      <p:sp>
        <p:nvSpPr>
          <p:cNvPr name="TextBox 44" id="44"/>
          <p:cNvSpPr txBox="true"/>
          <p:nvPr/>
        </p:nvSpPr>
        <p:spPr>
          <a:xfrm rot="0">
            <a:off x="6474371" y="6890033"/>
            <a:ext cx="2356561" cy="361823"/>
          </a:xfrm>
          <a:prstGeom prst="rect">
            <a:avLst/>
          </a:prstGeom>
        </p:spPr>
        <p:txBody>
          <a:bodyPr anchor="t" rtlCol="false" tIns="0" lIns="0" bIns="0" rIns="0">
            <a:spAutoFit/>
          </a:bodyPr>
          <a:lstStyle/>
          <a:p>
            <a:pPr algn="ctr">
              <a:lnSpc>
                <a:spcPts val="1440"/>
              </a:lnSpc>
            </a:pPr>
            <a:r>
              <a:rPr lang="en-US" sz="1200">
                <a:solidFill>
                  <a:srgbClr val="7C3AED"/>
                </a:solidFill>
                <a:latin typeface="ABeeZee"/>
                <a:ea typeface="ABeeZee"/>
                <a:cs typeface="ABeeZee"/>
                <a:sym typeface="ABeeZee"/>
              </a:rPr>
              <a:t>RETRIEVAL_QUERY</a:t>
            </a:r>
          </a:p>
          <a:p>
            <a:pPr algn="ctr">
              <a:lnSpc>
                <a:spcPts val="1440"/>
              </a:lnSpc>
            </a:pPr>
            <a:r>
              <a:rPr lang="en-US" sz="1200">
                <a:solidFill>
                  <a:srgbClr val="7C3AED"/>
                </a:solidFill>
                <a:latin typeface="ABeeZee"/>
                <a:ea typeface="ABeeZee"/>
                <a:cs typeface="ABeeZee"/>
                <a:sym typeface="ABeeZee"/>
              </a:rPr>
              <a:t>768-dim</a:t>
            </a:r>
          </a:p>
        </p:txBody>
      </p:sp>
      <p:sp>
        <p:nvSpPr>
          <p:cNvPr name="Freeform 45" id="45"/>
          <p:cNvSpPr/>
          <p:nvPr/>
        </p:nvSpPr>
        <p:spPr>
          <a:xfrm flipH="false" flipV="false" rot="0">
            <a:off x="9052484" y="5895346"/>
            <a:ext cx="2553748" cy="2279237"/>
          </a:xfrm>
          <a:custGeom>
            <a:avLst/>
            <a:gdLst/>
            <a:ahLst/>
            <a:cxnLst/>
            <a:rect r="r" b="b" t="t" l="l"/>
            <a:pathLst>
              <a:path h="2279237" w="2553748">
                <a:moveTo>
                  <a:pt x="0" y="0"/>
                </a:moveTo>
                <a:lnTo>
                  <a:pt x="2553748" y="0"/>
                </a:lnTo>
                <a:lnTo>
                  <a:pt x="2553748" y="2279238"/>
                </a:lnTo>
                <a:lnTo>
                  <a:pt x="0" y="2279238"/>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TextBox 46" id="46"/>
          <p:cNvSpPr txBox="true"/>
          <p:nvPr/>
        </p:nvSpPr>
        <p:spPr>
          <a:xfrm rot="0">
            <a:off x="9151077" y="5951296"/>
            <a:ext cx="2356561" cy="361848"/>
          </a:xfrm>
          <a:prstGeom prst="rect">
            <a:avLst/>
          </a:prstGeom>
        </p:spPr>
        <p:txBody>
          <a:bodyPr anchor="t" rtlCol="false" tIns="0" lIns="0" bIns="0" rIns="0">
            <a:spAutoFit/>
          </a:bodyPr>
          <a:lstStyle/>
          <a:p>
            <a:pPr algn="ctr">
              <a:lnSpc>
                <a:spcPts val="2882"/>
              </a:lnSpc>
            </a:pPr>
            <a:r>
              <a:rPr lang="en-US" sz="2401">
                <a:solidFill>
                  <a:srgbClr val="4C1D95"/>
                </a:solidFill>
                <a:latin typeface="ABeeZee"/>
                <a:ea typeface="ABeeZee"/>
                <a:cs typeface="ABeeZee"/>
                <a:sym typeface="ABeeZee"/>
              </a:rPr>
              <a:t>🔍</a:t>
            </a:r>
          </a:p>
        </p:txBody>
      </p:sp>
      <p:sp>
        <p:nvSpPr>
          <p:cNvPr name="TextBox 47" id="47"/>
          <p:cNvSpPr txBox="true"/>
          <p:nvPr/>
        </p:nvSpPr>
        <p:spPr>
          <a:xfrm rot="0">
            <a:off x="9151077" y="6440129"/>
            <a:ext cx="2356561" cy="247675"/>
          </a:xfrm>
          <a:prstGeom prst="rect">
            <a:avLst/>
          </a:prstGeom>
        </p:spPr>
        <p:txBody>
          <a:bodyPr anchor="t" rtlCol="false" tIns="0" lIns="0" bIns="0" rIns="0">
            <a:spAutoFit/>
          </a:bodyPr>
          <a:lstStyle/>
          <a:p>
            <a:pPr algn="ctr">
              <a:lnSpc>
                <a:spcPts val="1800"/>
              </a:lnSpc>
            </a:pPr>
            <a:r>
              <a:rPr lang="en-US" sz="1500">
                <a:solidFill>
                  <a:srgbClr val="4C1D95"/>
                </a:solidFill>
                <a:latin typeface="ABeeZee Bold"/>
                <a:ea typeface="ABeeZee Bold"/>
                <a:cs typeface="ABeeZee Bold"/>
                <a:sym typeface="ABeeZee Bold"/>
              </a:rPr>
              <a:t>Hybrid search</a:t>
            </a:r>
          </a:p>
        </p:txBody>
      </p:sp>
      <p:sp>
        <p:nvSpPr>
          <p:cNvPr name="TextBox 48" id="48"/>
          <p:cNvSpPr txBox="true"/>
          <p:nvPr/>
        </p:nvSpPr>
        <p:spPr>
          <a:xfrm rot="0">
            <a:off x="9151077" y="6890033"/>
            <a:ext cx="2356561" cy="361823"/>
          </a:xfrm>
          <a:prstGeom prst="rect">
            <a:avLst/>
          </a:prstGeom>
        </p:spPr>
        <p:txBody>
          <a:bodyPr anchor="t" rtlCol="false" tIns="0" lIns="0" bIns="0" rIns="0">
            <a:spAutoFit/>
          </a:bodyPr>
          <a:lstStyle/>
          <a:p>
            <a:pPr algn="ctr">
              <a:lnSpc>
                <a:spcPts val="1440"/>
              </a:lnSpc>
            </a:pPr>
            <a:r>
              <a:rPr lang="en-US" sz="1200">
                <a:solidFill>
                  <a:srgbClr val="7C3AED"/>
                </a:solidFill>
                <a:latin typeface="ABeeZee"/>
                <a:ea typeface="ABeeZee"/>
                <a:cs typeface="ABeeZee"/>
                <a:sym typeface="ABeeZee"/>
              </a:rPr>
              <a:t>BM25 + pgvector</a:t>
            </a:r>
          </a:p>
          <a:p>
            <a:pPr algn="ctr">
              <a:lnSpc>
                <a:spcPts val="1440"/>
              </a:lnSpc>
            </a:pPr>
            <a:r>
              <a:rPr lang="en-US" sz="1200">
                <a:solidFill>
                  <a:srgbClr val="7C3AED"/>
                </a:solidFill>
                <a:latin typeface="ABeeZee"/>
                <a:ea typeface="ABeeZee"/>
                <a:cs typeface="ABeeZee"/>
                <a:sym typeface="ABeeZee"/>
              </a:rPr>
              <a:t>RRF fusion</a:t>
            </a:r>
          </a:p>
        </p:txBody>
      </p:sp>
      <p:sp>
        <p:nvSpPr>
          <p:cNvPr name="Freeform 49" id="49"/>
          <p:cNvSpPr/>
          <p:nvPr/>
        </p:nvSpPr>
        <p:spPr>
          <a:xfrm flipH="false" flipV="false" rot="0">
            <a:off x="11729199" y="5895346"/>
            <a:ext cx="2553748" cy="2279237"/>
          </a:xfrm>
          <a:custGeom>
            <a:avLst/>
            <a:gdLst/>
            <a:ahLst/>
            <a:cxnLst/>
            <a:rect r="r" b="b" t="t" l="l"/>
            <a:pathLst>
              <a:path h="2279237" w="2553748">
                <a:moveTo>
                  <a:pt x="0" y="0"/>
                </a:moveTo>
                <a:lnTo>
                  <a:pt x="2553748" y="0"/>
                </a:lnTo>
                <a:lnTo>
                  <a:pt x="2553748" y="2279238"/>
                </a:lnTo>
                <a:lnTo>
                  <a:pt x="0" y="2279238"/>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TextBox 50" id="50"/>
          <p:cNvSpPr txBox="true"/>
          <p:nvPr/>
        </p:nvSpPr>
        <p:spPr>
          <a:xfrm rot="0">
            <a:off x="11827793" y="5951296"/>
            <a:ext cx="2356561" cy="361848"/>
          </a:xfrm>
          <a:prstGeom prst="rect">
            <a:avLst/>
          </a:prstGeom>
        </p:spPr>
        <p:txBody>
          <a:bodyPr anchor="t" rtlCol="false" tIns="0" lIns="0" bIns="0" rIns="0">
            <a:spAutoFit/>
          </a:bodyPr>
          <a:lstStyle/>
          <a:p>
            <a:pPr algn="ctr">
              <a:lnSpc>
                <a:spcPts val="2882"/>
              </a:lnSpc>
            </a:pPr>
            <a:r>
              <a:rPr lang="en-US" sz="2401">
                <a:solidFill>
                  <a:srgbClr val="4C1D95"/>
                </a:solidFill>
                <a:latin typeface="ABeeZee"/>
                <a:ea typeface="ABeeZee"/>
                <a:cs typeface="ABeeZee"/>
                <a:sym typeface="ABeeZee"/>
              </a:rPr>
              <a:t>💬</a:t>
            </a:r>
          </a:p>
        </p:txBody>
      </p:sp>
      <p:sp>
        <p:nvSpPr>
          <p:cNvPr name="TextBox 51" id="51"/>
          <p:cNvSpPr txBox="true"/>
          <p:nvPr/>
        </p:nvSpPr>
        <p:spPr>
          <a:xfrm rot="0">
            <a:off x="11827793" y="6440129"/>
            <a:ext cx="2356561" cy="247675"/>
          </a:xfrm>
          <a:prstGeom prst="rect">
            <a:avLst/>
          </a:prstGeom>
        </p:spPr>
        <p:txBody>
          <a:bodyPr anchor="t" rtlCol="false" tIns="0" lIns="0" bIns="0" rIns="0">
            <a:spAutoFit/>
          </a:bodyPr>
          <a:lstStyle/>
          <a:p>
            <a:pPr algn="ctr">
              <a:lnSpc>
                <a:spcPts val="1800"/>
              </a:lnSpc>
            </a:pPr>
            <a:r>
              <a:rPr lang="en-US" sz="1500">
                <a:solidFill>
                  <a:srgbClr val="4C1D95"/>
                </a:solidFill>
                <a:latin typeface="ABeeZee Bold"/>
                <a:ea typeface="ABeeZee Bold"/>
                <a:cs typeface="ABeeZee Bold"/>
                <a:sym typeface="ABeeZee Bold"/>
              </a:rPr>
              <a:t>Generate</a:t>
            </a:r>
          </a:p>
        </p:txBody>
      </p:sp>
      <p:sp>
        <p:nvSpPr>
          <p:cNvPr name="TextBox 52" id="52"/>
          <p:cNvSpPr txBox="true"/>
          <p:nvPr/>
        </p:nvSpPr>
        <p:spPr>
          <a:xfrm rot="0">
            <a:off x="11827793" y="6890033"/>
            <a:ext cx="2356561" cy="361823"/>
          </a:xfrm>
          <a:prstGeom prst="rect">
            <a:avLst/>
          </a:prstGeom>
        </p:spPr>
        <p:txBody>
          <a:bodyPr anchor="t" rtlCol="false" tIns="0" lIns="0" bIns="0" rIns="0">
            <a:spAutoFit/>
          </a:bodyPr>
          <a:lstStyle/>
          <a:p>
            <a:pPr algn="ctr">
              <a:lnSpc>
                <a:spcPts val="1440"/>
              </a:lnSpc>
            </a:pPr>
            <a:r>
              <a:rPr lang="en-US" sz="1200">
                <a:solidFill>
                  <a:srgbClr val="7C3AED"/>
                </a:solidFill>
                <a:latin typeface="ABeeZee"/>
                <a:ea typeface="ABeeZee"/>
                <a:cs typeface="ABeeZee"/>
                <a:sym typeface="ABeeZee"/>
              </a:rPr>
              <a:t>Gemini 2.5 Flash</a:t>
            </a:r>
          </a:p>
          <a:p>
            <a:pPr algn="ctr">
              <a:lnSpc>
                <a:spcPts val="1440"/>
              </a:lnSpc>
            </a:pPr>
            <a:r>
              <a:rPr lang="en-US" sz="1200">
                <a:solidFill>
                  <a:srgbClr val="7C3AED"/>
                </a:solidFill>
                <a:latin typeface="ABeeZee"/>
                <a:ea typeface="ABeeZee"/>
                <a:cs typeface="ABeeZee"/>
                <a:sym typeface="ABeeZee"/>
              </a:rPr>
              <a:t>streamed SSE</a:t>
            </a:r>
          </a:p>
        </p:txBody>
      </p:sp>
      <p:sp>
        <p:nvSpPr>
          <p:cNvPr name="Freeform 53" id="53"/>
          <p:cNvSpPr/>
          <p:nvPr/>
        </p:nvSpPr>
        <p:spPr>
          <a:xfrm flipH="false" flipV="false" rot="0">
            <a:off x="14405915" y="5895346"/>
            <a:ext cx="2553748" cy="2279237"/>
          </a:xfrm>
          <a:custGeom>
            <a:avLst/>
            <a:gdLst/>
            <a:ahLst/>
            <a:cxnLst/>
            <a:rect r="r" b="b" t="t" l="l"/>
            <a:pathLst>
              <a:path h="2279237" w="2553748">
                <a:moveTo>
                  <a:pt x="0" y="0"/>
                </a:moveTo>
                <a:lnTo>
                  <a:pt x="2553748" y="0"/>
                </a:lnTo>
                <a:lnTo>
                  <a:pt x="2553748" y="2279238"/>
                </a:lnTo>
                <a:lnTo>
                  <a:pt x="0" y="2279238"/>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54" id="54"/>
          <p:cNvSpPr txBox="true"/>
          <p:nvPr/>
        </p:nvSpPr>
        <p:spPr>
          <a:xfrm rot="0">
            <a:off x="14504499" y="5951296"/>
            <a:ext cx="2356561" cy="361848"/>
          </a:xfrm>
          <a:prstGeom prst="rect">
            <a:avLst/>
          </a:prstGeom>
        </p:spPr>
        <p:txBody>
          <a:bodyPr anchor="t" rtlCol="false" tIns="0" lIns="0" bIns="0" rIns="0">
            <a:spAutoFit/>
          </a:bodyPr>
          <a:lstStyle/>
          <a:p>
            <a:pPr algn="ctr">
              <a:lnSpc>
                <a:spcPts val="2882"/>
              </a:lnSpc>
            </a:pPr>
            <a:r>
              <a:rPr lang="en-US" sz="2401">
                <a:solidFill>
                  <a:srgbClr val="4C1D95"/>
                </a:solidFill>
                <a:latin typeface="ABeeZee"/>
                <a:ea typeface="ABeeZee"/>
                <a:cs typeface="ABeeZee"/>
                <a:sym typeface="ABeeZee"/>
              </a:rPr>
              <a:t>📎</a:t>
            </a:r>
          </a:p>
        </p:txBody>
      </p:sp>
      <p:sp>
        <p:nvSpPr>
          <p:cNvPr name="TextBox 55" id="55"/>
          <p:cNvSpPr txBox="true"/>
          <p:nvPr/>
        </p:nvSpPr>
        <p:spPr>
          <a:xfrm rot="0">
            <a:off x="14504499" y="6440129"/>
            <a:ext cx="2356561" cy="247675"/>
          </a:xfrm>
          <a:prstGeom prst="rect">
            <a:avLst/>
          </a:prstGeom>
        </p:spPr>
        <p:txBody>
          <a:bodyPr anchor="t" rtlCol="false" tIns="0" lIns="0" bIns="0" rIns="0">
            <a:spAutoFit/>
          </a:bodyPr>
          <a:lstStyle/>
          <a:p>
            <a:pPr algn="ctr">
              <a:lnSpc>
                <a:spcPts val="1800"/>
              </a:lnSpc>
            </a:pPr>
            <a:r>
              <a:rPr lang="en-US" sz="1500">
                <a:solidFill>
                  <a:srgbClr val="4C1D95"/>
                </a:solidFill>
                <a:latin typeface="ABeeZee Bold"/>
                <a:ea typeface="ABeeZee Bold"/>
                <a:cs typeface="ABeeZee Bold"/>
                <a:sym typeface="ABeeZee Bold"/>
              </a:rPr>
              <a:t>Response</a:t>
            </a:r>
          </a:p>
        </p:txBody>
      </p:sp>
      <p:sp>
        <p:nvSpPr>
          <p:cNvPr name="TextBox 56" id="56"/>
          <p:cNvSpPr txBox="true"/>
          <p:nvPr/>
        </p:nvSpPr>
        <p:spPr>
          <a:xfrm rot="0">
            <a:off x="14504499" y="6890033"/>
            <a:ext cx="2356561" cy="542798"/>
          </a:xfrm>
          <a:prstGeom prst="rect">
            <a:avLst/>
          </a:prstGeom>
        </p:spPr>
        <p:txBody>
          <a:bodyPr anchor="t" rtlCol="false" tIns="0" lIns="0" bIns="0" rIns="0">
            <a:spAutoFit/>
          </a:bodyPr>
          <a:lstStyle/>
          <a:p>
            <a:pPr algn="ctr">
              <a:lnSpc>
                <a:spcPts val="1440"/>
              </a:lnSpc>
            </a:pPr>
            <a:r>
              <a:rPr lang="en-US" sz="1200">
                <a:solidFill>
                  <a:srgbClr val="7C3AED"/>
                </a:solidFill>
                <a:latin typeface="ABeeZee"/>
                <a:ea typeface="ABeeZee"/>
                <a:cs typeface="ABeeZee"/>
                <a:sym typeface="ABeeZee"/>
              </a:rPr>
              <a:t>[Chunk N] cites</a:t>
            </a:r>
          </a:p>
          <a:p>
            <a:pPr algn="ctr">
              <a:lnSpc>
                <a:spcPts val="1440"/>
              </a:lnSpc>
            </a:pPr>
            <a:r>
              <a:rPr lang="en-US" sz="1200">
                <a:solidFill>
                  <a:srgbClr val="7C3AED"/>
                </a:solidFill>
                <a:latin typeface="ABeeZee"/>
                <a:ea typeface="ABeeZee"/>
                <a:cs typeface="ABeeZee"/>
                <a:sym typeface="ABeeZee"/>
              </a:rPr>
              <a:t>similarity %</a:t>
            </a:r>
          </a:p>
          <a:p>
            <a:pPr algn="ctr">
              <a:lnSpc>
                <a:spcPts val="1440"/>
              </a:lnSpc>
            </a:pPr>
            <a:r>
              <a:rPr lang="en-US" sz="1200">
                <a:solidFill>
                  <a:srgbClr val="7C3AED"/>
                </a:solidFill>
                <a:latin typeface="ABeeZee"/>
                <a:ea typeface="ABeeZee"/>
                <a:cs typeface="ABeeZee"/>
                <a:sym typeface="ABeeZee"/>
              </a:rPr>
              <a:t>SSE</a:t>
            </a:r>
          </a:p>
        </p:txBody>
      </p:sp>
      <p:sp>
        <p:nvSpPr>
          <p:cNvPr name="TextBox 57" id="57"/>
          <p:cNvSpPr txBox="true"/>
          <p:nvPr/>
        </p:nvSpPr>
        <p:spPr>
          <a:xfrm rot="0">
            <a:off x="5421849" y="3411611"/>
            <a:ext cx="1052522" cy="180848"/>
          </a:xfrm>
          <a:prstGeom prst="rect">
            <a:avLst/>
          </a:prstGeom>
        </p:spPr>
        <p:txBody>
          <a:bodyPr anchor="t" rtlCol="false" tIns="0" lIns="0" bIns="0" rIns="0">
            <a:spAutoFit/>
          </a:bodyPr>
          <a:lstStyle/>
          <a:p>
            <a:pPr algn="l">
              <a:lnSpc>
                <a:spcPts val="1440"/>
              </a:lnSpc>
            </a:pPr>
            <a:r>
              <a:rPr lang="en-US" sz="1200">
                <a:solidFill>
                  <a:srgbClr val="059669"/>
                </a:solidFill>
                <a:latin typeface="ABeeZee"/>
                <a:ea typeface="ABeeZee"/>
                <a:cs typeface="ABeeZee"/>
                <a:sym typeface="ABeeZee"/>
              </a:rPr>
              <a:t>ingest →</a:t>
            </a:r>
          </a:p>
        </p:txBody>
      </p:sp>
      <p:sp>
        <p:nvSpPr>
          <p:cNvPr name="TextBox 58" id="58"/>
          <p:cNvSpPr txBox="true"/>
          <p:nvPr/>
        </p:nvSpPr>
        <p:spPr>
          <a:xfrm rot="0">
            <a:off x="5421849" y="6706032"/>
            <a:ext cx="1052522" cy="180848"/>
          </a:xfrm>
          <a:prstGeom prst="rect">
            <a:avLst/>
          </a:prstGeom>
        </p:spPr>
        <p:txBody>
          <a:bodyPr anchor="t" rtlCol="false" tIns="0" lIns="0" bIns="0" rIns="0">
            <a:spAutoFit/>
          </a:bodyPr>
          <a:lstStyle/>
          <a:p>
            <a:pPr algn="l">
              <a:lnSpc>
                <a:spcPts val="1440"/>
              </a:lnSpc>
            </a:pPr>
            <a:r>
              <a:rPr lang="en-US" sz="1200">
                <a:solidFill>
                  <a:srgbClr val="7C3AED"/>
                </a:solidFill>
                <a:latin typeface="ABeeZee"/>
                <a:ea typeface="ABeeZee"/>
                <a:cs typeface="ABeeZee"/>
                <a:sym typeface="ABeeZee"/>
              </a:rPr>
              <a:t>query →</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5048" y="469001"/>
            <a:ext cx="16289188" cy="247675"/>
          </a:xfrm>
          <a:prstGeom prst="rect">
            <a:avLst/>
          </a:prstGeom>
        </p:spPr>
        <p:txBody>
          <a:bodyPr anchor="t" rtlCol="false" tIns="0" lIns="0" bIns="0" rIns="0">
            <a:spAutoFit/>
          </a:bodyPr>
          <a:lstStyle/>
          <a:p>
            <a:pPr algn="l">
              <a:lnSpc>
                <a:spcPts val="1800"/>
              </a:lnSpc>
            </a:pPr>
            <a:r>
              <a:rPr lang="en-US" sz="1500">
                <a:solidFill>
                  <a:srgbClr val="7C3AED"/>
                </a:solidFill>
                <a:latin typeface="ABeeZee Bold"/>
                <a:ea typeface="ABeeZee Bold"/>
                <a:cs typeface="ABeeZee Bold"/>
                <a:sym typeface="ABeeZee Bold"/>
              </a:rPr>
              <a:t>KEY FEATURE</a:t>
            </a:r>
          </a:p>
        </p:txBody>
      </p:sp>
      <p:sp>
        <p:nvSpPr>
          <p:cNvPr name="TextBox 3" id="3"/>
          <p:cNvSpPr txBox="true"/>
          <p:nvPr/>
        </p:nvSpPr>
        <p:spPr>
          <a:xfrm rot="0">
            <a:off x="915048" y="979970"/>
            <a:ext cx="16289188" cy="733374"/>
          </a:xfrm>
          <a:prstGeom prst="rect">
            <a:avLst/>
          </a:prstGeom>
        </p:spPr>
        <p:txBody>
          <a:bodyPr anchor="t" rtlCol="false" tIns="0" lIns="0" bIns="0" rIns="0">
            <a:spAutoFit/>
          </a:bodyPr>
          <a:lstStyle/>
          <a:p>
            <a:pPr algn="l">
              <a:lnSpc>
                <a:spcPts val="5763"/>
              </a:lnSpc>
            </a:pPr>
            <a:r>
              <a:rPr lang="en-US" sz="4802">
                <a:solidFill>
                  <a:srgbClr val="4C1D95"/>
                </a:solidFill>
                <a:latin typeface="ABeeZee Bold"/>
                <a:ea typeface="ABeeZee Bold"/>
                <a:cs typeface="ABeeZee Bold"/>
                <a:sym typeface="ABeeZee Bold"/>
              </a:rPr>
              <a:t>Auto-scaled chunk size &amp; k</a:t>
            </a:r>
          </a:p>
        </p:txBody>
      </p:sp>
      <p:sp>
        <p:nvSpPr>
          <p:cNvPr name="TextBox 4" id="4"/>
          <p:cNvSpPr txBox="true"/>
          <p:nvPr/>
        </p:nvSpPr>
        <p:spPr>
          <a:xfrm rot="0">
            <a:off x="915048" y="2047580"/>
            <a:ext cx="16467639" cy="600100"/>
          </a:xfrm>
          <a:prstGeom prst="rect">
            <a:avLst/>
          </a:prstGeom>
        </p:spPr>
        <p:txBody>
          <a:bodyPr anchor="t" rtlCol="false" tIns="0" lIns="0" bIns="0" rIns="0">
            <a:spAutoFit/>
          </a:bodyPr>
          <a:lstStyle/>
          <a:p>
            <a:pPr algn="l">
              <a:lnSpc>
                <a:spcPts val="2341"/>
              </a:lnSpc>
            </a:pPr>
            <a:r>
              <a:rPr lang="en-US" sz="1951">
                <a:solidFill>
                  <a:srgbClr val="7C3AED"/>
                </a:solidFill>
                <a:latin typeface="ABeeZee"/>
                <a:ea typeface="ABeeZee"/>
                <a:cs typeface="ABeeZee"/>
                <a:sym typeface="ABeeZee"/>
              </a:rPr>
              <a:t>A fixed chunk size performs poorly at both extremes. compute_params(total_tokens) selects both values from five tiers — the chosen k is persisted to doc_meta and restored on server restart.</a:t>
            </a:r>
          </a:p>
        </p:txBody>
      </p:sp>
      <p:sp>
        <p:nvSpPr>
          <p:cNvPr name="Freeform 5" id="5"/>
          <p:cNvSpPr/>
          <p:nvPr/>
        </p:nvSpPr>
        <p:spPr>
          <a:xfrm flipH="false" flipV="false" rot="0">
            <a:off x="816454" y="2944092"/>
            <a:ext cx="16664845" cy="6671786"/>
          </a:xfrm>
          <a:custGeom>
            <a:avLst/>
            <a:gdLst/>
            <a:ahLst/>
            <a:cxnLst/>
            <a:rect r="r" b="b" t="t" l="l"/>
            <a:pathLst>
              <a:path h="6671786" w="16664845">
                <a:moveTo>
                  <a:pt x="0" y="0"/>
                </a:moveTo>
                <a:lnTo>
                  <a:pt x="16664845" y="0"/>
                </a:lnTo>
                <a:lnTo>
                  <a:pt x="16664845" y="6671786"/>
                </a:lnTo>
                <a:lnTo>
                  <a:pt x="0" y="667178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1120940" y="3077080"/>
            <a:ext cx="2425198" cy="247675"/>
          </a:xfrm>
          <a:prstGeom prst="rect">
            <a:avLst/>
          </a:prstGeom>
        </p:spPr>
        <p:txBody>
          <a:bodyPr anchor="t" rtlCol="false" tIns="0" lIns="0" bIns="0" rIns="0">
            <a:spAutoFit/>
          </a:bodyPr>
          <a:lstStyle/>
          <a:p>
            <a:pPr algn="l">
              <a:lnSpc>
                <a:spcPts val="1800"/>
              </a:lnSpc>
            </a:pPr>
            <a:r>
              <a:rPr lang="en-US" sz="1500">
                <a:solidFill>
                  <a:srgbClr val="7C3AED"/>
                </a:solidFill>
                <a:latin typeface="ABeeZee Bold"/>
                <a:ea typeface="ABeeZee Bold"/>
                <a:cs typeface="ABeeZee Bold"/>
                <a:sym typeface="ABeeZee Bold"/>
              </a:rPr>
              <a:t>Document size</a:t>
            </a:r>
          </a:p>
        </p:txBody>
      </p:sp>
      <p:sp>
        <p:nvSpPr>
          <p:cNvPr name="TextBox 7" id="7"/>
          <p:cNvSpPr txBox="true"/>
          <p:nvPr/>
        </p:nvSpPr>
        <p:spPr>
          <a:xfrm rot="0">
            <a:off x="3934920" y="3077080"/>
            <a:ext cx="2150659" cy="247675"/>
          </a:xfrm>
          <a:prstGeom prst="rect">
            <a:avLst/>
          </a:prstGeom>
        </p:spPr>
        <p:txBody>
          <a:bodyPr anchor="t" rtlCol="false" tIns="0" lIns="0" bIns="0" rIns="0">
            <a:spAutoFit/>
          </a:bodyPr>
          <a:lstStyle/>
          <a:p>
            <a:pPr algn="l">
              <a:lnSpc>
                <a:spcPts val="1800"/>
              </a:lnSpc>
            </a:pPr>
            <a:r>
              <a:rPr lang="en-US" sz="1500">
                <a:solidFill>
                  <a:srgbClr val="7C3AED"/>
                </a:solidFill>
                <a:latin typeface="ABeeZee Bold"/>
                <a:ea typeface="ABeeZee Bold"/>
                <a:cs typeface="ABeeZee Bold"/>
                <a:sym typeface="ABeeZee Bold"/>
              </a:rPr>
              <a:t>Token range</a:t>
            </a:r>
          </a:p>
        </p:txBody>
      </p:sp>
      <p:sp>
        <p:nvSpPr>
          <p:cNvPr name="TextBox 8" id="8"/>
          <p:cNvSpPr txBox="true"/>
          <p:nvPr/>
        </p:nvSpPr>
        <p:spPr>
          <a:xfrm rot="0">
            <a:off x="6542999" y="3077080"/>
            <a:ext cx="1189796" cy="247675"/>
          </a:xfrm>
          <a:prstGeom prst="rect">
            <a:avLst/>
          </a:prstGeom>
        </p:spPr>
        <p:txBody>
          <a:bodyPr anchor="t" rtlCol="false" tIns="0" lIns="0" bIns="0" rIns="0">
            <a:spAutoFit/>
          </a:bodyPr>
          <a:lstStyle/>
          <a:p>
            <a:pPr algn="l">
              <a:lnSpc>
                <a:spcPts val="1800"/>
              </a:lnSpc>
            </a:pPr>
            <a:r>
              <a:rPr lang="en-US" sz="1500">
                <a:solidFill>
                  <a:srgbClr val="7C3AED"/>
                </a:solidFill>
                <a:latin typeface="ABeeZee Bold"/>
                <a:ea typeface="ABeeZee Bold"/>
                <a:cs typeface="ABeeZee Bold"/>
                <a:sym typeface="ABeeZee Bold"/>
              </a:rPr>
              <a:t>chunk_size</a:t>
            </a:r>
          </a:p>
        </p:txBody>
      </p:sp>
      <p:sp>
        <p:nvSpPr>
          <p:cNvPr name="TextBox 9" id="9"/>
          <p:cNvSpPr txBox="true"/>
          <p:nvPr/>
        </p:nvSpPr>
        <p:spPr>
          <a:xfrm rot="0">
            <a:off x="8190205" y="3077080"/>
            <a:ext cx="1189796" cy="247675"/>
          </a:xfrm>
          <a:prstGeom prst="rect">
            <a:avLst/>
          </a:prstGeom>
        </p:spPr>
        <p:txBody>
          <a:bodyPr anchor="t" rtlCol="false" tIns="0" lIns="0" bIns="0" rIns="0">
            <a:spAutoFit/>
          </a:bodyPr>
          <a:lstStyle/>
          <a:p>
            <a:pPr algn="l">
              <a:lnSpc>
                <a:spcPts val="1800"/>
              </a:lnSpc>
            </a:pPr>
            <a:r>
              <a:rPr lang="en-US" sz="1500">
                <a:solidFill>
                  <a:srgbClr val="7C3AED"/>
                </a:solidFill>
                <a:latin typeface="ABeeZee Bold"/>
                <a:ea typeface="ABeeZee Bold"/>
                <a:cs typeface="ABeeZee Bold"/>
                <a:sym typeface="ABeeZee Bold"/>
              </a:rPr>
              <a:t>k retrieved</a:t>
            </a:r>
          </a:p>
        </p:txBody>
      </p:sp>
      <p:sp>
        <p:nvSpPr>
          <p:cNvPr name="TextBox 10" id="10"/>
          <p:cNvSpPr txBox="true"/>
          <p:nvPr/>
        </p:nvSpPr>
        <p:spPr>
          <a:xfrm rot="0">
            <a:off x="9837410" y="3077080"/>
            <a:ext cx="7092286" cy="247675"/>
          </a:xfrm>
          <a:prstGeom prst="rect">
            <a:avLst/>
          </a:prstGeom>
        </p:spPr>
        <p:txBody>
          <a:bodyPr anchor="t" rtlCol="false" tIns="0" lIns="0" bIns="0" rIns="0">
            <a:spAutoFit/>
          </a:bodyPr>
          <a:lstStyle/>
          <a:p>
            <a:pPr algn="l">
              <a:lnSpc>
                <a:spcPts val="1800"/>
              </a:lnSpc>
            </a:pPr>
            <a:r>
              <a:rPr lang="en-US" sz="1500">
                <a:solidFill>
                  <a:srgbClr val="7C3AED"/>
                </a:solidFill>
                <a:latin typeface="ABeeZee Bold"/>
                <a:ea typeface="ABeeZee Bold"/>
                <a:cs typeface="ABeeZee Bold"/>
                <a:sym typeface="ABeeZee Bold"/>
              </a:rPr>
              <a:t>Rationale</a:t>
            </a:r>
          </a:p>
        </p:txBody>
      </p:sp>
      <p:sp>
        <p:nvSpPr>
          <p:cNvPr name="TextBox 11" id="11"/>
          <p:cNvSpPr txBox="true"/>
          <p:nvPr/>
        </p:nvSpPr>
        <p:spPr>
          <a:xfrm rot="0">
            <a:off x="1120940" y="3704311"/>
            <a:ext cx="2425198" cy="276250"/>
          </a:xfrm>
          <a:prstGeom prst="rect">
            <a:avLst/>
          </a:prstGeom>
        </p:spPr>
        <p:txBody>
          <a:bodyPr anchor="t" rtlCol="false" tIns="0" lIns="0" bIns="0" rIns="0">
            <a:spAutoFit/>
          </a:bodyPr>
          <a:lstStyle/>
          <a:p>
            <a:pPr algn="l">
              <a:lnSpc>
                <a:spcPts val="2161"/>
              </a:lnSpc>
            </a:pPr>
            <a:r>
              <a:rPr lang="en-US" sz="1801">
                <a:solidFill>
                  <a:srgbClr val="4C1D95"/>
                </a:solidFill>
                <a:latin typeface="ABeeZee"/>
                <a:ea typeface="ABeeZee"/>
                <a:cs typeface="ABeeZee"/>
                <a:sym typeface="ABeeZee"/>
              </a:rPr>
              <a:t>Tiny  (&lt;20 pages)</a:t>
            </a:r>
          </a:p>
        </p:txBody>
      </p:sp>
      <p:sp>
        <p:nvSpPr>
          <p:cNvPr name="TextBox 12" id="12"/>
          <p:cNvSpPr txBox="true"/>
          <p:nvPr/>
        </p:nvSpPr>
        <p:spPr>
          <a:xfrm rot="0">
            <a:off x="3934920" y="3704311"/>
            <a:ext cx="2150659"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&lt; 10 K</a:t>
            </a:r>
          </a:p>
        </p:txBody>
      </p:sp>
      <p:sp>
        <p:nvSpPr>
          <p:cNvPr name="TextBox 13" id="13"/>
          <p:cNvSpPr txBox="true"/>
          <p:nvPr/>
        </p:nvSpPr>
        <p:spPr>
          <a:xfrm rot="0">
            <a:off x="6542999" y="3704311"/>
            <a:ext cx="118979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256</a:t>
            </a:r>
          </a:p>
        </p:txBody>
      </p:sp>
      <p:sp>
        <p:nvSpPr>
          <p:cNvPr name="TextBox 14" id="14"/>
          <p:cNvSpPr txBox="true"/>
          <p:nvPr/>
        </p:nvSpPr>
        <p:spPr>
          <a:xfrm rot="0">
            <a:off x="8190205" y="3704311"/>
            <a:ext cx="118979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5</a:t>
            </a:r>
          </a:p>
        </p:txBody>
      </p:sp>
      <p:sp>
        <p:nvSpPr>
          <p:cNvPr name="TextBox 15" id="15"/>
          <p:cNvSpPr txBox="true"/>
          <p:nvPr/>
        </p:nvSpPr>
        <p:spPr>
          <a:xfrm rot="0">
            <a:off x="9837410" y="3704311"/>
            <a:ext cx="709228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Tight chunks; few results enough</a:t>
            </a:r>
          </a:p>
        </p:txBody>
      </p:sp>
      <p:sp>
        <p:nvSpPr>
          <p:cNvPr name="TextBox 16" id="16"/>
          <p:cNvSpPr txBox="true"/>
          <p:nvPr/>
        </p:nvSpPr>
        <p:spPr>
          <a:xfrm rot="0">
            <a:off x="1120940" y="4555369"/>
            <a:ext cx="2425198" cy="276250"/>
          </a:xfrm>
          <a:prstGeom prst="rect">
            <a:avLst/>
          </a:prstGeom>
        </p:spPr>
        <p:txBody>
          <a:bodyPr anchor="t" rtlCol="false" tIns="0" lIns="0" bIns="0" rIns="0">
            <a:spAutoFit/>
          </a:bodyPr>
          <a:lstStyle/>
          <a:p>
            <a:pPr algn="l">
              <a:lnSpc>
                <a:spcPts val="2161"/>
              </a:lnSpc>
            </a:pPr>
            <a:r>
              <a:rPr lang="en-US" sz="1801">
                <a:solidFill>
                  <a:srgbClr val="4C1D95"/>
                </a:solidFill>
                <a:latin typeface="ABeeZee"/>
                <a:ea typeface="ABeeZee"/>
                <a:cs typeface="ABeeZee"/>
                <a:sym typeface="ABeeZee"/>
              </a:rPr>
              <a:t>Small (20–100 p)</a:t>
            </a:r>
          </a:p>
        </p:txBody>
      </p:sp>
      <p:sp>
        <p:nvSpPr>
          <p:cNvPr name="TextBox 17" id="17"/>
          <p:cNvSpPr txBox="true"/>
          <p:nvPr/>
        </p:nvSpPr>
        <p:spPr>
          <a:xfrm rot="0">
            <a:off x="3934920" y="4555369"/>
            <a:ext cx="2150659"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&lt; 50 K</a:t>
            </a:r>
          </a:p>
        </p:txBody>
      </p:sp>
      <p:sp>
        <p:nvSpPr>
          <p:cNvPr name="TextBox 18" id="18"/>
          <p:cNvSpPr txBox="true"/>
          <p:nvPr/>
        </p:nvSpPr>
        <p:spPr>
          <a:xfrm rot="0">
            <a:off x="6542999" y="4555369"/>
            <a:ext cx="118979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384</a:t>
            </a:r>
          </a:p>
        </p:txBody>
      </p:sp>
      <p:sp>
        <p:nvSpPr>
          <p:cNvPr name="TextBox 19" id="19"/>
          <p:cNvSpPr txBox="true"/>
          <p:nvPr/>
        </p:nvSpPr>
        <p:spPr>
          <a:xfrm rot="0">
            <a:off x="8190205" y="4555369"/>
            <a:ext cx="118979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8</a:t>
            </a:r>
          </a:p>
        </p:txBody>
      </p:sp>
      <p:sp>
        <p:nvSpPr>
          <p:cNvPr name="TextBox 20" id="20"/>
          <p:cNvSpPr txBox="true"/>
          <p:nvPr/>
        </p:nvSpPr>
        <p:spPr>
          <a:xfrm rot="0">
            <a:off x="9837410" y="4555369"/>
            <a:ext cx="709228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Balanced default</a:t>
            </a:r>
          </a:p>
        </p:txBody>
      </p:sp>
      <p:sp>
        <p:nvSpPr>
          <p:cNvPr name="TextBox 21" id="21"/>
          <p:cNvSpPr txBox="true"/>
          <p:nvPr/>
        </p:nvSpPr>
        <p:spPr>
          <a:xfrm rot="0">
            <a:off x="1120940" y="5406428"/>
            <a:ext cx="2425198" cy="276250"/>
          </a:xfrm>
          <a:prstGeom prst="rect">
            <a:avLst/>
          </a:prstGeom>
        </p:spPr>
        <p:txBody>
          <a:bodyPr anchor="t" rtlCol="false" tIns="0" lIns="0" bIns="0" rIns="0">
            <a:spAutoFit/>
          </a:bodyPr>
          <a:lstStyle/>
          <a:p>
            <a:pPr algn="l">
              <a:lnSpc>
                <a:spcPts val="2161"/>
              </a:lnSpc>
            </a:pPr>
            <a:r>
              <a:rPr lang="en-US" sz="1801">
                <a:solidFill>
                  <a:srgbClr val="4C1D95"/>
                </a:solidFill>
                <a:latin typeface="ABeeZee"/>
                <a:ea typeface="ABeeZee"/>
                <a:cs typeface="ABeeZee"/>
                <a:sym typeface="ABeeZee"/>
              </a:rPr>
              <a:t>Medium (100–400 p)</a:t>
            </a:r>
          </a:p>
        </p:txBody>
      </p:sp>
      <p:sp>
        <p:nvSpPr>
          <p:cNvPr name="TextBox 22" id="22"/>
          <p:cNvSpPr txBox="true"/>
          <p:nvPr/>
        </p:nvSpPr>
        <p:spPr>
          <a:xfrm rot="0">
            <a:off x="3934920" y="5406428"/>
            <a:ext cx="2150659"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&lt; 200 K</a:t>
            </a:r>
          </a:p>
        </p:txBody>
      </p:sp>
      <p:sp>
        <p:nvSpPr>
          <p:cNvPr name="TextBox 23" id="23"/>
          <p:cNvSpPr txBox="true"/>
          <p:nvPr/>
        </p:nvSpPr>
        <p:spPr>
          <a:xfrm rot="0">
            <a:off x="6542999" y="5406428"/>
            <a:ext cx="118979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512</a:t>
            </a:r>
          </a:p>
        </p:txBody>
      </p:sp>
      <p:sp>
        <p:nvSpPr>
          <p:cNvPr name="TextBox 24" id="24"/>
          <p:cNvSpPr txBox="true"/>
          <p:nvPr/>
        </p:nvSpPr>
        <p:spPr>
          <a:xfrm rot="0">
            <a:off x="8190205" y="5406428"/>
            <a:ext cx="118979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12</a:t>
            </a:r>
          </a:p>
        </p:txBody>
      </p:sp>
      <p:sp>
        <p:nvSpPr>
          <p:cNvPr name="TextBox 25" id="25"/>
          <p:cNvSpPr txBox="true"/>
          <p:nvPr/>
        </p:nvSpPr>
        <p:spPr>
          <a:xfrm rot="0">
            <a:off x="9837410" y="5406428"/>
            <a:ext cx="709228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More context needed per chunk</a:t>
            </a:r>
          </a:p>
        </p:txBody>
      </p:sp>
      <p:sp>
        <p:nvSpPr>
          <p:cNvPr name="TextBox 26" id="26"/>
          <p:cNvSpPr txBox="true"/>
          <p:nvPr/>
        </p:nvSpPr>
        <p:spPr>
          <a:xfrm rot="0">
            <a:off x="1120940" y="6257477"/>
            <a:ext cx="2425198" cy="276250"/>
          </a:xfrm>
          <a:prstGeom prst="rect">
            <a:avLst/>
          </a:prstGeom>
        </p:spPr>
        <p:txBody>
          <a:bodyPr anchor="t" rtlCol="false" tIns="0" lIns="0" bIns="0" rIns="0">
            <a:spAutoFit/>
          </a:bodyPr>
          <a:lstStyle/>
          <a:p>
            <a:pPr algn="l">
              <a:lnSpc>
                <a:spcPts val="2161"/>
              </a:lnSpc>
            </a:pPr>
            <a:r>
              <a:rPr lang="en-US" sz="1801">
                <a:solidFill>
                  <a:srgbClr val="4C1D95"/>
                </a:solidFill>
                <a:latin typeface="ABeeZee"/>
                <a:ea typeface="ABeeZee"/>
                <a:cs typeface="ABeeZee"/>
                <a:sym typeface="ABeeZee"/>
              </a:rPr>
              <a:t>Large (400–1000 p)</a:t>
            </a:r>
          </a:p>
        </p:txBody>
      </p:sp>
      <p:sp>
        <p:nvSpPr>
          <p:cNvPr name="TextBox 27" id="27"/>
          <p:cNvSpPr txBox="true"/>
          <p:nvPr/>
        </p:nvSpPr>
        <p:spPr>
          <a:xfrm rot="0">
            <a:off x="3934920" y="6257477"/>
            <a:ext cx="2150659"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&lt; 500 K</a:t>
            </a:r>
          </a:p>
        </p:txBody>
      </p:sp>
      <p:sp>
        <p:nvSpPr>
          <p:cNvPr name="TextBox 28" id="28"/>
          <p:cNvSpPr txBox="true"/>
          <p:nvPr/>
        </p:nvSpPr>
        <p:spPr>
          <a:xfrm rot="0">
            <a:off x="6542999" y="6257477"/>
            <a:ext cx="118979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768</a:t>
            </a:r>
          </a:p>
        </p:txBody>
      </p:sp>
      <p:sp>
        <p:nvSpPr>
          <p:cNvPr name="TextBox 29" id="29"/>
          <p:cNvSpPr txBox="true"/>
          <p:nvPr/>
        </p:nvSpPr>
        <p:spPr>
          <a:xfrm rot="0">
            <a:off x="8190205" y="6257477"/>
            <a:ext cx="118979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15</a:t>
            </a:r>
          </a:p>
        </p:txBody>
      </p:sp>
      <p:sp>
        <p:nvSpPr>
          <p:cNvPr name="TextBox 30" id="30"/>
          <p:cNvSpPr txBox="true"/>
          <p:nvPr/>
        </p:nvSpPr>
        <p:spPr>
          <a:xfrm rot="0">
            <a:off x="9837410" y="6257477"/>
            <a:ext cx="709228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Wide chunks, broad retrieval</a:t>
            </a:r>
          </a:p>
        </p:txBody>
      </p:sp>
      <p:sp>
        <p:nvSpPr>
          <p:cNvPr name="TextBox 31" id="31"/>
          <p:cNvSpPr txBox="true"/>
          <p:nvPr/>
        </p:nvSpPr>
        <p:spPr>
          <a:xfrm rot="0">
            <a:off x="1120940" y="7108536"/>
            <a:ext cx="2425198" cy="276250"/>
          </a:xfrm>
          <a:prstGeom prst="rect">
            <a:avLst/>
          </a:prstGeom>
        </p:spPr>
        <p:txBody>
          <a:bodyPr anchor="t" rtlCol="false" tIns="0" lIns="0" bIns="0" rIns="0">
            <a:spAutoFit/>
          </a:bodyPr>
          <a:lstStyle/>
          <a:p>
            <a:pPr algn="l">
              <a:lnSpc>
                <a:spcPts val="2161"/>
              </a:lnSpc>
            </a:pPr>
            <a:r>
              <a:rPr lang="en-US" sz="1801">
                <a:solidFill>
                  <a:srgbClr val="4C1D95"/>
                </a:solidFill>
                <a:latin typeface="ABeeZee"/>
                <a:ea typeface="ABeeZee"/>
                <a:cs typeface="ABeeZee"/>
                <a:sym typeface="ABeeZee"/>
              </a:rPr>
              <a:t>Huge  (1000+ pages)</a:t>
            </a:r>
          </a:p>
        </p:txBody>
      </p:sp>
      <p:sp>
        <p:nvSpPr>
          <p:cNvPr name="TextBox 32" id="32"/>
          <p:cNvSpPr txBox="true"/>
          <p:nvPr/>
        </p:nvSpPr>
        <p:spPr>
          <a:xfrm rot="0">
            <a:off x="3934920" y="7108536"/>
            <a:ext cx="2150659"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 500 K</a:t>
            </a:r>
          </a:p>
        </p:txBody>
      </p:sp>
      <p:sp>
        <p:nvSpPr>
          <p:cNvPr name="TextBox 33" id="33"/>
          <p:cNvSpPr txBox="true"/>
          <p:nvPr/>
        </p:nvSpPr>
        <p:spPr>
          <a:xfrm rot="0">
            <a:off x="6542999" y="7108536"/>
            <a:ext cx="118979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1024</a:t>
            </a:r>
          </a:p>
        </p:txBody>
      </p:sp>
      <p:sp>
        <p:nvSpPr>
          <p:cNvPr name="TextBox 34" id="34"/>
          <p:cNvSpPr txBox="true"/>
          <p:nvPr/>
        </p:nvSpPr>
        <p:spPr>
          <a:xfrm rot="0">
            <a:off x="8190205" y="7108536"/>
            <a:ext cx="118979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20</a:t>
            </a:r>
          </a:p>
        </p:txBody>
      </p:sp>
      <p:sp>
        <p:nvSpPr>
          <p:cNvPr name="TextBox 35" id="35"/>
          <p:cNvSpPr txBox="true"/>
          <p:nvPr/>
        </p:nvSpPr>
        <p:spPr>
          <a:xfrm rot="0">
            <a:off x="9837410" y="7108536"/>
            <a:ext cx="7092286" cy="2762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Maximum context coverage</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5048" y="469001"/>
            <a:ext cx="16289188" cy="247675"/>
          </a:xfrm>
          <a:prstGeom prst="rect">
            <a:avLst/>
          </a:prstGeom>
        </p:spPr>
        <p:txBody>
          <a:bodyPr anchor="t" rtlCol="false" tIns="0" lIns="0" bIns="0" rIns="0">
            <a:spAutoFit/>
          </a:bodyPr>
          <a:lstStyle/>
          <a:p>
            <a:pPr algn="l">
              <a:lnSpc>
                <a:spcPts val="1800"/>
              </a:lnSpc>
            </a:pPr>
            <a:r>
              <a:rPr lang="en-US" sz="1500">
                <a:solidFill>
                  <a:srgbClr val="7C3AED"/>
                </a:solidFill>
                <a:latin typeface="ABeeZee Bold"/>
                <a:ea typeface="ABeeZee Bold"/>
                <a:cs typeface="ABeeZee Bold"/>
                <a:sym typeface="ABeeZee Bold"/>
              </a:rPr>
              <a:t>TECHNOLOGY CHOICES</a:t>
            </a:r>
          </a:p>
        </p:txBody>
      </p:sp>
      <p:sp>
        <p:nvSpPr>
          <p:cNvPr name="TextBox 3" id="3"/>
          <p:cNvSpPr txBox="true"/>
          <p:nvPr/>
        </p:nvSpPr>
        <p:spPr>
          <a:xfrm rot="0">
            <a:off x="915048" y="979970"/>
            <a:ext cx="16289188" cy="733374"/>
          </a:xfrm>
          <a:prstGeom prst="rect">
            <a:avLst/>
          </a:prstGeom>
        </p:spPr>
        <p:txBody>
          <a:bodyPr anchor="t" rtlCol="false" tIns="0" lIns="0" bIns="0" rIns="0">
            <a:spAutoFit/>
          </a:bodyPr>
          <a:lstStyle/>
          <a:p>
            <a:pPr algn="l">
              <a:lnSpc>
                <a:spcPts val="5763"/>
              </a:lnSpc>
            </a:pPr>
            <a:r>
              <a:rPr lang="en-US" sz="4802">
                <a:solidFill>
                  <a:srgbClr val="4C1D95"/>
                </a:solidFill>
                <a:latin typeface="ABeeZee Bold"/>
                <a:ea typeface="ABeeZee Bold"/>
                <a:cs typeface="ABeeZee Bold"/>
                <a:sym typeface="ABeeZee Bold"/>
              </a:rPr>
              <a:t>Stack &amp; rationale</a:t>
            </a:r>
          </a:p>
        </p:txBody>
      </p:sp>
      <p:sp>
        <p:nvSpPr>
          <p:cNvPr name="Freeform 4" id="4"/>
          <p:cNvSpPr/>
          <p:nvPr/>
        </p:nvSpPr>
        <p:spPr>
          <a:xfrm flipH="false" flipV="false" rot="0">
            <a:off x="816454" y="2120494"/>
            <a:ext cx="16664845" cy="7769924"/>
          </a:xfrm>
          <a:custGeom>
            <a:avLst/>
            <a:gdLst/>
            <a:ahLst/>
            <a:cxnLst/>
            <a:rect r="r" b="b" t="t" l="l"/>
            <a:pathLst>
              <a:path h="7769924" w="16664845">
                <a:moveTo>
                  <a:pt x="0" y="0"/>
                </a:moveTo>
                <a:lnTo>
                  <a:pt x="16664845" y="0"/>
                </a:lnTo>
                <a:lnTo>
                  <a:pt x="16664845" y="7769923"/>
                </a:lnTo>
                <a:lnTo>
                  <a:pt x="0" y="776992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1120940" y="2350684"/>
            <a:ext cx="2562463"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PDF extraction</a:t>
            </a:r>
          </a:p>
        </p:txBody>
      </p:sp>
      <p:sp>
        <p:nvSpPr>
          <p:cNvPr name="TextBox 6" id="6"/>
          <p:cNvSpPr txBox="true"/>
          <p:nvPr/>
        </p:nvSpPr>
        <p:spPr>
          <a:xfrm rot="0">
            <a:off x="4003558" y="2350684"/>
            <a:ext cx="2837002"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PyMuPDF</a:t>
            </a:r>
          </a:p>
        </p:txBody>
      </p:sp>
      <p:sp>
        <p:nvSpPr>
          <p:cNvPr name="TextBox 7" id="7"/>
          <p:cNvSpPr txBox="true"/>
          <p:nvPr/>
        </p:nvSpPr>
        <p:spPr>
          <a:xfrm rot="0">
            <a:off x="7160704" y="2350684"/>
            <a:ext cx="9837630" cy="495325"/>
          </a:xfrm>
          <a:prstGeom prst="rect">
            <a:avLst/>
          </a:prstGeom>
        </p:spPr>
        <p:txBody>
          <a:bodyPr anchor="t" rtlCol="false" tIns="0" lIns="0" bIns="0" rIns="0">
            <a:spAutoFit/>
          </a:bodyPr>
          <a:lstStyle/>
          <a:p>
            <a:pPr algn="l">
              <a:lnSpc>
                <a:spcPts val="1980"/>
              </a:lnSpc>
            </a:pPr>
            <a:r>
              <a:rPr lang="en-US" sz="1651">
                <a:solidFill>
                  <a:srgbClr val="7C3AED"/>
                </a:solidFill>
                <a:latin typeface="ABeeZee"/>
                <a:ea typeface="ABeeZee"/>
                <a:cs typeface="ABeeZee"/>
                <a:sym typeface="ABeeZee"/>
              </a:rPr>
              <a:t>Gemini extraction silently truncates at 65 K output tokens — a 100-page PDF returned 6 chunks. PyMuPDF has no output limit.</a:t>
            </a:r>
          </a:p>
        </p:txBody>
      </p:sp>
      <p:sp>
        <p:nvSpPr>
          <p:cNvPr name="TextBox 8" id="8"/>
          <p:cNvSpPr txBox="true"/>
          <p:nvPr/>
        </p:nvSpPr>
        <p:spPr>
          <a:xfrm rot="0">
            <a:off x="1120940" y="3339008"/>
            <a:ext cx="2562463"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Token counting</a:t>
            </a:r>
          </a:p>
        </p:txBody>
      </p:sp>
      <p:sp>
        <p:nvSpPr>
          <p:cNvPr name="TextBox 9" id="9"/>
          <p:cNvSpPr txBox="true"/>
          <p:nvPr/>
        </p:nvSpPr>
        <p:spPr>
          <a:xfrm rot="0">
            <a:off x="4003558" y="3339008"/>
            <a:ext cx="2837002"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tiktoken cl100k_base</a:t>
            </a:r>
          </a:p>
        </p:txBody>
      </p:sp>
      <p:sp>
        <p:nvSpPr>
          <p:cNvPr name="TextBox 10" id="10"/>
          <p:cNvSpPr txBox="true"/>
          <p:nvPr/>
        </p:nvSpPr>
        <p:spPr>
          <a:xfrm rot="0">
            <a:off x="7160704" y="3339008"/>
            <a:ext cx="9837630" cy="495325"/>
          </a:xfrm>
          <a:prstGeom prst="rect">
            <a:avLst/>
          </a:prstGeom>
        </p:spPr>
        <p:txBody>
          <a:bodyPr anchor="t" rtlCol="false" tIns="0" lIns="0" bIns="0" rIns="0">
            <a:spAutoFit/>
          </a:bodyPr>
          <a:lstStyle/>
          <a:p>
            <a:pPr algn="l">
              <a:lnSpc>
                <a:spcPts val="1980"/>
              </a:lnSpc>
            </a:pPr>
            <a:r>
              <a:rPr lang="en-US" sz="1651">
                <a:solidFill>
                  <a:srgbClr val="7C3AED"/>
                </a:solidFill>
                <a:latin typeface="ABeeZee"/>
                <a:ea typeface="ABeeZee"/>
                <a:cs typeface="ABeeZee"/>
                <a:sym typeface="ABeeZee"/>
              </a:rPr>
              <a:t>Same encoding the chunker uses — no unit mismatch. Character counts are unreliable across document types.</a:t>
            </a:r>
          </a:p>
        </p:txBody>
      </p:sp>
      <p:sp>
        <p:nvSpPr>
          <p:cNvPr name="TextBox 11" id="11"/>
          <p:cNvSpPr txBox="true"/>
          <p:nvPr/>
        </p:nvSpPr>
        <p:spPr>
          <a:xfrm rot="0">
            <a:off x="1120940" y="4327341"/>
            <a:ext cx="2562463"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Embeddings</a:t>
            </a:r>
          </a:p>
        </p:txBody>
      </p:sp>
      <p:sp>
        <p:nvSpPr>
          <p:cNvPr name="TextBox 12" id="12"/>
          <p:cNvSpPr txBox="true"/>
          <p:nvPr/>
        </p:nvSpPr>
        <p:spPr>
          <a:xfrm rot="0">
            <a:off x="4003558" y="4327341"/>
            <a:ext cx="2837002"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gemini-embedding-2</a:t>
            </a:r>
          </a:p>
        </p:txBody>
      </p:sp>
      <p:sp>
        <p:nvSpPr>
          <p:cNvPr name="TextBox 13" id="13"/>
          <p:cNvSpPr txBox="true"/>
          <p:nvPr/>
        </p:nvSpPr>
        <p:spPr>
          <a:xfrm rot="0">
            <a:off x="7160704" y="4327341"/>
            <a:ext cx="9837630" cy="495325"/>
          </a:xfrm>
          <a:prstGeom prst="rect">
            <a:avLst/>
          </a:prstGeom>
        </p:spPr>
        <p:txBody>
          <a:bodyPr anchor="t" rtlCol="false" tIns="0" lIns="0" bIns="0" rIns="0">
            <a:spAutoFit/>
          </a:bodyPr>
          <a:lstStyle/>
          <a:p>
            <a:pPr algn="l">
              <a:lnSpc>
                <a:spcPts val="1980"/>
              </a:lnSpc>
            </a:pPr>
            <a:r>
              <a:rPr lang="en-US" sz="1651">
                <a:solidFill>
                  <a:srgbClr val="7C3AED"/>
                </a:solidFill>
                <a:latin typeface="ABeeZee"/>
                <a:ea typeface="ABeeZee"/>
                <a:cs typeface="ABeeZee"/>
                <a:sym typeface="ABeeZee"/>
              </a:rPr>
              <a:t>Separate RETRIEVAL_DOCUMENT / RETRIEVAL_QUERY task types improve accuracy over symmetric embeddings.</a:t>
            </a:r>
          </a:p>
        </p:txBody>
      </p:sp>
      <p:sp>
        <p:nvSpPr>
          <p:cNvPr name="TextBox 14" id="14"/>
          <p:cNvSpPr txBox="true"/>
          <p:nvPr/>
        </p:nvSpPr>
        <p:spPr>
          <a:xfrm rot="0">
            <a:off x="1120940" y="5315664"/>
            <a:ext cx="2562463"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Vector store</a:t>
            </a:r>
          </a:p>
        </p:txBody>
      </p:sp>
      <p:sp>
        <p:nvSpPr>
          <p:cNvPr name="TextBox 15" id="15"/>
          <p:cNvSpPr txBox="true"/>
          <p:nvPr/>
        </p:nvSpPr>
        <p:spPr>
          <a:xfrm rot="0">
            <a:off x="4003558" y="5315664"/>
            <a:ext cx="2837002"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Postgres + pgvector</a:t>
            </a:r>
          </a:p>
        </p:txBody>
      </p:sp>
      <p:sp>
        <p:nvSpPr>
          <p:cNvPr name="TextBox 16" id="16"/>
          <p:cNvSpPr txBox="true"/>
          <p:nvPr/>
        </p:nvSpPr>
        <p:spPr>
          <a:xfrm rot="0">
            <a:off x="7160704" y="5315664"/>
            <a:ext cx="9837630" cy="495325"/>
          </a:xfrm>
          <a:prstGeom prst="rect">
            <a:avLst/>
          </a:prstGeom>
        </p:spPr>
        <p:txBody>
          <a:bodyPr anchor="t" rtlCol="false" tIns="0" lIns="0" bIns="0" rIns="0">
            <a:spAutoFit/>
          </a:bodyPr>
          <a:lstStyle/>
          <a:p>
            <a:pPr algn="l">
              <a:lnSpc>
                <a:spcPts val="1980"/>
              </a:lnSpc>
            </a:pPr>
            <a:r>
              <a:rPr lang="en-US" sz="1651">
                <a:solidFill>
                  <a:srgbClr val="7C3AED"/>
                </a:solidFill>
                <a:latin typeface="ABeeZee"/>
                <a:ea typeface="ABeeZee"/>
                <a:cs typeface="ABeeZee"/>
                <a:sym typeface="ABeeZee"/>
              </a:rPr>
              <a:t>HNSW needs no pre-training. One service handles relational + vector + full-text search. No extra infra.</a:t>
            </a:r>
          </a:p>
        </p:txBody>
      </p:sp>
      <p:sp>
        <p:nvSpPr>
          <p:cNvPr name="TextBox 17" id="17"/>
          <p:cNvSpPr txBox="true"/>
          <p:nvPr/>
        </p:nvSpPr>
        <p:spPr>
          <a:xfrm rot="0">
            <a:off x="1120940" y="6303988"/>
            <a:ext cx="2562463"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DB driver</a:t>
            </a:r>
          </a:p>
        </p:txBody>
      </p:sp>
      <p:sp>
        <p:nvSpPr>
          <p:cNvPr name="TextBox 18" id="18"/>
          <p:cNvSpPr txBox="true"/>
          <p:nvPr/>
        </p:nvSpPr>
        <p:spPr>
          <a:xfrm rot="0">
            <a:off x="4003558" y="6303988"/>
            <a:ext cx="2837002"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asyncpg</a:t>
            </a:r>
          </a:p>
        </p:txBody>
      </p:sp>
      <p:sp>
        <p:nvSpPr>
          <p:cNvPr name="TextBox 19" id="19"/>
          <p:cNvSpPr txBox="true"/>
          <p:nvPr/>
        </p:nvSpPr>
        <p:spPr>
          <a:xfrm rot="0">
            <a:off x="7160704" y="6303988"/>
            <a:ext cx="9837630"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a:ea typeface="ABeeZee"/>
                <a:cs typeface="ABeeZee"/>
                <a:sym typeface="ABeeZee"/>
              </a:rPr>
              <a:t>Binary wire protocol — lower latency than psycopg. No ORM overhead for a minimal schema.</a:t>
            </a:r>
          </a:p>
        </p:txBody>
      </p:sp>
      <p:sp>
        <p:nvSpPr>
          <p:cNvPr name="TextBox 20" id="20"/>
          <p:cNvSpPr txBox="true"/>
          <p:nvPr/>
        </p:nvSpPr>
        <p:spPr>
          <a:xfrm rot="0">
            <a:off x="1120940" y="7292311"/>
            <a:ext cx="2562463"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Generation</a:t>
            </a:r>
          </a:p>
        </p:txBody>
      </p:sp>
      <p:sp>
        <p:nvSpPr>
          <p:cNvPr name="TextBox 21" id="21"/>
          <p:cNvSpPr txBox="true"/>
          <p:nvPr/>
        </p:nvSpPr>
        <p:spPr>
          <a:xfrm rot="0">
            <a:off x="4003558" y="7292311"/>
            <a:ext cx="2837002"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Gemini 2.5 Flash</a:t>
            </a:r>
          </a:p>
        </p:txBody>
      </p:sp>
      <p:sp>
        <p:nvSpPr>
          <p:cNvPr name="TextBox 22" id="22"/>
          <p:cNvSpPr txBox="true"/>
          <p:nvPr/>
        </p:nvSpPr>
        <p:spPr>
          <a:xfrm rot="0">
            <a:off x="7160704" y="7292311"/>
            <a:ext cx="9837630"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a:ea typeface="ABeeZee"/>
                <a:cs typeface="ABeeZee"/>
                <a:sym typeface="ABeeZee"/>
              </a:rPr>
              <a:t>Fast, cost-effective, streamed output via SSE for a responsive UX.</a:t>
            </a:r>
          </a:p>
        </p:txBody>
      </p:sp>
      <p:sp>
        <p:nvSpPr>
          <p:cNvPr name="TextBox 23" id="23"/>
          <p:cNvSpPr txBox="true"/>
          <p:nvPr/>
        </p:nvSpPr>
        <p:spPr>
          <a:xfrm rot="0">
            <a:off x="1120940" y="8280635"/>
            <a:ext cx="2562463"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Frontend</a:t>
            </a:r>
          </a:p>
        </p:txBody>
      </p:sp>
      <p:sp>
        <p:nvSpPr>
          <p:cNvPr name="TextBox 24" id="24"/>
          <p:cNvSpPr txBox="true"/>
          <p:nvPr/>
        </p:nvSpPr>
        <p:spPr>
          <a:xfrm rot="0">
            <a:off x="4003558" y="8280635"/>
            <a:ext cx="2837002"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Bold"/>
                <a:ea typeface="ABeeZee Bold"/>
                <a:cs typeface="ABeeZee Bold"/>
                <a:sym typeface="ABeeZee Bold"/>
              </a:rPr>
              <a:t>Single HTML file</a:t>
            </a:r>
          </a:p>
        </p:txBody>
      </p:sp>
      <p:sp>
        <p:nvSpPr>
          <p:cNvPr name="TextBox 25" id="25"/>
          <p:cNvSpPr txBox="true"/>
          <p:nvPr/>
        </p:nvSpPr>
        <p:spPr>
          <a:xfrm rot="0">
            <a:off x="7160704" y="8280635"/>
            <a:ext cx="9837630"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a:ea typeface="ABeeZee"/>
                <a:cs typeface="ABeeZee"/>
                <a:sym typeface="ABeeZee"/>
              </a:rPr>
              <a:t>No build tools, no Node.js. Served by FastAPI — one uvicorn command to run everything.</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5048" y="469001"/>
            <a:ext cx="16289188" cy="247675"/>
          </a:xfrm>
          <a:prstGeom prst="rect">
            <a:avLst/>
          </a:prstGeom>
        </p:spPr>
        <p:txBody>
          <a:bodyPr anchor="t" rtlCol="false" tIns="0" lIns="0" bIns="0" rIns="0">
            <a:spAutoFit/>
          </a:bodyPr>
          <a:lstStyle/>
          <a:p>
            <a:pPr algn="l">
              <a:lnSpc>
                <a:spcPts val="1800"/>
              </a:lnSpc>
            </a:pPr>
            <a:r>
              <a:rPr lang="en-US" sz="1500">
                <a:solidFill>
                  <a:srgbClr val="7C3AED"/>
                </a:solidFill>
                <a:latin typeface="ABeeZee Bold"/>
                <a:ea typeface="ABeeZee Bold"/>
                <a:cs typeface="ABeeZee Bold"/>
                <a:sym typeface="ABeeZee Bold"/>
              </a:rPr>
              <a:t>ENGINEERING CHOICES</a:t>
            </a:r>
          </a:p>
        </p:txBody>
      </p:sp>
      <p:sp>
        <p:nvSpPr>
          <p:cNvPr name="TextBox 3" id="3"/>
          <p:cNvSpPr txBox="true"/>
          <p:nvPr/>
        </p:nvSpPr>
        <p:spPr>
          <a:xfrm rot="0">
            <a:off x="915048" y="979970"/>
            <a:ext cx="16289188" cy="733374"/>
          </a:xfrm>
          <a:prstGeom prst="rect">
            <a:avLst/>
          </a:prstGeom>
        </p:spPr>
        <p:txBody>
          <a:bodyPr anchor="t" rtlCol="false" tIns="0" lIns="0" bIns="0" rIns="0">
            <a:spAutoFit/>
          </a:bodyPr>
          <a:lstStyle/>
          <a:p>
            <a:pPr algn="l">
              <a:lnSpc>
                <a:spcPts val="5763"/>
              </a:lnSpc>
            </a:pPr>
            <a:r>
              <a:rPr lang="en-US" sz="4802">
                <a:solidFill>
                  <a:srgbClr val="4C1D95"/>
                </a:solidFill>
                <a:latin typeface="ABeeZee Bold"/>
                <a:ea typeface="ABeeZee Bold"/>
                <a:cs typeface="ABeeZee Bold"/>
                <a:sym typeface="ABeeZee Bold"/>
              </a:rPr>
              <a:t>Key design decisions</a:t>
            </a:r>
          </a:p>
        </p:txBody>
      </p:sp>
      <p:sp>
        <p:nvSpPr>
          <p:cNvPr name="Freeform 4" id="4"/>
          <p:cNvSpPr/>
          <p:nvPr/>
        </p:nvSpPr>
        <p:spPr>
          <a:xfrm flipH="false" flipV="false" rot="0">
            <a:off x="404651" y="2189131"/>
            <a:ext cx="8387620" cy="3034189"/>
          </a:xfrm>
          <a:custGeom>
            <a:avLst/>
            <a:gdLst/>
            <a:ahLst/>
            <a:cxnLst/>
            <a:rect r="r" b="b" t="t" l="l"/>
            <a:pathLst>
              <a:path h="3034189" w="8387620">
                <a:moveTo>
                  <a:pt x="0" y="0"/>
                </a:moveTo>
                <a:lnTo>
                  <a:pt x="8387619" y="0"/>
                </a:lnTo>
                <a:lnTo>
                  <a:pt x="8387619" y="3034189"/>
                </a:lnTo>
                <a:lnTo>
                  <a:pt x="0" y="303418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5" id="5"/>
          <p:cNvGrpSpPr/>
          <p:nvPr/>
        </p:nvGrpSpPr>
        <p:grpSpPr>
          <a:xfrm rot="0">
            <a:off x="411804" y="2196274"/>
            <a:ext cx="76295" cy="3019901"/>
            <a:chOff x="0" y="0"/>
            <a:chExt cx="101727" cy="4026535"/>
          </a:xfrm>
        </p:grpSpPr>
        <p:sp>
          <p:nvSpPr>
            <p:cNvPr name="Freeform 6" id="6"/>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7C3AED"/>
            </a:solidFill>
          </p:spPr>
        </p:sp>
      </p:grpSp>
      <p:sp>
        <p:nvSpPr>
          <p:cNvPr name="TextBox 7" id="7"/>
          <p:cNvSpPr txBox="true"/>
          <p:nvPr/>
        </p:nvSpPr>
        <p:spPr>
          <a:xfrm rot="0">
            <a:off x="777773" y="2459384"/>
            <a:ext cx="7641355" cy="304825"/>
          </a:xfrm>
          <a:prstGeom prst="rect">
            <a:avLst/>
          </a:prstGeom>
        </p:spPr>
        <p:txBody>
          <a:bodyPr anchor="t" rtlCol="false" tIns="0" lIns="0" bIns="0" rIns="0">
            <a:spAutoFit/>
          </a:bodyPr>
          <a:lstStyle/>
          <a:p>
            <a:pPr algn="l">
              <a:lnSpc>
                <a:spcPts val="2341"/>
              </a:lnSpc>
            </a:pPr>
            <a:r>
              <a:rPr lang="en-US" sz="1951">
                <a:solidFill>
                  <a:srgbClr val="4C1D95"/>
                </a:solidFill>
                <a:latin typeface="ABeeZee Bold"/>
                <a:ea typeface="ABeeZee Bold"/>
                <a:cs typeface="ABeeZee Bold"/>
                <a:sym typeface="ABeeZee Bold"/>
              </a:rPr>
              <a:t>🔄  Concurrent embedding with retry</a:t>
            </a:r>
          </a:p>
        </p:txBody>
      </p:sp>
      <p:sp>
        <p:nvSpPr>
          <p:cNvPr name="TextBox 8" id="8"/>
          <p:cNvSpPr txBox="true"/>
          <p:nvPr/>
        </p:nvSpPr>
        <p:spPr>
          <a:xfrm rot="0">
            <a:off x="777773" y="3086605"/>
            <a:ext cx="7641355" cy="8096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All chunks embedded via asyncio.gather — no serial bottleneck. 429/503 errors retry with exponential backoff (2 → 64 s). Non-retryable errors surface immediately.</a:t>
            </a:r>
          </a:p>
        </p:txBody>
      </p:sp>
      <p:sp>
        <p:nvSpPr>
          <p:cNvPr name="Freeform 9" id="9"/>
          <p:cNvSpPr/>
          <p:nvPr/>
        </p:nvSpPr>
        <p:spPr>
          <a:xfrm flipH="false" flipV="false" rot="0">
            <a:off x="9230935" y="2189131"/>
            <a:ext cx="8387620" cy="3034189"/>
          </a:xfrm>
          <a:custGeom>
            <a:avLst/>
            <a:gdLst/>
            <a:ahLst/>
            <a:cxnLst/>
            <a:rect r="r" b="b" t="t" l="l"/>
            <a:pathLst>
              <a:path h="3034189" w="8387620">
                <a:moveTo>
                  <a:pt x="0" y="0"/>
                </a:moveTo>
                <a:lnTo>
                  <a:pt x="8387619" y="0"/>
                </a:lnTo>
                <a:lnTo>
                  <a:pt x="8387619" y="3034189"/>
                </a:lnTo>
                <a:lnTo>
                  <a:pt x="0" y="303418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0" id="10"/>
          <p:cNvGrpSpPr/>
          <p:nvPr/>
        </p:nvGrpSpPr>
        <p:grpSpPr>
          <a:xfrm rot="0">
            <a:off x="9238088" y="2196274"/>
            <a:ext cx="76295" cy="3019901"/>
            <a:chOff x="0" y="0"/>
            <a:chExt cx="101727" cy="4026535"/>
          </a:xfrm>
        </p:grpSpPr>
        <p:sp>
          <p:nvSpPr>
            <p:cNvPr name="Freeform 11" id="11"/>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059669"/>
            </a:solidFill>
          </p:spPr>
        </p:sp>
      </p:grpSp>
      <p:sp>
        <p:nvSpPr>
          <p:cNvPr name="TextBox 12" id="12"/>
          <p:cNvSpPr txBox="true"/>
          <p:nvPr/>
        </p:nvSpPr>
        <p:spPr>
          <a:xfrm rot="0">
            <a:off x="9604057" y="2459384"/>
            <a:ext cx="7641355" cy="304825"/>
          </a:xfrm>
          <a:prstGeom prst="rect">
            <a:avLst/>
          </a:prstGeom>
        </p:spPr>
        <p:txBody>
          <a:bodyPr anchor="t" rtlCol="false" tIns="0" lIns="0" bIns="0" rIns="0">
            <a:spAutoFit/>
          </a:bodyPr>
          <a:lstStyle/>
          <a:p>
            <a:pPr algn="l">
              <a:lnSpc>
                <a:spcPts val="2341"/>
              </a:lnSpc>
            </a:pPr>
            <a:r>
              <a:rPr lang="en-US" sz="1951">
                <a:solidFill>
                  <a:srgbClr val="4C1D95"/>
                </a:solidFill>
                <a:latin typeface="ABeeZee Bold"/>
                <a:ea typeface="ABeeZee Bold"/>
                <a:cs typeface="ABeeZee Bold"/>
                <a:sym typeface="ABeeZee Bold"/>
              </a:rPr>
              <a:t>💾  State survives restarts</a:t>
            </a:r>
          </a:p>
        </p:txBody>
      </p:sp>
      <p:sp>
        <p:nvSpPr>
          <p:cNvPr name="TextBox 13" id="13"/>
          <p:cNvSpPr txBox="true"/>
          <p:nvPr/>
        </p:nvSpPr>
        <p:spPr>
          <a:xfrm rot="0">
            <a:off x="9604057" y="3086605"/>
            <a:ext cx="7641355" cy="8096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doc_meta table stores doc_id, chunk_count, and k. FastAPI lifespan hook restores all three on startup — no re-upload needed after a server bounce.</a:t>
            </a:r>
          </a:p>
        </p:txBody>
      </p:sp>
      <p:sp>
        <p:nvSpPr>
          <p:cNvPr name="Freeform 14" id="14"/>
          <p:cNvSpPr/>
          <p:nvPr/>
        </p:nvSpPr>
        <p:spPr>
          <a:xfrm flipH="false" flipV="false" rot="0">
            <a:off x="404651" y="5620807"/>
            <a:ext cx="8387620" cy="3034189"/>
          </a:xfrm>
          <a:custGeom>
            <a:avLst/>
            <a:gdLst/>
            <a:ahLst/>
            <a:cxnLst/>
            <a:rect r="r" b="b" t="t" l="l"/>
            <a:pathLst>
              <a:path h="3034189" w="8387620">
                <a:moveTo>
                  <a:pt x="0" y="0"/>
                </a:moveTo>
                <a:lnTo>
                  <a:pt x="8387619" y="0"/>
                </a:lnTo>
                <a:lnTo>
                  <a:pt x="8387619" y="3034189"/>
                </a:lnTo>
                <a:lnTo>
                  <a:pt x="0" y="303418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5" id="15"/>
          <p:cNvGrpSpPr/>
          <p:nvPr/>
        </p:nvGrpSpPr>
        <p:grpSpPr>
          <a:xfrm rot="0">
            <a:off x="411804" y="5627951"/>
            <a:ext cx="76295" cy="3019901"/>
            <a:chOff x="0" y="0"/>
            <a:chExt cx="101727" cy="4026535"/>
          </a:xfrm>
        </p:grpSpPr>
        <p:sp>
          <p:nvSpPr>
            <p:cNvPr name="Freeform 16" id="16"/>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A78BFA"/>
            </a:solidFill>
          </p:spPr>
        </p:sp>
      </p:grpSp>
      <p:sp>
        <p:nvSpPr>
          <p:cNvPr name="TextBox 17" id="17"/>
          <p:cNvSpPr txBox="true"/>
          <p:nvPr/>
        </p:nvSpPr>
        <p:spPr>
          <a:xfrm rot="0">
            <a:off x="777773" y="5891060"/>
            <a:ext cx="7641355" cy="304825"/>
          </a:xfrm>
          <a:prstGeom prst="rect">
            <a:avLst/>
          </a:prstGeom>
        </p:spPr>
        <p:txBody>
          <a:bodyPr anchor="t" rtlCol="false" tIns="0" lIns="0" bIns="0" rIns="0">
            <a:spAutoFit/>
          </a:bodyPr>
          <a:lstStyle/>
          <a:p>
            <a:pPr algn="l">
              <a:lnSpc>
                <a:spcPts val="2341"/>
              </a:lnSpc>
            </a:pPr>
            <a:r>
              <a:rPr lang="en-US" sz="1951">
                <a:solidFill>
                  <a:srgbClr val="4C1D95"/>
                </a:solidFill>
                <a:latin typeface="ABeeZee Bold"/>
                <a:ea typeface="ABeeZee Bold"/>
                <a:cs typeface="ABeeZee Bold"/>
                <a:sym typeface="ABeeZee Bold"/>
              </a:rPr>
              <a:t>🪟  Sentence-boundary overlap</a:t>
            </a:r>
          </a:p>
        </p:txBody>
      </p:sp>
      <p:sp>
        <p:nvSpPr>
          <p:cNvPr name="TextBox 18" id="18"/>
          <p:cNvSpPr txBox="true"/>
          <p:nvPr/>
        </p:nvSpPr>
        <p:spPr>
          <a:xfrm rot="0">
            <a:off x="777773" y="6518291"/>
            <a:ext cx="7641355" cy="5429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Each chunk seeds itself with the last 64 tokens of the previous chunk. Prevents context loss when an argument spans a chunk boundary.</a:t>
            </a:r>
          </a:p>
        </p:txBody>
      </p:sp>
      <p:sp>
        <p:nvSpPr>
          <p:cNvPr name="Freeform 19" id="19"/>
          <p:cNvSpPr/>
          <p:nvPr/>
        </p:nvSpPr>
        <p:spPr>
          <a:xfrm flipH="false" flipV="false" rot="0">
            <a:off x="9230935" y="5620807"/>
            <a:ext cx="8387620" cy="3034189"/>
          </a:xfrm>
          <a:custGeom>
            <a:avLst/>
            <a:gdLst/>
            <a:ahLst/>
            <a:cxnLst/>
            <a:rect r="r" b="b" t="t" l="l"/>
            <a:pathLst>
              <a:path h="3034189" w="8387620">
                <a:moveTo>
                  <a:pt x="0" y="0"/>
                </a:moveTo>
                <a:lnTo>
                  <a:pt x="8387619" y="0"/>
                </a:lnTo>
                <a:lnTo>
                  <a:pt x="8387619" y="3034189"/>
                </a:lnTo>
                <a:lnTo>
                  <a:pt x="0" y="303418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20" id="20"/>
          <p:cNvGrpSpPr/>
          <p:nvPr/>
        </p:nvGrpSpPr>
        <p:grpSpPr>
          <a:xfrm rot="0">
            <a:off x="9238088" y="5627951"/>
            <a:ext cx="76295" cy="3019901"/>
            <a:chOff x="0" y="0"/>
            <a:chExt cx="101727" cy="4026535"/>
          </a:xfrm>
        </p:grpSpPr>
        <p:sp>
          <p:nvSpPr>
            <p:cNvPr name="Freeform 21" id="21"/>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F97316"/>
            </a:solidFill>
          </p:spPr>
        </p:sp>
      </p:grpSp>
      <p:sp>
        <p:nvSpPr>
          <p:cNvPr name="TextBox 22" id="22"/>
          <p:cNvSpPr txBox="true"/>
          <p:nvPr/>
        </p:nvSpPr>
        <p:spPr>
          <a:xfrm rot="0">
            <a:off x="9604057" y="5891060"/>
            <a:ext cx="7641355" cy="304825"/>
          </a:xfrm>
          <a:prstGeom prst="rect">
            <a:avLst/>
          </a:prstGeom>
        </p:spPr>
        <p:txBody>
          <a:bodyPr anchor="t" rtlCol="false" tIns="0" lIns="0" bIns="0" rIns="0">
            <a:spAutoFit/>
          </a:bodyPr>
          <a:lstStyle/>
          <a:p>
            <a:pPr algn="l">
              <a:lnSpc>
                <a:spcPts val="2341"/>
              </a:lnSpc>
            </a:pPr>
            <a:r>
              <a:rPr lang="en-US" sz="1951">
                <a:solidFill>
                  <a:srgbClr val="4C1D95"/>
                </a:solidFill>
                <a:latin typeface="ABeeZee Bold"/>
                <a:ea typeface="ABeeZee Bold"/>
                <a:cs typeface="ABeeZee Bold"/>
                <a:sym typeface="ABeeZee Bold"/>
              </a:rPr>
              <a:t>📡  Server-Sent Events streaming</a:t>
            </a:r>
          </a:p>
        </p:txBody>
      </p:sp>
      <p:sp>
        <p:nvSpPr>
          <p:cNvPr name="TextBox 23" id="23"/>
          <p:cNvSpPr txBox="true"/>
          <p:nvPr/>
        </p:nvSpPr>
        <p:spPr>
          <a:xfrm rot="0">
            <a:off x="9604057" y="6518291"/>
            <a:ext cx="7641355" cy="809650"/>
          </a:xfrm>
          <a:prstGeom prst="rect">
            <a:avLst/>
          </a:prstGeom>
        </p:spPr>
        <p:txBody>
          <a:bodyPr anchor="t" rtlCol="false" tIns="0" lIns="0" bIns="0" rIns="0">
            <a:spAutoFit/>
          </a:bodyPr>
          <a:lstStyle/>
          <a:p>
            <a:pPr algn="l">
              <a:lnSpc>
                <a:spcPts val="2161"/>
              </a:lnSpc>
            </a:pPr>
            <a:r>
              <a:rPr lang="en-US" sz="1801">
                <a:solidFill>
                  <a:srgbClr val="7C3AED"/>
                </a:solidFill>
                <a:latin typeface="ABeeZee"/>
                <a:ea typeface="ABeeZee"/>
                <a:cs typeface="ABeeZee"/>
                <a:sym typeface="ABeeZee"/>
              </a:rPr>
              <a:t>Ingest progress (extracting → chunking → embedding → done) and answer tokens both stream via SSE. No polling, no page reload — real-time updates throughout.</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5048" y="469001"/>
            <a:ext cx="16289188" cy="247675"/>
          </a:xfrm>
          <a:prstGeom prst="rect">
            <a:avLst/>
          </a:prstGeom>
        </p:spPr>
        <p:txBody>
          <a:bodyPr anchor="t" rtlCol="false" tIns="0" lIns="0" bIns="0" rIns="0">
            <a:spAutoFit/>
          </a:bodyPr>
          <a:lstStyle/>
          <a:p>
            <a:pPr algn="l">
              <a:lnSpc>
                <a:spcPts val="1800"/>
              </a:lnSpc>
            </a:pPr>
            <a:r>
              <a:rPr lang="en-US" sz="1500">
                <a:solidFill>
                  <a:srgbClr val="7C3AED"/>
                </a:solidFill>
                <a:latin typeface="ABeeZee Bold"/>
                <a:ea typeface="ABeeZee Bold"/>
                <a:cs typeface="ABeeZee Bold"/>
                <a:sym typeface="ABeeZee Bold"/>
              </a:rPr>
              <a:t>ADDITIONAL FEATURES</a:t>
            </a:r>
          </a:p>
        </p:txBody>
      </p:sp>
      <p:sp>
        <p:nvSpPr>
          <p:cNvPr name="TextBox 3" id="3"/>
          <p:cNvSpPr txBox="true"/>
          <p:nvPr/>
        </p:nvSpPr>
        <p:spPr>
          <a:xfrm rot="0">
            <a:off x="915048" y="979970"/>
            <a:ext cx="16289188" cy="733374"/>
          </a:xfrm>
          <a:prstGeom prst="rect">
            <a:avLst/>
          </a:prstGeom>
        </p:spPr>
        <p:txBody>
          <a:bodyPr anchor="t" rtlCol="false" tIns="0" lIns="0" bIns="0" rIns="0">
            <a:spAutoFit/>
          </a:bodyPr>
          <a:lstStyle/>
          <a:p>
            <a:pPr algn="l">
              <a:lnSpc>
                <a:spcPts val="5763"/>
              </a:lnSpc>
            </a:pPr>
            <a:r>
              <a:rPr lang="en-US" sz="4802">
                <a:solidFill>
                  <a:srgbClr val="4C1D95"/>
                </a:solidFill>
                <a:latin typeface="ABeeZee Bold"/>
                <a:ea typeface="ABeeZee Bold"/>
                <a:cs typeface="ABeeZee Bold"/>
                <a:sym typeface="ABeeZee Bold"/>
              </a:rPr>
              <a:t>Retrieval quality improvements</a:t>
            </a:r>
          </a:p>
        </p:txBody>
      </p:sp>
      <p:sp>
        <p:nvSpPr>
          <p:cNvPr name="Freeform 4" id="4"/>
          <p:cNvSpPr/>
          <p:nvPr/>
        </p:nvSpPr>
        <p:spPr>
          <a:xfrm flipH="false" flipV="false" rot="0">
            <a:off x="1028700" y="2796731"/>
            <a:ext cx="5299043" cy="3445954"/>
          </a:xfrm>
          <a:custGeom>
            <a:avLst/>
            <a:gdLst/>
            <a:ahLst/>
            <a:cxnLst/>
            <a:rect r="r" b="b" t="t" l="l"/>
            <a:pathLst>
              <a:path h="3445954" w="5299043">
                <a:moveTo>
                  <a:pt x="0" y="0"/>
                </a:moveTo>
                <a:lnTo>
                  <a:pt x="5299043" y="0"/>
                </a:lnTo>
                <a:lnTo>
                  <a:pt x="5299043" y="3445954"/>
                </a:lnTo>
                <a:lnTo>
                  <a:pt x="0" y="344595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5" id="5"/>
          <p:cNvGrpSpPr/>
          <p:nvPr/>
        </p:nvGrpSpPr>
        <p:grpSpPr>
          <a:xfrm rot="0">
            <a:off x="1035853" y="2803874"/>
            <a:ext cx="5284756" cy="57150"/>
            <a:chOff x="0" y="0"/>
            <a:chExt cx="7046341" cy="76200"/>
          </a:xfrm>
        </p:grpSpPr>
        <p:sp>
          <p:nvSpPr>
            <p:cNvPr name="Freeform 6" id="6"/>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7C3AED"/>
            </a:solidFill>
          </p:spPr>
        </p:sp>
      </p:grpSp>
      <p:sp>
        <p:nvSpPr>
          <p:cNvPr name="TextBox 7" id="7"/>
          <p:cNvSpPr txBox="true"/>
          <p:nvPr/>
        </p:nvSpPr>
        <p:spPr>
          <a:xfrm rot="0">
            <a:off x="1333195" y="2966695"/>
            <a:ext cx="4690110" cy="276250"/>
          </a:xfrm>
          <a:prstGeom prst="rect">
            <a:avLst/>
          </a:prstGeom>
        </p:spPr>
        <p:txBody>
          <a:bodyPr anchor="t" rtlCol="false" tIns="0" lIns="0" bIns="0" rIns="0">
            <a:spAutoFit/>
          </a:bodyPr>
          <a:lstStyle/>
          <a:p>
            <a:pPr algn="l">
              <a:lnSpc>
                <a:spcPts val="2161"/>
              </a:lnSpc>
            </a:pPr>
            <a:r>
              <a:rPr lang="en-US" sz="1801">
                <a:solidFill>
                  <a:srgbClr val="4C1D95"/>
                </a:solidFill>
                <a:latin typeface="ABeeZee Bold"/>
                <a:ea typeface="ABeeZee Bold"/>
                <a:cs typeface="ABeeZee Bold"/>
                <a:sym typeface="ABeeZee Bold"/>
              </a:rPr>
              <a:t>🔍  Hybrid Search (BM25 + Vector)</a:t>
            </a:r>
          </a:p>
        </p:txBody>
      </p:sp>
      <p:sp>
        <p:nvSpPr>
          <p:cNvPr name="TextBox 8" id="8"/>
          <p:cNvSpPr txBox="true"/>
          <p:nvPr/>
        </p:nvSpPr>
        <p:spPr>
          <a:xfrm rot="0">
            <a:off x="1333195" y="3547415"/>
            <a:ext cx="4690110" cy="1390675"/>
          </a:xfrm>
          <a:prstGeom prst="rect">
            <a:avLst/>
          </a:prstGeom>
        </p:spPr>
        <p:txBody>
          <a:bodyPr anchor="t" rtlCol="false" tIns="0" lIns="0" bIns="0" rIns="0">
            <a:spAutoFit/>
          </a:bodyPr>
          <a:lstStyle/>
          <a:p>
            <a:pPr algn="l">
              <a:lnSpc>
                <a:spcPts val="1800"/>
              </a:lnSpc>
            </a:pPr>
            <a:r>
              <a:rPr lang="en-US" sz="1500">
                <a:solidFill>
                  <a:srgbClr val="7C3AED"/>
                </a:solidFill>
                <a:latin typeface="ABeeZee"/>
                <a:ea typeface="ABeeZee"/>
                <a:cs typeface="ABeeZee"/>
                <a:sym typeface="ABeeZee"/>
              </a:rPr>
              <a:t>pgvector cosine similarity fused with Postgres tsvector BM25 via Reciprocal Rank Fusion (k=60). Dense retrieval catches semantic matches; BM25 catches exact keyword matches. Zero new infrastructure — Postgres handles both. Generated tsv column with GIN index.</a:t>
            </a:r>
          </a:p>
        </p:txBody>
      </p:sp>
      <p:sp>
        <p:nvSpPr>
          <p:cNvPr name="Freeform 9" id="9"/>
          <p:cNvSpPr/>
          <p:nvPr/>
        </p:nvSpPr>
        <p:spPr>
          <a:xfrm flipH="false" flipV="false" rot="0">
            <a:off x="6725288" y="2796731"/>
            <a:ext cx="5299043" cy="3445954"/>
          </a:xfrm>
          <a:custGeom>
            <a:avLst/>
            <a:gdLst/>
            <a:ahLst/>
            <a:cxnLst/>
            <a:rect r="r" b="b" t="t" l="l"/>
            <a:pathLst>
              <a:path h="3445954" w="5299043">
                <a:moveTo>
                  <a:pt x="0" y="0"/>
                </a:moveTo>
                <a:lnTo>
                  <a:pt x="5299043" y="0"/>
                </a:lnTo>
                <a:lnTo>
                  <a:pt x="5299043" y="3445954"/>
                </a:lnTo>
                <a:lnTo>
                  <a:pt x="0" y="344595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0" id="10"/>
          <p:cNvGrpSpPr/>
          <p:nvPr/>
        </p:nvGrpSpPr>
        <p:grpSpPr>
          <a:xfrm rot="0">
            <a:off x="6732441" y="2803874"/>
            <a:ext cx="5284756" cy="57150"/>
            <a:chOff x="0" y="0"/>
            <a:chExt cx="7046341" cy="76200"/>
          </a:xfrm>
        </p:grpSpPr>
        <p:sp>
          <p:nvSpPr>
            <p:cNvPr name="Freeform 11" id="11"/>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059669"/>
            </a:solidFill>
          </p:spPr>
        </p:sp>
      </p:grpSp>
      <p:sp>
        <p:nvSpPr>
          <p:cNvPr name="TextBox 12" id="12"/>
          <p:cNvSpPr txBox="true"/>
          <p:nvPr/>
        </p:nvSpPr>
        <p:spPr>
          <a:xfrm rot="0">
            <a:off x="7029783" y="2966695"/>
            <a:ext cx="4690110" cy="276250"/>
          </a:xfrm>
          <a:prstGeom prst="rect">
            <a:avLst/>
          </a:prstGeom>
        </p:spPr>
        <p:txBody>
          <a:bodyPr anchor="t" rtlCol="false" tIns="0" lIns="0" bIns="0" rIns="0">
            <a:spAutoFit/>
          </a:bodyPr>
          <a:lstStyle/>
          <a:p>
            <a:pPr algn="l">
              <a:lnSpc>
                <a:spcPts val="2161"/>
              </a:lnSpc>
            </a:pPr>
            <a:r>
              <a:rPr lang="en-US" sz="1801">
                <a:solidFill>
                  <a:srgbClr val="4C1D95"/>
                </a:solidFill>
                <a:latin typeface="ABeeZee Bold"/>
                <a:ea typeface="ABeeZee Bold"/>
                <a:cs typeface="ABeeZee Bold"/>
                <a:sym typeface="ABeeZee Bold"/>
              </a:rPr>
              <a:t>🖼  Multimodal Image Retrieval</a:t>
            </a:r>
          </a:p>
        </p:txBody>
      </p:sp>
      <p:sp>
        <p:nvSpPr>
          <p:cNvPr name="TextBox 13" id="13"/>
          <p:cNvSpPr txBox="true"/>
          <p:nvPr/>
        </p:nvSpPr>
        <p:spPr>
          <a:xfrm rot="0">
            <a:off x="7029783" y="3547415"/>
            <a:ext cx="4690110" cy="2305075"/>
          </a:xfrm>
          <a:prstGeom prst="rect">
            <a:avLst/>
          </a:prstGeom>
        </p:spPr>
        <p:txBody>
          <a:bodyPr anchor="t" rtlCol="false" tIns="0" lIns="0" bIns="0" rIns="0">
            <a:spAutoFit/>
          </a:bodyPr>
          <a:lstStyle/>
          <a:p>
            <a:pPr algn="l">
              <a:lnSpc>
                <a:spcPts val="1800"/>
              </a:lnSpc>
            </a:pPr>
            <a:r>
              <a:rPr lang="en-US" sz="1500">
                <a:solidFill>
                  <a:srgbClr val="7C3AED"/>
                </a:solidFill>
                <a:latin typeface="ABeeZee"/>
                <a:ea typeface="ABeeZee"/>
                <a:cs typeface="ABeeZee"/>
                <a:sym typeface="ABeeZee"/>
              </a:rPr>
              <a:t>Opt-in at upload: extract embedded images with PyMuPDF, caption each with Gemini Vision (downsized + bounded concurrency), embed captions into the same hybrid space, and store image bytes in BYTEA. At answer time, image chunks are passed as multimodal Parts so Gemini reasons over the picture itself. Bold painting/figure names in the answer become clickable hyperlinks via fuzzy match against caption + adjacent page text.</a:t>
            </a:r>
          </a:p>
        </p:txBody>
      </p:sp>
      <p:sp>
        <p:nvSpPr>
          <p:cNvPr name="Freeform 14" id="14"/>
          <p:cNvSpPr/>
          <p:nvPr/>
        </p:nvSpPr>
        <p:spPr>
          <a:xfrm flipH="false" flipV="false" rot="0">
            <a:off x="12421886" y="2796731"/>
            <a:ext cx="5299043" cy="3445954"/>
          </a:xfrm>
          <a:custGeom>
            <a:avLst/>
            <a:gdLst/>
            <a:ahLst/>
            <a:cxnLst/>
            <a:rect r="r" b="b" t="t" l="l"/>
            <a:pathLst>
              <a:path h="3445954" w="5299043">
                <a:moveTo>
                  <a:pt x="0" y="0"/>
                </a:moveTo>
                <a:lnTo>
                  <a:pt x="5299043" y="0"/>
                </a:lnTo>
                <a:lnTo>
                  <a:pt x="5299043" y="3445954"/>
                </a:lnTo>
                <a:lnTo>
                  <a:pt x="0" y="344595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15" id="15"/>
          <p:cNvGrpSpPr/>
          <p:nvPr/>
        </p:nvGrpSpPr>
        <p:grpSpPr>
          <a:xfrm rot="0">
            <a:off x="12429030" y="2803874"/>
            <a:ext cx="5284756" cy="57150"/>
            <a:chOff x="0" y="0"/>
            <a:chExt cx="7046341" cy="76200"/>
          </a:xfrm>
        </p:grpSpPr>
        <p:sp>
          <p:nvSpPr>
            <p:cNvPr name="Freeform 16" id="16"/>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A78BFA"/>
            </a:solidFill>
          </p:spPr>
        </p:sp>
      </p:grpSp>
      <p:sp>
        <p:nvSpPr>
          <p:cNvPr name="TextBox 17" id="17"/>
          <p:cNvSpPr txBox="true"/>
          <p:nvPr/>
        </p:nvSpPr>
        <p:spPr>
          <a:xfrm rot="0">
            <a:off x="12726372" y="2966695"/>
            <a:ext cx="4690110" cy="276250"/>
          </a:xfrm>
          <a:prstGeom prst="rect">
            <a:avLst/>
          </a:prstGeom>
        </p:spPr>
        <p:txBody>
          <a:bodyPr anchor="t" rtlCol="false" tIns="0" lIns="0" bIns="0" rIns="0">
            <a:spAutoFit/>
          </a:bodyPr>
          <a:lstStyle/>
          <a:p>
            <a:pPr algn="l">
              <a:lnSpc>
                <a:spcPts val="2161"/>
              </a:lnSpc>
            </a:pPr>
            <a:r>
              <a:rPr lang="en-US" sz="1801">
                <a:solidFill>
                  <a:srgbClr val="4C1D95"/>
                </a:solidFill>
                <a:latin typeface="ABeeZee Bold"/>
                <a:ea typeface="ABeeZee Bold"/>
                <a:cs typeface="ABeeZee Bold"/>
                <a:sym typeface="ABeeZee Bold"/>
              </a:rPr>
              <a:t>🪟  Parent-Child Chunking</a:t>
            </a:r>
          </a:p>
        </p:txBody>
      </p:sp>
      <p:sp>
        <p:nvSpPr>
          <p:cNvPr name="TextBox 18" id="18"/>
          <p:cNvSpPr txBox="true"/>
          <p:nvPr/>
        </p:nvSpPr>
        <p:spPr>
          <a:xfrm rot="0">
            <a:off x="12726372" y="3547415"/>
            <a:ext cx="4690110" cy="1162075"/>
          </a:xfrm>
          <a:prstGeom prst="rect">
            <a:avLst/>
          </a:prstGeom>
        </p:spPr>
        <p:txBody>
          <a:bodyPr anchor="t" rtlCol="false" tIns="0" lIns="0" bIns="0" rIns="0">
            <a:spAutoFit/>
          </a:bodyPr>
          <a:lstStyle/>
          <a:p>
            <a:pPr algn="l">
              <a:lnSpc>
                <a:spcPts val="1800"/>
              </a:lnSpc>
            </a:pPr>
            <a:r>
              <a:rPr lang="en-US" sz="1500">
                <a:solidFill>
                  <a:srgbClr val="7C3AED"/>
                </a:solidFill>
                <a:latin typeface="ABeeZee"/>
                <a:ea typeface="ABeeZee"/>
                <a:cs typeface="ABeeZee"/>
                <a:sym typeface="ABeeZee"/>
              </a:rPr>
              <a:t>Small chunks (precise retrieval) are embedded and retrieved. Each chunk also stores its adjacent-window text (prev + self + next chunk) as parent_text. The LLM receives the wider context; citations show only the precise matched chunk.</a:t>
            </a:r>
          </a:p>
        </p:txBody>
      </p:sp>
      <p:sp>
        <p:nvSpPr>
          <p:cNvPr name="Freeform 19" id="19"/>
          <p:cNvSpPr/>
          <p:nvPr/>
        </p:nvSpPr>
        <p:spPr>
          <a:xfrm flipH="false" flipV="false" rot="0">
            <a:off x="2019667" y="6566535"/>
            <a:ext cx="6191345" cy="3720465"/>
          </a:xfrm>
          <a:custGeom>
            <a:avLst/>
            <a:gdLst/>
            <a:ahLst/>
            <a:cxnLst/>
            <a:rect r="r" b="b" t="t" l="l"/>
            <a:pathLst>
              <a:path h="3720465" w="6191345">
                <a:moveTo>
                  <a:pt x="0" y="0"/>
                </a:moveTo>
                <a:lnTo>
                  <a:pt x="6191345" y="0"/>
                </a:lnTo>
                <a:lnTo>
                  <a:pt x="6191345" y="3720465"/>
                </a:lnTo>
                <a:lnTo>
                  <a:pt x="0" y="372046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20" id="20"/>
          <p:cNvGrpSpPr/>
          <p:nvPr/>
        </p:nvGrpSpPr>
        <p:grpSpPr>
          <a:xfrm rot="0">
            <a:off x="2941868" y="6573679"/>
            <a:ext cx="6177058" cy="57150"/>
            <a:chOff x="0" y="0"/>
            <a:chExt cx="8236077" cy="76200"/>
          </a:xfrm>
        </p:grpSpPr>
        <p:sp>
          <p:nvSpPr>
            <p:cNvPr name="Freeform 21" id="21"/>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97316"/>
            </a:solidFill>
          </p:spPr>
        </p:sp>
      </p:grpSp>
      <p:sp>
        <p:nvSpPr>
          <p:cNvPr name="TextBox 22" id="22"/>
          <p:cNvSpPr txBox="true"/>
          <p:nvPr/>
        </p:nvSpPr>
        <p:spPr>
          <a:xfrm rot="0">
            <a:off x="3239200" y="6736499"/>
            <a:ext cx="5582345" cy="276250"/>
          </a:xfrm>
          <a:prstGeom prst="rect">
            <a:avLst/>
          </a:prstGeom>
        </p:spPr>
        <p:txBody>
          <a:bodyPr anchor="t" rtlCol="false" tIns="0" lIns="0" bIns="0" rIns="0">
            <a:spAutoFit/>
          </a:bodyPr>
          <a:lstStyle/>
          <a:p>
            <a:pPr algn="l">
              <a:lnSpc>
                <a:spcPts val="2161"/>
              </a:lnSpc>
            </a:pPr>
            <a:r>
              <a:rPr lang="en-US" sz="1801">
                <a:solidFill>
                  <a:srgbClr val="4C1D95"/>
                </a:solidFill>
                <a:latin typeface="ABeeZee Bold"/>
                <a:ea typeface="ABeeZee Bold"/>
                <a:cs typeface="ABeeZee Bold"/>
                <a:sym typeface="ABeeZee Bold"/>
              </a:rPr>
              <a:t>⚡  Duplicate Upload Detection</a:t>
            </a:r>
          </a:p>
        </p:txBody>
      </p:sp>
      <p:sp>
        <p:nvSpPr>
          <p:cNvPr name="TextBox 23" id="23"/>
          <p:cNvSpPr txBox="true"/>
          <p:nvPr/>
        </p:nvSpPr>
        <p:spPr>
          <a:xfrm rot="0">
            <a:off x="3239200" y="7317219"/>
            <a:ext cx="5582345" cy="933475"/>
          </a:xfrm>
          <a:prstGeom prst="rect">
            <a:avLst/>
          </a:prstGeom>
        </p:spPr>
        <p:txBody>
          <a:bodyPr anchor="t" rtlCol="false" tIns="0" lIns="0" bIns="0" rIns="0">
            <a:spAutoFit/>
          </a:bodyPr>
          <a:lstStyle/>
          <a:p>
            <a:pPr algn="l">
              <a:lnSpc>
                <a:spcPts val="1800"/>
              </a:lnSpc>
            </a:pPr>
            <a:r>
              <a:rPr lang="en-US" sz="1500">
                <a:solidFill>
                  <a:srgbClr val="7C3AED"/>
                </a:solidFill>
                <a:latin typeface="ABeeZee"/>
                <a:ea typeface="ABeeZee"/>
                <a:cs typeface="ABeeZee"/>
                <a:sym typeface="ABeeZee"/>
              </a:rPr>
              <a:t>doc_id is a SHA-256 hash of the PDF bytes. On upload, doc_exists() checks doc_meta before extraction begins. Identical file re-uploads skip PyMuPDF, tiktoken, all Gemini embedding calls, and DB writes — instant load from cache.</a:t>
            </a:r>
          </a:p>
        </p:txBody>
      </p:sp>
      <p:sp>
        <p:nvSpPr>
          <p:cNvPr name="Freeform 24" id="24"/>
          <p:cNvSpPr/>
          <p:nvPr/>
        </p:nvSpPr>
        <p:spPr>
          <a:xfrm flipH="false" flipV="false" rot="0">
            <a:off x="9374815" y="6566535"/>
            <a:ext cx="6191345" cy="3720465"/>
          </a:xfrm>
          <a:custGeom>
            <a:avLst/>
            <a:gdLst/>
            <a:ahLst/>
            <a:cxnLst/>
            <a:rect r="r" b="b" t="t" l="l"/>
            <a:pathLst>
              <a:path h="3720465" w="6191345">
                <a:moveTo>
                  <a:pt x="0" y="0"/>
                </a:moveTo>
                <a:lnTo>
                  <a:pt x="6191345" y="0"/>
                </a:lnTo>
                <a:lnTo>
                  <a:pt x="6191345" y="3720465"/>
                </a:lnTo>
                <a:lnTo>
                  <a:pt x="0" y="372046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25" id="25"/>
          <p:cNvGrpSpPr/>
          <p:nvPr/>
        </p:nvGrpSpPr>
        <p:grpSpPr>
          <a:xfrm rot="0">
            <a:off x="9381968" y="6573679"/>
            <a:ext cx="6177058" cy="57150"/>
            <a:chOff x="0" y="0"/>
            <a:chExt cx="8236077" cy="76200"/>
          </a:xfrm>
        </p:grpSpPr>
        <p:sp>
          <p:nvSpPr>
            <p:cNvPr name="Freeform 26" id="26"/>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59E0B"/>
            </a:solidFill>
          </p:spPr>
        </p:sp>
      </p:grpSp>
      <p:sp>
        <p:nvSpPr>
          <p:cNvPr name="TextBox 27" id="27"/>
          <p:cNvSpPr txBox="true"/>
          <p:nvPr/>
        </p:nvSpPr>
        <p:spPr>
          <a:xfrm rot="0">
            <a:off x="9679310" y="6736499"/>
            <a:ext cx="5582345" cy="276250"/>
          </a:xfrm>
          <a:prstGeom prst="rect">
            <a:avLst/>
          </a:prstGeom>
        </p:spPr>
        <p:txBody>
          <a:bodyPr anchor="t" rtlCol="false" tIns="0" lIns="0" bIns="0" rIns="0">
            <a:spAutoFit/>
          </a:bodyPr>
          <a:lstStyle/>
          <a:p>
            <a:pPr algn="l">
              <a:lnSpc>
                <a:spcPts val="2161"/>
              </a:lnSpc>
            </a:pPr>
            <a:r>
              <a:rPr lang="en-US" sz="1801">
                <a:solidFill>
                  <a:srgbClr val="4C1D95"/>
                </a:solidFill>
                <a:latin typeface="ABeeZee Bold"/>
                <a:ea typeface="ABeeZee Bold"/>
                <a:cs typeface="ABeeZee Bold"/>
                <a:sym typeface="ABeeZee Bold"/>
              </a:rPr>
              <a:t>📎  Numbered Citations, PDF Viewer &amp; Memory</a:t>
            </a:r>
          </a:p>
        </p:txBody>
      </p:sp>
      <p:sp>
        <p:nvSpPr>
          <p:cNvPr name="TextBox 28" id="28"/>
          <p:cNvSpPr txBox="true"/>
          <p:nvPr/>
        </p:nvSpPr>
        <p:spPr>
          <a:xfrm rot="0">
            <a:off x="9679310" y="7317219"/>
            <a:ext cx="5582345" cy="1390675"/>
          </a:xfrm>
          <a:prstGeom prst="rect">
            <a:avLst/>
          </a:prstGeom>
        </p:spPr>
        <p:txBody>
          <a:bodyPr anchor="t" rtlCol="false" tIns="0" lIns="0" bIns="0" rIns="0">
            <a:spAutoFit/>
          </a:bodyPr>
          <a:lstStyle/>
          <a:p>
            <a:pPr algn="l">
              <a:lnSpc>
                <a:spcPts val="1800"/>
              </a:lnSpc>
            </a:pPr>
            <a:r>
              <a:rPr lang="en-US" sz="1500">
                <a:solidFill>
                  <a:srgbClr val="7C3AED"/>
                </a:solidFill>
                <a:latin typeface="ABeeZee"/>
                <a:ea typeface="ABeeZee"/>
                <a:cs typeface="ABeeZee"/>
                <a:sym typeface="ABeeZee"/>
              </a:rPr>
              <a:t>Inline numbered [1][2][3] citations in every answer. Click any badge to open the PDF viewer highlighting the exact source chunk. Conversation memory persists across turns. — a low min_sim signals k is too small for the document. Citation pills in the UI show a colour-coded % badge: green ≥75%, amber ≥50%, red &lt;50%.</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5048" y="469001"/>
            <a:ext cx="16289188" cy="247675"/>
          </a:xfrm>
          <a:prstGeom prst="rect">
            <a:avLst/>
          </a:prstGeom>
        </p:spPr>
        <p:txBody>
          <a:bodyPr anchor="t" rtlCol="false" tIns="0" lIns="0" bIns="0" rIns="0">
            <a:spAutoFit/>
          </a:bodyPr>
          <a:lstStyle/>
          <a:p>
            <a:pPr algn="l">
              <a:lnSpc>
                <a:spcPts val="1800"/>
              </a:lnSpc>
            </a:pPr>
            <a:r>
              <a:rPr lang="en-US" sz="1500">
                <a:solidFill>
                  <a:srgbClr val="7C3AED"/>
                </a:solidFill>
                <a:latin typeface="ABeeZee Bold"/>
                <a:ea typeface="ABeeZee Bold"/>
                <a:cs typeface="ABeeZee Bold"/>
                <a:sym typeface="ABeeZee Bold"/>
              </a:rPr>
              <a:t>DEMONSTRATION</a:t>
            </a:r>
          </a:p>
        </p:txBody>
      </p:sp>
      <p:sp>
        <p:nvSpPr>
          <p:cNvPr name="TextBox 3" id="3"/>
          <p:cNvSpPr txBox="true"/>
          <p:nvPr/>
        </p:nvSpPr>
        <p:spPr>
          <a:xfrm rot="0">
            <a:off x="915048" y="979970"/>
            <a:ext cx="16289188" cy="733374"/>
          </a:xfrm>
          <a:prstGeom prst="rect">
            <a:avLst/>
          </a:prstGeom>
        </p:spPr>
        <p:txBody>
          <a:bodyPr anchor="t" rtlCol="false" tIns="0" lIns="0" bIns="0" rIns="0">
            <a:spAutoFit/>
          </a:bodyPr>
          <a:lstStyle/>
          <a:p>
            <a:pPr algn="l">
              <a:lnSpc>
                <a:spcPts val="5763"/>
              </a:lnSpc>
            </a:pPr>
            <a:r>
              <a:rPr lang="en-US" sz="4802">
                <a:solidFill>
                  <a:srgbClr val="4C1D95"/>
                </a:solidFill>
                <a:latin typeface="ABeeZee Bold"/>
                <a:ea typeface="ABeeZee Bold"/>
                <a:cs typeface="ABeeZee Bold"/>
                <a:sym typeface="ABeeZee Bold"/>
              </a:rPr>
              <a:t>Live demo</a:t>
            </a:r>
          </a:p>
        </p:txBody>
      </p:sp>
      <p:grpSp>
        <p:nvGrpSpPr>
          <p:cNvPr name="Group 4" id="4"/>
          <p:cNvGrpSpPr/>
          <p:nvPr/>
        </p:nvGrpSpPr>
        <p:grpSpPr>
          <a:xfrm rot="0">
            <a:off x="823608" y="1853108"/>
            <a:ext cx="16650557" cy="57150"/>
            <a:chOff x="0" y="0"/>
            <a:chExt cx="22200743" cy="76200"/>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sp>
        <p:nvSpPr>
          <p:cNvPr name="Freeform 6" id="6"/>
          <p:cNvSpPr/>
          <p:nvPr/>
        </p:nvSpPr>
        <p:spPr>
          <a:xfrm flipH="false" flipV="false" rot="0">
            <a:off x="816454" y="2189131"/>
            <a:ext cx="16664845" cy="6191345"/>
          </a:xfrm>
          <a:custGeom>
            <a:avLst/>
            <a:gdLst/>
            <a:ahLst/>
            <a:cxnLst/>
            <a:rect r="r" b="b" t="t" l="l"/>
            <a:pathLst>
              <a:path h="6191345" w="16664845">
                <a:moveTo>
                  <a:pt x="0" y="0"/>
                </a:moveTo>
                <a:lnTo>
                  <a:pt x="16664845" y="0"/>
                </a:lnTo>
                <a:lnTo>
                  <a:pt x="16664845" y="6191345"/>
                </a:lnTo>
                <a:lnTo>
                  <a:pt x="0" y="619134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1326842" y="2459384"/>
            <a:ext cx="15602855" cy="323875"/>
          </a:xfrm>
          <a:prstGeom prst="rect">
            <a:avLst/>
          </a:prstGeom>
        </p:spPr>
        <p:txBody>
          <a:bodyPr anchor="t" rtlCol="false" tIns="0" lIns="0" bIns="0" rIns="0">
            <a:spAutoFit/>
          </a:bodyPr>
          <a:lstStyle/>
          <a:p>
            <a:pPr algn="l">
              <a:lnSpc>
                <a:spcPts val="2520"/>
              </a:lnSpc>
            </a:pPr>
            <a:r>
              <a:rPr lang="en-US" sz="2101">
                <a:solidFill>
                  <a:srgbClr val="4C1D95"/>
                </a:solidFill>
                <a:latin typeface="ABeeZee Bold"/>
                <a:ea typeface="ABeeZee Bold"/>
                <a:cs typeface="ABeeZee Bold"/>
                <a:sym typeface="ABeeZee Bold"/>
              </a:rPr>
              <a:t>Demo flow</a:t>
            </a:r>
          </a:p>
        </p:txBody>
      </p:sp>
      <p:sp>
        <p:nvSpPr>
          <p:cNvPr name="TextBox 8" id="8"/>
          <p:cNvSpPr txBox="true"/>
          <p:nvPr/>
        </p:nvSpPr>
        <p:spPr>
          <a:xfrm rot="0">
            <a:off x="1326842" y="3136192"/>
            <a:ext cx="503453" cy="419151"/>
          </a:xfrm>
          <a:prstGeom prst="rect">
            <a:avLst/>
          </a:prstGeom>
        </p:spPr>
        <p:txBody>
          <a:bodyPr anchor="t" rtlCol="false" tIns="0" lIns="0" bIns="0" rIns="0">
            <a:spAutoFit/>
          </a:bodyPr>
          <a:lstStyle/>
          <a:p>
            <a:pPr algn="l">
              <a:lnSpc>
                <a:spcPts val="3242"/>
              </a:lnSpc>
            </a:pPr>
            <a:r>
              <a:rPr lang="en-US" sz="2701">
                <a:solidFill>
                  <a:srgbClr val="4C1D95"/>
                </a:solidFill>
                <a:latin typeface="ABeeZee"/>
                <a:ea typeface="ABeeZee"/>
                <a:cs typeface="ABeeZee"/>
                <a:sym typeface="ABeeZee"/>
              </a:rPr>
              <a:t>1️⃣</a:t>
            </a:r>
          </a:p>
        </p:txBody>
      </p:sp>
      <p:sp>
        <p:nvSpPr>
          <p:cNvPr name="TextBox 9" id="9"/>
          <p:cNvSpPr txBox="true"/>
          <p:nvPr/>
        </p:nvSpPr>
        <p:spPr>
          <a:xfrm rot="0">
            <a:off x="2150450" y="3214354"/>
            <a:ext cx="14916512" cy="304825"/>
          </a:xfrm>
          <a:prstGeom prst="rect">
            <a:avLst/>
          </a:prstGeom>
        </p:spPr>
        <p:txBody>
          <a:bodyPr anchor="t" rtlCol="false" tIns="0" lIns="0" bIns="0" rIns="0">
            <a:spAutoFit/>
          </a:bodyPr>
          <a:lstStyle/>
          <a:p>
            <a:pPr algn="l">
              <a:lnSpc>
                <a:spcPts val="2341"/>
              </a:lnSpc>
            </a:pPr>
            <a:r>
              <a:rPr lang="en-US" sz="1951">
                <a:solidFill>
                  <a:srgbClr val="4C1D95"/>
                </a:solidFill>
                <a:latin typeface="ABeeZee Bold"/>
                <a:ea typeface="ABeeZee Bold"/>
                <a:cs typeface="ABeeZee Bold"/>
                <a:sym typeface="ABeeZee Bold"/>
              </a:rPr>
              <a:t>Upload a PDF</a:t>
            </a:r>
          </a:p>
        </p:txBody>
      </p:sp>
      <p:sp>
        <p:nvSpPr>
          <p:cNvPr name="TextBox 10" id="10"/>
          <p:cNvSpPr txBox="true"/>
          <p:nvPr/>
        </p:nvSpPr>
        <p:spPr>
          <a:xfrm rot="0">
            <a:off x="2150450" y="3695910"/>
            <a:ext cx="14916512" cy="495325"/>
          </a:xfrm>
          <a:prstGeom prst="rect">
            <a:avLst/>
          </a:prstGeom>
        </p:spPr>
        <p:txBody>
          <a:bodyPr anchor="t" rtlCol="false" tIns="0" lIns="0" bIns="0" rIns="0">
            <a:spAutoFit/>
          </a:bodyPr>
          <a:lstStyle/>
          <a:p>
            <a:pPr algn="l">
              <a:lnSpc>
                <a:spcPts val="1980"/>
              </a:lnSpc>
            </a:pPr>
            <a:r>
              <a:rPr lang="en-US" sz="1651">
                <a:solidFill>
                  <a:srgbClr val="7C3AED"/>
                </a:solidFill>
                <a:latin typeface="ABeeZee"/>
                <a:ea typeface="ABeeZee"/>
                <a:cs typeface="ABeeZee"/>
                <a:sym typeface="ABeeZee"/>
              </a:rPr>
              <a:t>Drag &amp; drop, then pick toggles for the PDF: Hand Written? for scans / image-only PDFs (fills empty text), Markings? for hand-drawn underlines/highlights baked into the page raster (slow — use the page-range input on long docs).</a:t>
            </a:r>
          </a:p>
        </p:txBody>
      </p:sp>
      <p:sp>
        <p:nvSpPr>
          <p:cNvPr name="TextBox 11" id="11"/>
          <p:cNvSpPr txBox="true"/>
          <p:nvPr/>
        </p:nvSpPr>
        <p:spPr>
          <a:xfrm rot="0">
            <a:off x="1326842" y="4302966"/>
            <a:ext cx="503453" cy="419151"/>
          </a:xfrm>
          <a:prstGeom prst="rect">
            <a:avLst/>
          </a:prstGeom>
        </p:spPr>
        <p:txBody>
          <a:bodyPr anchor="t" rtlCol="false" tIns="0" lIns="0" bIns="0" rIns="0">
            <a:spAutoFit/>
          </a:bodyPr>
          <a:lstStyle/>
          <a:p>
            <a:pPr algn="l">
              <a:lnSpc>
                <a:spcPts val="3242"/>
              </a:lnSpc>
            </a:pPr>
            <a:r>
              <a:rPr lang="en-US" sz="2701">
                <a:solidFill>
                  <a:srgbClr val="4C1D95"/>
                </a:solidFill>
                <a:latin typeface="ABeeZee"/>
                <a:ea typeface="ABeeZee"/>
                <a:cs typeface="ABeeZee"/>
                <a:sym typeface="ABeeZee"/>
              </a:rPr>
              <a:t>2️⃣</a:t>
            </a:r>
          </a:p>
        </p:txBody>
      </p:sp>
      <p:sp>
        <p:nvSpPr>
          <p:cNvPr name="TextBox 12" id="12"/>
          <p:cNvSpPr txBox="true"/>
          <p:nvPr/>
        </p:nvSpPr>
        <p:spPr>
          <a:xfrm rot="0">
            <a:off x="2150450" y="4381119"/>
            <a:ext cx="14916512" cy="304825"/>
          </a:xfrm>
          <a:prstGeom prst="rect">
            <a:avLst/>
          </a:prstGeom>
        </p:spPr>
        <p:txBody>
          <a:bodyPr anchor="t" rtlCol="false" tIns="0" lIns="0" bIns="0" rIns="0">
            <a:spAutoFit/>
          </a:bodyPr>
          <a:lstStyle/>
          <a:p>
            <a:pPr algn="l">
              <a:lnSpc>
                <a:spcPts val="2341"/>
              </a:lnSpc>
            </a:pPr>
            <a:r>
              <a:rPr lang="en-US" sz="1951">
                <a:solidFill>
                  <a:srgbClr val="4C1D95"/>
                </a:solidFill>
                <a:latin typeface="ABeeZee Bold"/>
                <a:ea typeface="ABeeZee Bold"/>
                <a:cs typeface="ABeeZee Bold"/>
                <a:sym typeface="ABeeZee Bold"/>
              </a:rPr>
              <a:t>Ask a specific question</a:t>
            </a:r>
          </a:p>
        </p:txBody>
      </p:sp>
      <p:sp>
        <p:nvSpPr>
          <p:cNvPr name="TextBox 13" id="13"/>
          <p:cNvSpPr txBox="true"/>
          <p:nvPr/>
        </p:nvSpPr>
        <p:spPr>
          <a:xfrm rot="0">
            <a:off x="2150450" y="4862674"/>
            <a:ext cx="14916512"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a:ea typeface="ABeeZee"/>
                <a:cs typeface="ABeeZee"/>
                <a:sym typeface="ABeeZee"/>
              </a:rPr>
              <a:t>Observe streamed response, citation pills with similarity % badges, and hover for raw chunk text</a:t>
            </a:r>
          </a:p>
        </p:txBody>
      </p:sp>
      <p:sp>
        <p:nvSpPr>
          <p:cNvPr name="TextBox 14" id="14"/>
          <p:cNvSpPr txBox="true"/>
          <p:nvPr/>
        </p:nvSpPr>
        <p:spPr>
          <a:xfrm rot="0">
            <a:off x="1326842" y="5469731"/>
            <a:ext cx="503453" cy="419151"/>
          </a:xfrm>
          <a:prstGeom prst="rect">
            <a:avLst/>
          </a:prstGeom>
        </p:spPr>
        <p:txBody>
          <a:bodyPr anchor="t" rtlCol="false" tIns="0" lIns="0" bIns="0" rIns="0">
            <a:spAutoFit/>
          </a:bodyPr>
          <a:lstStyle/>
          <a:p>
            <a:pPr algn="l">
              <a:lnSpc>
                <a:spcPts val="3242"/>
              </a:lnSpc>
            </a:pPr>
            <a:r>
              <a:rPr lang="en-US" sz="2701">
                <a:solidFill>
                  <a:srgbClr val="4C1D95"/>
                </a:solidFill>
                <a:latin typeface="ABeeZee"/>
                <a:ea typeface="ABeeZee"/>
                <a:cs typeface="ABeeZee"/>
                <a:sym typeface="ABeeZee"/>
              </a:rPr>
              <a:t>3️⃣</a:t>
            </a:r>
          </a:p>
        </p:txBody>
      </p:sp>
      <p:sp>
        <p:nvSpPr>
          <p:cNvPr name="TextBox 15" id="15"/>
          <p:cNvSpPr txBox="true"/>
          <p:nvPr/>
        </p:nvSpPr>
        <p:spPr>
          <a:xfrm rot="0">
            <a:off x="2150450" y="5547893"/>
            <a:ext cx="14916512" cy="304825"/>
          </a:xfrm>
          <a:prstGeom prst="rect">
            <a:avLst/>
          </a:prstGeom>
        </p:spPr>
        <p:txBody>
          <a:bodyPr anchor="t" rtlCol="false" tIns="0" lIns="0" bIns="0" rIns="0">
            <a:spAutoFit/>
          </a:bodyPr>
          <a:lstStyle/>
          <a:p>
            <a:pPr algn="l">
              <a:lnSpc>
                <a:spcPts val="2341"/>
              </a:lnSpc>
            </a:pPr>
            <a:r>
              <a:rPr lang="en-US" sz="1951">
                <a:solidFill>
                  <a:srgbClr val="4C1D95"/>
                </a:solidFill>
                <a:latin typeface="ABeeZee Bold"/>
                <a:ea typeface="ABeeZee Bold"/>
                <a:cs typeface="ABeeZee Bold"/>
                <a:sym typeface="ABeeZee Bold"/>
              </a:rPr>
              <a:t>Re-upload the same PDF</a:t>
            </a:r>
          </a:p>
        </p:txBody>
      </p:sp>
      <p:sp>
        <p:nvSpPr>
          <p:cNvPr name="TextBox 16" id="16"/>
          <p:cNvSpPr txBox="true"/>
          <p:nvPr/>
        </p:nvSpPr>
        <p:spPr>
          <a:xfrm rot="0">
            <a:off x="2150450" y="6029449"/>
            <a:ext cx="14916512"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a:ea typeface="ABeeZee"/>
                <a:cs typeface="ABeeZee"/>
                <a:sym typeface="ABeeZee"/>
              </a:rPr>
              <a:t>Ingest completes instantly — duplicate detection skips all embedding</a:t>
            </a:r>
          </a:p>
        </p:txBody>
      </p:sp>
      <p:sp>
        <p:nvSpPr>
          <p:cNvPr name="TextBox 17" id="17"/>
          <p:cNvSpPr txBox="true"/>
          <p:nvPr/>
        </p:nvSpPr>
        <p:spPr>
          <a:xfrm rot="0">
            <a:off x="1326842" y="6636506"/>
            <a:ext cx="503453" cy="419151"/>
          </a:xfrm>
          <a:prstGeom prst="rect">
            <a:avLst/>
          </a:prstGeom>
        </p:spPr>
        <p:txBody>
          <a:bodyPr anchor="t" rtlCol="false" tIns="0" lIns="0" bIns="0" rIns="0">
            <a:spAutoFit/>
          </a:bodyPr>
          <a:lstStyle/>
          <a:p>
            <a:pPr algn="l">
              <a:lnSpc>
                <a:spcPts val="3242"/>
              </a:lnSpc>
            </a:pPr>
            <a:r>
              <a:rPr lang="en-US" sz="2701">
                <a:solidFill>
                  <a:srgbClr val="4C1D95"/>
                </a:solidFill>
                <a:latin typeface="ABeeZee"/>
                <a:ea typeface="ABeeZee"/>
                <a:cs typeface="ABeeZee"/>
                <a:sym typeface="ABeeZee"/>
              </a:rPr>
              <a:t>4️⃣</a:t>
            </a:r>
          </a:p>
        </p:txBody>
      </p:sp>
      <p:sp>
        <p:nvSpPr>
          <p:cNvPr name="TextBox 18" id="18"/>
          <p:cNvSpPr txBox="true"/>
          <p:nvPr/>
        </p:nvSpPr>
        <p:spPr>
          <a:xfrm rot="0">
            <a:off x="2150450" y="6714668"/>
            <a:ext cx="14916512" cy="304825"/>
          </a:xfrm>
          <a:prstGeom prst="rect">
            <a:avLst/>
          </a:prstGeom>
        </p:spPr>
        <p:txBody>
          <a:bodyPr anchor="t" rtlCol="false" tIns="0" lIns="0" bIns="0" rIns="0">
            <a:spAutoFit/>
          </a:bodyPr>
          <a:lstStyle/>
          <a:p>
            <a:pPr algn="l">
              <a:lnSpc>
                <a:spcPts val="2341"/>
              </a:lnSpc>
            </a:pPr>
            <a:r>
              <a:rPr lang="en-US" sz="1951">
                <a:solidFill>
                  <a:srgbClr val="4C1D95"/>
                </a:solidFill>
                <a:latin typeface="ABeeZee Bold"/>
                <a:ea typeface="ABeeZee Bold"/>
                <a:cs typeface="ABeeZee Bold"/>
                <a:sym typeface="ABeeZee Bold"/>
              </a:rPr>
              <a:t>Ask something unanswerable</a:t>
            </a:r>
          </a:p>
        </p:txBody>
      </p:sp>
      <p:sp>
        <p:nvSpPr>
          <p:cNvPr name="TextBox 19" id="19"/>
          <p:cNvSpPr txBox="true"/>
          <p:nvPr/>
        </p:nvSpPr>
        <p:spPr>
          <a:xfrm rot="0">
            <a:off x="2150450" y="7196223"/>
            <a:ext cx="14916512" cy="247675"/>
          </a:xfrm>
          <a:prstGeom prst="rect">
            <a:avLst/>
          </a:prstGeom>
        </p:spPr>
        <p:txBody>
          <a:bodyPr anchor="t" rtlCol="false" tIns="0" lIns="0" bIns="0" rIns="0">
            <a:spAutoFit/>
          </a:bodyPr>
          <a:lstStyle/>
          <a:p>
            <a:pPr algn="l">
              <a:lnSpc>
                <a:spcPts val="1980"/>
              </a:lnSpc>
            </a:pPr>
            <a:r>
              <a:rPr lang="en-US" sz="1651">
                <a:solidFill>
                  <a:srgbClr val="7C3AED"/>
                </a:solidFill>
                <a:latin typeface="ABeeZee"/>
                <a:ea typeface="ABeeZee"/>
                <a:cs typeface="ABeeZee"/>
                <a:sym typeface="ABeeZee"/>
              </a:rPr>
              <a:t>System responds "I don't know." — no hallucination</a:t>
            </a:r>
          </a:p>
        </p:txBody>
      </p:sp>
      <p:sp>
        <p:nvSpPr>
          <p:cNvPr name="TextBox 20" id="20"/>
          <p:cNvSpPr txBox="true"/>
          <p:nvPr/>
        </p:nvSpPr>
        <p:spPr>
          <a:xfrm rot="0">
            <a:off x="915048" y="8664978"/>
            <a:ext cx="16467639" cy="247675"/>
          </a:xfrm>
          <a:prstGeom prst="rect">
            <a:avLst/>
          </a:prstGeom>
        </p:spPr>
        <p:txBody>
          <a:bodyPr anchor="t" rtlCol="false" tIns="0" lIns="0" bIns="0" rIns="0">
            <a:spAutoFit/>
          </a:bodyPr>
          <a:lstStyle/>
          <a:p>
            <a:pPr algn="ctr">
              <a:lnSpc>
                <a:spcPts val="1980"/>
              </a:lnSpc>
            </a:pPr>
            <a:r>
              <a:rPr lang="en-US" sz="1651">
                <a:solidFill>
                  <a:srgbClr val="7C3AED"/>
                </a:solidFill>
                <a:latin typeface="ABeeZee"/>
                <a:ea typeface="ABeeZee"/>
                <a:cs typeface="ABeeZee"/>
                <a:sym typeface="ABeeZee"/>
              </a:rPr>
              <a:t>http://localhost:8000   ·   docker compose up -d &amp;&amp; uvicorn backend.main:app --reload</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1005840" y="520827"/>
            <a:ext cx="16102584" cy="219075"/>
          </a:xfrm>
          <a:prstGeom prst="rect">
            <a:avLst/>
          </a:prstGeom>
        </p:spPr>
        <p:txBody>
          <a:bodyPr anchor="t" rtlCol="false" tIns="0" lIns="0" bIns="0" rIns="0">
            <a:spAutoFit/>
          </a:bodyPr>
          <a:lstStyle/>
          <a:p>
            <a:pPr algn="l">
              <a:lnSpc>
                <a:spcPts val="1679"/>
              </a:lnSpc>
            </a:pPr>
            <a:r>
              <a:rPr lang="en-US" sz="1399">
                <a:solidFill>
                  <a:srgbClr val="7C3AED"/>
                </a:solidFill>
                <a:latin typeface="ABeeZee Bold"/>
                <a:ea typeface="ABeeZee Bold"/>
                <a:cs typeface="ABeeZee Bold"/>
                <a:sym typeface="ABeeZee Bold"/>
              </a:rPr>
              <a:t>LIMITATIONS</a:t>
            </a:r>
          </a:p>
        </p:txBody>
      </p:sp>
      <p:sp>
        <p:nvSpPr>
          <p:cNvPr name="TextBox 3" id="3"/>
          <p:cNvSpPr txBox="true"/>
          <p:nvPr/>
        </p:nvSpPr>
        <p:spPr>
          <a:xfrm rot="0">
            <a:off x="1005840" y="1023747"/>
            <a:ext cx="6719590" cy="495300"/>
          </a:xfrm>
          <a:prstGeom prst="rect">
            <a:avLst/>
          </a:prstGeom>
        </p:spPr>
        <p:txBody>
          <a:bodyPr anchor="t" rtlCol="false" tIns="0" lIns="0" bIns="0" rIns="0">
            <a:spAutoFit/>
          </a:bodyPr>
          <a:lstStyle/>
          <a:p>
            <a:pPr algn="l">
              <a:lnSpc>
                <a:spcPts val="3839"/>
              </a:lnSpc>
            </a:pPr>
            <a:r>
              <a:rPr lang="en-US" sz="3199">
                <a:solidFill>
                  <a:srgbClr val="4C1D95"/>
                </a:solidFill>
                <a:latin typeface="ABeeZee Bold"/>
                <a:ea typeface="ABeeZee Bold"/>
                <a:cs typeface="ABeeZee Bold"/>
                <a:sym typeface="ABeeZee Bold"/>
              </a:rPr>
              <a:t>Current scope — known constraints</a:t>
            </a:r>
          </a:p>
        </p:txBody>
      </p:sp>
      <p:grpSp>
        <p:nvGrpSpPr>
          <p:cNvPr name="Group 4" id="4"/>
          <p:cNvGrpSpPr/>
          <p:nvPr/>
        </p:nvGrpSpPr>
        <p:grpSpPr>
          <a:xfrm rot="0">
            <a:off x="399164" y="2182244"/>
            <a:ext cx="5309873" cy="3453641"/>
            <a:chOff x="0" y="0"/>
            <a:chExt cx="7079831" cy="4604855"/>
          </a:xfrm>
        </p:grpSpPr>
        <p:sp>
          <p:nvSpPr>
            <p:cNvPr name="Freeform 5" id="5"/>
            <p:cNvSpPr/>
            <p:nvPr/>
          </p:nvSpPr>
          <p:spPr>
            <a:xfrm flipH="false" flipV="false" rot="0">
              <a:off x="4191" y="4191"/>
              <a:ext cx="7071360" cy="4596384"/>
            </a:xfrm>
            <a:custGeom>
              <a:avLst/>
              <a:gdLst/>
              <a:ahLst/>
              <a:cxnLst/>
              <a:rect r="r" b="b" t="t" l="l"/>
              <a:pathLst>
                <a:path h="4596384" w="7071360">
                  <a:moveTo>
                    <a:pt x="0" y="0"/>
                  </a:moveTo>
                  <a:lnTo>
                    <a:pt x="7071360" y="0"/>
                  </a:lnTo>
                  <a:lnTo>
                    <a:pt x="7071360" y="4596384"/>
                  </a:lnTo>
                  <a:lnTo>
                    <a:pt x="0" y="4596384"/>
                  </a:lnTo>
                  <a:close/>
                </a:path>
              </a:pathLst>
            </a:custGeom>
            <a:solidFill>
              <a:srgbClr val="FFFFFF"/>
            </a:solidFill>
          </p:spPr>
        </p:sp>
        <p:sp>
          <p:nvSpPr>
            <p:cNvPr name="Freeform 6" id="6"/>
            <p:cNvSpPr/>
            <p:nvPr/>
          </p:nvSpPr>
          <p:spPr>
            <a:xfrm flipH="false" flipV="false" rot="0">
              <a:off x="0" y="0"/>
              <a:ext cx="7079742" cy="4604766"/>
            </a:xfrm>
            <a:custGeom>
              <a:avLst/>
              <a:gdLst/>
              <a:ahLst/>
              <a:cxnLst/>
              <a:rect r="r" b="b" t="t" l="l"/>
              <a:pathLst>
                <a:path h="4604766" w="7079742">
                  <a:moveTo>
                    <a:pt x="4191" y="0"/>
                  </a:moveTo>
                  <a:lnTo>
                    <a:pt x="7075551" y="0"/>
                  </a:lnTo>
                  <a:cubicBezTo>
                    <a:pt x="7077837" y="0"/>
                    <a:pt x="7079742" y="1905"/>
                    <a:pt x="7079742" y="4191"/>
                  </a:cubicBezTo>
                  <a:lnTo>
                    <a:pt x="7079742" y="4600575"/>
                  </a:lnTo>
                  <a:cubicBezTo>
                    <a:pt x="7079742" y="4602861"/>
                    <a:pt x="7077837" y="4604766"/>
                    <a:pt x="7075551" y="4604766"/>
                  </a:cubicBezTo>
                  <a:lnTo>
                    <a:pt x="4191" y="4604766"/>
                  </a:lnTo>
                  <a:cubicBezTo>
                    <a:pt x="1905" y="4604766"/>
                    <a:pt x="0" y="4602861"/>
                    <a:pt x="0" y="4600575"/>
                  </a:cubicBezTo>
                  <a:lnTo>
                    <a:pt x="0" y="4191"/>
                  </a:lnTo>
                  <a:cubicBezTo>
                    <a:pt x="0" y="1905"/>
                    <a:pt x="1905" y="0"/>
                    <a:pt x="4191" y="0"/>
                  </a:cubicBezTo>
                  <a:moveTo>
                    <a:pt x="4191" y="8509"/>
                  </a:moveTo>
                  <a:lnTo>
                    <a:pt x="4191" y="4191"/>
                  </a:lnTo>
                  <a:lnTo>
                    <a:pt x="8509" y="4191"/>
                  </a:lnTo>
                  <a:lnTo>
                    <a:pt x="8509" y="4600575"/>
                  </a:lnTo>
                  <a:lnTo>
                    <a:pt x="4191" y="4600575"/>
                  </a:lnTo>
                  <a:lnTo>
                    <a:pt x="4191" y="4596384"/>
                  </a:lnTo>
                  <a:lnTo>
                    <a:pt x="7075551" y="4596384"/>
                  </a:lnTo>
                  <a:lnTo>
                    <a:pt x="7075551" y="4600575"/>
                  </a:lnTo>
                  <a:lnTo>
                    <a:pt x="7071360" y="4600575"/>
                  </a:lnTo>
                  <a:lnTo>
                    <a:pt x="7071360" y="4191"/>
                  </a:lnTo>
                  <a:lnTo>
                    <a:pt x="7075551" y="4191"/>
                  </a:lnTo>
                  <a:lnTo>
                    <a:pt x="7075551" y="8509"/>
                  </a:lnTo>
                  <a:lnTo>
                    <a:pt x="4191" y="8509"/>
                  </a:lnTo>
                  <a:close/>
                </a:path>
              </a:pathLst>
            </a:custGeom>
            <a:solidFill>
              <a:srgbClr val="E2E8F0"/>
            </a:solidFill>
          </p:spPr>
        </p:sp>
      </p:grpSp>
      <p:grpSp>
        <p:nvGrpSpPr>
          <p:cNvPr name="Group 7" id="7"/>
          <p:cNvGrpSpPr/>
          <p:nvPr/>
        </p:nvGrpSpPr>
        <p:grpSpPr>
          <a:xfrm rot="0">
            <a:off x="402336" y="2185416"/>
            <a:ext cx="5303520" cy="64008"/>
            <a:chOff x="0" y="0"/>
            <a:chExt cx="7071360" cy="85344"/>
          </a:xfrm>
        </p:grpSpPr>
        <p:sp>
          <p:nvSpPr>
            <p:cNvPr name="Freeform 8" id="8"/>
            <p:cNvSpPr/>
            <p:nvPr/>
          </p:nvSpPr>
          <p:spPr>
            <a:xfrm flipH="false" flipV="false" rot="0">
              <a:off x="0" y="0"/>
              <a:ext cx="7071360" cy="85344"/>
            </a:xfrm>
            <a:custGeom>
              <a:avLst/>
              <a:gdLst/>
              <a:ahLst/>
              <a:cxnLst/>
              <a:rect r="r" b="b" t="t" l="l"/>
              <a:pathLst>
                <a:path h="85344" w="7071360">
                  <a:moveTo>
                    <a:pt x="0" y="0"/>
                  </a:moveTo>
                  <a:lnTo>
                    <a:pt x="7071360" y="0"/>
                  </a:lnTo>
                  <a:lnTo>
                    <a:pt x="7071360" y="85344"/>
                  </a:lnTo>
                  <a:lnTo>
                    <a:pt x="0" y="85344"/>
                  </a:lnTo>
                  <a:close/>
                </a:path>
              </a:pathLst>
            </a:custGeom>
            <a:solidFill>
              <a:srgbClr val="EF4444"/>
            </a:solidFill>
          </p:spPr>
        </p:sp>
      </p:grpSp>
      <p:sp>
        <p:nvSpPr>
          <p:cNvPr name="TextBox 9" id="9"/>
          <p:cNvSpPr txBox="true"/>
          <p:nvPr/>
        </p:nvSpPr>
        <p:spPr>
          <a:xfrm rot="0">
            <a:off x="795528" y="2385822"/>
            <a:ext cx="4709160" cy="247650"/>
          </a:xfrm>
          <a:prstGeom prst="rect">
            <a:avLst/>
          </a:prstGeom>
        </p:spPr>
        <p:txBody>
          <a:bodyPr anchor="t" rtlCol="false" tIns="0" lIns="0" bIns="0" rIns="0">
            <a:spAutoFit/>
          </a:bodyPr>
          <a:lstStyle/>
          <a:p>
            <a:pPr algn="l">
              <a:lnSpc>
                <a:spcPts val="1800"/>
              </a:lnSpc>
            </a:pPr>
            <a:r>
              <a:rPr lang="en-US" sz="1500">
                <a:solidFill>
                  <a:srgbClr val="4C1D95"/>
                </a:solidFill>
                <a:latin typeface="ABeeZee Bold"/>
                <a:ea typeface="ABeeZee Bold"/>
                <a:cs typeface="ABeeZee Bold"/>
                <a:sym typeface="ABeeZee Bold"/>
              </a:rPr>
              <a:t>🚫  Single Document Only</a:t>
            </a:r>
          </a:p>
        </p:txBody>
      </p:sp>
      <p:sp>
        <p:nvSpPr>
          <p:cNvPr name="TextBox 10" id="10"/>
          <p:cNvSpPr txBox="true"/>
          <p:nvPr/>
        </p:nvSpPr>
        <p:spPr>
          <a:xfrm rot="0">
            <a:off x="795528" y="3008376"/>
            <a:ext cx="4709160" cy="542925"/>
          </a:xfrm>
          <a:prstGeom prst="rect">
            <a:avLst/>
          </a:prstGeom>
        </p:spPr>
        <p:txBody>
          <a:bodyPr anchor="t" rtlCol="false" tIns="0" lIns="0" bIns="0" rIns="0">
            <a:spAutoFit/>
          </a:bodyPr>
          <a:lstStyle/>
          <a:p>
            <a:pPr algn="l">
              <a:lnSpc>
                <a:spcPts val="1499"/>
              </a:lnSpc>
            </a:pPr>
            <a:r>
              <a:rPr lang="en-US" sz="1249">
                <a:solidFill>
                  <a:srgbClr val="7C3AED"/>
                </a:solidFill>
                <a:latin typeface="ABeeZee"/>
                <a:ea typeface="ABeeZee"/>
                <a:cs typeface="ABeeZee"/>
                <a:sym typeface="ABeeZee"/>
              </a:rPr>
              <a:t>One PDF at a time. Uploading a new document wipes the previous one — no multi-doc library or cross-document queries.</a:t>
            </a:r>
          </a:p>
        </p:txBody>
      </p:sp>
      <p:grpSp>
        <p:nvGrpSpPr>
          <p:cNvPr name="Group 11" id="11"/>
          <p:cNvGrpSpPr/>
          <p:nvPr/>
        </p:nvGrpSpPr>
        <p:grpSpPr>
          <a:xfrm rot="0">
            <a:off x="6114164" y="2182244"/>
            <a:ext cx="5309873" cy="3453641"/>
            <a:chOff x="0" y="0"/>
            <a:chExt cx="7079831" cy="4604855"/>
          </a:xfrm>
        </p:grpSpPr>
        <p:sp>
          <p:nvSpPr>
            <p:cNvPr name="Freeform 12" id="12"/>
            <p:cNvSpPr/>
            <p:nvPr/>
          </p:nvSpPr>
          <p:spPr>
            <a:xfrm flipH="false" flipV="false" rot="0">
              <a:off x="4191" y="4191"/>
              <a:ext cx="7071360" cy="4596384"/>
            </a:xfrm>
            <a:custGeom>
              <a:avLst/>
              <a:gdLst/>
              <a:ahLst/>
              <a:cxnLst/>
              <a:rect r="r" b="b" t="t" l="l"/>
              <a:pathLst>
                <a:path h="4596384" w="7071360">
                  <a:moveTo>
                    <a:pt x="0" y="0"/>
                  </a:moveTo>
                  <a:lnTo>
                    <a:pt x="7071360" y="0"/>
                  </a:lnTo>
                  <a:lnTo>
                    <a:pt x="7071360" y="4596384"/>
                  </a:lnTo>
                  <a:lnTo>
                    <a:pt x="0" y="4596384"/>
                  </a:lnTo>
                  <a:close/>
                </a:path>
              </a:pathLst>
            </a:custGeom>
            <a:solidFill>
              <a:srgbClr val="FFFFFF"/>
            </a:solidFill>
          </p:spPr>
        </p:sp>
        <p:sp>
          <p:nvSpPr>
            <p:cNvPr name="Freeform 13" id="13"/>
            <p:cNvSpPr/>
            <p:nvPr/>
          </p:nvSpPr>
          <p:spPr>
            <a:xfrm flipH="false" flipV="false" rot="0">
              <a:off x="0" y="0"/>
              <a:ext cx="7079742" cy="4604766"/>
            </a:xfrm>
            <a:custGeom>
              <a:avLst/>
              <a:gdLst/>
              <a:ahLst/>
              <a:cxnLst/>
              <a:rect r="r" b="b" t="t" l="l"/>
              <a:pathLst>
                <a:path h="4604766" w="7079742">
                  <a:moveTo>
                    <a:pt x="4191" y="0"/>
                  </a:moveTo>
                  <a:lnTo>
                    <a:pt x="7075551" y="0"/>
                  </a:lnTo>
                  <a:cubicBezTo>
                    <a:pt x="7077837" y="0"/>
                    <a:pt x="7079742" y="1905"/>
                    <a:pt x="7079742" y="4191"/>
                  </a:cubicBezTo>
                  <a:lnTo>
                    <a:pt x="7079742" y="4600575"/>
                  </a:lnTo>
                  <a:cubicBezTo>
                    <a:pt x="7079742" y="4602861"/>
                    <a:pt x="7077837" y="4604766"/>
                    <a:pt x="7075551" y="4604766"/>
                  </a:cubicBezTo>
                  <a:lnTo>
                    <a:pt x="4191" y="4604766"/>
                  </a:lnTo>
                  <a:cubicBezTo>
                    <a:pt x="1905" y="4604766"/>
                    <a:pt x="0" y="4602861"/>
                    <a:pt x="0" y="4600575"/>
                  </a:cubicBezTo>
                  <a:lnTo>
                    <a:pt x="0" y="4191"/>
                  </a:lnTo>
                  <a:cubicBezTo>
                    <a:pt x="0" y="1905"/>
                    <a:pt x="1905" y="0"/>
                    <a:pt x="4191" y="0"/>
                  </a:cubicBezTo>
                  <a:moveTo>
                    <a:pt x="4191" y="8509"/>
                  </a:moveTo>
                  <a:lnTo>
                    <a:pt x="4191" y="4191"/>
                  </a:lnTo>
                  <a:lnTo>
                    <a:pt x="8509" y="4191"/>
                  </a:lnTo>
                  <a:lnTo>
                    <a:pt x="8509" y="4600575"/>
                  </a:lnTo>
                  <a:lnTo>
                    <a:pt x="4191" y="4600575"/>
                  </a:lnTo>
                  <a:lnTo>
                    <a:pt x="4191" y="4596384"/>
                  </a:lnTo>
                  <a:lnTo>
                    <a:pt x="7075551" y="4596384"/>
                  </a:lnTo>
                  <a:lnTo>
                    <a:pt x="7075551" y="4600575"/>
                  </a:lnTo>
                  <a:lnTo>
                    <a:pt x="7071360" y="4600575"/>
                  </a:lnTo>
                  <a:lnTo>
                    <a:pt x="7071360" y="4191"/>
                  </a:lnTo>
                  <a:lnTo>
                    <a:pt x="7075551" y="4191"/>
                  </a:lnTo>
                  <a:lnTo>
                    <a:pt x="7075551" y="8509"/>
                  </a:lnTo>
                  <a:lnTo>
                    <a:pt x="4191" y="8509"/>
                  </a:lnTo>
                  <a:close/>
                </a:path>
              </a:pathLst>
            </a:custGeom>
            <a:solidFill>
              <a:srgbClr val="E2E8F0"/>
            </a:solidFill>
          </p:spPr>
        </p:sp>
      </p:grpSp>
      <p:grpSp>
        <p:nvGrpSpPr>
          <p:cNvPr name="Group 14" id="14"/>
          <p:cNvGrpSpPr/>
          <p:nvPr/>
        </p:nvGrpSpPr>
        <p:grpSpPr>
          <a:xfrm rot="0">
            <a:off x="6117336" y="2185416"/>
            <a:ext cx="5303520" cy="64008"/>
            <a:chOff x="0" y="0"/>
            <a:chExt cx="7071360" cy="85344"/>
          </a:xfrm>
        </p:grpSpPr>
        <p:sp>
          <p:nvSpPr>
            <p:cNvPr name="Freeform 15" id="15"/>
            <p:cNvSpPr/>
            <p:nvPr/>
          </p:nvSpPr>
          <p:spPr>
            <a:xfrm flipH="false" flipV="false" rot="0">
              <a:off x="0" y="0"/>
              <a:ext cx="7071360" cy="85344"/>
            </a:xfrm>
            <a:custGeom>
              <a:avLst/>
              <a:gdLst/>
              <a:ahLst/>
              <a:cxnLst/>
              <a:rect r="r" b="b" t="t" l="l"/>
              <a:pathLst>
                <a:path h="85344" w="7071360">
                  <a:moveTo>
                    <a:pt x="0" y="0"/>
                  </a:moveTo>
                  <a:lnTo>
                    <a:pt x="7071360" y="0"/>
                  </a:lnTo>
                  <a:lnTo>
                    <a:pt x="7071360" y="85344"/>
                  </a:lnTo>
                  <a:lnTo>
                    <a:pt x="0" y="85344"/>
                  </a:lnTo>
                  <a:close/>
                </a:path>
              </a:pathLst>
            </a:custGeom>
            <a:solidFill>
              <a:srgbClr val="EF4444"/>
            </a:solidFill>
          </p:spPr>
        </p:sp>
      </p:grpSp>
      <p:sp>
        <p:nvSpPr>
          <p:cNvPr name="TextBox 16" id="16"/>
          <p:cNvSpPr txBox="true"/>
          <p:nvPr/>
        </p:nvSpPr>
        <p:spPr>
          <a:xfrm rot="0">
            <a:off x="6510528" y="2385822"/>
            <a:ext cx="4709160" cy="247650"/>
          </a:xfrm>
          <a:prstGeom prst="rect">
            <a:avLst/>
          </a:prstGeom>
        </p:spPr>
        <p:txBody>
          <a:bodyPr anchor="t" rtlCol="false" tIns="0" lIns="0" bIns="0" rIns="0">
            <a:spAutoFit/>
          </a:bodyPr>
          <a:lstStyle/>
          <a:p>
            <a:pPr algn="l">
              <a:lnSpc>
                <a:spcPts val="1800"/>
              </a:lnSpc>
            </a:pPr>
            <a:r>
              <a:rPr lang="en-US" sz="1500">
                <a:solidFill>
                  <a:srgbClr val="4C1D95"/>
                </a:solidFill>
                <a:latin typeface="ABeeZee Bold"/>
                <a:ea typeface="ABeeZee Bold"/>
                <a:cs typeface="ABeeZee Bold"/>
                <a:sym typeface="ABeeZee Bold"/>
              </a:rPr>
              <a:t>🔍  OCR opt-in only</a:t>
            </a:r>
          </a:p>
        </p:txBody>
      </p:sp>
      <p:sp>
        <p:nvSpPr>
          <p:cNvPr name="TextBox 17" id="17"/>
          <p:cNvSpPr txBox="true"/>
          <p:nvPr/>
        </p:nvSpPr>
        <p:spPr>
          <a:xfrm rot="0">
            <a:off x="6510528" y="3008376"/>
            <a:ext cx="4709160" cy="1085850"/>
          </a:xfrm>
          <a:prstGeom prst="rect">
            <a:avLst/>
          </a:prstGeom>
        </p:spPr>
        <p:txBody>
          <a:bodyPr anchor="t" rtlCol="false" tIns="0" lIns="0" bIns="0" rIns="0">
            <a:spAutoFit/>
          </a:bodyPr>
          <a:lstStyle/>
          <a:p>
            <a:pPr algn="l">
              <a:lnSpc>
                <a:spcPts val="1499"/>
              </a:lnSpc>
            </a:pPr>
            <a:r>
              <a:rPr lang="en-US" sz="1249">
                <a:solidFill>
                  <a:srgbClr val="7C3AED"/>
                </a:solidFill>
                <a:latin typeface="ABeeZee"/>
                <a:ea typeface="ABeeZee"/>
                <a:cs typeface="ABeeZee"/>
                <a:sym typeface="ABeeZee"/>
              </a:rPr>
              <a:t>Per-page detection: typed pages above 50 chars skip OCR (handwritten margin notes missed). Transcription is plain text only — no ink-color metadata. Scans with a pre-existing embedded OCR layer (Acrobat, Preview) read as typed PDFs; the viewer's text-layer highlighter then misaligns yellow rectangles over the actual handwriting glyphs.</a:t>
            </a:r>
          </a:p>
        </p:txBody>
      </p:sp>
      <p:grpSp>
        <p:nvGrpSpPr>
          <p:cNvPr name="Group 18" id="18"/>
          <p:cNvGrpSpPr/>
          <p:nvPr/>
        </p:nvGrpSpPr>
        <p:grpSpPr>
          <a:xfrm rot="0">
            <a:off x="11829164" y="2182244"/>
            <a:ext cx="5309873" cy="3453641"/>
            <a:chOff x="0" y="0"/>
            <a:chExt cx="7079831" cy="4604855"/>
          </a:xfrm>
        </p:grpSpPr>
        <p:sp>
          <p:nvSpPr>
            <p:cNvPr name="Freeform 19" id="19"/>
            <p:cNvSpPr/>
            <p:nvPr/>
          </p:nvSpPr>
          <p:spPr>
            <a:xfrm flipH="false" flipV="false" rot="0">
              <a:off x="4191" y="4191"/>
              <a:ext cx="7071360" cy="4596384"/>
            </a:xfrm>
            <a:custGeom>
              <a:avLst/>
              <a:gdLst/>
              <a:ahLst/>
              <a:cxnLst/>
              <a:rect r="r" b="b" t="t" l="l"/>
              <a:pathLst>
                <a:path h="4596384" w="7071360">
                  <a:moveTo>
                    <a:pt x="0" y="0"/>
                  </a:moveTo>
                  <a:lnTo>
                    <a:pt x="7071360" y="0"/>
                  </a:lnTo>
                  <a:lnTo>
                    <a:pt x="7071360" y="4596384"/>
                  </a:lnTo>
                  <a:lnTo>
                    <a:pt x="0" y="4596384"/>
                  </a:lnTo>
                  <a:close/>
                </a:path>
              </a:pathLst>
            </a:custGeom>
            <a:solidFill>
              <a:srgbClr val="FFFFFF"/>
            </a:solidFill>
          </p:spPr>
        </p:sp>
        <p:sp>
          <p:nvSpPr>
            <p:cNvPr name="Freeform 20" id="20"/>
            <p:cNvSpPr/>
            <p:nvPr/>
          </p:nvSpPr>
          <p:spPr>
            <a:xfrm flipH="false" flipV="false" rot="0">
              <a:off x="0" y="0"/>
              <a:ext cx="7079742" cy="4604766"/>
            </a:xfrm>
            <a:custGeom>
              <a:avLst/>
              <a:gdLst/>
              <a:ahLst/>
              <a:cxnLst/>
              <a:rect r="r" b="b" t="t" l="l"/>
              <a:pathLst>
                <a:path h="4604766" w="7079742">
                  <a:moveTo>
                    <a:pt x="4191" y="0"/>
                  </a:moveTo>
                  <a:lnTo>
                    <a:pt x="7075551" y="0"/>
                  </a:lnTo>
                  <a:cubicBezTo>
                    <a:pt x="7077837" y="0"/>
                    <a:pt x="7079742" y="1905"/>
                    <a:pt x="7079742" y="4191"/>
                  </a:cubicBezTo>
                  <a:lnTo>
                    <a:pt x="7079742" y="4600575"/>
                  </a:lnTo>
                  <a:cubicBezTo>
                    <a:pt x="7079742" y="4602861"/>
                    <a:pt x="7077837" y="4604766"/>
                    <a:pt x="7075551" y="4604766"/>
                  </a:cubicBezTo>
                  <a:lnTo>
                    <a:pt x="4191" y="4604766"/>
                  </a:lnTo>
                  <a:cubicBezTo>
                    <a:pt x="1905" y="4604766"/>
                    <a:pt x="0" y="4602861"/>
                    <a:pt x="0" y="4600575"/>
                  </a:cubicBezTo>
                  <a:lnTo>
                    <a:pt x="0" y="4191"/>
                  </a:lnTo>
                  <a:cubicBezTo>
                    <a:pt x="0" y="1905"/>
                    <a:pt x="1905" y="0"/>
                    <a:pt x="4191" y="0"/>
                  </a:cubicBezTo>
                  <a:moveTo>
                    <a:pt x="4191" y="8509"/>
                  </a:moveTo>
                  <a:lnTo>
                    <a:pt x="4191" y="4191"/>
                  </a:lnTo>
                  <a:lnTo>
                    <a:pt x="8509" y="4191"/>
                  </a:lnTo>
                  <a:lnTo>
                    <a:pt x="8509" y="4600575"/>
                  </a:lnTo>
                  <a:lnTo>
                    <a:pt x="4191" y="4600575"/>
                  </a:lnTo>
                  <a:lnTo>
                    <a:pt x="4191" y="4596384"/>
                  </a:lnTo>
                  <a:lnTo>
                    <a:pt x="7075551" y="4596384"/>
                  </a:lnTo>
                  <a:lnTo>
                    <a:pt x="7075551" y="4600575"/>
                  </a:lnTo>
                  <a:lnTo>
                    <a:pt x="7071360" y="4600575"/>
                  </a:lnTo>
                  <a:lnTo>
                    <a:pt x="7071360" y="4191"/>
                  </a:lnTo>
                  <a:lnTo>
                    <a:pt x="7075551" y="4191"/>
                  </a:lnTo>
                  <a:lnTo>
                    <a:pt x="7075551" y="8509"/>
                  </a:lnTo>
                  <a:lnTo>
                    <a:pt x="4191" y="8509"/>
                  </a:lnTo>
                  <a:close/>
                </a:path>
              </a:pathLst>
            </a:custGeom>
            <a:solidFill>
              <a:srgbClr val="E2E8F0"/>
            </a:solidFill>
          </p:spPr>
        </p:sp>
      </p:grpSp>
      <p:grpSp>
        <p:nvGrpSpPr>
          <p:cNvPr name="Group 21" id="21"/>
          <p:cNvGrpSpPr/>
          <p:nvPr/>
        </p:nvGrpSpPr>
        <p:grpSpPr>
          <a:xfrm rot="0">
            <a:off x="11832336" y="2185416"/>
            <a:ext cx="5303520" cy="64008"/>
            <a:chOff x="0" y="0"/>
            <a:chExt cx="7071360" cy="85344"/>
          </a:xfrm>
        </p:grpSpPr>
        <p:sp>
          <p:nvSpPr>
            <p:cNvPr name="Freeform 22" id="22"/>
            <p:cNvSpPr/>
            <p:nvPr/>
          </p:nvSpPr>
          <p:spPr>
            <a:xfrm flipH="false" flipV="false" rot="0">
              <a:off x="0" y="0"/>
              <a:ext cx="7071360" cy="85344"/>
            </a:xfrm>
            <a:custGeom>
              <a:avLst/>
              <a:gdLst/>
              <a:ahLst/>
              <a:cxnLst/>
              <a:rect r="r" b="b" t="t" l="l"/>
              <a:pathLst>
                <a:path h="85344" w="7071360">
                  <a:moveTo>
                    <a:pt x="0" y="0"/>
                  </a:moveTo>
                  <a:lnTo>
                    <a:pt x="7071360" y="0"/>
                  </a:lnTo>
                  <a:lnTo>
                    <a:pt x="7071360" y="85344"/>
                  </a:lnTo>
                  <a:lnTo>
                    <a:pt x="0" y="85344"/>
                  </a:lnTo>
                  <a:close/>
                </a:path>
              </a:pathLst>
            </a:custGeom>
            <a:solidFill>
              <a:srgbClr val="EF4444"/>
            </a:solidFill>
          </p:spPr>
        </p:sp>
      </p:grpSp>
      <p:sp>
        <p:nvSpPr>
          <p:cNvPr name="TextBox 23" id="23"/>
          <p:cNvSpPr txBox="true"/>
          <p:nvPr/>
        </p:nvSpPr>
        <p:spPr>
          <a:xfrm rot="0">
            <a:off x="12225528" y="2385822"/>
            <a:ext cx="4709160" cy="247650"/>
          </a:xfrm>
          <a:prstGeom prst="rect">
            <a:avLst/>
          </a:prstGeom>
        </p:spPr>
        <p:txBody>
          <a:bodyPr anchor="t" rtlCol="false" tIns="0" lIns="0" bIns="0" rIns="0">
            <a:spAutoFit/>
          </a:bodyPr>
          <a:lstStyle/>
          <a:p>
            <a:pPr algn="l">
              <a:lnSpc>
                <a:spcPts val="1800"/>
              </a:lnSpc>
            </a:pPr>
            <a:r>
              <a:rPr lang="en-US" sz="1500">
                <a:solidFill>
                  <a:srgbClr val="4C1D95"/>
                </a:solidFill>
                <a:latin typeface="ABeeZee Bold"/>
                <a:ea typeface="ABeeZee Bold"/>
                <a:cs typeface="ABeeZee Bold"/>
                <a:sym typeface="ABeeZee Bold"/>
              </a:rPr>
              <a:t>👤  No Auth / Multi-User</a:t>
            </a:r>
          </a:p>
        </p:txBody>
      </p:sp>
      <p:sp>
        <p:nvSpPr>
          <p:cNvPr name="TextBox 24" id="24"/>
          <p:cNvSpPr txBox="true"/>
          <p:nvPr/>
        </p:nvSpPr>
        <p:spPr>
          <a:xfrm rot="0">
            <a:off x="12225528" y="3008376"/>
            <a:ext cx="4709160" cy="542925"/>
          </a:xfrm>
          <a:prstGeom prst="rect">
            <a:avLst/>
          </a:prstGeom>
        </p:spPr>
        <p:txBody>
          <a:bodyPr anchor="t" rtlCol="false" tIns="0" lIns="0" bIns="0" rIns="0">
            <a:spAutoFit/>
          </a:bodyPr>
          <a:lstStyle/>
          <a:p>
            <a:pPr algn="l">
              <a:lnSpc>
                <a:spcPts val="1499"/>
              </a:lnSpc>
            </a:pPr>
            <a:r>
              <a:rPr lang="en-US" sz="1249">
                <a:solidFill>
                  <a:srgbClr val="7C3AED"/>
                </a:solidFill>
                <a:latin typeface="ABeeZee"/>
                <a:ea typeface="ABeeZee"/>
                <a:cs typeface="ABeeZee"/>
                <a:sym typeface="ABeeZee"/>
              </a:rPr>
              <a:t>Single shared server state. No session isolation — concurrent users share the same document with no login or permission model.</a:t>
            </a:r>
          </a:p>
        </p:txBody>
      </p:sp>
      <p:grpSp>
        <p:nvGrpSpPr>
          <p:cNvPr name="Group 25" id="25"/>
          <p:cNvGrpSpPr/>
          <p:nvPr/>
        </p:nvGrpSpPr>
        <p:grpSpPr>
          <a:xfrm rot="0">
            <a:off x="399164" y="5803268"/>
            <a:ext cx="5309873" cy="3453641"/>
            <a:chOff x="0" y="0"/>
            <a:chExt cx="7079831" cy="4604855"/>
          </a:xfrm>
        </p:grpSpPr>
        <p:sp>
          <p:nvSpPr>
            <p:cNvPr name="Freeform 26" id="26"/>
            <p:cNvSpPr/>
            <p:nvPr/>
          </p:nvSpPr>
          <p:spPr>
            <a:xfrm flipH="false" flipV="false" rot="0">
              <a:off x="4191" y="4191"/>
              <a:ext cx="7071360" cy="4596384"/>
            </a:xfrm>
            <a:custGeom>
              <a:avLst/>
              <a:gdLst/>
              <a:ahLst/>
              <a:cxnLst/>
              <a:rect r="r" b="b" t="t" l="l"/>
              <a:pathLst>
                <a:path h="4596384" w="7071360">
                  <a:moveTo>
                    <a:pt x="0" y="0"/>
                  </a:moveTo>
                  <a:lnTo>
                    <a:pt x="7071360" y="0"/>
                  </a:lnTo>
                  <a:lnTo>
                    <a:pt x="7071360" y="4596384"/>
                  </a:lnTo>
                  <a:lnTo>
                    <a:pt x="0" y="4596384"/>
                  </a:lnTo>
                  <a:close/>
                </a:path>
              </a:pathLst>
            </a:custGeom>
            <a:solidFill>
              <a:srgbClr val="FFFFFF"/>
            </a:solidFill>
          </p:spPr>
        </p:sp>
        <p:sp>
          <p:nvSpPr>
            <p:cNvPr name="Freeform 27" id="27"/>
            <p:cNvSpPr/>
            <p:nvPr/>
          </p:nvSpPr>
          <p:spPr>
            <a:xfrm flipH="false" flipV="false" rot="0">
              <a:off x="0" y="0"/>
              <a:ext cx="7079742" cy="4604766"/>
            </a:xfrm>
            <a:custGeom>
              <a:avLst/>
              <a:gdLst/>
              <a:ahLst/>
              <a:cxnLst/>
              <a:rect r="r" b="b" t="t" l="l"/>
              <a:pathLst>
                <a:path h="4604766" w="7079742">
                  <a:moveTo>
                    <a:pt x="4191" y="0"/>
                  </a:moveTo>
                  <a:lnTo>
                    <a:pt x="7075551" y="0"/>
                  </a:lnTo>
                  <a:cubicBezTo>
                    <a:pt x="7077837" y="0"/>
                    <a:pt x="7079742" y="1905"/>
                    <a:pt x="7079742" y="4191"/>
                  </a:cubicBezTo>
                  <a:lnTo>
                    <a:pt x="7079742" y="4600575"/>
                  </a:lnTo>
                  <a:cubicBezTo>
                    <a:pt x="7079742" y="4602861"/>
                    <a:pt x="7077837" y="4604766"/>
                    <a:pt x="7075551" y="4604766"/>
                  </a:cubicBezTo>
                  <a:lnTo>
                    <a:pt x="4191" y="4604766"/>
                  </a:lnTo>
                  <a:cubicBezTo>
                    <a:pt x="1905" y="4604766"/>
                    <a:pt x="0" y="4602861"/>
                    <a:pt x="0" y="4600575"/>
                  </a:cubicBezTo>
                  <a:lnTo>
                    <a:pt x="0" y="4191"/>
                  </a:lnTo>
                  <a:cubicBezTo>
                    <a:pt x="0" y="1905"/>
                    <a:pt x="1905" y="0"/>
                    <a:pt x="4191" y="0"/>
                  </a:cubicBezTo>
                  <a:moveTo>
                    <a:pt x="4191" y="8509"/>
                  </a:moveTo>
                  <a:lnTo>
                    <a:pt x="4191" y="4191"/>
                  </a:lnTo>
                  <a:lnTo>
                    <a:pt x="8509" y="4191"/>
                  </a:lnTo>
                  <a:lnTo>
                    <a:pt x="8509" y="4600575"/>
                  </a:lnTo>
                  <a:lnTo>
                    <a:pt x="4191" y="4600575"/>
                  </a:lnTo>
                  <a:lnTo>
                    <a:pt x="4191" y="4596384"/>
                  </a:lnTo>
                  <a:lnTo>
                    <a:pt x="7075551" y="4596384"/>
                  </a:lnTo>
                  <a:lnTo>
                    <a:pt x="7075551" y="4600575"/>
                  </a:lnTo>
                  <a:lnTo>
                    <a:pt x="7071360" y="4600575"/>
                  </a:lnTo>
                  <a:lnTo>
                    <a:pt x="7071360" y="4191"/>
                  </a:lnTo>
                  <a:lnTo>
                    <a:pt x="7075551" y="4191"/>
                  </a:lnTo>
                  <a:lnTo>
                    <a:pt x="7075551" y="8509"/>
                  </a:lnTo>
                  <a:lnTo>
                    <a:pt x="4191" y="8509"/>
                  </a:lnTo>
                  <a:close/>
                </a:path>
              </a:pathLst>
            </a:custGeom>
            <a:solidFill>
              <a:srgbClr val="E2E8F0"/>
            </a:solidFill>
          </p:spPr>
        </p:sp>
      </p:grpSp>
      <p:grpSp>
        <p:nvGrpSpPr>
          <p:cNvPr name="Group 28" id="28"/>
          <p:cNvGrpSpPr/>
          <p:nvPr/>
        </p:nvGrpSpPr>
        <p:grpSpPr>
          <a:xfrm rot="0">
            <a:off x="402336" y="5806440"/>
            <a:ext cx="5303520" cy="64008"/>
            <a:chOff x="0" y="0"/>
            <a:chExt cx="7071360" cy="85344"/>
          </a:xfrm>
        </p:grpSpPr>
        <p:sp>
          <p:nvSpPr>
            <p:cNvPr name="Freeform 29" id="29"/>
            <p:cNvSpPr/>
            <p:nvPr/>
          </p:nvSpPr>
          <p:spPr>
            <a:xfrm flipH="false" flipV="false" rot="0">
              <a:off x="0" y="0"/>
              <a:ext cx="7071360" cy="85344"/>
            </a:xfrm>
            <a:custGeom>
              <a:avLst/>
              <a:gdLst/>
              <a:ahLst/>
              <a:cxnLst/>
              <a:rect r="r" b="b" t="t" l="l"/>
              <a:pathLst>
                <a:path h="85344" w="7071360">
                  <a:moveTo>
                    <a:pt x="0" y="0"/>
                  </a:moveTo>
                  <a:lnTo>
                    <a:pt x="7071360" y="0"/>
                  </a:lnTo>
                  <a:lnTo>
                    <a:pt x="7071360" y="85344"/>
                  </a:lnTo>
                  <a:lnTo>
                    <a:pt x="0" y="85344"/>
                  </a:lnTo>
                  <a:close/>
                </a:path>
              </a:pathLst>
            </a:custGeom>
            <a:solidFill>
              <a:srgbClr val="F59E0B"/>
            </a:solidFill>
          </p:spPr>
        </p:sp>
      </p:grpSp>
      <p:sp>
        <p:nvSpPr>
          <p:cNvPr name="TextBox 30" id="30"/>
          <p:cNvSpPr txBox="true"/>
          <p:nvPr/>
        </p:nvSpPr>
        <p:spPr>
          <a:xfrm rot="0">
            <a:off x="795528" y="6006846"/>
            <a:ext cx="4709160" cy="247650"/>
          </a:xfrm>
          <a:prstGeom prst="rect">
            <a:avLst/>
          </a:prstGeom>
        </p:spPr>
        <p:txBody>
          <a:bodyPr anchor="t" rtlCol="false" tIns="0" lIns="0" bIns="0" rIns="0">
            <a:spAutoFit/>
          </a:bodyPr>
          <a:lstStyle/>
          <a:p>
            <a:pPr algn="l">
              <a:lnSpc>
                <a:spcPts val="1800"/>
              </a:lnSpc>
            </a:pPr>
            <a:r>
              <a:rPr lang="en-US" sz="1500">
                <a:solidFill>
                  <a:srgbClr val="4C1D95"/>
                </a:solidFill>
                <a:latin typeface="ABeeZee Bold"/>
                <a:ea typeface="ABeeZee Bold"/>
                <a:cs typeface="ABeeZee Bold"/>
                <a:sym typeface="ABeeZee Bold"/>
              </a:rPr>
              <a:t>💬  No Persistent Chat History</a:t>
            </a:r>
          </a:p>
        </p:txBody>
      </p:sp>
      <p:sp>
        <p:nvSpPr>
          <p:cNvPr name="TextBox 31" id="31"/>
          <p:cNvSpPr txBox="true"/>
          <p:nvPr/>
        </p:nvSpPr>
        <p:spPr>
          <a:xfrm rot="0">
            <a:off x="795528" y="6629400"/>
            <a:ext cx="4709160" cy="542925"/>
          </a:xfrm>
          <a:prstGeom prst="rect">
            <a:avLst/>
          </a:prstGeom>
        </p:spPr>
        <p:txBody>
          <a:bodyPr anchor="t" rtlCol="false" tIns="0" lIns="0" bIns="0" rIns="0">
            <a:spAutoFit/>
          </a:bodyPr>
          <a:lstStyle/>
          <a:p>
            <a:pPr algn="l">
              <a:lnSpc>
                <a:spcPts val="1499"/>
              </a:lnSpc>
            </a:pPr>
            <a:r>
              <a:rPr lang="en-US" sz="1249">
                <a:solidFill>
                  <a:srgbClr val="7C3AED"/>
                </a:solidFill>
                <a:latin typeface="ABeeZee"/>
                <a:ea typeface="ABeeZee"/>
                <a:cs typeface="ABeeZee"/>
                <a:sym typeface="ABeeZee"/>
              </a:rPr>
              <a:t>Conversation context resets on page reload. Follow-up questions cannot reference answers from a previous browsing session.</a:t>
            </a:r>
          </a:p>
        </p:txBody>
      </p:sp>
      <p:grpSp>
        <p:nvGrpSpPr>
          <p:cNvPr name="Group 32" id="32"/>
          <p:cNvGrpSpPr/>
          <p:nvPr/>
        </p:nvGrpSpPr>
        <p:grpSpPr>
          <a:xfrm rot="0">
            <a:off x="6114164" y="5803268"/>
            <a:ext cx="5309873" cy="3453641"/>
            <a:chOff x="0" y="0"/>
            <a:chExt cx="7079831" cy="4604855"/>
          </a:xfrm>
        </p:grpSpPr>
        <p:sp>
          <p:nvSpPr>
            <p:cNvPr name="Freeform 33" id="33"/>
            <p:cNvSpPr/>
            <p:nvPr/>
          </p:nvSpPr>
          <p:spPr>
            <a:xfrm flipH="false" flipV="false" rot="0">
              <a:off x="4191" y="4191"/>
              <a:ext cx="7071360" cy="4596384"/>
            </a:xfrm>
            <a:custGeom>
              <a:avLst/>
              <a:gdLst/>
              <a:ahLst/>
              <a:cxnLst/>
              <a:rect r="r" b="b" t="t" l="l"/>
              <a:pathLst>
                <a:path h="4596384" w="7071360">
                  <a:moveTo>
                    <a:pt x="0" y="0"/>
                  </a:moveTo>
                  <a:lnTo>
                    <a:pt x="7071360" y="0"/>
                  </a:lnTo>
                  <a:lnTo>
                    <a:pt x="7071360" y="4596384"/>
                  </a:lnTo>
                  <a:lnTo>
                    <a:pt x="0" y="4596384"/>
                  </a:lnTo>
                  <a:close/>
                </a:path>
              </a:pathLst>
            </a:custGeom>
            <a:solidFill>
              <a:srgbClr val="FFFFFF"/>
            </a:solidFill>
          </p:spPr>
        </p:sp>
        <p:sp>
          <p:nvSpPr>
            <p:cNvPr name="Freeform 34" id="34"/>
            <p:cNvSpPr/>
            <p:nvPr/>
          </p:nvSpPr>
          <p:spPr>
            <a:xfrm flipH="false" flipV="false" rot="0">
              <a:off x="0" y="0"/>
              <a:ext cx="7079742" cy="4604766"/>
            </a:xfrm>
            <a:custGeom>
              <a:avLst/>
              <a:gdLst/>
              <a:ahLst/>
              <a:cxnLst/>
              <a:rect r="r" b="b" t="t" l="l"/>
              <a:pathLst>
                <a:path h="4604766" w="7079742">
                  <a:moveTo>
                    <a:pt x="4191" y="0"/>
                  </a:moveTo>
                  <a:lnTo>
                    <a:pt x="7075551" y="0"/>
                  </a:lnTo>
                  <a:cubicBezTo>
                    <a:pt x="7077837" y="0"/>
                    <a:pt x="7079742" y="1905"/>
                    <a:pt x="7079742" y="4191"/>
                  </a:cubicBezTo>
                  <a:lnTo>
                    <a:pt x="7079742" y="4600575"/>
                  </a:lnTo>
                  <a:cubicBezTo>
                    <a:pt x="7079742" y="4602861"/>
                    <a:pt x="7077837" y="4604766"/>
                    <a:pt x="7075551" y="4604766"/>
                  </a:cubicBezTo>
                  <a:lnTo>
                    <a:pt x="4191" y="4604766"/>
                  </a:lnTo>
                  <a:cubicBezTo>
                    <a:pt x="1905" y="4604766"/>
                    <a:pt x="0" y="4602861"/>
                    <a:pt x="0" y="4600575"/>
                  </a:cubicBezTo>
                  <a:lnTo>
                    <a:pt x="0" y="4191"/>
                  </a:lnTo>
                  <a:cubicBezTo>
                    <a:pt x="0" y="1905"/>
                    <a:pt x="1905" y="0"/>
                    <a:pt x="4191" y="0"/>
                  </a:cubicBezTo>
                  <a:moveTo>
                    <a:pt x="4191" y="8509"/>
                  </a:moveTo>
                  <a:lnTo>
                    <a:pt x="4191" y="4191"/>
                  </a:lnTo>
                  <a:lnTo>
                    <a:pt x="8509" y="4191"/>
                  </a:lnTo>
                  <a:lnTo>
                    <a:pt x="8509" y="4600575"/>
                  </a:lnTo>
                  <a:lnTo>
                    <a:pt x="4191" y="4600575"/>
                  </a:lnTo>
                  <a:lnTo>
                    <a:pt x="4191" y="4596384"/>
                  </a:lnTo>
                  <a:lnTo>
                    <a:pt x="7075551" y="4596384"/>
                  </a:lnTo>
                  <a:lnTo>
                    <a:pt x="7075551" y="4600575"/>
                  </a:lnTo>
                  <a:lnTo>
                    <a:pt x="7071360" y="4600575"/>
                  </a:lnTo>
                  <a:lnTo>
                    <a:pt x="7071360" y="4191"/>
                  </a:lnTo>
                  <a:lnTo>
                    <a:pt x="7075551" y="4191"/>
                  </a:lnTo>
                  <a:lnTo>
                    <a:pt x="7075551" y="8509"/>
                  </a:lnTo>
                  <a:lnTo>
                    <a:pt x="4191" y="8509"/>
                  </a:lnTo>
                  <a:close/>
                </a:path>
              </a:pathLst>
            </a:custGeom>
            <a:solidFill>
              <a:srgbClr val="E2E8F0"/>
            </a:solidFill>
          </p:spPr>
        </p:sp>
      </p:grpSp>
      <p:grpSp>
        <p:nvGrpSpPr>
          <p:cNvPr name="Group 35" id="35"/>
          <p:cNvGrpSpPr/>
          <p:nvPr/>
        </p:nvGrpSpPr>
        <p:grpSpPr>
          <a:xfrm rot="0">
            <a:off x="6117336" y="5806440"/>
            <a:ext cx="5303520" cy="64008"/>
            <a:chOff x="0" y="0"/>
            <a:chExt cx="7071360" cy="85344"/>
          </a:xfrm>
        </p:grpSpPr>
        <p:sp>
          <p:nvSpPr>
            <p:cNvPr name="Freeform 36" id="36"/>
            <p:cNvSpPr/>
            <p:nvPr/>
          </p:nvSpPr>
          <p:spPr>
            <a:xfrm flipH="false" flipV="false" rot="0">
              <a:off x="0" y="0"/>
              <a:ext cx="7071360" cy="85344"/>
            </a:xfrm>
            <a:custGeom>
              <a:avLst/>
              <a:gdLst/>
              <a:ahLst/>
              <a:cxnLst/>
              <a:rect r="r" b="b" t="t" l="l"/>
              <a:pathLst>
                <a:path h="85344" w="7071360">
                  <a:moveTo>
                    <a:pt x="0" y="0"/>
                  </a:moveTo>
                  <a:lnTo>
                    <a:pt x="7071360" y="0"/>
                  </a:lnTo>
                  <a:lnTo>
                    <a:pt x="7071360" y="85344"/>
                  </a:lnTo>
                  <a:lnTo>
                    <a:pt x="0" y="85344"/>
                  </a:lnTo>
                  <a:close/>
                </a:path>
              </a:pathLst>
            </a:custGeom>
            <a:solidFill>
              <a:srgbClr val="F59E0B"/>
            </a:solidFill>
          </p:spPr>
        </p:sp>
      </p:grpSp>
      <p:sp>
        <p:nvSpPr>
          <p:cNvPr name="TextBox 37" id="37"/>
          <p:cNvSpPr txBox="true"/>
          <p:nvPr/>
        </p:nvSpPr>
        <p:spPr>
          <a:xfrm rot="0">
            <a:off x="6510528" y="6006846"/>
            <a:ext cx="4709160" cy="247650"/>
          </a:xfrm>
          <a:prstGeom prst="rect">
            <a:avLst/>
          </a:prstGeom>
        </p:spPr>
        <p:txBody>
          <a:bodyPr anchor="t" rtlCol="false" tIns="0" lIns="0" bIns="0" rIns="0">
            <a:spAutoFit/>
          </a:bodyPr>
          <a:lstStyle/>
          <a:p>
            <a:pPr algn="l">
              <a:lnSpc>
                <a:spcPts val="1800"/>
              </a:lnSpc>
            </a:pPr>
            <a:r>
              <a:rPr lang="en-US" sz="1500">
                <a:solidFill>
                  <a:srgbClr val="4C1D95"/>
                </a:solidFill>
                <a:latin typeface="ABeeZee Bold"/>
                <a:ea typeface="ABeeZee Bold"/>
                <a:cs typeface="ABeeZee Bold"/>
                <a:sym typeface="ABeeZee Bold"/>
              </a:rPr>
              <a:t>⚡  Gemini API Rate Limits</a:t>
            </a:r>
          </a:p>
        </p:txBody>
      </p:sp>
      <p:sp>
        <p:nvSpPr>
          <p:cNvPr name="TextBox 38" id="38"/>
          <p:cNvSpPr txBox="true"/>
          <p:nvPr/>
        </p:nvSpPr>
        <p:spPr>
          <a:xfrm rot="0">
            <a:off x="6510528" y="6629400"/>
            <a:ext cx="4709160" cy="542925"/>
          </a:xfrm>
          <a:prstGeom prst="rect">
            <a:avLst/>
          </a:prstGeom>
        </p:spPr>
        <p:txBody>
          <a:bodyPr anchor="t" rtlCol="false" tIns="0" lIns="0" bIns="0" rIns="0">
            <a:spAutoFit/>
          </a:bodyPr>
          <a:lstStyle/>
          <a:p>
            <a:pPr algn="l">
              <a:lnSpc>
                <a:spcPts val="1499"/>
              </a:lnSpc>
            </a:pPr>
            <a:r>
              <a:rPr lang="en-US" sz="1249">
                <a:solidFill>
                  <a:srgbClr val="7C3AED"/>
                </a:solidFill>
                <a:latin typeface="ABeeZee"/>
                <a:ea typeface="ABeeZee"/>
                <a:cs typeface="ABeeZee"/>
                <a:sym typeface="ABeeZee"/>
              </a:rPr>
              <a:t>Concurrent embedding calls hit 429 limits on large documents. Exponential backoff adds latency for 100+ page PDFs.</a:t>
            </a:r>
          </a:p>
        </p:txBody>
      </p:sp>
      <p:grpSp>
        <p:nvGrpSpPr>
          <p:cNvPr name="Group 39" id="39"/>
          <p:cNvGrpSpPr/>
          <p:nvPr/>
        </p:nvGrpSpPr>
        <p:grpSpPr>
          <a:xfrm rot="0">
            <a:off x="11829164" y="5803268"/>
            <a:ext cx="5309873" cy="3453641"/>
            <a:chOff x="0" y="0"/>
            <a:chExt cx="7079831" cy="4604855"/>
          </a:xfrm>
        </p:grpSpPr>
        <p:sp>
          <p:nvSpPr>
            <p:cNvPr name="Freeform 40" id="40"/>
            <p:cNvSpPr/>
            <p:nvPr/>
          </p:nvSpPr>
          <p:spPr>
            <a:xfrm flipH="false" flipV="false" rot="0">
              <a:off x="4191" y="4191"/>
              <a:ext cx="7071360" cy="4596384"/>
            </a:xfrm>
            <a:custGeom>
              <a:avLst/>
              <a:gdLst/>
              <a:ahLst/>
              <a:cxnLst/>
              <a:rect r="r" b="b" t="t" l="l"/>
              <a:pathLst>
                <a:path h="4596384" w="7071360">
                  <a:moveTo>
                    <a:pt x="0" y="0"/>
                  </a:moveTo>
                  <a:lnTo>
                    <a:pt x="7071360" y="0"/>
                  </a:lnTo>
                  <a:lnTo>
                    <a:pt x="7071360" y="4596384"/>
                  </a:lnTo>
                  <a:lnTo>
                    <a:pt x="0" y="4596384"/>
                  </a:lnTo>
                  <a:close/>
                </a:path>
              </a:pathLst>
            </a:custGeom>
            <a:solidFill>
              <a:srgbClr val="FFFFFF"/>
            </a:solidFill>
          </p:spPr>
        </p:sp>
        <p:sp>
          <p:nvSpPr>
            <p:cNvPr name="Freeform 41" id="41"/>
            <p:cNvSpPr/>
            <p:nvPr/>
          </p:nvSpPr>
          <p:spPr>
            <a:xfrm flipH="false" flipV="false" rot="0">
              <a:off x="0" y="0"/>
              <a:ext cx="7079742" cy="4604766"/>
            </a:xfrm>
            <a:custGeom>
              <a:avLst/>
              <a:gdLst/>
              <a:ahLst/>
              <a:cxnLst/>
              <a:rect r="r" b="b" t="t" l="l"/>
              <a:pathLst>
                <a:path h="4604766" w="7079742">
                  <a:moveTo>
                    <a:pt x="4191" y="0"/>
                  </a:moveTo>
                  <a:lnTo>
                    <a:pt x="7075551" y="0"/>
                  </a:lnTo>
                  <a:cubicBezTo>
                    <a:pt x="7077837" y="0"/>
                    <a:pt x="7079742" y="1905"/>
                    <a:pt x="7079742" y="4191"/>
                  </a:cubicBezTo>
                  <a:lnTo>
                    <a:pt x="7079742" y="4600575"/>
                  </a:lnTo>
                  <a:cubicBezTo>
                    <a:pt x="7079742" y="4602861"/>
                    <a:pt x="7077837" y="4604766"/>
                    <a:pt x="7075551" y="4604766"/>
                  </a:cubicBezTo>
                  <a:lnTo>
                    <a:pt x="4191" y="4604766"/>
                  </a:lnTo>
                  <a:cubicBezTo>
                    <a:pt x="1905" y="4604766"/>
                    <a:pt x="0" y="4602861"/>
                    <a:pt x="0" y="4600575"/>
                  </a:cubicBezTo>
                  <a:lnTo>
                    <a:pt x="0" y="4191"/>
                  </a:lnTo>
                  <a:cubicBezTo>
                    <a:pt x="0" y="1905"/>
                    <a:pt x="1905" y="0"/>
                    <a:pt x="4191" y="0"/>
                  </a:cubicBezTo>
                  <a:moveTo>
                    <a:pt x="4191" y="8509"/>
                  </a:moveTo>
                  <a:lnTo>
                    <a:pt x="4191" y="4191"/>
                  </a:lnTo>
                  <a:lnTo>
                    <a:pt x="8509" y="4191"/>
                  </a:lnTo>
                  <a:lnTo>
                    <a:pt x="8509" y="4600575"/>
                  </a:lnTo>
                  <a:lnTo>
                    <a:pt x="4191" y="4600575"/>
                  </a:lnTo>
                  <a:lnTo>
                    <a:pt x="4191" y="4596384"/>
                  </a:lnTo>
                  <a:lnTo>
                    <a:pt x="7075551" y="4596384"/>
                  </a:lnTo>
                  <a:lnTo>
                    <a:pt x="7075551" y="4600575"/>
                  </a:lnTo>
                  <a:lnTo>
                    <a:pt x="7071360" y="4600575"/>
                  </a:lnTo>
                  <a:lnTo>
                    <a:pt x="7071360" y="4191"/>
                  </a:lnTo>
                  <a:lnTo>
                    <a:pt x="7075551" y="4191"/>
                  </a:lnTo>
                  <a:lnTo>
                    <a:pt x="7075551" y="8509"/>
                  </a:lnTo>
                  <a:lnTo>
                    <a:pt x="4191" y="8509"/>
                  </a:lnTo>
                  <a:close/>
                </a:path>
              </a:pathLst>
            </a:custGeom>
            <a:solidFill>
              <a:srgbClr val="E2E8F0"/>
            </a:solidFill>
          </p:spPr>
        </p:sp>
      </p:grpSp>
      <p:grpSp>
        <p:nvGrpSpPr>
          <p:cNvPr name="Group 42" id="42"/>
          <p:cNvGrpSpPr/>
          <p:nvPr/>
        </p:nvGrpSpPr>
        <p:grpSpPr>
          <a:xfrm rot="0">
            <a:off x="11832336" y="5806440"/>
            <a:ext cx="5303520" cy="64008"/>
            <a:chOff x="0" y="0"/>
            <a:chExt cx="7071360" cy="85344"/>
          </a:xfrm>
        </p:grpSpPr>
        <p:sp>
          <p:nvSpPr>
            <p:cNvPr name="Freeform 43" id="43"/>
            <p:cNvSpPr/>
            <p:nvPr/>
          </p:nvSpPr>
          <p:spPr>
            <a:xfrm flipH="false" flipV="false" rot="0">
              <a:off x="0" y="0"/>
              <a:ext cx="7071360" cy="85344"/>
            </a:xfrm>
            <a:custGeom>
              <a:avLst/>
              <a:gdLst/>
              <a:ahLst/>
              <a:cxnLst/>
              <a:rect r="r" b="b" t="t" l="l"/>
              <a:pathLst>
                <a:path h="85344" w="7071360">
                  <a:moveTo>
                    <a:pt x="0" y="0"/>
                  </a:moveTo>
                  <a:lnTo>
                    <a:pt x="7071360" y="0"/>
                  </a:lnTo>
                  <a:lnTo>
                    <a:pt x="7071360" y="85344"/>
                  </a:lnTo>
                  <a:lnTo>
                    <a:pt x="0" y="85344"/>
                  </a:lnTo>
                  <a:close/>
                </a:path>
              </a:pathLst>
            </a:custGeom>
            <a:solidFill>
              <a:srgbClr val="F59E0B"/>
            </a:solidFill>
          </p:spPr>
        </p:sp>
      </p:grpSp>
      <p:sp>
        <p:nvSpPr>
          <p:cNvPr name="TextBox 44" id="44"/>
          <p:cNvSpPr txBox="true"/>
          <p:nvPr/>
        </p:nvSpPr>
        <p:spPr>
          <a:xfrm rot="0">
            <a:off x="12225528" y="6006846"/>
            <a:ext cx="4709160" cy="247650"/>
          </a:xfrm>
          <a:prstGeom prst="rect">
            <a:avLst/>
          </a:prstGeom>
        </p:spPr>
        <p:txBody>
          <a:bodyPr anchor="t" rtlCol="false" tIns="0" lIns="0" bIns="0" rIns="0">
            <a:spAutoFit/>
          </a:bodyPr>
          <a:lstStyle/>
          <a:p>
            <a:pPr algn="l">
              <a:lnSpc>
                <a:spcPts val="1800"/>
              </a:lnSpc>
            </a:pPr>
            <a:r>
              <a:rPr lang="en-US" sz="1500">
                <a:solidFill>
                  <a:srgbClr val="4C1D95"/>
                </a:solidFill>
                <a:latin typeface="ABeeZee Bold"/>
                <a:ea typeface="ABeeZee Bold"/>
                <a:cs typeface="ABeeZee Bold"/>
                <a:sym typeface="ABeeZee Bold"/>
              </a:rPr>
              <a:t>🔤  PyMuPDF ≠ PDF.js Extraction</a:t>
            </a:r>
          </a:p>
        </p:txBody>
      </p:sp>
      <p:sp>
        <p:nvSpPr>
          <p:cNvPr name="TextBox 45" id="45"/>
          <p:cNvSpPr txBox="true"/>
          <p:nvPr/>
        </p:nvSpPr>
        <p:spPr>
          <a:xfrm rot="0">
            <a:off x="12225528" y="6629400"/>
            <a:ext cx="4709160" cy="542925"/>
          </a:xfrm>
          <a:prstGeom prst="rect">
            <a:avLst/>
          </a:prstGeom>
        </p:spPr>
        <p:txBody>
          <a:bodyPr anchor="t" rtlCol="false" tIns="0" lIns="0" bIns="0" rIns="0">
            <a:spAutoFit/>
          </a:bodyPr>
          <a:lstStyle/>
          <a:p>
            <a:pPr algn="l">
              <a:lnSpc>
                <a:spcPts val="1499"/>
              </a:lnSpc>
            </a:pPr>
            <a:r>
              <a:rPr lang="en-US" sz="1249">
                <a:solidFill>
                  <a:srgbClr val="7C3AED"/>
                </a:solidFill>
                <a:latin typeface="ABeeZee"/>
                <a:ea typeface="ABeeZee"/>
                <a:cs typeface="ABeeZee"/>
                <a:sym typeface="ABeeZee"/>
              </a:rPr>
              <a:t>Math and symbols render differently at ingest (PyMuPDF) and in the viewer (PDF.js), requiring fuzzy word-anchor matching for highlighting.</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86577" y="4112279"/>
            <a:ext cx="18114845" cy="1104900"/>
          </a:xfrm>
          <a:prstGeom prst="rect">
            <a:avLst/>
          </a:prstGeom>
        </p:spPr>
        <p:txBody>
          <a:bodyPr anchor="t" rtlCol="false" tIns="0" lIns="0" bIns="0" rIns="0">
            <a:spAutoFit/>
          </a:bodyPr>
          <a:lstStyle/>
          <a:p>
            <a:pPr algn="ctr">
              <a:lnSpc>
                <a:spcPts val="8646"/>
              </a:lnSpc>
            </a:pPr>
            <a:r>
              <a:rPr lang="en-US" sz="7205">
                <a:solidFill>
                  <a:srgbClr val="4C1D95"/>
                </a:solidFill>
                <a:latin typeface="ABeeZee Bold"/>
                <a:ea typeface="ABeeZee Bold"/>
                <a:cs typeface="ABeeZee Bold"/>
                <a:sym typeface="ABeeZee Bold"/>
              </a:rPr>
              <a:t>Thank you</a:t>
            </a:r>
          </a:p>
        </p:txBody>
      </p:sp>
      <p:sp>
        <p:nvSpPr>
          <p:cNvPr name="TextBox 3" id="3"/>
          <p:cNvSpPr txBox="true"/>
          <p:nvPr/>
        </p:nvSpPr>
        <p:spPr>
          <a:xfrm rot="0">
            <a:off x="86577" y="5688895"/>
            <a:ext cx="18114845" cy="476301"/>
          </a:xfrm>
          <a:prstGeom prst="rect">
            <a:avLst/>
          </a:prstGeom>
        </p:spPr>
        <p:txBody>
          <a:bodyPr anchor="t" rtlCol="false" tIns="0" lIns="0" bIns="0" rIns="0">
            <a:spAutoFit/>
          </a:bodyPr>
          <a:lstStyle/>
          <a:p>
            <a:pPr algn="ctr">
              <a:lnSpc>
                <a:spcPts val="3601"/>
              </a:lnSpc>
            </a:pPr>
            <a:r>
              <a:rPr lang="en-US" sz="3001">
                <a:solidFill>
                  <a:srgbClr val="7C3AED"/>
                </a:solidFill>
                <a:latin typeface="ABeeZee"/>
                <a:ea typeface="ABeeZee"/>
                <a:cs typeface="ABeeZee"/>
                <a:sym typeface="ABeeZee"/>
              </a:rPr>
              <a:t>gith</a:t>
            </a:r>
            <a:r>
              <a:rPr lang="en-US" sz="3001">
                <a:solidFill>
                  <a:srgbClr val="7C3AED"/>
                </a:solidFill>
                <a:latin typeface="ABeeZee"/>
                <a:ea typeface="ABeeZee"/>
                <a:cs typeface="ABeeZee"/>
                <a:sym typeface="ABeeZee"/>
              </a:rPr>
              <a:t>ub.com/GaneshMadarasu/nymbl-demo-RAG-system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DAHJOlpdSOw</dc:identifier>
  <dcterms:modified xsi:type="dcterms:W3CDTF">2011-08-01T06:04:30Z</dcterms:modified>
  <cp:revision>1</cp:revision>
  <dc:title>NYMBL-DOCRAG.pptx</dc:title>
</cp:coreProperties>
</file>