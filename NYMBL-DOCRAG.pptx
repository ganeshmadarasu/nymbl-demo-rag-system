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8" r:id="rId21"/>
    <p:sldId id="269" r:id="rId22"/>
    <p:sldId id="267" r:id="rId17"/>
  </p:sldIdLst>
  <p:sldSz cx="18288000" cy="10287000"/>
  <p:notesSz cx="6858000" cy="9144000"/>
  <p:embeddedFontLst>
    <p:embeddedFont>
      <p:font typeface="Calibri (MS) Bold" charset="1" panose="020F0702030404030204"/>
      <p:regular r:id="rId18"/>
    </p:embeddedFont>
    <p:embeddedFont>
      <p:font typeface="Calibri (MS)" charset="1" panose="020F0502020204030204"/>
      <p:regular r:id="rId19"/>
    </p:embeddedFont>
    <p:embeddedFont>
      <p:font typeface="Calibri (MS) Italics" charset="1" panose="020F05020202040A0204"/>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4.xml"/><Relationship Id="rId18" Type="http://schemas.openxmlformats.org/officeDocument/2006/relationships/font" Target="fonts/font18.fntdata"/><Relationship Id="rId19" Type="http://schemas.openxmlformats.org/officeDocument/2006/relationships/font" Target="fonts/font19.fntdata"/><Relationship Id="rId20" Type="http://schemas.openxmlformats.org/officeDocument/2006/relationships/font" Target="fonts/font20.fntdata"/><Relationship Id="rId21" Type="http://schemas.openxmlformats.org/officeDocument/2006/relationships/slide" Target="slides/slide12.xml"/><Relationship Id="rId22"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0295039" y="0"/>
            <a:ext cx="8236039" cy="10295039"/>
            <a:chOff x="0" y="0"/>
            <a:chExt cx="10981385" cy="13726719"/>
          </a:xfrm>
        </p:grpSpPr>
        <p:sp>
          <p:nvSpPr>
            <p:cNvPr name="Freeform 3" id="3"/>
            <p:cNvSpPr/>
            <p:nvPr/>
          </p:nvSpPr>
          <p:spPr>
            <a:xfrm flipH="false" flipV="false" rot="0">
              <a:off x="0" y="0"/>
              <a:ext cx="10981436" cy="13726668"/>
            </a:xfrm>
            <a:custGeom>
              <a:avLst/>
              <a:gdLst/>
              <a:ahLst/>
              <a:cxnLst/>
              <a:rect r="r" b="b" t="t" l="l"/>
              <a:pathLst>
                <a:path h="13726668" w="10981436">
                  <a:moveTo>
                    <a:pt x="0" y="0"/>
                  </a:moveTo>
                  <a:lnTo>
                    <a:pt x="10981436" y="0"/>
                  </a:lnTo>
                  <a:lnTo>
                    <a:pt x="10981436" y="13726668"/>
                  </a:lnTo>
                  <a:lnTo>
                    <a:pt x="0" y="13726668"/>
                  </a:lnTo>
                  <a:close/>
                </a:path>
              </a:pathLst>
            </a:custGeom>
            <a:solidFill>
              <a:srgbClr val="FFFFFF"/>
            </a:solidFill>
          </p:spPr>
        </p:sp>
      </p:grpSp>
      <p:sp>
        <p:nvSpPr>
          <p:cNvPr name="TextBox 4" id="4"/>
          <p:cNvSpPr txBox="true"/>
          <p:nvPr/>
        </p:nvSpPr>
        <p:spPr>
          <a:xfrm rot="0">
            <a:off x="915048" y="1929365"/>
            <a:ext cx="9425826" cy="304800"/>
          </a:xfrm>
          <a:prstGeom prst="rect">
            <a:avLst/>
          </a:prstGeom>
        </p:spPr>
        <p:txBody>
          <a:bodyPr anchor="t" rtlCol="false" tIns="0" lIns="0" bIns="0" rIns="0">
            <a:spAutoFit/>
          </a:bodyPr>
          <a:lstStyle/>
          <a:p>
            <a:pPr algn="l">
              <a:lnSpc>
                <a:spcPts val="2161"/>
              </a:lnSpc>
            </a:pPr>
            <a:r>
              <a:rPr lang="en-US" sz="1801" b="true">
                <a:solidFill>
                  <a:srgbClr val="7C3AED"/>
                </a:solidFill>
                <a:latin typeface="Calibri (MS) Bold"/>
                <a:ea typeface="Calibri (MS) Bold"/>
                <a:cs typeface="Calibri (MS) Bold"/>
                <a:sym typeface="Calibri (MS) Bold"/>
              </a:rPr>
              <a:t>Ganesh Madarasu X </a:t>
            </a:r>
            <a:r>
              <a:rPr lang="en-US" sz="1801" b="true">
                <a:solidFill>
                  <a:srgbClr val="7C3AED"/>
                </a:solidFill>
                <a:latin typeface="Calibri (MS) Bold"/>
                <a:ea typeface="Calibri (MS) Bold"/>
                <a:cs typeface="Calibri (MS) Bold"/>
                <a:sym typeface="Calibri (MS) Bold"/>
              </a:rPr>
              <a:t>AI Engineer</a:t>
            </a:r>
          </a:p>
        </p:txBody>
      </p:sp>
      <p:sp>
        <p:nvSpPr>
          <p:cNvPr name="TextBox 5" id="5"/>
          <p:cNvSpPr txBox="true"/>
          <p:nvPr/>
        </p:nvSpPr>
        <p:spPr>
          <a:xfrm rot="0">
            <a:off x="915048" y="2463298"/>
            <a:ext cx="9425826" cy="1562100"/>
          </a:xfrm>
          <a:prstGeom prst="rect">
            <a:avLst/>
          </a:prstGeom>
        </p:spPr>
        <p:txBody>
          <a:bodyPr anchor="t" rtlCol="false" tIns="0" lIns="0" bIns="0" rIns="0">
            <a:spAutoFit/>
          </a:bodyPr>
          <a:lstStyle/>
          <a:p>
            <a:pPr algn="l">
              <a:lnSpc>
                <a:spcPts val="10808"/>
              </a:lnSpc>
            </a:pPr>
            <a:r>
              <a:rPr lang="en-US" sz="9007" b="true">
                <a:solidFill>
                  <a:srgbClr val="4C1D95"/>
                </a:solidFill>
                <a:latin typeface="Calibri (MS) Bold"/>
                <a:ea typeface="Calibri (MS) Bold"/>
                <a:cs typeface="Calibri (MS) Bold"/>
                <a:sym typeface="Calibri (MS) Bold"/>
              </a:rPr>
              <a:t>Nymbl - </a:t>
            </a:r>
            <a:r>
              <a:rPr lang="en-US" sz="9007" b="true">
                <a:solidFill>
                  <a:srgbClr val="4C1D95"/>
                </a:solidFill>
                <a:latin typeface="Calibri (MS) Bold"/>
                <a:ea typeface="Calibri (MS) Bold"/>
                <a:cs typeface="Calibri (MS) Bold"/>
                <a:sym typeface="Calibri (MS) Bold"/>
              </a:rPr>
              <a:t>Doc RAG</a:t>
            </a:r>
          </a:p>
        </p:txBody>
      </p:sp>
      <p:sp>
        <p:nvSpPr>
          <p:cNvPr name="TextBox 6" id="6"/>
          <p:cNvSpPr txBox="true"/>
          <p:nvPr/>
        </p:nvSpPr>
        <p:spPr>
          <a:xfrm rot="0">
            <a:off x="915048" y="4655658"/>
            <a:ext cx="9425826" cy="652043"/>
          </a:xfrm>
          <a:prstGeom prst="rect">
            <a:avLst/>
          </a:prstGeom>
        </p:spPr>
        <p:txBody>
          <a:bodyPr anchor="t" rtlCol="false" tIns="0" lIns="0" bIns="0" rIns="0">
            <a:spAutoFit/>
          </a:bodyPr>
          <a:lstStyle/>
          <a:p>
            <a:pPr algn="l">
              <a:lnSpc>
                <a:spcPts val="3242"/>
              </a:lnSpc>
            </a:pPr>
            <a:r>
              <a:rPr lang="en-US" sz="2702">
                <a:solidFill>
                  <a:srgbClr val="7C3AED"/>
                </a:solidFill>
                <a:latin typeface="Calibri (MS)"/>
                <a:ea typeface="Calibri (MS)"/>
                <a:cs typeface="Calibri (MS)"/>
                <a:sym typeface="Calibri (MS)"/>
              </a:rPr>
              <a:t>Single-document Q&amp;A grounded in your PDF</a:t>
            </a:r>
          </a:p>
        </p:txBody>
      </p:sp>
      <p:grpSp>
        <p:nvGrpSpPr>
          <p:cNvPr name="Group 7" id="7"/>
          <p:cNvGrpSpPr/>
          <p:nvPr/>
        </p:nvGrpSpPr>
        <p:grpSpPr>
          <a:xfrm rot="0">
            <a:off x="814073" y="5618426"/>
            <a:ext cx="2627138" cy="540677"/>
            <a:chOff x="0" y="0"/>
            <a:chExt cx="3502850" cy="720903"/>
          </a:xfrm>
        </p:grpSpPr>
        <p:sp>
          <p:nvSpPr>
            <p:cNvPr name="Freeform 8" id="8"/>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9" id="9"/>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7C3AED"/>
            </a:solidFill>
          </p:spPr>
        </p:sp>
      </p:grpSp>
      <p:sp>
        <p:nvSpPr>
          <p:cNvPr name="TextBox 10" id="10"/>
          <p:cNvSpPr txBox="true"/>
          <p:nvPr/>
        </p:nvSpPr>
        <p:spPr>
          <a:xfrm rot="0">
            <a:off x="1024861" y="5663032"/>
            <a:ext cx="2219296" cy="413366"/>
          </a:xfrm>
          <a:prstGeom prst="rect">
            <a:avLst/>
          </a:prstGeom>
        </p:spPr>
        <p:txBody>
          <a:bodyPr anchor="t" rtlCol="false" tIns="0" lIns="0" bIns="0" rIns="0">
            <a:spAutoFit/>
          </a:bodyPr>
          <a:lstStyle/>
          <a:p>
            <a:pPr algn="ctr">
              <a:lnSpc>
                <a:spcPts val="1801"/>
              </a:lnSpc>
            </a:pPr>
            <a:r>
              <a:rPr lang="en-US" sz="1501" b="true">
                <a:solidFill>
                  <a:srgbClr val="7C3AED"/>
                </a:solidFill>
                <a:latin typeface="Calibri (MS) Bold"/>
                <a:ea typeface="Calibri (MS) Bold"/>
                <a:cs typeface="Calibri (MS) Bold"/>
                <a:sym typeface="Calibri (MS) Bold"/>
              </a:rPr>
              <a:t>Gemini Embeddings</a:t>
            </a:r>
          </a:p>
        </p:txBody>
      </p:sp>
      <p:grpSp>
        <p:nvGrpSpPr>
          <p:cNvPr name="Group 11" id="11"/>
          <p:cNvGrpSpPr/>
          <p:nvPr/>
        </p:nvGrpSpPr>
        <p:grpSpPr>
          <a:xfrm rot="0">
            <a:off x="3559416" y="5618426"/>
            <a:ext cx="2627138" cy="540677"/>
            <a:chOff x="0" y="0"/>
            <a:chExt cx="3502850" cy="720903"/>
          </a:xfrm>
        </p:grpSpPr>
        <p:sp>
          <p:nvSpPr>
            <p:cNvPr name="Freeform 12" id="12"/>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13" id="13"/>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059669"/>
            </a:solidFill>
          </p:spPr>
        </p:sp>
      </p:grpSp>
      <p:sp>
        <p:nvSpPr>
          <p:cNvPr name="TextBox 14" id="14"/>
          <p:cNvSpPr txBox="true"/>
          <p:nvPr/>
        </p:nvSpPr>
        <p:spPr>
          <a:xfrm rot="0">
            <a:off x="3770205" y="5663032"/>
            <a:ext cx="2219296" cy="413366"/>
          </a:xfrm>
          <a:prstGeom prst="rect">
            <a:avLst/>
          </a:prstGeom>
        </p:spPr>
        <p:txBody>
          <a:bodyPr anchor="t" rtlCol="false" tIns="0" lIns="0" bIns="0" rIns="0">
            <a:spAutoFit/>
          </a:bodyPr>
          <a:lstStyle/>
          <a:p>
            <a:pPr algn="ctr">
              <a:lnSpc>
                <a:spcPts val="1801"/>
              </a:lnSpc>
            </a:pPr>
            <a:r>
              <a:rPr lang="en-US" sz="1501" b="true">
                <a:solidFill>
                  <a:srgbClr val="059669"/>
                </a:solidFill>
                <a:latin typeface="Calibri (MS) Bold"/>
                <a:ea typeface="Calibri (MS) Bold"/>
                <a:cs typeface="Calibri (MS) Bold"/>
                <a:sym typeface="Calibri (MS) Bold"/>
              </a:rPr>
              <a:t>pgvector + BM25</a:t>
            </a:r>
          </a:p>
        </p:txBody>
      </p:sp>
      <p:grpSp>
        <p:nvGrpSpPr>
          <p:cNvPr name="Group 15" id="15"/>
          <p:cNvGrpSpPr/>
          <p:nvPr/>
        </p:nvGrpSpPr>
        <p:grpSpPr>
          <a:xfrm rot="0">
            <a:off x="4968392" y="6799269"/>
            <a:ext cx="2627138" cy="540677"/>
            <a:chOff x="0" y="0"/>
            <a:chExt cx="3502850" cy="720903"/>
          </a:xfrm>
        </p:grpSpPr>
        <p:sp>
          <p:nvSpPr>
            <p:cNvPr name="Freeform 16" id="16"/>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17" id="17"/>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A78BFA"/>
            </a:solidFill>
          </p:spPr>
        </p:sp>
      </p:grpSp>
      <p:sp>
        <p:nvSpPr>
          <p:cNvPr name="TextBox 18" id="18"/>
          <p:cNvSpPr txBox="true"/>
          <p:nvPr/>
        </p:nvSpPr>
        <p:spPr>
          <a:xfrm rot="0">
            <a:off x="5179181" y="6843874"/>
            <a:ext cx="2219296" cy="413366"/>
          </a:xfrm>
          <a:prstGeom prst="rect">
            <a:avLst/>
          </a:prstGeom>
        </p:spPr>
        <p:txBody>
          <a:bodyPr anchor="t" rtlCol="false" tIns="0" lIns="0" bIns="0" rIns="0">
            <a:spAutoFit/>
          </a:bodyPr>
          <a:lstStyle/>
          <a:p>
            <a:pPr algn="ctr">
              <a:lnSpc>
                <a:spcPts val="1801"/>
              </a:lnSpc>
            </a:pPr>
            <a:r>
              <a:rPr lang="en-US" sz="1501" b="true">
                <a:solidFill>
                  <a:srgbClr val="5B21B6"/>
                </a:solidFill>
                <a:latin typeface="Calibri (MS) Bold"/>
                <a:ea typeface="Calibri (MS) Bold"/>
                <a:cs typeface="Calibri (MS) Bold"/>
                <a:sym typeface="Calibri (MS) Bold"/>
              </a:rPr>
              <a:t>FastAPI</a:t>
            </a:r>
          </a:p>
        </p:txBody>
      </p:sp>
      <p:grpSp>
        <p:nvGrpSpPr>
          <p:cNvPr name="Group 19" id="19"/>
          <p:cNvGrpSpPr/>
          <p:nvPr/>
        </p:nvGrpSpPr>
        <p:grpSpPr>
          <a:xfrm rot="0">
            <a:off x="7713736" y="6799269"/>
            <a:ext cx="2627138" cy="540677"/>
            <a:chOff x="0" y="0"/>
            <a:chExt cx="3502850" cy="720903"/>
          </a:xfrm>
        </p:grpSpPr>
        <p:sp>
          <p:nvSpPr>
            <p:cNvPr name="Freeform 20" id="20"/>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21" id="21"/>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F97316"/>
            </a:solidFill>
          </p:spPr>
        </p:sp>
      </p:grpSp>
      <p:sp>
        <p:nvSpPr>
          <p:cNvPr name="TextBox 22" id="22"/>
          <p:cNvSpPr txBox="true"/>
          <p:nvPr/>
        </p:nvSpPr>
        <p:spPr>
          <a:xfrm rot="0">
            <a:off x="7924524" y="6843874"/>
            <a:ext cx="2219296" cy="413366"/>
          </a:xfrm>
          <a:prstGeom prst="rect">
            <a:avLst/>
          </a:prstGeom>
        </p:spPr>
        <p:txBody>
          <a:bodyPr anchor="t" rtlCol="false" tIns="0" lIns="0" bIns="0" rIns="0">
            <a:spAutoFit/>
          </a:bodyPr>
          <a:lstStyle/>
          <a:p>
            <a:pPr algn="ctr">
              <a:lnSpc>
                <a:spcPts val="1801"/>
              </a:lnSpc>
            </a:pPr>
            <a:r>
              <a:rPr lang="en-US" sz="1501" b="true">
                <a:solidFill>
                  <a:srgbClr val="F97316"/>
                </a:solidFill>
                <a:latin typeface="Calibri (MS) Bold"/>
                <a:ea typeface="Calibri (MS) Bold"/>
                <a:cs typeface="Calibri (MS) Bold"/>
                <a:sym typeface="Calibri (MS) Bold"/>
              </a:rPr>
              <a:t>Hybrid RAG</a:t>
            </a:r>
          </a:p>
        </p:txBody>
      </p:sp>
      <p:sp>
        <p:nvSpPr>
          <p:cNvPr name="TextBox 23" id="23"/>
          <p:cNvSpPr txBox="true"/>
          <p:nvPr/>
        </p:nvSpPr>
        <p:spPr>
          <a:xfrm rot="0">
            <a:off x="11347352" y="2478434"/>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Upload any PDF</a:t>
            </a:r>
          </a:p>
        </p:txBody>
      </p:sp>
      <p:sp>
        <p:nvSpPr>
          <p:cNvPr name="TextBox 24" id="24"/>
          <p:cNvSpPr txBox="true"/>
          <p:nvPr/>
        </p:nvSpPr>
        <p:spPr>
          <a:xfrm rot="0">
            <a:off x="11347352" y="3192218"/>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Auto-scaled chunking + parent context</a:t>
            </a:r>
          </a:p>
        </p:txBody>
      </p:sp>
      <p:sp>
        <p:nvSpPr>
          <p:cNvPr name="TextBox 25" id="25"/>
          <p:cNvSpPr txBox="true"/>
          <p:nvPr/>
        </p:nvSpPr>
        <p:spPr>
          <a:xfrm rot="0">
            <a:off x="11347352" y="3906012"/>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Gemini semantic embeddings</a:t>
            </a:r>
          </a:p>
        </p:txBody>
      </p:sp>
      <p:sp>
        <p:nvSpPr>
          <p:cNvPr name="TextBox 26" id="26"/>
          <p:cNvSpPr txBox="true"/>
          <p:nvPr/>
        </p:nvSpPr>
        <p:spPr>
          <a:xfrm rot="0">
            <a:off x="11347352" y="4619796"/>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Hybrid BM25 + vector search (RRF)</a:t>
            </a:r>
          </a:p>
        </p:txBody>
      </p:sp>
      <p:sp>
        <p:nvSpPr>
          <p:cNvPr name="TextBox 27" id="27"/>
          <p:cNvSpPr txBox="true"/>
          <p:nvPr/>
        </p:nvSpPr>
        <p:spPr>
          <a:xfrm rot="0">
            <a:off x="11347352" y="5333590"/>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Gemini re-ranking</a:t>
            </a:r>
          </a:p>
        </p:txBody>
      </p:sp>
      <p:sp>
        <p:nvSpPr>
          <p:cNvPr name="TextBox 28" id="28"/>
          <p:cNvSpPr txBox="true"/>
          <p:nvPr/>
        </p:nvSpPr>
        <p:spPr>
          <a:xfrm rot="0">
            <a:off x="11347352" y="6047375"/>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Streaming answers with markdown rendering</a:t>
            </a:r>
          </a:p>
        </p:txBody>
      </p:sp>
      <p:sp>
        <p:nvSpPr>
          <p:cNvPr name="TextBox 29" id="29"/>
          <p:cNvSpPr txBox="true"/>
          <p:nvPr/>
        </p:nvSpPr>
        <p:spPr>
          <a:xfrm rot="0">
            <a:off x="11347352" y="6761169"/>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Numbered [N] citations + PDF viewer + similarity %</a:t>
            </a:r>
          </a:p>
        </p:txBody>
      </p:sp>
    </p:spTree>
  </p:cSld>
  <p:clrMapOvr>
    <a:masterClrMapping/>
  </p:clrMapOvr>
</p:sld>
</file>

<file path=ppt/slides/slide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OVERVIEW</a:t>
            </a:r>
          </a:p>
        </p:txBody>
      </p:sp>
      <p:sp>
        <p:nvSpPr>
          <p:cNvPr name="TextBox 3" id="3"/>
          <p:cNvSpPr txBox="true"/>
          <p:nvPr/>
        </p:nvSpPr>
        <p:spPr>
          <a:xfrm rot="0">
            <a:off x="915048" y="989495"/>
            <a:ext cx="16289188" cy="809625"/>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What Doc RAG does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816454" y="2189131"/>
            <a:ext cx="8113062" cy="2210572"/>
            <a:chOff x="0" y="0"/>
            <a:chExt cx="10817416" cy="2947429"/>
          </a:xfrm>
        </p:grpSpPr>
        <p:sp>
          <p:nvSpPr>
            <p:cNvPr name="Freeform 7" id="7"/>
            <p:cNvSpPr/>
            <p:nvPr/>
          </p:nvSpPr>
          <p:spPr>
            <a:xfrm flipH="false" flipV="false" rot="0">
              <a:off x="9525" y="9525"/>
              <a:ext cx="10798302" cy="2928366"/>
            </a:xfrm>
            <a:custGeom>
              <a:avLst/>
              <a:gdLst/>
              <a:ahLst/>
              <a:cxnLst/>
              <a:rect r="r" b="b" t="t" l="l"/>
              <a:pathLst>
                <a:path h="2928366" w="10798302">
                  <a:moveTo>
                    <a:pt x="0" y="0"/>
                  </a:moveTo>
                  <a:lnTo>
                    <a:pt x="10798302" y="0"/>
                  </a:lnTo>
                  <a:lnTo>
                    <a:pt x="10798302" y="2928366"/>
                  </a:lnTo>
                  <a:lnTo>
                    <a:pt x="0" y="2928366"/>
                  </a:lnTo>
                  <a:close/>
                </a:path>
              </a:pathLst>
            </a:custGeom>
            <a:solidFill>
              <a:srgbClr val="FFFFFF"/>
            </a:solidFill>
          </p:spPr>
        </p:sp>
        <p:sp>
          <p:nvSpPr>
            <p:cNvPr name="Freeform 8" id="8"/>
            <p:cNvSpPr/>
            <p:nvPr/>
          </p:nvSpPr>
          <p:spPr>
            <a:xfrm flipH="false" flipV="false" rot="0">
              <a:off x="0" y="0"/>
              <a:ext cx="10817352" cy="2947416"/>
            </a:xfrm>
            <a:custGeom>
              <a:avLst/>
              <a:gdLst/>
              <a:ahLst/>
              <a:cxnLst/>
              <a:rect r="r" b="b" t="t" l="l"/>
              <a:pathLst>
                <a:path h="2947416" w="10817352">
                  <a:moveTo>
                    <a:pt x="9525" y="0"/>
                  </a:moveTo>
                  <a:lnTo>
                    <a:pt x="10807827" y="0"/>
                  </a:lnTo>
                  <a:cubicBezTo>
                    <a:pt x="10813034" y="0"/>
                    <a:pt x="10817352" y="4318"/>
                    <a:pt x="10817352" y="9525"/>
                  </a:cubicBezTo>
                  <a:lnTo>
                    <a:pt x="10817352" y="2937891"/>
                  </a:lnTo>
                  <a:cubicBezTo>
                    <a:pt x="10817352" y="2943098"/>
                    <a:pt x="10813034" y="2947416"/>
                    <a:pt x="10807827"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10807827" y="2928366"/>
                  </a:lnTo>
                  <a:lnTo>
                    <a:pt x="10807827" y="2937891"/>
                  </a:lnTo>
                  <a:lnTo>
                    <a:pt x="10798302" y="2937891"/>
                  </a:lnTo>
                  <a:lnTo>
                    <a:pt x="10798302" y="9525"/>
                  </a:lnTo>
                  <a:lnTo>
                    <a:pt x="10807827" y="9525"/>
                  </a:lnTo>
                  <a:lnTo>
                    <a:pt x="10807827" y="19050"/>
                  </a:lnTo>
                  <a:lnTo>
                    <a:pt x="9525" y="19050"/>
                  </a:lnTo>
                  <a:close/>
                </a:path>
              </a:pathLst>
            </a:custGeom>
            <a:solidFill>
              <a:srgbClr val="FFFFFF"/>
            </a:solidFill>
          </p:spPr>
        </p:sp>
      </p:grpSp>
      <p:sp>
        <p:nvSpPr>
          <p:cNvPr name="TextBox 9" id="9"/>
          <p:cNvSpPr txBox="true"/>
          <p:nvPr/>
        </p:nvSpPr>
        <p:spPr>
          <a:xfrm rot="0">
            <a:off x="1189577" y="2400271"/>
            <a:ext cx="7366816"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The problem</a:t>
            </a:r>
          </a:p>
        </p:txBody>
      </p:sp>
      <p:sp>
        <p:nvSpPr>
          <p:cNvPr name="TextBox 10" id="10"/>
          <p:cNvSpPr txBox="true"/>
          <p:nvPr/>
        </p:nvSpPr>
        <p:spPr>
          <a:xfrm rot="0">
            <a:off x="1189577" y="2958865"/>
            <a:ext cx="7366816" cy="1182062"/>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LLMs hallucinate when asked about documents they haven't seen. Generic chat can't cite specific passages or say "I don't know" reliably.</a:t>
            </a:r>
          </a:p>
        </p:txBody>
      </p:sp>
      <p:grpSp>
        <p:nvGrpSpPr>
          <p:cNvPr name="Group 11" id="11"/>
          <p:cNvGrpSpPr/>
          <p:nvPr/>
        </p:nvGrpSpPr>
        <p:grpSpPr>
          <a:xfrm rot="0">
            <a:off x="9368199" y="2189131"/>
            <a:ext cx="8113062" cy="2210572"/>
            <a:chOff x="0" y="0"/>
            <a:chExt cx="10817416" cy="2947429"/>
          </a:xfrm>
        </p:grpSpPr>
        <p:sp>
          <p:nvSpPr>
            <p:cNvPr name="Freeform 12" id="12"/>
            <p:cNvSpPr/>
            <p:nvPr/>
          </p:nvSpPr>
          <p:spPr>
            <a:xfrm flipH="false" flipV="false" rot="0">
              <a:off x="9525" y="9525"/>
              <a:ext cx="10798302" cy="2928366"/>
            </a:xfrm>
            <a:custGeom>
              <a:avLst/>
              <a:gdLst/>
              <a:ahLst/>
              <a:cxnLst/>
              <a:rect r="r" b="b" t="t" l="l"/>
              <a:pathLst>
                <a:path h="2928366" w="10798302">
                  <a:moveTo>
                    <a:pt x="0" y="0"/>
                  </a:moveTo>
                  <a:lnTo>
                    <a:pt x="10798302" y="0"/>
                  </a:lnTo>
                  <a:lnTo>
                    <a:pt x="10798302" y="2928366"/>
                  </a:lnTo>
                  <a:lnTo>
                    <a:pt x="0" y="2928366"/>
                  </a:lnTo>
                  <a:close/>
                </a:path>
              </a:pathLst>
            </a:custGeom>
            <a:solidFill>
              <a:srgbClr val="FFFFFF"/>
            </a:solidFill>
          </p:spPr>
        </p:sp>
        <p:sp>
          <p:nvSpPr>
            <p:cNvPr name="Freeform 13" id="13"/>
            <p:cNvSpPr/>
            <p:nvPr/>
          </p:nvSpPr>
          <p:spPr>
            <a:xfrm flipH="false" flipV="false" rot="0">
              <a:off x="0" y="0"/>
              <a:ext cx="10817352" cy="2947416"/>
            </a:xfrm>
            <a:custGeom>
              <a:avLst/>
              <a:gdLst/>
              <a:ahLst/>
              <a:cxnLst/>
              <a:rect r="r" b="b" t="t" l="l"/>
              <a:pathLst>
                <a:path h="2947416" w="10817352">
                  <a:moveTo>
                    <a:pt x="9525" y="0"/>
                  </a:moveTo>
                  <a:lnTo>
                    <a:pt x="10807827" y="0"/>
                  </a:lnTo>
                  <a:cubicBezTo>
                    <a:pt x="10813034" y="0"/>
                    <a:pt x="10817352" y="4318"/>
                    <a:pt x="10817352" y="9525"/>
                  </a:cubicBezTo>
                  <a:lnTo>
                    <a:pt x="10817352" y="2937891"/>
                  </a:lnTo>
                  <a:cubicBezTo>
                    <a:pt x="10817352" y="2943098"/>
                    <a:pt x="10813034" y="2947416"/>
                    <a:pt x="10807827"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10807827" y="2928366"/>
                  </a:lnTo>
                  <a:lnTo>
                    <a:pt x="10807827" y="2937891"/>
                  </a:lnTo>
                  <a:lnTo>
                    <a:pt x="10798302" y="2937891"/>
                  </a:lnTo>
                  <a:lnTo>
                    <a:pt x="10798302" y="9525"/>
                  </a:lnTo>
                  <a:lnTo>
                    <a:pt x="10807827" y="9525"/>
                  </a:lnTo>
                  <a:lnTo>
                    <a:pt x="10807827" y="19050"/>
                  </a:lnTo>
                  <a:lnTo>
                    <a:pt x="9525" y="19050"/>
                  </a:lnTo>
                  <a:close/>
                </a:path>
              </a:pathLst>
            </a:custGeom>
            <a:solidFill>
              <a:srgbClr val="FFFFFF"/>
            </a:solidFill>
          </p:spPr>
        </p:sp>
      </p:grpSp>
      <p:sp>
        <p:nvSpPr>
          <p:cNvPr name="TextBox 14" id="14"/>
          <p:cNvSpPr txBox="true"/>
          <p:nvPr/>
        </p:nvSpPr>
        <p:spPr>
          <a:xfrm rot="0">
            <a:off x="9741322" y="2400271"/>
            <a:ext cx="7366816"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The solution</a:t>
            </a:r>
          </a:p>
        </p:txBody>
      </p:sp>
      <p:sp>
        <p:nvSpPr>
          <p:cNvPr name="TextBox 15" id="15"/>
          <p:cNvSpPr txBox="true"/>
          <p:nvPr/>
        </p:nvSpPr>
        <p:spPr>
          <a:xfrm rot="0">
            <a:off x="9741322" y="2958865"/>
            <a:ext cx="7366816" cy="1182062"/>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Retrieval-Augmented Generation — ground every answer in retrieved chunks from the actual document, with inline citations so claims can be verified.</a:t>
            </a:r>
          </a:p>
        </p:txBody>
      </p:sp>
      <p:grpSp>
        <p:nvGrpSpPr>
          <p:cNvPr name="Group 16" id="16"/>
          <p:cNvGrpSpPr/>
          <p:nvPr/>
        </p:nvGrpSpPr>
        <p:grpSpPr>
          <a:xfrm rot="0">
            <a:off x="816454" y="4659935"/>
            <a:ext cx="16664816" cy="2347846"/>
            <a:chOff x="0" y="0"/>
            <a:chExt cx="22219755" cy="3130461"/>
          </a:xfrm>
        </p:grpSpPr>
        <p:sp>
          <p:nvSpPr>
            <p:cNvPr name="Freeform 17" id="17"/>
            <p:cNvSpPr/>
            <p:nvPr/>
          </p:nvSpPr>
          <p:spPr>
            <a:xfrm flipH="false" flipV="false" rot="0">
              <a:off x="9525" y="9525"/>
              <a:ext cx="22200743" cy="3111373"/>
            </a:xfrm>
            <a:custGeom>
              <a:avLst/>
              <a:gdLst/>
              <a:ahLst/>
              <a:cxnLst/>
              <a:rect r="r" b="b" t="t" l="l"/>
              <a:pathLst>
                <a:path h="3111373" w="22200743">
                  <a:moveTo>
                    <a:pt x="0" y="0"/>
                  </a:moveTo>
                  <a:lnTo>
                    <a:pt x="22200743" y="0"/>
                  </a:lnTo>
                  <a:lnTo>
                    <a:pt x="22200743" y="3111373"/>
                  </a:lnTo>
                  <a:lnTo>
                    <a:pt x="0" y="3111373"/>
                  </a:lnTo>
                  <a:close/>
                </a:path>
              </a:pathLst>
            </a:custGeom>
            <a:solidFill>
              <a:srgbClr val="FFFFFF"/>
            </a:solidFill>
          </p:spPr>
        </p:sp>
        <p:sp>
          <p:nvSpPr>
            <p:cNvPr name="Freeform 18" id="18"/>
            <p:cNvSpPr/>
            <p:nvPr/>
          </p:nvSpPr>
          <p:spPr>
            <a:xfrm flipH="false" flipV="false" rot="0">
              <a:off x="0" y="0"/>
              <a:ext cx="22219793" cy="3130423"/>
            </a:xfrm>
            <a:custGeom>
              <a:avLst/>
              <a:gdLst/>
              <a:ahLst/>
              <a:cxnLst/>
              <a:rect r="r" b="b" t="t" l="l"/>
              <a:pathLst>
                <a:path h="3130423" w="22219793">
                  <a:moveTo>
                    <a:pt x="9525" y="0"/>
                  </a:moveTo>
                  <a:lnTo>
                    <a:pt x="22210268" y="0"/>
                  </a:lnTo>
                  <a:cubicBezTo>
                    <a:pt x="22215475" y="0"/>
                    <a:pt x="22219793" y="4318"/>
                    <a:pt x="22219793" y="9525"/>
                  </a:cubicBezTo>
                  <a:lnTo>
                    <a:pt x="22219793" y="3120898"/>
                  </a:lnTo>
                  <a:cubicBezTo>
                    <a:pt x="22219793" y="3126105"/>
                    <a:pt x="22215475" y="3130423"/>
                    <a:pt x="22210268" y="3130423"/>
                  </a:cubicBezTo>
                  <a:lnTo>
                    <a:pt x="9525" y="3130423"/>
                  </a:lnTo>
                  <a:cubicBezTo>
                    <a:pt x="4318" y="3130423"/>
                    <a:pt x="0" y="3126105"/>
                    <a:pt x="0" y="3120898"/>
                  </a:cubicBezTo>
                  <a:lnTo>
                    <a:pt x="0" y="9525"/>
                  </a:lnTo>
                  <a:cubicBezTo>
                    <a:pt x="0" y="4318"/>
                    <a:pt x="4318" y="0"/>
                    <a:pt x="9525" y="0"/>
                  </a:cubicBezTo>
                  <a:moveTo>
                    <a:pt x="9525" y="19050"/>
                  </a:moveTo>
                  <a:lnTo>
                    <a:pt x="9525" y="9525"/>
                  </a:lnTo>
                  <a:lnTo>
                    <a:pt x="19050" y="9525"/>
                  </a:lnTo>
                  <a:lnTo>
                    <a:pt x="19050" y="3120898"/>
                  </a:lnTo>
                  <a:lnTo>
                    <a:pt x="9525" y="3120898"/>
                  </a:lnTo>
                  <a:lnTo>
                    <a:pt x="9525" y="3111373"/>
                  </a:lnTo>
                  <a:lnTo>
                    <a:pt x="22210268" y="3111373"/>
                  </a:lnTo>
                  <a:lnTo>
                    <a:pt x="22210268" y="3120898"/>
                  </a:lnTo>
                  <a:lnTo>
                    <a:pt x="22200743" y="3120898"/>
                  </a:lnTo>
                  <a:lnTo>
                    <a:pt x="22200743" y="9525"/>
                  </a:lnTo>
                  <a:lnTo>
                    <a:pt x="22210268" y="9525"/>
                  </a:lnTo>
                  <a:lnTo>
                    <a:pt x="22210268" y="19050"/>
                  </a:lnTo>
                  <a:lnTo>
                    <a:pt x="9525" y="19050"/>
                  </a:lnTo>
                  <a:close/>
                </a:path>
              </a:pathLst>
            </a:custGeom>
            <a:solidFill>
              <a:srgbClr val="FFFFFF"/>
            </a:solidFill>
          </p:spPr>
        </p:sp>
      </p:grpSp>
      <p:grpSp>
        <p:nvGrpSpPr>
          <p:cNvPr name="Group 19" id="19"/>
          <p:cNvGrpSpPr/>
          <p:nvPr/>
        </p:nvGrpSpPr>
        <p:grpSpPr>
          <a:xfrm rot="0">
            <a:off x="1090984" y="4934474"/>
            <a:ext cx="2896914" cy="1798777"/>
            <a:chOff x="0" y="0"/>
            <a:chExt cx="3862553" cy="2398370"/>
          </a:xfrm>
        </p:grpSpPr>
        <p:sp>
          <p:nvSpPr>
            <p:cNvPr name="Freeform 20" id="20"/>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21" id="21"/>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7C3AED"/>
            </a:solidFill>
          </p:spPr>
        </p:sp>
      </p:grpSp>
      <p:sp>
        <p:nvSpPr>
          <p:cNvPr name="TextBox 22" id="22"/>
          <p:cNvSpPr txBox="true"/>
          <p:nvPr/>
        </p:nvSpPr>
        <p:spPr>
          <a:xfrm rot="0">
            <a:off x="1189577"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3" id="23"/>
          <p:cNvSpPr txBox="true"/>
          <p:nvPr/>
        </p:nvSpPr>
        <p:spPr>
          <a:xfrm rot="0">
            <a:off x="1189577"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PDF Upload</a:t>
            </a:r>
          </a:p>
        </p:txBody>
      </p:sp>
      <p:sp>
        <p:nvSpPr>
          <p:cNvPr name="TextBox 24" id="24"/>
          <p:cNvSpPr txBox="true"/>
          <p:nvPr/>
        </p:nvSpPr>
        <p:spPr>
          <a:xfrm rot="0">
            <a:off x="1189577"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any size</a:t>
            </a:r>
          </a:p>
        </p:txBody>
      </p:sp>
      <p:grpSp>
        <p:nvGrpSpPr>
          <p:cNvPr name="Group 25" id="25"/>
          <p:cNvGrpSpPr/>
          <p:nvPr/>
        </p:nvGrpSpPr>
        <p:grpSpPr>
          <a:xfrm rot="0">
            <a:off x="4110866" y="4934474"/>
            <a:ext cx="2896914" cy="1798777"/>
            <a:chOff x="0" y="0"/>
            <a:chExt cx="3862553" cy="2398370"/>
          </a:xfrm>
        </p:grpSpPr>
        <p:sp>
          <p:nvSpPr>
            <p:cNvPr name="Freeform 26" id="26"/>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27" id="27"/>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A78BFA"/>
            </a:solidFill>
          </p:spPr>
        </p:sp>
      </p:grpSp>
      <p:sp>
        <p:nvSpPr>
          <p:cNvPr name="TextBox 28" id="28"/>
          <p:cNvSpPr txBox="true"/>
          <p:nvPr/>
        </p:nvSpPr>
        <p:spPr>
          <a:xfrm rot="0">
            <a:off x="4209459"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9" id="29"/>
          <p:cNvSpPr txBox="true"/>
          <p:nvPr/>
        </p:nvSpPr>
        <p:spPr>
          <a:xfrm rot="0">
            <a:off x="4209459"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Extract &amp; Chunk</a:t>
            </a:r>
          </a:p>
        </p:txBody>
      </p:sp>
      <p:sp>
        <p:nvSpPr>
          <p:cNvPr name="TextBox 30" id="30"/>
          <p:cNvSpPr txBox="true"/>
          <p:nvPr/>
        </p:nvSpPr>
        <p:spPr>
          <a:xfrm rot="0">
            <a:off x="4209459"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PyMuPDF + tiktoken</a:t>
            </a:r>
          </a:p>
        </p:txBody>
      </p:sp>
      <p:grpSp>
        <p:nvGrpSpPr>
          <p:cNvPr name="Group 31" id="31"/>
          <p:cNvGrpSpPr/>
          <p:nvPr/>
        </p:nvGrpSpPr>
        <p:grpSpPr>
          <a:xfrm rot="0">
            <a:off x="7130748" y="4934474"/>
            <a:ext cx="2896914" cy="1798777"/>
            <a:chOff x="0" y="0"/>
            <a:chExt cx="3862553" cy="2398370"/>
          </a:xfrm>
        </p:grpSpPr>
        <p:sp>
          <p:nvSpPr>
            <p:cNvPr name="Freeform 32" id="32"/>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33" id="33"/>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4285F4"/>
            </a:solidFill>
          </p:spPr>
        </p:sp>
      </p:grpSp>
      <p:sp>
        <p:nvSpPr>
          <p:cNvPr name="TextBox 34" id="34"/>
          <p:cNvSpPr txBox="true"/>
          <p:nvPr/>
        </p:nvSpPr>
        <p:spPr>
          <a:xfrm rot="0">
            <a:off x="7229332"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35" id="35"/>
          <p:cNvSpPr txBox="true"/>
          <p:nvPr/>
        </p:nvSpPr>
        <p:spPr>
          <a:xfrm rot="0">
            <a:off x="7229332"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Embed</a:t>
            </a:r>
          </a:p>
        </p:txBody>
      </p:sp>
      <p:sp>
        <p:nvSpPr>
          <p:cNvPr name="TextBox 36" id="36"/>
          <p:cNvSpPr txBox="true"/>
          <p:nvPr/>
        </p:nvSpPr>
        <p:spPr>
          <a:xfrm rot="0">
            <a:off x="7229332"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gemini-embedding-2</a:t>
            </a:r>
          </a:p>
        </p:txBody>
      </p:sp>
      <p:grpSp>
        <p:nvGrpSpPr>
          <p:cNvPr name="Group 37" id="37"/>
          <p:cNvGrpSpPr/>
          <p:nvPr/>
        </p:nvGrpSpPr>
        <p:grpSpPr>
          <a:xfrm rot="0">
            <a:off x="10150631" y="4934474"/>
            <a:ext cx="2896914" cy="1798777"/>
            <a:chOff x="0" y="0"/>
            <a:chExt cx="3862553" cy="2398370"/>
          </a:xfrm>
        </p:grpSpPr>
        <p:sp>
          <p:nvSpPr>
            <p:cNvPr name="Freeform 38" id="38"/>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39" id="39"/>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336791"/>
            </a:solidFill>
          </p:spPr>
        </p:sp>
      </p:grpSp>
      <p:sp>
        <p:nvSpPr>
          <p:cNvPr name="TextBox 40" id="40"/>
          <p:cNvSpPr txBox="true"/>
          <p:nvPr/>
        </p:nvSpPr>
        <p:spPr>
          <a:xfrm rot="0">
            <a:off x="10249214"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41" id="41"/>
          <p:cNvSpPr txBox="true"/>
          <p:nvPr/>
        </p:nvSpPr>
        <p:spPr>
          <a:xfrm rot="0">
            <a:off x="10249214"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Store</a:t>
            </a:r>
          </a:p>
        </p:txBody>
      </p:sp>
      <p:sp>
        <p:nvSpPr>
          <p:cNvPr name="TextBox 42" id="42"/>
          <p:cNvSpPr txBox="true"/>
          <p:nvPr/>
        </p:nvSpPr>
        <p:spPr>
          <a:xfrm rot="0">
            <a:off x="10249214"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Postgres + pgvector</a:t>
            </a:r>
          </a:p>
        </p:txBody>
      </p:sp>
      <p:grpSp>
        <p:nvGrpSpPr>
          <p:cNvPr name="Group 43" id="43"/>
          <p:cNvGrpSpPr/>
          <p:nvPr/>
        </p:nvGrpSpPr>
        <p:grpSpPr>
          <a:xfrm rot="0">
            <a:off x="13170503" y="4934474"/>
            <a:ext cx="2896914" cy="1798777"/>
            <a:chOff x="0" y="0"/>
            <a:chExt cx="3862553" cy="2398370"/>
          </a:xfrm>
        </p:grpSpPr>
        <p:sp>
          <p:nvSpPr>
            <p:cNvPr name="Freeform 44" id="44"/>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45" id="45"/>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059669"/>
            </a:solidFill>
          </p:spPr>
        </p:sp>
      </p:grpSp>
      <p:sp>
        <p:nvSpPr>
          <p:cNvPr name="TextBox 46" id="46"/>
          <p:cNvSpPr txBox="true"/>
          <p:nvPr/>
        </p:nvSpPr>
        <p:spPr>
          <a:xfrm rot="0">
            <a:off x="13269097"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47" id="47"/>
          <p:cNvSpPr txBox="true"/>
          <p:nvPr/>
        </p:nvSpPr>
        <p:spPr>
          <a:xfrm rot="0">
            <a:off x="13269097"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Answer</a:t>
            </a:r>
          </a:p>
        </p:txBody>
      </p:sp>
      <p:sp>
        <p:nvSpPr>
          <p:cNvPr name="TextBox 48" id="48"/>
          <p:cNvSpPr txBox="true"/>
          <p:nvPr/>
        </p:nvSpPr>
        <p:spPr>
          <a:xfrm rot="0">
            <a:off x="13269097"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 2.5 Flash</a:t>
            </a: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SYSTEM DESIGN</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Architecture</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3836337"/>
            <a:ext cx="2210572" cy="2073307"/>
            <a:chOff x="0" y="0"/>
            <a:chExt cx="2947429" cy="2764409"/>
          </a:xfrm>
        </p:grpSpPr>
        <p:sp>
          <p:nvSpPr>
            <p:cNvPr name="Freeform 7" id="7"/>
            <p:cNvSpPr/>
            <p:nvPr/>
          </p:nvSpPr>
          <p:spPr>
            <a:xfrm flipH="false" flipV="false" rot="0">
              <a:off x="9525" y="9525"/>
              <a:ext cx="2928366" cy="2745359"/>
            </a:xfrm>
            <a:custGeom>
              <a:avLst/>
              <a:gdLst/>
              <a:ahLst/>
              <a:cxnLst/>
              <a:rect r="r" b="b" t="t" l="l"/>
              <a:pathLst>
                <a:path h="2745359" w="2928366">
                  <a:moveTo>
                    <a:pt x="0" y="0"/>
                  </a:moveTo>
                  <a:lnTo>
                    <a:pt x="2928366" y="0"/>
                  </a:lnTo>
                  <a:lnTo>
                    <a:pt x="2928366" y="2745359"/>
                  </a:lnTo>
                  <a:lnTo>
                    <a:pt x="0" y="2745359"/>
                  </a:lnTo>
                  <a:close/>
                </a:path>
              </a:pathLst>
            </a:custGeom>
            <a:solidFill>
              <a:srgbClr val="FFFFFF"/>
            </a:solidFill>
          </p:spPr>
        </p:sp>
        <p:sp>
          <p:nvSpPr>
            <p:cNvPr name="Freeform 8" id="8"/>
            <p:cNvSpPr/>
            <p:nvPr/>
          </p:nvSpPr>
          <p:spPr>
            <a:xfrm flipH="false" flipV="false" rot="0">
              <a:off x="0" y="0"/>
              <a:ext cx="2947416" cy="2764409"/>
            </a:xfrm>
            <a:custGeom>
              <a:avLst/>
              <a:gdLst/>
              <a:ahLst/>
              <a:cxnLst/>
              <a:rect r="r" b="b" t="t" l="l"/>
              <a:pathLst>
                <a:path h="2764409" w="2947416">
                  <a:moveTo>
                    <a:pt x="9525" y="0"/>
                  </a:moveTo>
                  <a:lnTo>
                    <a:pt x="2937891" y="0"/>
                  </a:lnTo>
                  <a:cubicBezTo>
                    <a:pt x="2943098" y="0"/>
                    <a:pt x="2947416" y="4318"/>
                    <a:pt x="2947416" y="9525"/>
                  </a:cubicBezTo>
                  <a:lnTo>
                    <a:pt x="2947416" y="2754884"/>
                  </a:lnTo>
                  <a:cubicBezTo>
                    <a:pt x="2947416" y="2760091"/>
                    <a:pt x="2943098" y="2764409"/>
                    <a:pt x="2937891" y="2764409"/>
                  </a:cubicBezTo>
                  <a:lnTo>
                    <a:pt x="9525" y="2764409"/>
                  </a:lnTo>
                  <a:cubicBezTo>
                    <a:pt x="4318" y="2764409"/>
                    <a:pt x="0" y="2760091"/>
                    <a:pt x="0" y="2754884"/>
                  </a:cubicBezTo>
                  <a:lnTo>
                    <a:pt x="0" y="9525"/>
                  </a:lnTo>
                  <a:cubicBezTo>
                    <a:pt x="0" y="4318"/>
                    <a:pt x="4318" y="0"/>
                    <a:pt x="9525" y="0"/>
                  </a:cubicBezTo>
                  <a:moveTo>
                    <a:pt x="9525" y="19050"/>
                  </a:moveTo>
                  <a:lnTo>
                    <a:pt x="9525" y="9525"/>
                  </a:lnTo>
                  <a:lnTo>
                    <a:pt x="19050" y="9525"/>
                  </a:lnTo>
                  <a:lnTo>
                    <a:pt x="19050" y="2754884"/>
                  </a:lnTo>
                  <a:lnTo>
                    <a:pt x="9525" y="2754884"/>
                  </a:lnTo>
                  <a:lnTo>
                    <a:pt x="9525" y="2745359"/>
                  </a:lnTo>
                  <a:lnTo>
                    <a:pt x="2937891" y="2745359"/>
                  </a:lnTo>
                  <a:lnTo>
                    <a:pt x="2937891" y="2754884"/>
                  </a:lnTo>
                  <a:lnTo>
                    <a:pt x="2928366" y="2754884"/>
                  </a:lnTo>
                  <a:lnTo>
                    <a:pt x="2928366" y="9525"/>
                  </a:lnTo>
                  <a:lnTo>
                    <a:pt x="2937891" y="9525"/>
                  </a:lnTo>
                  <a:lnTo>
                    <a:pt x="2937891" y="19050"/>
                  </a:lnTo>
                  <a:lnTo>
                    <a:pt x="9525" y="19050"/>
                  </a:lnTo>
                  <a:close/>
                </a:path>
              </a:pathLst>
            </a:custGeom>
            <a:solidFill>
              <a:srgbClr val="FFFFFF"/>
            </a:solidFill>
          </p:spPr>
        </p:sp>
      </p:grpSp>
      <p:sp>
        <p:nvSpPr>
          <p:cNvPr name="TextBox 9" id="9"/>
          <p:cNvSpPr txBox="true"/>
          <p:nvPr/>
        </p:nvSpPr>
        <p:spPr>
          <a:xfrm rot="0">
            <a:off x="503244" y="3891163"/>
            <a:ext cx="2013394" cy="661568"/>
          </a:xfrm>
          <a:prstGeom prst="rect">
            <a:avLst/>
          </a:prstGeom>
        </p:spPr>
        <p:txBody>
          <a:bodyPr anchor="t" rtlCol="false" tIns="0" lIns="0" bIns="0" rIns="0">
            <a:spAutoFit/>
          </a:bodyPr>
          <a:lstStyle/>
          <a:p>
            <a:pPr algn="ctr">
              <a:lnSpc>
                <a:spcPts val="3602"/>
              </a:lnSpc>
            </a:pPr>
            <a:r>
              <a:rPr lang="en-US" sz="3002">
                <a:solidFill>
                  <a:srgbClr val="4C1D95"/>
                </a:solidFill>
                <a:latin typeface="Calibri (MS)"/>
                <a:ea typeface="Calibri (MS)"/>
                <a:cs typeface="Calibri (MS)"/>
                <a:sym typeface="Calibri (MS)"/>
              </a:rPr>
              <a:t>🌐</a:t>
            </a:r>
          </a:p>
        </p:txBody>
      </p:sp>
      <p:sp>
        <p:nvSpPr>
          <p:cNvPr name="TextBox 10" id="10"/>
          <p:cNvSpPr txBox="true"/>
          <p:nvPr/>
        </p:nvSpPr>
        <p:spPr>
          <a:xfrm rot="0">
            <a:off x="503244" y="4478331"/>
            <a:ext cx="2013394"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Browser</a:t>
            </a:r>
          </a:p>
        </p:txBody>
      </p:sp>
      <p:sp>
        <p:nvSpPr>
          <p:cNvPr name="TextBox 11" id="11"/>
          <p:cNvSpPr txBox="true"/>
          <p:nvPr/>
        </p:nvSpPr>
        <p:spPr>
          <a:xfrm rot="0">
            <a:off x="503244" y="4890135"/>
            <a:ext cx="2013394" cy="760743"/>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index.html</a:t>
            </a:r>
          </a:p>
          <a:p>
            <a:pPr algn="ctr">
              <a:lnSpc>
                <a:spcPts val="1621"/>
              </a:lnSpc>
            </a:pPr>
            <a:r>
              <a:rPr lang="en-US" sz="1351">
                <a:solidFill>
                  <a:srgbClr val="7C3AED"/>
                </a:solidFill>
                <a:latin typeface="Calibri (MS)"/>
                <a:ea typeface="Calibri (MS)"/>
                <a:cs typeface="Calibri (MS)"/>
                <a:sym typeface="Calibri (MS)"/>
              </a:rPr>
              <a:t>SSE streaming</a:t>
            </a:r>
          </a:p>
        </p:txBody>
      </p:sp>
      <p:sp>
        <p:nvSpPr>
          <p:cNvPr name="TextBox 12" id="12"/>
          <p:cNvSpPr txBox="true"/>
          <p:nvPr/>
        </p:nvSpPr>
        <p:spPr>
          <a:xfrm rot="0">
            <a:off x="2699518" y="4743336"/>
            <a:ext cx="366189" cy="495729"/>
          </a:xfrm>
          <a:prstGeom prst="rect">
            <a:avLst/>
          </a:prstGeom>
        </p:spPr>
        <p:txBody>
          <a:bodyPr anchor="t" rtlCol="false" tIns="0" lIns="0" bIns="0" rIns="0">
            <a:spAutoFit/>
          </a:bodyPr>
          <a:lstStyle/>
          <a:p>
            <a:pPr algn="ctr">
              <a:lnSpc>
                <a:spcPts val="2882"/>
              </a:lnSpc>
            </a:pPr>
            <a:r>
              <a:rPr lang="en-US" sz="2401">
                <a:solidFill>
                  <a:srgbClr val="7C3AED"/>
                </a:solidFill>
                <a:latin typeface="Calibri (MS)"/>
                <a:ea typeface="Calibri (MS)"/>
                <a:cs typeface="Calibri (MS)"/>
                <a:sym typeface="Calibri (MS)"/>
              </a:rPr>
              <a:t>→</a:t>
            </a:r>
          </a:p>
        </p:txBody>
      </p:sp>
      <p:grpSp>
        <p:nvGrpSpPr>
          <p:cNvPr name="Group 13" id="13"/>
          <p:cNvGrpSpPr/>
          <p:nvPr/>
        </p:nvGrpSpPr>
        <p:grpSpPr>
          <a:xfrm rot="0">
            <a:off x="3149994" y="2463660"/>
            <a:ext cx="2622375" cy="4818650"/>
            <a:chOff x="0" y="0"/>
            <a:chExt cx="3496500" cy="6424866"/>
          </a:xfrm>
        </p:grpSpPr>
        <p:sp>
          <p:nvSpPr>
            <p:cNvPr name="Freeform 14" id="14"/>
            <p:cNvSpPr/>
            <p:nvPr/>
          </p:nvSpPr>
          <p:spPr>
            <a:xfrm flipH="false" flipV="false" rot="0">
              <a:off x="9525" y="9525"/>
              <a:ext cx="3477387" cy="6405753"/>
            </a:xfrm>
            <a:custGeom>
              <a:avLst/>
              <a:gdLst/>
              <a:ahLst/>
              <a:cxnLst/>
              <a:rect r="r" b="b" t="t" l="l"/>
              <a:pathLst>
                <a:path h="6405753" w="3477387">
                  <a:moveTo>
                    <a:pt x="0" y="0"/>
                  </a:moveTo>
                  <a:lnTo>
                    <a:pt x="3477387" y="0"/>
                  </a:lnTo>
                  <a:lnTo>
                    <a:pt x="3477387" y="6405753"/>
                  </a:lnTo>
                  <a:lnTo>
                    <a:pt x="0" y="6405753"/>
                  </a:lnTo>
                  <a:close/>
                </a:path>
              </a:pathLst>
            </a:custGeom>
            <a:solidFill>
              <a:srgbClr val="FFFFFF"/>
            </a:solidFill>
          </p:spPr>
        </p:sp>
        <p:sp>
          <p:nvSpPr>
            <p:cNvPr name="Freeform 15" id="15"/>
            <p:cNvSpPr/>
            <p:nvPr/>
          </p:nvSpPr>
          <p:spPr>
            <a:xfrm flipH="false" flipV="false" rot="0">
              <a:off x="0" y="0"/>
              <a:ext cx="3496437" cy="6424803"/>
            </a:xfrm>
            <a:custGeom>
              <a:avLst/>
              <a:gdLst/>
              <a:ahLst/>
              <a:cxnLst/>
              <a:rect r="r" b="b" t="t" l="l"/>
              <a:pathLst>
                <a:path h="6424803" w="3496437">
                  <a:moveTo>
                    <a:pt x="9525" y="0"/>
                  </a:moveTo>
                  <a:lnTo>
                    <a:pt x="3486912" y="0"/>
                  </a:lnTo>
                  <a:cubicBezTo>
                    <a:pt x="3492119" y="0"/>
                    <a:pt x="3496437" y="4318"/>
                    <a:pt x="3496437" y="9525"/>
                  </a:cubicBezTo>
                  <a:lnTo>
                    <a:pt x="3496437" y="6415278"/>
                  </a:lnTo>
                  <a:cubicBezTo>
                    <a:pt x="3496437" y="6420485"/>
                    <a:pt x="3492119" y="6424803"/>
                    <a:pt x="3486912" y="6424803"/>
                  </a:cubicBezTo>
                  <a:lnTo>
                    <a:pt x="9525" y="6424803"/>
                  </a:lnTo>
                  <a:cubicBezTo>
                    <a:pt x="4318" y="6424803"/>
                    <a:pt x="0" y="6420485"/>
                    <a:pt x="0" y="6415278"/>
                  </a:cubicBezTo>
                  <a:lnTo>
                    <a:pt x="0" y="9525"/>
                  </a:lnTo>
                  <a:cubicBezTo>
                    <a:pt x="0" y="4318"/>
                    <a:pt x="4318" y="0"/>
                    <a:pt x="9525" y="0"/>
                  </a:cubicBezTo>
                  <a:moveTo>
                    <a:pt x="9525" y="19050"/>
                  </a:moveTo>
                  <a:lnTo>
                    <a:pt x="9525" y="9525"/>
                  </a:lnTo>
                  <a:lnTo>
                    <a:pt x="19050" y="9525"/>
                  </a:lnTo>
                  <a:lnTo>
                    <a:pt x="19050" y="6415278"/>
                  </a:lnTo>
                  <a:lnTo>
                    <a:pt x="9525" y="6415278"/>
                  </a:lnTo>
                  <a:lnTo>
                    <a:pt x="9525" y="6405753"/>
                  </a:lnTo>
                  <a:lnTo>
                    <a:pt x="3486912" y="6405753"/>
                  </a:lnTo>
                  <a:lnTo>
                    <a:pt x="3486912" y="6415278"/>
                  </a:lnTo>
                  <a:lnTo>
                    <a:pt x="3477387" y="6415278"/>
                  </a:lnTo>
                  <a:lnTo>
                    <a:pt x="3477387" y="9525"/>
                  </a:lnTo>
                  <a:lnTo>
                    <a:pt x="3486912" y="9525"/>
                  </a:lnTo>
                  <a:lnTo>
                    <a:pt x="3486912" y="19050"/>
                  </a:lnTo>
                  <a:lnTo>
                    <a:pt x="9525" y="19050"/>
                  </a:lnTo>
                  <a:close/>
                </a:path>
              </a:pathLst>
            </a:custGeom>
            <a:solidFill>
              <a:srgbClr val="7C3AED"/>
            </a:solidFill>
          </p:spPr>
        </p:sp>
      </p:grpSp>
      <p:sp>
        <p:nvSpPr>
          <p:cNvPr name="TextBox 16" id="16"/>
          <p:cNvSpPr txBox="true"/>
          <p:nvPr/>
        </p:nvSpPr>
        <p:spPr>
          <a:xfrm rot="0">
            <a:off x="3248587" y="2615698"/>
            <a:ext cx="2425198" cy="495729"/>
          </a:xfrm>
          <a:prstGeom prst="rect">
            <a:avLst/>
          </a:prstGeom>
        </p:spPr>
        <p:txBody>
          <a:bodyPr anchor="t" rtlCol="false" tIns="0" lIns="0" bIns="0" rIns="0">
            <a:spAutoFit/>
          </a:bodyPr>
          <a:lstStyle/>
          <a:p>
            <a:pPr algn="ctr">
              <a:lnSpc>
                <a:spcPts val="2161"/>
              </a:lnSpc>
            </a:pPr>
            <a:r>
              <a:rPr lang="en-US" sz="1801" b="true">
                <a:solidFill>
                  <a:srgbClr val="7C3AED"/>
                </a:solidFill>
                <a:latin typeface="Calibri (MS) Bold"/>
                <a:ea typeface="Calibri (MS) Bold"/>
                <a:cs typeface="Calibri (MS) Bold"/>
                <a:sym typeface="Calibri (MS) Bold"/>
              </a:rPr>
              <a:t>FastAPI</a:t>
            </a:r>
          </a:p>
        </p:txBody>
      </p:sp>
      <p:grpSp>
        <p:nvGrpSpPr>
          <p:cNvPr name="Group 17" id="17"/>
          <p:cNvGrpSpPr/>
          <p:nvPr/>
        </p:nvGrpSpPr>
        <p:grpSpPr>
          <a:xfrm rot="0">
            <a:off x="3317100" y="3221012"/>
            <a:ext cx="2288172" cy="531152"/>
            <a:chOff x="0" y="0"/>
            <a:chExt cx="3050896" cy="708203"/>
          </a:xfrm>
        </p:grpSpPr>
        <p:sp>
          <p:nvSpPr>
            <p:cNvPr name="Freeform 18" id="18"/>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19" id="19"/>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0" id="20"/>
          <p:cNvSpPr txBox="true"/>
          <p:nvPr/>
        </p:nvSpPr>
        <p:spPr>
          <a:xfrm rot="0">
            <a:off x="3413303" y="3311557"/>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POST /ingest</a:t>
            </a:r>
          </a:p>
        </p:txBody>
      </p:sp>
      <p:grpSp>
        <p:nvGrpSpPr>
          <p:cNvPr name="Group 21" id="21"/>
          <p:cNvGrpSpPr/>
          <p:nvPr/>
        </p:nvGrpSpPr>
        <p:grpSpPr>
          <a:xfrm rot="0">
            <a:off x="3317100" y="3907346"/>
            <a:ext cx="2288172" cy="531152"/>
            <a:chOff x="0" y="0"/>
            <a:chExt cx="3050896" cy="708203"/>
          </a:xfrm>
        </p:grpSpPr>
        <p:sp>
          <p:nvSpPr>
            <p:cNvPr name="Freeform 22" id="22"/>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23" id="23"/>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4" id="24"/>
          <p:cNvSpPr txBox="true"/>
          <p:nvPr/>
        </p:nvSpPr>
        <p:spPr>
          <a:xfrm rot="0">
            <a:off x="3413303" y="3997900"/>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POST /query</a:t>
            </a:r>
          </a:p>
        </p:txBody>
      </p:sp>
      <p:grpSp>
        <p:nvGrpSpPr>
          <p:cNvPr name="Group 25" id="25"/>
          <p:cNvGrpSpPr/>
          <p:nvPr/>
        </p:nvGrpSpPr>
        <p:grpSpPr>
          <a:xfrm rot="0">
            <a:off x="3317100" y="4593688"/>
            <a:ext cx="2288172" cy="531152"/>
            <a:chOff x="0" y="0"/>
            <a:chExt cx="3050896" cy="708203"/>
          </a:xfrm>
        </p:grpSpPr>
        <p:sp>
          <p:nvSpPr>
            <p:cNvPr name="Freeform 26" id="26"/>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27" id="27"/>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8" id="28"/>
          <p:cNvSpPr txBox="true"/>
          <p:nvPr/>
        </p:nvSpPr>
        <p:spPr>
          <a:xfrm rot="0">
            <a:off x="3413303" y="4684233"/>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DELETE /doc</a:t>
            </a:r>
          </a:p>
        </p:txBody>
      </p:sp>
      <p:grpSp>
        <p:nvGrpSpPr>
          <p:cNvPr name="Group 29" id="29"/>
          <p:cNvGrpSpPr/>
          <p:nvPr/>
        </p:nvGrpSpPr>
        <p:grpSpPr>
          <a:xfrm rot="0">
            <a:off x="3317100" y="5280022"/>
            <a:ext cx="2288172" cy="531152"/>
            <a:chOff x="0" y="0"/>
            <a:chExt cx="3050896" cy="708203"/>
          </a:xfrm>
        </p:grpSpPr>
        <p:sp>
          <p:nvSpPr>
            <p:cNvPr name="Freeform 30" id="30"/>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31" id="31"/>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32" id="32"/>
          <p:cNvSpPr txBox="true"/>
          <p:nvPr/>
        </p:nvSpPr>
        <p:spPr>
          <a:xfrm rot="0">
            <a:off x="3413303" y="5370566"/>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GET /doc/info</a:t>
            </a:r>
          </a:p>
        </p:txBody>
      </p:sp>
      <p:grpSp>
        <p:nvGrpSpPr>
          <p:cNvPr name="Group 33" id="33"/>
          <p:cNvGrpSpPr/>
          <p:nvPr/>
        </p:nvGrpSpPr>
        <p:grpSpPr>
          <a:xfrm rot="0">
            <a:off x="3317100" y="5966355"/>
            <a:ext cx="2288172" cy="531152"/>
            <a:chOff x="0" y="0"/>
            <a:chExt cx="3050896" cy="708203"/>
          </a:xfrm>
        </p:grpSpPr>
        <p:sp>
          <p:nvSpPr>
            <p:cNvPr name="Freeform 34" id="34"/>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35" id="35"/>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36" id="36"/>
          <p:cNvSpPr txBox="true"/>
          <p:nvPr/>
        </p:nvSpPr>
        <p:spPr>
          <a:xfrm rot="0">
            <a:off x="3413303" y="6056900"/>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GET /health</a:t>
            </a:r>
          </a:p>
        </p:txBody>
      </p:sp>
      <p:grpSp>
        <p:nvGrpSpPr>
          <p:cNvPr name="Group 37" id="37"/>
          <p:cNvGrpSpPr/>
          <p:nvPr/>
        </p:nvGrpSpPr>
        <p:grpSpPr>
          <a:xfrm rot="0">
            <a:off x="6169876" y="2051856"/>
            <a:ext cx="11682012" cy="3034179"/>
            <a:chOff x="0" y="0"/>
            <a:chExt cx="15576017" cy="4045572"/>
          </a:xfrm>
        </p:grpSpPr>
        <p:sp>
          <p:nvSpPr>
            <p:cNvPr name="Freeform 38" id="38"/>
            <p:cNvSpPr/>
            <p:nvPr/>
          </p:nvSpPr>
          <p:spPr>
            <a:xfrm flipH="false" flipV="false" rot="0">
              <a:off x="9525" y="9525"/>
              <a:ext cx="15556992" cy="4026535"/>
            </a:xfrm>
            <a:custGeom>
              <a:avLst/>
              <a:gdLst/>
              <a:ahLst/>
              <a:cxnLst/>
              <a:rect r="r" b="b" t="t" l="l"/>
              <a:pathLst>
                <a:path h="4026535" w="15556992">
                  <a:moveTo>
                    <a:pt x="0" y="0"/>
                  </a:moveTo>
                  <a:lnTo>
                    <a:pt x="15556992" y="0"/>
                  </a:lnTo>
                  <a:lnTo>
                    <a:pt x="15556992" y="4026535"/>
                  </a:lnTo>
                  <a:lnTo>
                    <a:pt x="0" y="4026535"/>
                  </a:lnTo>
                  <a:close/>
                </a:path>
              </a:pathLst>
            </a:custGeom>
            <a:solidFill>
              <a:srgbClr val="FFFFFF"/>
            </a:solidFill>
          </p:spPr>
        </p:sp>
        <p:sp>
          <p:nvSpPr>
            <p:cNvPr name="Freeform 39" id="39"/>
            <p:cNvSpPr/>
            <p:nvPr/>
          </p:nvSpPr>
          <p:spPr>
            <a:xfrm flipH="false" flipV="false" rot="0">
              <a:off x="0" y="0"/>
              <a:ext cx="15576042" cy="4045585"/>
            </a:xfrm>
            <a:custGeom>
              <a:avLst/>
              <a:gdLst/>
              <a:ahLst/>
              <a:cxnLst/>
              <a:rect r="r" b="b" t="t" l="l"/>
              <a:pathLst>
                <a:path h="4045585" w="15576042">
                  <a:moveTo>
                    <a:pt x="9525" y="0"/>
                  </a:moveTo>
                  <a:lnTo>
                    <a:pt x="15566517" y="0"/>
                  </a:lnTo>
                  <a:cubicBezTo>
                    <a:pt x="15571724" y="0"/>
                    <a:pt x="15576042" y="4318"/>
                    <a:pt x="15576042" y="9525"/>
                  </a:cubicBezTo>
                  <a:lnTo>
                    <a:pt x="15576042" y="4036060"/>
                  </a:lnTo>
                  <a:cubicBezTo>
                    <a:pt x="15576042" y="4041267"/>
                    <a:pt x="15571724" y="4045585"/>
                    <a:pt x="15566517"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5566517" y="4026535"/>
                  </a:lnTo>
                  <a:lnTo>
                    <a:pt x="15566517" y="4036060"/>
                  </a:lnTo>
                  <a:lnTo>
                    <a:pt x="15556992" y="4036060"/>
                  </a:lnTo>
                  <a:lnTo>
                    <a:pt x="15556992" y="9525"/>
                  </a:lnTo>
                  <a:lnTo>
                    <a:pt x="15566517" y="9525"/>
                  </a:lnTo>
                  <a:lnTo>
                    <a:pt x="15566517" y="19050"/>
                  </a:lnTo>
                  <a:lnTo>
                    <a:pt x="9525" y="19050"/>
                  </a:lnTo>
                  <a:close/>
                </a:path>
              </a:pathLst>
            </a:custGeom>
            <a:solidFill>
              <a:srgbClr val="059669"/>
            </a:solidFill>
          </p:spPr>
        </p:sp>
      </p:grpSp>
      <p:sp>
        <p:nvSpPr>
          <p:cNvPr name="TextBox 40" id="40"/>
          <p:cNvSpPr txBox="true"/>
          <p:nvPr/>
        </p:nvSpPr>
        <p:spPr>
          <a:xfrm rot="0">
            <a:off x="6268469" y="2185968"/>
            <a:ext cx="11484835" cy="348939"/>
          </a:xfrm>
          <a:prstGeom prst="rect">
            <a:avLst/>
          </a:prstGeom>
        </p:spPr>
        <p:txBody>
          <a:bodyPr anchor="t" rtlCol="false" tIns="0" lIns="0" bIns="0" rIns="0">
            <a:spAutoFit/>
          </a:bodyPr>
          <a:lstStyle/>
          <a:p>
            <a:pPr algn="ctr">
              <a:lnSpc>
                <a:spcPts val="1621"/>
              </a:lnSpc>
            </a:pPr>
            <a:r>
              <a:rPr lang="en-US" sz="1351" b="true">
                <a:solidFill>
                  <a:srgbClr val="059669"/>
                </a:solidFill>
                <a:latin typeface="Calibri (MS) Bold"/>
                <a:ea typeface="Calibri (MS) Bold"/>
                <a:cs typeface="Calibri (MS) Bold"/>
                <a:sym typeface="Calibri (MS) Bold"/>
              </a:rPr>
              <a:t>INGEST PIPELINE</a:t>
            </a:r>
          </a:p>
        </p:txBody>
      </p:sp>
      <p:grpSp>
        <p:nvGrpSpPr>
          <p:cNvPr name="Group 41" id="41"/>
          <p:cNvGrpSpPr/>
          <p:nvPr/>
        </p:nvGrpSpPr>
        <p:grpSpPr>
          <a:xfrm rot="0">
            <a:off x="6375778" y="2600925"/>
            <a:ext cx="2553738" cy="2279209"/>
            <a:chOff x="0" y="0"/>
            <a:chExt cx="3404984" cy="3038945"/>
          </a:xfrm>
        </p:grpSpPr>
        <p:sp>
          <p:nvSpPr>
            <p:cNvPr name="Freeform 42" id="42"/>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43" id="43"/>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44" id="44"/>
          <p:cNvSpPr txBox="true"/>
          <p:nvPr/>
        </p:nvSpPr>
        <p:spPr>
          <a:xfrm rot="0">
            <a:off x="6474371"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45" id="45"/>
          <p:cNvSpPr txBox="true"/>
          <p:nvPr/>
        </p:nvSpPr>
        <p:spPr>
          <a:xfrm rot="0">
            <a:off x="6474371"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PyMuPDF</a:t>
            </a:r>
          </a:p>
        </p:txBody>
      </p:sp>
      <p:sp>
        <p:nvSpPr>
          <p:cNvPr name="TextBox 46" id="46"/>
          <p:cNvSpPr txBox="true"/>
          <p:nvPr/>
        </p:nvSpPr>
        <p:spPr>
          <a:xfrm rot="0">
            <a:off x="6474371"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extract text</a:t>
            </a:r>
          </a:p>
          <a:p>
            <a:pPr algn="ctr">
              <a:lnSpc>
                <a:spcPts val="1441"/>
              </a:lnSpc>
            </a:pPr>
            <a:r>
              <a:rPr lang="en-US" sz="1200">
                <a:solidFill>
                  <a:srgbClr val="7C3AED"/>
                </a:solidFill>
                <a:latin typeface="Calibri (MS)"/>
                <a:ea typeface="Calibri (MS)"/>
                <a:cs typeface="Calibri (MS)"/>
                <a:sym typeface="Calibri (MS)"/>
              </a:rPr>
              <a:t>no token limit</a:t>
            </a:r>
          </a:p>
        </p:txBody>
      </p:sp>
      <p:grpSp>
        <p:nvGrpSpPr>
          <p:cNvPr name="Group 47" id="47"/>
          <p:cNvGrpSpPr/>
          <p:nvPr/>
        </p:nvGrpSpPr>
        <p:grpSpPr>
          <a:xfrm rot="0">
            <a:off x="9052484" y="2600925"/>
            <a:ext cx="2553738" cy="2279209"/>
            <a:chOff x="0" y="0"/>
            <a:chExt cx="3404984" cy="3038945"/>
          </a:xfrm>
        </p:grpSpPr>
        <p:sp>
          <p:nvSpPr>
            <p:cNvPr name="Freeform 48" id="48"/>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49" id="49"/>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50" id="50"/>
          <p:cNvSpPr txBox="true"/>
          <p:nvPr/>
        </p:nvSpPr>
        <p:spPr>
          <a:xfrm rot="0">
            <a:off x="9151077"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51" id="51"/>
          <p:cNvSpPr txBox="true"/>
          <p:nvPr/>
        </p:nvSpPr>
        <p:spPr>
          <a:xfrm rot="0">
            <a:off x="9151077"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tiktoken</a:t>
            </a:r>
          </a:p>
        </p:txBody>
      </p:sp>
      <p:sp>
        <p:nvSpPr>
          <p:cNvPr name="TextBox 52" id="52"/>
          <p:cNvSpPr txBox="true"/>
          <p:nvPr/>
        </p:nvSpPr>
        <p:spPr>
          <a:xfrm rot="0">
            <a:off x="9151077"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count tokens</a:t>
            </a:r>
          </a:p>
          <a:p>
            <a:pPr algn="ctr">
              <a:lnSpc>
                <a:spcPts val="1441"/>
              </a:lnSpc>
            </a:pPr>
            <a:r>
              <a:rPr lang="en-US" sz="1200">
                <a:solidFill>
                  <a:srgbClr val="7C3AED"/>
                </a:solidFill>
                <a:latin typeface="Calibri (MS)"/>
                <a:ea typeface="Calibri (MS)"/>
                <a:cs typeface="Calibri (MS)"/>
                <a:sym typeface="Calibri (MS)"/>
              </a:rPr>
              <a:t>compute_params</a:t>
            </a:r>
          </a:p>
          <a:p>
            <a:pPr algn="ctr">
              <a:lnSpc>
                <a:spcPts val="1441"/>
              </a:lnSpc>
            </a:pPr>
            <a:r>
              <a:rPr lang="en-US" sz="1200">
                <a:solidFill>
                  <a:srgbClr val="7C3AED"/>
                </a:solidFill>
                <a:latin typeface="Calibri (MS)"/>
                <a:ea typeface="Calibri (MS)"/>
                <a:cs typeface="Calibri (MS)"/>
                <a:sym typeface="Calibri (MS)"/>
              </a:rPr>
              <a:t>chunk+overlap</a:t>
            </a:r>
          </a:p>
        </p:txBody>
      </p:sp>
      <p:grpSp>
        <p:nvGrpSpPr>
          <p:cNvPr name="Group 53" id="53"/>
          <p:cNvGrpSpPr/>
          <p:nvPr/>
        </p:nvGrpSpPr>
        <p:grpSpPr>
          <a:xfrm rot="0">
            <a:off x="11729199" y="2600925"/>
            <a:ext cx="2553738" cy="2279209"/>
            <a:chOff x="0" y="0"/>
            <a:chExt cx="3404984" cy="3038945"/>
          </a:xfrm>
        </p:grpSpPr>
        <p:sp>
          <p:nvSpPr>
            <p:cNvPr name="Freeform 54" id="54"/>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55" id="55"/>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4285F4"/>
            </a:solidFill>
          </p:spPr>
        </p:sp>
      </p:grpSp>
      <p:sp>
        <p:nvSpPr>
          <p:cNvPr name="TextBox 56" id="56"/>
          <p:cNvSpPr txBox="true"/>
          <p:nvPr/>
        </p:nvSpPr>
        <p:spPr>
          <a:xfrm rot="0">
            <a:off x="11827793"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57" id="57"/>
          <p:cNvSpPr txBox="true"/>
          <p:nvPr/>
        </p:nvSpPr>
        <p:spPr>
          <a:xfrm rot="0">
            <a:off x="11827793"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Gemini</a:t>
            </a:r>
          </a:p>
        </p:txBody>
      </p:sp>
      <p:sp>
        <p:nvSpPr>
          <p:cNvPr name="TextBox 58" id="58"/>
          <p:cNvSpPr txBox="true"/>
          <p:nvPr/>
        </p:nvSpPr>
        <p:spPr>
          <a:xfrm rot="0">
            <a:off x="11827793"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embedding-2</a:t>
            </a:r>
          </a:p>
          <a:p>
            <a:pPr algn="ctr">
              <a:lnSpc>
                <a:spcPts val="1441"/>
              </a:lnSpc>
            </a:pPr>
            <a:r>
              <a:rPr lang="en-US" sz="1200">
                <a:solidFill>
                  <a:srgbClr val="7C3AED"/>
                </a:solidFill>
                <a:latin typeface="Calibri (MS)"/>
                <a:ea typeface="Calibri (MS)"/>
                <a:cs typeface="Calibri (MS)"/>
                <a:sym typeface="Calibri (MS)"/>
              </a:rPr>
              <a:t>768-dim</a:t>
            </a:r>
          </a:p>
          <a:p>
            <a:pPr algn="ctr">
              <a:lnSpc>
                <a:spcPts val="1441"/>
              </a:lnSpc>
            </a:pPr>
            <a:r>
              <a:rPr lang="en-US" sz="1200">
                <a:solidFill>
                  <a:srgbClr val="7C3AED"/>
                </a:solidFill>
                <a:latin typeface="Calibri (MS)"/>
                <a:ea typeface="Calibri (MS)"/>
                <a:cs typeface="Calibri (MS)"/>
                <a:sym typeface="Calibri (MS)"/>
              </a:rPr>
              <a:t>concurrent+retry</a:t>
            </a:r>
          </a:p>
        </p:txBody>
      </p:sp>
      <p:grpSp>
        <p:nvGrpSpPr>
          <p:cNvPr name="Group 59" id="59"/>
          <p:cNvGrpSpPr/>
          <p:nvPr/>
        </p:nvGrpSpPr>
        <p:grpSpPr>
          <a:xfrm rot="0">
            <a:off x="14405915" y="2600925"/>
            <a:ext cx="2553738" cy="2279209"/>
            <a:chOff x="0" y="0"/>
            <a:chExt cx="3404984" cy="3038945"/>
          </a:xfrm>
        </p:grpSpPr>
        <p:sp>
          <p:nvSpPr>
            <p:cNvPr name="Freeform 60" id="60"/>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61" id="61"/>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336791"/>
            </a:solidFill>
          </p:spPr>
        </p:sp>
      </p:grpSp>
      <p:sp>
        <p:nvSpPr>
          <p:cNvPr name="TextBox 62" id="62"/>
          <p:cNvSpPr txBox="true"/>
          <p:nvPr/>
        </p:nvSpPr>
        <p:spPr>
          <a:xfrm rot="0">
            <a:off x="14504499"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63" id="63"/>
          <p:cNvSpPr txBox="true"/>
          <p:nvPr/>
        </p:nvSpPr>
        <p:spPr>
          <a:xfrm rot="0">
            <a:off x="14504499"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Postgres</a:t>
            </a:r>
          </a:p>
        </p:txBody>
      </p:sp>
      <p:sp>
        <p:nvSpPr>
          <p:cNvPr name="TextBox 64" id="64"/>
          <p:cNvSpPr txBox="true"/>
          <p:nvPr/>
        </p:nvSpPr>
        <p:spPr>
          <a:xfrm rot="0">
            <a:off x="14504499"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chunks+parent_text</a:t>
            </a:r>
          </a:p>
          <a:p>
            <a:pPr algn="ctr">
              <a:lnSpc>
                <a:spcPts val="1441"/>
              </a:lnSpc>
            </a:pPr>
            <a:r>
              <a:rPr lang="en-US" sz="1200">
                <a:solidFill>
                  <a:srgbClr val="7C3AED"/>
                </a:solidFill>
                <a:latin typeface="Calibri (MS)"/>
                <a:ea typeface="Calibri (MS)"/>
                <a:cs typeface="Calibri (MS)"/>
                <a:sym typeface="Calibri (MS)"/>
              </a:rPr>
              <a:t>doc_meta</a:t>
            </a:r>
          </a:p>
          <a:p>
            <a:pPr algn="ctr">
              <a:lnSpc>
                <a:spcPts val="1441"/>
              </a:lnSpc>
            </a:pPr>
            <a:r>
              <a:rPr lang="en-US" sz="1200">
                <a:solidFill>
                  <a:srgbClr val="7C3AED"/>
                </a:solidFill>
                <a:latin typeface="Calibri (MS)"/>
                <a:ea typeface="Calibri (MS)"/>
                <a:cs typeface="Calibri (MS)"/>
                <a:sym typeface="Calibri (MS)"/>
              </a:rPr>
              <a:t>pgvector HNSW</a:t>
            </a:r>
          </a:p>
        </p:txBody>
      </p:sp>
      <p:grpSp>
        <p:nvGrpSpPr>
          <p:cNvPr name="Group 65" id="65"/>
          <p:cNvGrpSpPr/>
          <p:nvPr/>
        </p:nvGrpSpPr>
        <p:grpSpPr>
          <a:xfrm rot="0">
            <a:off x="6169876" y="5346278"/>
            <a:ext cx="11682012" cy="3034179"/>
            <a:chOff x="0" y="0"/>
            <a:chExt cx="15576017" cy="4045572"/>
          </a:xfrm>
        </p:grpSpPr>
        <p:sp>
          <p:nvSpPr>
            <p:cNvPr name="Freeform 66" id="66"/>
            <p:cNvSpPr/>
            <p:nvPr/>
          </p:nvSpPr>
          <p:spPr>
            <a:xfrm flipH="false" flipV="false" rot="0">
              <a:off x="9525" y="9525"/>
              <a:ext cx="15556992" cy="4026535"/>
            </a:xfrm>
            <a:custGeom>
              <a:avLst/>
              <a:gdLst/>
              <a:ahLst/>
              <a:cxnLst/>
              <a:rect r="r" b="b" t="t" l="l"/>
              <a:pathLst>
                <a:path h="4026535" w="15556992">
                  <a:moveTo>
                    <a:pt x="0" y="0"/>
                  </a:moveTo>
                  <a:lnTo>
                    <a:pt x="15556992" y="0"/>
                  </a:lnTo>
                  <a:lnTo>
                    <a:pt x="15556992" y="4026535"/>
                  </a:lnTo>
                  <a:lnTo>
                    <a:pt x="0" y="4026535"/>
                  </a:lnTo>
                  <a:close/>
                </a:path>
              </a:pathLst>
            </a:custGeom>
            <a:solidFill>
              <a:srgbClr val="FFFFFF"/>
            </a:solidFill>
          </p:spPr>
        </p:sp>
        <p:sp>
          <p:nvSpPr>
            <p:cNvPr name="Freeform 67" id="67"/>
            <p:cNvSpPr/>
            <p:nvPr/>
          </p:nvSpPr>
          <p:spPr>
            <a:xfrm flipH="false" flipV="false" rot="0">
              <a:off x="0" y="0"/>
              <a:ext cx="15576042" cy="4045585"/>
            </a:xfrm>
            <a:custGeom>
              <a:avLst/>
              <a:gdLst/>
              <a:ahLst/>
              <a:cxnLst/>
              <a:rect r="r" b="b" t="t" l="l"/>
              <a:pathLst>
                <a:path h="4045585" w="15576042">
                  <a:moveTo>
                    <a:pt x="9525" y="0"/>
                  </a:moveTo>
                  <a:lnTo>
                    <a:pt x="15566517" y="0"/>
                  </a:lnTo>
                  <a:cubicBezTo>
                    <a:pt x="15571724" y="0"/>
                    <a:pt x="15576042" y="4318"/>
                    <a:pt x="15576042" y="9525"/>
                  </a:cubicBezTo>
                  <a:lnTo>
                    <a:pt x="15576042" y="4036060"/>
                  </a:lnTo>
                  <a:cubicBezTo>
                    <a:pt x="15576042" y="4041267"/>
                    <a:pt x="15571724" y="4045585"/>
                    <a:pt x="15566517"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5566517" y="4026535"/>
                  </a:lnTo>
                  <a:lnTo>
                    <a:pt x="15566517" y="4036060"/>
                  </a:lnTo>
                  <a:lnTo>
                    <a:pt x="15556992" y="4036060"/>
                  </a:lnTo>
                  <a:lnTo>
                    <a:pt x="15556992" y="9525"/>
                  </a:lnTo>
                  <a:lnTo>
                    <a:pt x="15566517" y="9525"/>
                  </a:lnTo>
                  <a:lnTo>
                    <a:pt x="15566517" y="19050"/>
                  </a:lnTo>
                  <a:lnTo>
                    <a:pt x="9525" y="19050"/>
                  </a:lnTo>
                  <a:close/>
                </a:path>
              </a:pathLst>
            </a:custGeom>
            <a:solidFill>
              <a:srgbClr val="7C3AED"/>
            </a:solidFill>
          </p:spPr>
        </p:sp>
      </p:grpSp>
      <p:sp>
        <p:nvSpPr>
          <p:cNvPr name="TextBox 68" id="68"/>
          <p:cNvSpPr txBox="true"/>
          <p:nvPr/>
        </p:nvSpPr>
        <p:spPr>
          <a:xfrm rot="0">
            <a:off x="6268469" y="5480380"/>
            <a:ext cx="11484835" cy="348939"/>
          </a:xfrm>
          <a:prstGeom prst="rect">
            <a:avLst/>
          </a:prstGeom>
        </p:spPr>
        <p:txBody>
          <a:bodyPr anchor="t" rtlCol="false" tIns="0" lIns="0" bIns="0" rIns="0">
            <a:spAutoFit/>
          </a:bodyPr>
          <a:lstStyle/>
          <a:p>
            <a:pPr algn="ctr">
              <a:lnSpc>
                <a:spcPts val="1621"/>
              </a:lnSpc>
            </a:pPr>
            <a:r>
              <a:rPr lang="en-US" sz="1351" b="true">
                <a:solidFill>
                  <a:srgbClr val="7C3AED"/>
                </a:solidFill>
                <a:latin typeface="Calibri (MS) Bold"/>
                <a:ea typeface="Calibri (MS) Bold"/>
                <a:cs typeface="Calibri (MS) Bold"/>
                <a:sym typeface="Calibri (MS) Bold"/>
              </a:rPr>
              <a:t>QUERY PIPELINE</a:t>
            </a:r>
          </a:p>
        </p:txBody>
      </p:sp>
      <p:grpSp>
        <p:nvGrpSpPr>
          <p:cNvPr name="Group 69" id="69"/>
          <p:cNvGrpSpPr/>
          <p:nvPr/>
        </p:nvGrpSpPr>
        <p:grpSpPr>
          <a:xfrm rot="0">
            <a:off x="6375778" y="5895346"/>
            <a:ext cx="2553738" cy="2279209"/>
            <a:chOff x="0" y="0"/>
            <a:chExt cx="3404984" cy="3038945"/>
          </a:xfrm>
        </p:grpSpPr>
        <p:sp>
          <p:nvSpPr>
            <p:cNvPr name="Freeform 70" id="70"/>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71" id="71"/>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4285F4"/>
            </a:solidFill>
          </p:spPr>
        </p:sp>
      </p:grpSp>
      <p:sp>
        <p:nvSpPr>
          <p:cNvPr name="TextBox 72" id="72"/>
          <p:cNvSpPr txBox="true"/>
          <p:nvPr/>
        </p:nvSpPr>
        <p:spPr>
          <a:xfrm rot="0">
            <a:off x="6474371"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73" id="73"/>
          <p:cNvSpPr txBox="true"/>
          <p:nvPr/>
        </p:nvSpPr>
        <p:spPr>
          <a:xfrm rot="0">
            <a:off x="6474371"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Embed query</a:t>
            </a:r>
          </a:p>
        </p:txBody>
      </p:sp>
      <p:sp>
        <p:nvSpPr>
          <p:cNvPr name="TextBox 74" id="74"/>
          <p:cNvSpPr txBox="true"/>
          <p:nvPr/>
        </p:nvSpPr>
        <p:spPr>
          <a:xfrm rot="0">
            <a:off x="6474371"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RETRIEVAL_QUERY</a:t>
            </a:r>
          </a:p>
          <a:p>
            <a:pPr algn="ctr">
              <a:lnSpc>
                <a:spcPts val="1441"/>
              </a:lnSpc>
            </a:pPr>
            <a:r>
              <a:rPr lang="en-US" sz="1200">
                <a:solidFill>
                  <a:srgbClr val="7C3AED"/>
                </a:solidFill>
                <a:latin typeface="Calibri (MS)"/>
                <a:ea typeface="Calibri (MS)"/>
                <a:cs typeface="Calibri (MS)"/>
                <a:sym typeface="Calibri (MS)"/>
              </a:rPr>
              <a:t>768-dim</a:t>
            </a:r>
          </a:p>
        </p:txBody>
      </p:sp>
      <p:grpSp>
        <p:nvGrpSpPr>
          <p:cNvPr name="Group 75" id="75"/>
          <p:cNvGrpSpPr/>
          <p:nvPr/>
        </p:nvGrpSpPr>
        <p:grpSpPr>
          <a:xfrm rot="0">
            <a:off x="9052484" y="5895346"/>
            <a:ext cx="2553738" cy="2279209"/>
            <a:chOff x="0" y="0"/>
            <a:chExt cx="3404984" cy="3038945"/>
          </a:xfrm>
        </p:grpSpPr>
        <p:sp>
          <p:nvSpPr>
            <p:cNvPr name="Freeform 76" id="76"/>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77" id="77"/>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336791"/>
            </a:solidFill>
          </p:spPr>
        </p:sp>
      </p:grpSp>
      <p:sp>
        <p:nvSpPr>
          <p:cNvPr name="TextBox 78" id="78"/>
          <p:cNvSpPr txBox="true"/>
          <p:nvPr/>
        </p:nvSpPr>
        <p:spPr>
          <a:xfrm rot="0">
            <a:off x="9151077"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79" id="79"/>
          <p:cNvSpPr txBox="true"/>
          <p:nvPr/>
        </p:nvSpPr>
        <p:spPr>
          <a:xfrm rot="0">
            <a:off x="9151077"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Hybrid search</a:t>
            </a:r>
          </a:p>
        </p:txBody>
      </p:sp>
      <p:sp>
        <p:nvSpPr>
          <p:cNvPr name="TextBox 80" id="80"/>
          <p:cNvSpPr txBox="true"/>
          <p:nvPr/>
        </p:nvSpPr>
        <p:spPr>
          <a:xfrm rot="0">
            <a:off x="9151077"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BM25 + pgvector</a:t>
            </a:r>
          </a:p>
          <a:p>
            <a:pPr algn="ctr">
              <a:lnSpc>
                <a:spcPts val="1441"/>
              </a:lnSpc>
            </a:pPr>
            <a:r>
              <a:rPr lang="en-US" sz="1200">
                <a:solidFill>
                  <a:srgbClr val="7C3AED"/>
                </a:solidFill>
                <a:latin typeface="Calibri (MS)"/>
                <a:ea typeface="Calibri (MS)"/>
                <a:cs typeface="Calibri (MS)"/>
                <a:sym typeface="Calibri (MS)"/>
              </a:rPr>
              <a:t>RRF fusion</a:t>
            </a:r>
          </a:p>
        </p:txBody>
      </p:sp>
      <p:grpSp>
        <p:nvGrpSpPr>
          <p:cNvPr name="Group 81" id="81"/>
          <p:cNvGrpSpPr/>
          <p:nvPr/>
        </p:nvGrpSpPr>
        <p:grpSpPr>
          <a:xfrm rot="0">
            <a:off x="11729199" y="5895346"/>
            <a:ext cx="2553738" cy="2279209"/>
            <a:chOff x="0" y="0"/>
            <a:chExt cx="3404984" cy="3038945"/>
          </a:xfrm>
        </p:grpSpPr>
        <p:sp>
          <p:nvSpPr>
            <p:cNvPr name="Freeform 82" id="82"/>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83" id="83"/>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7C3AED"/>
            </a:solidFill>
          </p:spPr>
        </p:sp>
      </p:grpSp>
      <p:sp>
        <p:nvSpPr>
          <p:cNvPr name="TextBox 84" id="84"/>
          <p:cNvSpPr txBox="true"/>
          <p:nvPr/>
        </p:nvSpPr>
        <p:spPr>
          <a:xfrm rot="0">
            <a:off x="11827793"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85" id="85"/>
          <p:cNvSpPr txBox="true"/>
          <p:nvPr/>
        </p:nvSpPr>
        <p:spPr>
          <a:xfrm rot="0">
            <a:off x="11827793"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Generate</a:t>
            </a:r>
          </a:p>
        </p:txBody>
      </p:sp>
      <p:sp>
        <p:nvSpPr>
          <p:cNvPr name="TextBox 86" id="86"/>
          <p:cNvSpPr txBox="true"/>
          <p:nvPr/>
        </p:nvSpPr>
        <p:spPr>
          <a:xfrm rot="0">
            <a:off x="11827793"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Gemini 2.5 Flash</a:t>
            </a:r>
          </a:p>
          <a:p>
            <a:pPr algn="ctr">
              <a:lnSpc>
                <a:spcPts val="1441"/>
              </a:lnSpc>
            </a:pPr>
            <a:r>
              <a:rPr lang="en-US" sz="1200">
                <a:solidFill>
                  <a:srgbClr val="7C3AED"/>
                </a:solidFill>
                <a:latin typeface="Calibri (MS)"/>
                <a:ea typeface="Calibri (MS)"/>
                <a:cs typeface="Calibri (MS)"/>
                <a:sym typeface="Calibri (MS)"/>
              </a:rPr>
              <a:t>streamed SSE</a:t>
            </a:r>
          </a:p>
        </p:txBody>
      </p:sp>
      <p:grpSp>
        <p:nvGrpSpPr>
          <p:cNvPr name="Group 87" id="87"/>
          <p:cNvGrpSpPr/>
          <p:nvPr/>
        </p:nvGrpSpPr>
        <p:grpSpPr>
          <a:xfrm rot="0">
            <a:off x="14405915" y="5895346"/>
            <a:ext cx="2553738" cy="2279209"/>
            <a:chOff x="0" y="0"/>
            <a:chExt cx="3404984" cy="3038945"/>
          </a:xfrm>
        </p:grpSpPr>
        <p:sp>
          <p:nvSpPr>
            <p:cNvPr name="Freeform 88" id="88"/>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89" id="89"/>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90" id="90"/>
          <p:cNvSpPr txBox="true"/>
          <p:nvPr/>
        </p:nvSpPr>
        <p:spPr>
          <a:xfrm rot="0">
            <a:off x="14504499"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91" id="91"/>
          <p:cNvSpPr txBox="true"/>
          <p:nvPr/>
        </p:nvSpPr>
        <p:spPr>
          <a:xfrm rot="0">
            <a:off x="14504499"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Response</a:t>
            </a:r>
          </a:p>
        </p:txBody>
      </p:sp>
      <p:sp>
        <p:nvSpPr>
          <p:cNvPr name="TextBox 92" id="92"/>
          <p:cNvSpPr txBox="true"/>
          <p:nvPr/>
        </p:nvSpPr>
        <p:spPr>
          <a:xfrm rot="0">
            <a:off x="14504499"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[Chunk N] cites</a:t>
            </a:r>
          </a:p>
          <a:p>
            <a:pPr algn="ctr">
              <a:lnSpc>
                <a:spcPts val="1441"/>
              </a:lnSpc>
            </a:pPr>
            <a:r>
              <a:rPr lang="en-US" sz="1200">
                <a:solidFill>
                  <a:srgbClr val="7C3AED"/>
                </a:solidFill>
                <a:latin typeface="Calibri (MS)"/>
                <a:ea typeface="Calibri (MS)"/>
                <a:cs typeface="Calibri (MS)"/>
                <a:sym typeface="Calibri (MS)"/>
              </a:rPr>
              <a:t>similarity %</a:t>
            </a:r>
          </a:p>
          <a:p>
            <a:pPr algn="ctr">
              <a:lnSpc>
                <a:spcPts val="1441"/>
              </a:lnSpc>
            </a:pPr>
            <a:r>
              <a:rPr lang="en-US" sz="1200">
                <a:solidFill>
                  <a:srgbClr val="7C3AED"/>
                </a:solidFill>
                <a:latin typeface="Calibri (MS)"/>
                <a:ea typeface="Calibri (MS)"/>
                <a:cs typeface="Calibri (MS)"/>
                <a:sym typeface="Calibri (MS)"/>
              </a:rPr>
              <a:t>SSE</a:t>
            </a:r>
          </a:p>
        </p:txBody>
      </p:sp>
      <p:sp>
        <p:nvSpPr>
          <p:cNvPr name="TextBox 93" id="93"/>
          <p:cNvSpPr txBox="true"/>
          <p:nvPr/>
        </p:nvSpPr>
        <p:spPr>
          <a:xfrm rot="0">
            <a:off x="5719391" y="3458347"/>
            <a:ext cx="1052522" cy="339414"/>
          </a:xfrm>
          <a:prstGeom prst="rect">
            <a:avLst/>
          </a:prstGeom>
        </p:spPr>
        <p:txBody>
          <a:bodyPr anchor="t" rtlCol="false" tIns="0" lIns="0" bIns="0" rIns="0">
            <a:spAutoFit/>
          </a:bodyPr>
          <a:lstStyle/>
          <a:p>
            <a:pPr algn="l">
              <a:lnSpc>
                <a:spcPts val="1441"/>
              </a:lnSpc>
            </a:pPr>
            <a:r>
              <a:rPr lang="en-US" sz="1200">
                <a:solidFill>
                  <a:srgbClr val="059669"/>
                </a:solidFill>
                <a:latin typeface="Calibri (MS)"/>
                <a:ea typeface="Calibri (MS)"/>
                <a:cs typeface="Calibri (MS)"/>
                <a:sym typeface="Calibri (MS)"/>
              </a:rPr>
              <a:t>ingest →</a:t>
            </a:r>
          </a:p>
        </p:txBody>
      </p:sp>
      <p:sp>
        <p:nvSpPr>
          <p:cNvPr name="TextBox 94" id="94"/>
          <p:cNvSpPr txBox="true"/>
          <p:nvPr/>
        </p:nvSpPr>
        <p:spPr>
          <a:xfrm rot="0">
            <a:off x="5719391" y="6752768"/>
            <a:ext cx="1052522" cy="339414"/>
          </a:xfrm>
          <a:prstGeom prst="rect">
            <a:avLst/>
          </a:prstGeom>
        </p:spPr>
        <p:txBody>
          <a:bodyPr anchor="t" rtlCol="false" tIns="0" lIns="0" bIns="0" rIns="0">
            <a:spAutoFit/>
          </a:bodyPr>
          <a:lstStyle/>
          <a:p>
            <a:pPr algn="l">
              <a:lnSpc>
                <a:spcPts val="1441"/>
              </a:lnSpc>
            </a:pPr>
            <a:r>
              <a:rPr lang="en-US" sz="1200">
                <a:solidFill>
                  <a:srgbClr val="7C3AED"/>
                </a:solidFill>
                <a:latin typeface="Calibri (MS)"/>
                <a:ea typeface="Calibri (MS)"/>
                <a:cs typeface="Calibri (MS)"/>
                <a:sym typeface="Calibri (MS)"/>
              </a:rPr>
              <a:t>query →</a:t>
            </a:r>
          </a:p>
        </p:txBody>
      </p:sp>
    </p:spTree>
  </p:cSld>
  <p:clrMapOvr>
    <a:masterClrMapping/>
  </p:clrMapOvr>
</p:sld>
</file>

<file path=ppt/slides/slide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PIPELINE DETAIL</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Ingest flow</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404651" y="2189131"/>
            <a:ext cx="4269581" cy="7426728"/>
            <a:chOff x="0" y="0"/>
            <a:chExt cx="5692775" cy="9902304"/>
          </a:xfrm>
        </p:grpSpPr>
        <p:sp>
          <p:nvSpPr>
            <p:cNvPr name="Freeform 7" id="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8" id="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059669"/>
            </a:solidFill>
          </p:spPr>
        </p:sp>
      </p:grpSp>
      <p:sp>
        <p:nvSpPr>
          <p:cNvPr name="TextBox 9" id="9"/>
          <p:cNvSpPr txBox="true"/>
          <p:nvPr/>
        </p:nvSpPr>
        <p:spPr>
          <a:xfrm rot="0">
            <a:off x="50324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10" id="10"/>
          <p:cNvSpPr txBox="true"/>
          <p:nvPr/>
        </p:nvSpPr>
        <p:spPr>
          <a:xfrm rot="0">
            <a:off x="50324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1 · Extract</a:t>
            </a:r>
          </a:p>
        </p:txBody>
      </p:sp>
      <p:sp>
        <p:nvSpPr>
          <p:cNvPr name="TextBox 11" id="11"/>
          <p:cNvSpPr txBox="true"/>
          <p:nvPr/>
        </p:nvSpPr>
        <p:spPr>
          <a:xfrm rot="0">
            <a:off x="709146"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PyMuPDF reads every page verbatim with no token output limit. Null bytes stripped for Postgres UTF-8 compatibility.</a:t>
            </a:r>
          </a:p>
        </p:txBody>
      </p:sp>
      <p:grpSp>
        <p:nvGrpSpPr>
          <p:cNvPr name="Group 12" id="12"/>
          <p:cNvGrpSpPr/>
          <p:nvPr/>
        </p:nvGrpSpPr>
        <p:grpSpPr>
          <a:xfrm rot="0">
            <a:off x="612934" y="7133130"/>
            <a:ext cx="3853015" cy="627231"/>
            <a:chOff x="0" y="0"/>
            <a:chExt cx="5137353" cy="836308"/>
          </a:xfrm>
        </p:grpSpPr>
        <p:sp>
          <p:nvSpPr>
            <p:cNvPr name="Freeform 13" id="1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14" id="1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15" id="15"/>
          <p:cNvSpPr txBox="true"/>
          <p:nvPr/>
        </p:nvSpPr>
        <p:spPr>
          <a:xfrm rot="0">
            <a:off x="77777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fitz.open(stream=…)</a:t>
            </a:r>
          </a:p>
        </p:txBody>
      </p:sp>
      <p:grpSp>
        <p:nvGrpSpPr>
          <p:cNvPr name="Group 16" id="16"/>
          <p:cNvGrpSpPr/>
          <p:nvPr/>
        </p:nvGrpSpPr>
        <p:grpSpPr>
          <a:xfrm rot="0">
            <a:off x="4824660" y="2189131"/>
            <a:ext cx="4269581" cy="7426728"/>
            <a:chOff x="0" y="0"/>
            <a:chExt cx="5692775" cy="9902304"/>
          </a:xfrm>
        </p:grpSpPr>
        <p:sp>
          <p:nvSpPr>
            <p:cNvPr name="Freeform 17" id="1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18" id="1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A78BFA"/>
            </a:solidFill>
          </p:spPr>
        </p:sp>
      </p:grpSp>
      <p:sp>
        <p:nvSpPr>
          <p:cNvPr name="TextBox 19" id="19"/>
          <p:cNvSpPr txBox="true"/>
          <p:nvPr/>
        </p:nvSpPr>
        <p:spPr>
          <a:xfrm rot="0">
            <a:off x="492324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20" id="20"/>
          <p:cNvSpPr txBox="true"/>
          <p:nvPr/>
        </p:nvSpPr>
        <p:spPr>
          <a:xfrm rot="0">
            <a:off x="492324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2 · Chunk</a:t>
            </a:r>
          </a:p>
        </p:txBody>
      </p:sp>
      <p:sp>
        <p:nvSpPr>
          <p:cNvPr name="TextBox 21" id="21"/>
          <p:cNvSpPr txBox="true"/>
          <p:nvPr/>
        </p:nvSpPr>
        <p:spPr>
          <a:xfrm rot="0">
            <a:off x="5129146"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tiktoken counts total tokens → compute_params() selects chunk_size and k. Sentence-boundary splits with 64-token overlap. Parent text (prev+self+next) stored for LLM context.</a:t>
            </a:r>
          </a:p>
        </p:txBody>
      </p:sp>
      <p:grpSp>
        <p:nvGrpSpPr>
          <p:cNvPr name="Group 22" id="22"/>
          <p:cNvGrpSpPr/>
          <p:nvPr/>
        </p:nvGrpSpPr>
        <p:grpSpPr>
          <a:xfrm rot="0">
            <a:off x="5032943" y="7133130"/>
            <a:ext cx="3853015" cy="627231"/>
            <a:chOff x="0" y="0"/>
            <a:chExt cx="5137353" cy="836308"/>
          </a:xfrm>
        </p:grpSpPr>
        <p:sp>
          <p:nvSpPr>
            <p:cNvPr name="Freeform 23" id="2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24" id="2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25" id="25"/>
          <p:cNvSpPr txBox="true"/>
          <p:nvPr/>
        </p:nvSpPr>
        <p:spPr>
          <a:xfrm rot="0">
            <a:off x="519778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chunk_text(text, chunk_size)</a:t>
            </a:r>
          </a:p>
        </p:txBody>
      </p:sp>
      <p:grpSp>
        <p:nvGrpSpPr>
          <p:cNvPr name="Group 26" id="26"/>
          <p:cNvGrpSpPr/>
          <p:nvPr/>
        </p:nvGrpSpPr>
        <p:grpSpPr>
          <a:xfrm rot="0">
            <a:off x="9244660" y="2189131"/>
            <a:ext cx="4269581" cy="7426728"/>
            <a:chOff x="0" y="0"/>
            <a:chExt cx="5692775" cy="9902304"/>
          </a:xfrm>
        </p:grpSpPr>
        <p:sp>
          <p:nvSpPr>
            <p:cNvPr name="Freeform 27" id="2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28" id="2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4285F4"/>
            </a:solidFill>
          </p:spPr>
        </p:sp>
      </p:grpSp>
      <p:sp>
        <p:nvSpPr>
          <p:cNvPr name="TextBox 29" id="29"/>
          <p:cNvSpPr txBox="true"/>
          <p:nvPr/>
        </p:nvSpPr>
        <p:spPr>
          <a:xfrm rot="0">
            <a:off x="9343253"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30" id="30"/>
          <p:cNvSpPr txBox="true"/>
          <p:nvPr/>
        </p:nvSpPr>
        <p:spPr>
          <a:xfrm rot="0">
            <a:off x="9343253"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3 · Embed</a:t>
            </a:r>
          </a:p>
        </p:txBody>
      </p:sp>
      <p:sp>
        <p:nvSpPr>
          <p:cNvPr name="TextBox 31" id="31"/>
          <p:cNvSpPr txBox="true"/>
          <p:nvPr/>
        </p:nvSpPr>
        <p:spPr>
          <a:xfrm rot="0">
            <a:off x="9549155"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All chunks embedded concurrently via asyncio.gather. Exponential backoff retries on 429/503. Task type RETRIEVAL_DOCUMENT for higher retrieval accuracy.</a:t>
            </a:r>
          </a:p>
        </p:txBody>
      </p:sp>
      <p:grpSp>
        <p:nvGrpSpPr>
          <p:cNvPr name="Group 32" id="32"/>
          <p:cNvGrpSpPr/>
          <p:nvPr/>
        </p:nvGrpSpPr>
        <p:grpSpPr>
          <a:xfrm rot="0">
            <a:off x="9452943" y="7133130"/>
            <a:ext cx="3853015" cy="627231"/>
            <a:chOff x="0" y="0"/>
            <a:chExt cx="5137353" cy="836308"/>
          </a:xfrm>
        </p:grpSpPr>
        <p:sp>
          <p:nvSpPr>
            <p:cNvPr name="Freeform 33" id="3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34" id="3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35" id="35"/>
          <p:cNvSpPr txBox="true"/>
          <p:nvPr/>
        </p:nvSpPr>
        <p:spPr>
          <a:xfrm rot="0">
            <a:off x="961778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gemini-embedding-2 · 768-dim</a:t>
            </a:r>
          </a:p>
        </p:txBody>
      </p:sp>
      <p:grpSp>
        <p:nvGrpSpPr>
          <p:cNvPr name="Group 36" id="36"/>
          <p:cNvGrpSpPr/>
          <p:nvPr/>
        </p:nvGrpSpPr>
        <p:grpSpPr>
          <a:xfrm rot="0">
            <a:off x="13664670" y="2189131"/>
            <a:ext cx="4269581" cy="7426728"/>
            <a:chOff x="0" y="0"/>
            <a:chExt cx="5692775" cy="9902304"/>
          </a:xfrm>
        </p:grpSpPr>
        <p:sp>
          <p:nvSpPr>
            <p:cNvPr name="Freeform 37" id="3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38" id="3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336791"/>
            </a:solidFill>
          </p:spPr>
        </p:sp>
      </p:grpSp>
      <p:sp>
        <p:nvSpPr>
          <p:cNvPr name="TextBox 39" id="39"/>
          <p:cNvSpPr txBox="true"/>
          <p:nvPr/>
        </p:nvSpPr>
        <p:spPr>
          <a:xfrm rot="0">
            <a:off x="1376325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40" id="40"/>
          <p:cNvSpPr txBox="true"/>
          <p:nvPr/>
        </p:nvSpPr>
        <p:spPr>
          <a:xfrm rot="0">
            <a:off x="1376325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4 · Store</a:t>
            </a:r>
          </a:p>
        </p:txBody>
      </p:sp>
      <p:sp>
        <p:nvSpPr>
          <p:cNvPr name="TextBox 41" id="41"/>
          <p:cNvSpPr txBox="true"/>
          <p:nvPr/>
        </p:nvSpPr>
        <p:spPr>
          <a:xfrm rot="0">
            <a:off x="13969155"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Chunks + vectors + parent_text written to chunks table. doc_meta persists chunk_count and k. If same PDF is re-uploaded, doc_exists() detects the SHA-256 match and skips all of the above.</a:t>
            </a:r>
          </a:p>
        </p:txBody>
      </p:sp>
      <p:grpSp>
        <p:nvGrpSpPr>
          <p:cNvPr name="Group 42" id="42"/>
          <p:cNvGrpSpPr/>
          <p:nvPr/>
        </p:nvGrpSpPr>
        <p:grpSpPr>
          <a:xfrm rot="0">
            <a:off x="13872953" y="7133130"/>
            <a:ext cx="3853015" cy="627231"/>
            <a:chOff x="0" y="0"/>
            <a:chExt cx="5137353" cy="836308"/>
          </a:xfrm>
        </p:grpSpPr>
        <p:sp>
          <p:nvSpPr>
            <p:cNvPr name="Freeform 43" id="4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44" id="4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45" id="45"/>
          <p:cNvSpPr txBox="true"/>
          <p:nvPr/>
        </p:nvSpPr>
        <p:spPr>
          <a:xfrm rot="0">
            <a:off x="1403779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HNSW index · GIN tsvector index</a:t>
            </a:r>
          </a:p>
        </p:txBody>
      </p:sp>
    </p:spTree>
  </p:cSld>
  <p:clrMapOvr>
    <a:masterClrMapping/>
  </p:clrMapOvr>
</p:sld>
</file>

<file path=ppt/slides/slide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PIPELINE DETAIL</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Query flow</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257758"/>
            <a:ext cx="17488414" cy="2210572"/>
            <a:chOff x="0" y="0"/>
            <a:chExt cx="23317886" cy="2947429"/>
          </a:xfrm>
        </p:grpSpPr>
        <p:sp>
          <p:nvSpPr>
            <p:cNvPr name="Freeform 7" id="7"/>
            <p:cNvSpPr/>
            <p:nvPr/>
          </p:nvSpPr>
          <p:spPr>
            <a:xfrm flipH="false" flipV="false" rot="0">
              <a:off x="9525" y="9525"/>
              <a:ext cx="23298786" cy="2928366"/>
            </a:xfrm>
            <a:custGeom>
              <a:avLst/>
              <a:gdLst/>
              <a:ahLst/>
              <a:cxnLst/>
              <a:rect r="r" b="b" t="t" l="l"/>
              <a:pathLst>
                <a:path h="2928366" w="23298786">
                  <a:moveTo>
                    <a:pt x="0" y="0"/>
                  </a:moveTo>
                  <a:lnTo>
                    <a:pt x="23298786" y="0"/>
                  </a:lnTo>
                  <a:lnTo>
                    <a:pt x="23298786" y="2928366"/>
                  </a:lnTo>
                  <a:lnTo>
                    <a:pt x="0" y="2928366"/>
                  </a:lnTo>
                  <a:close/>
                </a:path>
              </a:pathLst>
            </a:custGeom>
            <a:solidFill>
              <a:srgbClr val="FFFFFF"/>
            </a:solidFill>
          </p:spPr>
        </p:sp>
        <p:sp>
          <p:nvSpPr>
            <p:cNvPr name="Freeform 8" id="8"/>
            <p:cNvSpPr/>
            <p:nvPr/>
          </p:nvSpPr>
          <p:spPr>
            <a:xfrm flipH="false" flipV="false" rot="0">
              <a:off x="0" y="0"/>
              <a:ext cx="23317836" cy="2947416"/>
            </a:xfrm>
            <a:custGeom>
              <a:avLst/>
              <a:gdLst/>
              <a:ahLst/>
              <a:cxnLst/>
              <a:rect r="r" b="b" t="t" l="l"/>
              <a:pathLst>
                <a:path h="2947416" w="23317836">
                  <a:moveTo>
                    <a:pt x="9525" y="0"/>
                  </a:moveTo>
                  <a:lnTo>
                    <a:pt x="23308311" y="0"/>
                  </a:lnTo>
                  <a:cubicBezTo>
                    <a:pt x="23313518" y="0"/>
                    <a:pt x="23317836" y="4318"/>
                    <a:pt x="23317836" y="9525"/>
                  </a:cubicBezTo>
                  <a:lnTo>
                    <a:pt x="23317836" y="2937891"/>
                  </a:lnTo>
                  <a:cubicBezTo>
                    <a:pt x="23317836" y="2943098"/>
                    <a:pt x="23313518" y="2947416"/>
                    <a:pt x="23308311"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23308311" y="2928366"/>
                  </a:lnTo>
                  <a:lnTo>
                    <a:pt x="23308311" y="2937891"/>
                  </a:lnTo>
                  <a:lnTo>
                    <a:pt x="23298786" y="2937891"/>
                  </a:lnTo>
                  <a:lnTo>
                    <a:pt x="23298786" y="9525"/>
                  </a:lnTo>
                  <a:lnTo>
                    <a:pt x="23308311" y="9525"/>
                  </a:lnTo>
                  <a:lnTo>
                    <a:pt x="23308311" y="19050"/>
                  </a:lnTo>
                  <a:lnTo>
                    <a:pt x="9525" y="19050"/>
                  </a:lnTo>
                  <a:close/>
                </a:path>
              </a:pathLst>
            </a:custGeom>
            <a:solidFill>
              <a:srgbClr val="FFFFFF"/>
            </a:solidFill>
          </p:spPr>
        </p:sp>
      </p:grpSp>
      <p:sp>
        <p:nvSpPr>
          <p:cNvPr name="TextBox 9" id="9"/>
          <p:cNvSpPr txBox="true"/>
          <p:nvPr/>
        </p:nvSpPr>
        <p:spPr>
          <a:xfrm rot="0">
            <a:off x="503244"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0" id="10"/>
          <p:cNvSpPr txBox="true"/>
          <p:nvPr/>
        </p:nvSpPr>
        <p:spPr>
          <a:xfrm rot="0">
            <a:off x="503244"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User question</a:t>
            </a:r>
          </a:p>
        </p:txBody>
      </p:sp>
      <p:sp>
        <p:nvSpPr>
          <p:cNvPr name="TextBox 11" id="11"/>
          <p:cNvSpPr txBox="true"/>
          <p:nvPr/>
        </p:nvSpPr>
        <p:spPr>
          <a:xfrm rot="0">
            <a:off x="503244"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plain text</a:t>
            </a:r>
          </a:p>
        </p:txBody>
      </p:sp>
      <p:sp>
        <p:nvSpPr>
          <p:cNvPr name="TextBox 12" id="12"/>
          <p:cNvSpPr txBox="true"/>
          <p:nvPr/>
        </p:nvSpPr>
        <p:spPr>
          <a:xfrm rot="0">
            <a:off x="3770205"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3" id="13"/>
          <p:cNvSpPr txBox="true"/>
          <p:nvPr/>
        </p:nvSpPr>
        <p:spPr>
          <a:xfrm rot="0">
            <a:off x="3770205"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Embed query</a:t>
            </a:r>
          </a:p>
        </p:txBody>
      </p:sp>
      <p:sp>
        <p:nvSpPr>
          <p:cNvPr name="TextBox 14" id="14"/>
          <p:cNvSpPr txBox="true"/>
          <p:nvPr/>
        </p:nvSpPr>
        <p:spPr>
          <a:xfrm rot="0">
            <a:off x="3770205"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RETRIEVAL_QUERY</a:t>
            </a:r>
          </a:p>
        </p:txBody>
      </p:sp>
      <p:sp>
        <p:nvSpPr>
          <p:cNvPr name="TextBox 15" id="15"/>
          <p:cNvSpPr txBox="true"/>
          <p:nvPr/>
        </p:nvSpPr>
        <p:spPr>
          <a:xfrm rot="0">
            <a:off x="7037165"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6" id="16"/>
          <p:cNvSpPr txBox="true"/>
          <p:nvPr/>
        </p:nvSpPr>
        <p:spPr>
          <a:xfrm rot="0">
            <a:off x="7037165"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Hybrid search</a:t>
            </a:r>
          </a:p>
        </p:txBody>
      </p:sp>
      <p:sp>
        <p:nvSpPr>
          <p:cNvPr name="TextBox 17" id="17"/>
          <p:cNvSpPr txBox="true"/>
          <p:nvPr/>
        </p:nvSpPr>
        <p:spPr>
          <a:xfrm rot="0">
            <a:off x="7037165"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BM25 + vector RRF</a:t>
            </a:r>
          </a:p>
        </p:txBody>
      </p:sp>
      <p:sp>
        <p:nvSpPr>
          <p:cNvPr name="TextBox 18" id="18"/>
          <p:cNvSpPr txBox="true"/>
          <p:nvPr/>
        </p:nvSpPr>
        <p:spPr>
          <a:xfrm rot="0">
            <a:off x="10304126"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9" id="19"/>
          <p:cNvSpPr txBox="true"/>
          <p:nvPr/>
        </p:nvSpPr>
        <p:spPr>
          <a:xfrm rot="0">
            <a:off x="10304126"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Re-rank</a:t>
            </a:r>
          </a:p>
        </p:txBody>
      </p:sp>
      <p:sp>
        <p:nvSpPr>
          <p:cNvPr name="TextBox 20" id="20"/>
          <p:cNvSpPr txBox="true"/>
          <p:nvPr/>
        </p:nvSpPr>
        <p:spPr>
          <a:xfrm rot="0">
            <a:off x="10304126"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 · top k/2</a:t>
            </a:r>
          </a:p>
        </p:txBody>
      </p:sp>
      <p:sp>
        <p:nvSpPr>
          <p:cNvPr name="TextBox 21" id="21"/>
          <p:cNvSpPr txBox="true"/>
          <p:nvPr/>
        </p:nvSpPr>
        <p:spPr>
          <a:xfrm rot="0">
            <a:off x="13571087"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2" id="22"/>
          <p:cNvSpPr txBox="true"/>
          <p:nvPr/>
        </p:nvSpPr>
        <p:spPr>
          <a:xfrm rot="0">
            <a:off x="13571087"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Stream answer</a:t>
            </a:r>
          </a:p>
        </p:txBody>
      </p:sp>
      <p:sp>
        <p:nvSpPr>
          <p:cNvPr name="TextBox 23" id="23"/>
          <p:cNvSpPr txBox="true"/>
          <p:nvPr/>
        </p:nvSpPr>
        <p:spPr>
          <a:xfrm rot="0">
            <a:off x="13571087"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SSE + citations</a:t>
            </a:r>
          </a:p>
        </p:txBody>
      </p:sp>
      <p:grpSp>
        <p:nvGrpSpPr>
          <p:cNvPr name="Group 24" id="24"/>
          <p:cNvGrpSpPr/>
          <p:nvPr/>
        </p:nvGrpSpPr>
        <p:grpSpPr>
          <a:xfrm rot="0">
            <a:off x="404651" y="4797200"/>
            <a:ext cx="8387601" cy="2759640"/>
            <a:chOff x="0" y="0"/>
            <a:chExt cx="11183468" cy="3679520"/>
          </a:xfrm>
        </p:grpSpPr>
        <p:sp>
          <p:nvSpPr>
            <p:cNvPr name="Freeform 25" id="25"/>
            <p:cNvSpPr/>
            <p:nvPr/>
          </p:nvSpPr>
          <p:spPr>
            <a:xfrm flipH="false" flipV="false" rot="0">
              <a:off x="9525" y="9525"/>
              <a:ext cx="11164443" cy="3660521"/>
            </a:xfrm>
            <a:custGeom>
              <a:avLst/>
              <a:gdLst/>
              <a:ahLst/>
              <a:cxnLst/>
              <a:rect r="r" b="b" t="t" l="l"/>
              <a:pathLst>
                <a:path h="3660521" w="11164443">
                  <a:moveTo>
                    <a:pt x="0" y="0"/>
                  </a:moveTo>
                  <a:lnTo>
                    <a:pt x="11164443" y="0"/>
                  </a:lnTo>
                  <a:lnTo>
                    <a:pt x="11164443" y="3660521"/>
                  </a:lnTo>
                  <a:lnTo>
                    <a:pt x="0" y="3660521"/>
                  </a:lnTo>
                  <a:close/>
                </a:path>
              </a:pathLst>
            </a:custGeom>
            <a:solidFill>
              <a:srgbClr val="FFFFFF"/>
            </a:solidFill>
          </p:spPr>
        </p:sp>
        <p:sp>
          <p:nvSpPr>
            <p:cNvPr name="Freeform 26" id="26"/>
            <p:cNvSpPr/>
            <p:nvPr/>
          </p:nvSpPr>
          <p:spPr>
            <a:xfrm flipH="false" flipV="false" rot="0">
              <a:off x="0" y="0"/>
              <a:ext cx="11183493" cy="3679571"/>
            </a:xfrm>
            <a:custGeom>
              <a:avLst/>
              <a:gdLst/>
              <a:ahLst/>
              <a:cxnLst/>
              <a:rect r="r" b="b" t="t" l="l"/>
              <a:pathLst>
                <a:path h="3679571" w="11183493">
                  <a:moveTo>
                    <a:pt x="9525" y="0"/>
                  </a:moveTo>
                  <a:lnTo>
                    <a:pt x="11173968" y="0"/>
                  </a:lnTo>
                  <a:cubicBezTo>
                    <a:pt x="11179175" y="0"/>
                    <a:pt x="11183493" y="4318"/>
                    <a:pt x="11183493" y="9525"/>
                  </a:cubicBezTo>
                  <a:lnTo>
                    <a:pt x="11183493" y="3670046"/>
                  </a:lnTo>
                  <a:cubicBezTo>
                    <a:pt x="11183493" y="3675253"/>
                    <a:pt x="11179175" y="3679571"/>
                    <a:pt x="11173968" y="3679571"/>
                  </a:cubicBezTo>
                  <a:lnTo>
                    <a:pt x="9525" y="3679571"/>
                  </a:lnTo>
                  <a:cubicBezTo>
                    <a:pt x="4318" y="3679571"/>
                    <a:pt x="0" y="3675253"/>
                    <a:pt x="0" y="3670046"/>
                  </a:cubicBezTo>
                  <a:lnTo>
                    <a:pt x="0" y="9525"/>
                  </a:lnTo>
                  <a:cubicBezTo>
                    <a:pt x="0" y="4318"/>
                    <a:pt x="4318" y="0"/>
                    <a:pt x="9525" y="0"/>
                  </a:cubicBezTo>
                  <a:moveTo>
                    <a:pt x="9525" y="19050"/>
                  </a:moveTo>
                  <a:lnTo>
                    <a:pt x="9525" y="9525"/>
                  </a:lnTo>
                  <a:lnTo>
                    <a:pt x="19050" y="9525"/>
                  </a:lnTo>
                  <a:lnTo>
                    <a:pt x="19050" y="3670046"/>
                  </a:lnTo>
                  <a:lnTo>
                    <a:pt x="9525" y="3670046"/>
                  </a:lnTo>
                  <a:lnTo>
                    <a:pt x="9525" y="3660521"/>
                  </a:lnTo>
                  <a:lnTo>
                    <a:pt x="11173968" y="3660521"/>
                  </a:lnTo>
                  <a:lnTo>
                    <a:pt x="11173968" y="3670046"/>
                  </a:lnTo>
                  <a:lnTo>
                    <a:pt x="11164443" y="3670046"/>
                  </a:lnTo>
                  <a:lnTo>
                    <a:pt x="11164443" y="9525"/>
                  </a:lnTo>
                  <a:lnTo>
                    <a:pt x="11173968" y="9525"/>
                  </a:lnTo>
                  <a:lnTo>
                    <a:pt x="11173968" y="19050"/>
                  </a:lnTo>
                  <a:lnTo>
                    <a:pt x="9525" y="19050"/>
                  </a:lnTo>
                  <a:close/>
                </a:path>
              </a:pathLst>
            </a:custGeom>
            <a:solidFill>
              <a:srgbClr val="FFFFFF"/>
            </a:solidFill>
          </p:spPr>
        </p:sp>
      </p:grpSp>
      <p:sp>
        <p:nvSpPr>
          <p:cNvPr name="TextBox 27" id="27"/>
          <p:cNvSpPr txBox="true"/>
          <p:nvPr/>
        </p:nvSpPr>
        <p:spPr>
          <a:xfrm rot="0">
            <a:off x="777773" y="5008350"/>
            <a:ext cx="7641355" cy="436616"/>
          </a:xfrm>
          <a:prstGeom prst="rect">
            <a:avLst/>
          </a:prstGeom>
        </p:spPr>
        <p:txBody>
          <a:bodyPr anchor="t" rtlCol="false" tIns="0" lIns="0" bIns="0" rIns="0">
            <a:spAutoFit/>
          </a:bodyPr>
          <a:lstStyle/>
          <a:p>
            <a:pPr algn="l">
              <a:lnSpc>
                <a:spcPts val="2341"/>
              </a:lnSpc>
            </a:pPr>
            <a:r>
              <a:rPr lang="en-US" sz="1951" b="true">
                <a:solidFill>
                  <a:srgbClr val="7C3AED"/>
                </a:solidFill>
                <a:latin typeface="Calibri (MS) Bold"/>
                <a:ea typeface="Calibri (MS) Bold"/>
                <a:cs typeface="Calibri (MS) Bold"/>
                <a:sym typeface="Calibri (MS) Bold"/>
              </a:rPr>
              <a:t>System prompt</a:t>
            </a:r>
          </a:p>
        </p:txBody>
      </p:sp>
      <p:sp>
        <p:nvSpPr>
          <p:cNvPr name="TextBox 28" id="28"/>
          <p:cNvSpPr txBox="true"/>
          <p:nvPr/>
        </p:nvSpPr>
        <p:spPr>
          <a:xfrm rot="0">
            <a:off x="777773" y="5576468"/>
            <a:ext cx="7641355" cy="1721606"/>
          </a:xfrm>
          <a:prstGeom prst="rect">
            <a:avLst/>
          </a:prstGeom>
        </p:spPr>
        <p:txBody>
          <a:bodyPr anchor="t" rtlCol="false" tIns="0" lIns="0" bIns="0" rIns="0">
            <a:spAutoFit/>
          </a:bodyPr>
          <a:lstStyle/>
          <a:p>
            <a:pPr algn="l">
              <a:lnSpc>
                <a:spcPts val="1981"/>
              </a:lnSpc>
            </a:pPr>
            <a:r>
              <a:rPr lang="en-US" sz="1651" i="true">
                <a:solidFill>
                  <a:srgbClr val="7C3AED"/>
                </a:solidFill>
                <a:latin typeface="Calibri (MS) Italics"/>
                <a:ea typeface="Calibri (MS) Italics"/>
                <a:cs typeface="Calibri (MS) Italics"/>
                <a:sym typeface="Calibri (MS) Italics"/>
              </a:rPr>
              <a:t>"Answer using ONLY the provided context. If insufficient: "I don't know." Cite sources as [Chunk N] inline."</a:t>
            </a:r>
          </a:p>
        </p:txBody>
      </p:sp>
      <p:grpSp>
        <p:nvGrpSpPr>
          <p:cNvPr name="Group 29" id="29"/>
          <p:cNvGrpSpPr/>
          <p:nvPr/>
        </p:nvGrpSpPr>
        <p:grpSpPr>
          <a:xfrm rot="0">
            <a:off x="9230935" y="4797200"/>
            <a:ext cx="8662130" cy="2759640"/>
            <a:chOff x="0" y="0"/>
            <a:chExt cx="11549507" cy="3679520"/>
          </a:xfrm>
        </p:grpSpPr>
        <p:sp>
          <p:nvSpPr>
            <p:cNvPr name="Freeform 30" id="30"/>
            <p:cNvSpPr/>
            <p:nvPr/>
          </p:nvSpPr>
          <p:spPr>
            <a:xfrm flipH="false" flipV="false" rot="0">
              <a:off x="9525" y="9525"/>
              <a:ext cx="11530457" cy="3660521"/>
            </a:xfrm>
            <a:custGeom>
              <a:avLst/>
              <a:gdLst/>
              <a:ahLst/>
              <a:cxnLst/>
              <a:rect r="r" b="b" t="t" l="l"/>
              <a:pathLst>
                <a:path h="3660521" w="11530457">
                  <a:moveTo>
                    <a:pt x="0" y="0"/>
                  </a:moveTo>
                  <a:lnTo>
                    <a:pt x="11530457" y="0"/>
                  </a:lnTo>
                  <a:lnTo>
                    <a:pt x="11530457" y="3660521"/>
                  </a:lnTo>
                  <a:lnTo>
                    <a:pt x="0" y="3660521"/>
                  </a:lnTo>
                  <a:close/>
                </a:path>
              </a:pathLst>
            </a:custGeom>
            <a:solidFill>
              <a:srgbClr val="FFFFFF"/>
            </a:solidFill>
          </p:spPr>
        </p:sp>
        <p:sp>
          <p:nvSpPr>
            <p:cNvPr name="Freeform 31" id="31"/>
            <p:cNvSpPr/>
            <p:nvPr/>
          </p:nvSpPr>
          <p:spPr>
            <a:xfrm flipH="false" flipV="false" rot="0">
              <a:off x="0" y="0"/>
              <a:ext cx="11549507" cy="3679571"/>
            </a:xfrm>
            <a:custGeom>
              <a:avLst/>
              <a:gdLst/>
              <a:ahLst/>
              <a:cxnLst/>
              <a:rect r="r" b="b" t="t" l="l"/>
              <a:pathLst>
                <a:path h="3679571" w="11549507">
                  <a:moveTo>
                    <a:pt x="9525" y="0"/>
                  </a:moveTo>
                  <a:lnTo>
                    <a:pt x="11539982" y="0"/>
                  </a:lnTo>
                  <a:cubicBezTo>
                    <a:pt x="11545188" y="0"/>
                    <a:pt x="11549507" y="4318"/>
                    <a:pt x="11549507" y="9525"/>
                  </a:cubicBezTo>
                  <a:lnTo>
                    <a:pt x="11549507" y="3670046"/>
                  </a:lnTo>
                  <a:cubicBezTo>
                    <a:pt x="11549507" y="3675253"/>
                    <a:pt x="11545188" y="3679571"/>
                    <a:pt x="11539982" y="3679571"/>
                  </a:cubicBezTo>
                  <a:lnTo>
                    <a:pt x="9525" y="3679571"/>
                  </a:lnTo>
                  <a:cubicBezTo>
                    <a:pt x="4318" y="3679571"/>
                    <a:pt x="0" y="3675253"/>
                    <a:pt x="0" y="3670046"/>
                  </a:cubicBezTo>
                  <a:lnTo>
                    <a:pt x="0" y="9525"/>
                  </a:lnTo>
                  <a:cubicBezTo>
                    <a:pt x="0" y="4318"/>
                    <a:pt x="4318" y="0"/>
                    <a:pt x="9525" y="0"/>
                  </a:cubicBezTo>
                  <a:moveTo>
                    <a:pt x="9525" y="19050"/>
                  </a:moveTo>
                  <a:lnTo>
                    <a:pt x="9525" y="9525"/>
                  </a:lnTo>
                  <a:lnTo>
                    <a:pt x="19050" y="9525"/>
                  </a:lnTo>
                  <a:lnTo>
                    <a:pt x="19050" y="3670046"/>
                  </a:lnTo>
                  <a:lnTo>
                    <a:pt x="9525" y="3670046"/>
                  </a:lnTo>
                  <a:lnTo>
                    <a:pt x="9525" y="3660521"/>
                  </a:lnTo>
                  <a:lnTo>
                    <a:pt x="11539982" y="3660521"/>
                  </a:lnTo>
                  <a:lnTo>
                    <a:pt x="11539982" y="3670046"/>
                  </a:lnTo>
                  <a:lnTo>
                    <a:pt x="11530457" y="3670046"/>
                  </a:lnTo>
                  <a:lnTo>
                    <a:pt x="11530457" y="9525"/>
                  </a:lnTo>
                  <a:lnTo>
                    <a:pt x="11539982" y="9525"/>
                  </a:lnTo>
                  <a:lnTo>
                    <a:pt x="11539982" y="19050"/>
                  </a:lnTo>
                  <a:lnTo>
                    <a:pt x="9525" y="19050"/>
                  </a:lnTo>
                  <a:close/>
                </a:path>
              </a:pathLst>
            </a:custGeom>
            <a:solidFill>
              <a:srgbClr val="FFFFFF"/>
            </a:solidFill>
          </p:spPr>
        </p:sp>
      </p:grpSp>
      <p:sp>
        <p:nvSpPr>
          <p:cNvPr name="TextBox 32" id="32"/>
          <p:cNvSpPr txBox="true"/>
          <p:nvPr/>
        </p:nvSpPr>
        <p:spPr>
          <a:xfrm rot="0">
            <a:off x="9604057" y="5008350"/>
            <a:ext cx="7915885" cy="436616"/>
          </a:xfrm>
          <a:prstGeom prst="rect">
            <a:avLst/>
          </a:prstGeom>
        </p:spPr>
        <p:txBody>
          <a:bodyPr anchor="t" rtlCol="false" tIns="0" lIns="0" bIns="0" rIns="0">
            <a:spAutoFit/>
          </a:bodyPr>
          <a:lstStyle/>
          <a:p>
            <a:pPr algn="l">
              <a:lnSpc>
                <a:spcPts val="2341"/>
              </a:lnSpc>
            </a:pPr>
            <a:r>
              <a:rPr lang="en-US" sz="1951" b="true">
                <a:solidFill>
                  <a:srgbClr val="059669"/>
                </a:solidFill>
                <a:latin typeface="Calibri (MS) Bold"/>
                <a:ea typeface="Calibri (MS) Bold"/>
                <a:cs typeface="Calibri (MS) Bold"/>
                <a:sym typeface="Calibri (MS) Bold"/>
              </a:rPr>
              <a:t>Grounding guarantee</a:t>
            </a:r>
          </a:p>
        </p:txBody>
      </p:sp>
      <p:sp>
        <p:nvSpPr>
          <p:cNvPr name="TextBox 33" id="33"/>
          <p:cNvSpPr txBox="true"/>
          <p:nvPr/>
        </p:nvSpPr>
        <p:spPr>
          <a:xfrm rot="0">
            <a:off x="9604057" y="5576468"/>
            <a:ext cx="7915885" cy="172160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If pgvector returns zero results, the answer is short-circuited to 'I don't know.' before the LLM is called — no hallucination possible on empty retrieval.</a:t>
            </a:r>
          </a:p>
        </p:txBody>
      </p:sp>
      <p:sp>
        <p:nvSpPr>
          <p:cNvPr name="TextBox 34" id="34"/>
          <p:cNvSpPr txBox="true"/>
          <p:nvPr/>
        </p:nvSpPr>
        <p:spPr>
          <a:xfrm rot="0">
            <a:off x="503244" y="7841380"/>
            <a:ext cx="17291237"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Both ingest progress and answer tokens stream via Server-Sent Events — no polling, real-time UI updates.</a:t>
            </a:r>
          </a:p>
        </p:txBody>
      </p:sp>
    </p:spTree>
  </p:cSld>
  <p:clrMapOvr>
    <a:masterClrMapping/>
  </p:clrMapOvr>
</p:sld>
</file>

<file path=ppt/slides/slide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KEY FEATURE</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Auto-scaled chunk size &amp; k</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A78BFA"/>
            </a:solidFill>
          </p:spPr>
        </p:sp>
      </p:grpSp>
      <p:sp>
        <p:nvSpPr>
          <p:cNvPr name="TextBox 6" id="6"/>
          <p:cNvSpPr txBox="true"/>
          <p:nvPr/>
        </p:nvSpPr>
        <p:spPr>
          <a:xfrm rot="0">
            <a:off x="915048" y="2057105"/>
            <a:ext cx="16467639" cy="711156"/>
          </a:xfrm>
          <a:prstGeom prst="rect">
            <a:avLst/>
          </a:prstGeom>
        </p:spPr>
        <p:txBody>
          <a:bodyPr anchor="t" rtlCol="false" tIns="0" lIns="0" bIns="0" rIns="0">
            <a:spAutoFit/>
          </a:bodyPr>
          <a:lstStyle/>
          <a:p>
            <a:pPr algn="l">
              <a:lnSpc>
                <a:spcPts val="2341"/>
              </a:lnSpc>
            </a:pPr>
            <a:r>
              <a:rPr lang="en-US" sz="1951">
                <a:solidFill>
                  <a:srgbClr val="7C3AED"/>
                </a:solidFill>
                <a:latin typeface="Calibri (MS)"/>
                <a:ea typeface="Calibri (MS)"/>
                <a:cs typeface="Calibri (MS)"/>
                <a:sym typeface="Calibri (MS)"/>
              </a:rPr>
              <a:t>A fixed chunk size performs poorly at both extremes. compute_params(total_tokens) selects both values from five tiers — the chosen k is persisted to doc_meta and restored on server restart.</a:t>
            </a:r>
          </a:p>
        </p:txBody>
      </p:sp>
      <p:grpSp>
        <p:nvGrpSpPr>
          <p:cNvPr name="Group 7" id="7"/>
          <p:cNvGrpSpPr/>
          <p:nvPr/>
        </p:nvGrpSpPr>
        <p:grpSpPr>
          <a:xfrm rot="0">
            <a:off x="816454" y="2944092"/>
            <a:ext cx="16664816" cy="6671758"/>
            <a:chOff x="0" y="0"/>
            <a:chExt cx="22219755" cy="8895677"/>
          </a:xfrm>
        </p:grpSpPr>
        <p:sp>
          <p:nvSpPr>
            <p:cNvPr name="Freeform 8" id="8"/>
            <p:cNvSpPr/>
            <p:nvPr/>
          </p:nvSpPr>
          <p:spPr>
            <a:xfrm flipH="false" flipV="false" rot="0">
              <a:off x="9525" y="9525"/>
              <a:ext cx="22200743" cy="8876665"/>
            </a:xfrm>
            <a:custGeom>
              <a:avLst/>
              <a:gdLst/>
              <a:ahLst/>
              <a:cxnLst/>
              <a:rect r="r" b="b" t="t" l="l"/>
              <a:pathLst>
                <a:path h="8876665" w="22200743">
                  <a:moveTo>
                    <a:pt x="0" y="0"/>
                  </a:moveTo>
                  <a:lnTo>
                    <a:pt x="22200743" y="0"/>
                  </a:lnTo>
                  <a:lnTo>
                    <a:pt x="22200743" y="8876665"/>
                  </a:lnTo>
                  <a:lnTo>
                    <a:pt x="0" y="8876665"/>
                  </a:lnTo>
                  <a:close/>
                </a:path>
              </a:pathLst>
            </a:custGeom>
            <a:solidFill>
              <a:srgbClr val="FFFFFF"/>
            </a:solidFill>
          </p:spPr>
        </p:sp>
        <p:sp>
          <p:nvSpPr>
            <p:cNvPr name="Freeform 9" id="9"/>
            <p:cNvSpPr/>
            <p:nvPr/>
          </p:nvSpPr>
          <p:spPr>
            <a:xfrm flipH="false" flipV="false" rot="0">
              <a:off x="0" y="0"/>
              <a:ext cx="22219793" cy="8895715"/>
            </a:xfrm>
            <a:custGeom>
              <a:avLst/>
              <a:gdLst/>
              <a:ahLst/>
              <a:cxnLst/>
              <a:rect r="r" b="b" t="t" l="l"/>
              <a:pathLst>
                <a:path h="8895715" w="22219793">
                  <a:moveTo>
                    <a:pt x="9525" y="0"/>
                  </a:moveTo>
                  <a:lnTo>
                    <a:pt x="22210268" y="0"/>
                  </a:lnTo>
                  <a:cubicBezTo>
                    <a:pt x="22215475" y="0"/>
                    <a:pt x="22219793" y="4318"/>
                    <a:pt x="22219793" y="9525"/>
                  </a:cubicBezTo>
                  <a:lnTo>
                    <a:pt x="22219793" y="8886190"/>
                  </a:lnTo>
                  <a:cubicBezTo>
                    <a:pt x="22219793" y="8891397"/>
                    <a:pt x="22215475" y="8895715"/>
                    <a:pt x="22210268" y="8895715"/>
                  </a:cubicBezTo>
                  <a:lnTo>
                    <a:pt x="9525" y="8895715"/>
                  </a:lnTo>
                  <a:cubicBezTo>
                    <a:pt x="4318" y="8895715"/>
                    <a:pt x="0" y="8891397"/>
                    <a:pt x="0" y="8886190"/>
                  </a:cubicBezTo>
                  <a:lnTo>
                    <a:pt x="0" y="9525"/>
                  </a:lnTo>
                  <a:cubicBezTo>
                    <a:pt x="0" y="4318"/>
                    <a:pt x="4318" y="0"/>
                    <a:pt x="9525" y="0"/>
                  </a:cubicBezTo>
                  <a:moveTo>
                    <a:pt x="9525" y="19050"/>
                  </a:moveTo>
                  <a:lnTo>
                    <a:pt x="9525" y="9525"/>
                  </a:lnTo>
                  <a:lnTo>
                    <a:pt x="19050" y="9525"/>
                  </a:lnTo>
                  <a:lnTo>
                    <a:pt x="19050" y="8886190"/>
                  </a:lnTo>
                  <a:lnTo>
                    <a:pt x="9525" y="8886190"/>
                  </a:lnTo>
                  <a:lnTo>
                    <a:pt x="9525" y="8876665"/>
                  </a:lnTo>
                  <a:lnTo>
                    <a:pt x="22210268" y="8876665"/>
                  </a:lnTo>
                  <a:lnTo>
                    <a:pt x="22210268" y="8886190"/>
                  </a:lnTo>
                  <a:lnTo>
                    <a:pt x="22200743" y="8886190"/>
                  </a:lnTo>
                  <a:lnTo>
                    <a:pt x="22200743" y="9525"/>
                  </a:lnTo>
                  <a:lnTo>
                    <a:pt x="22210268" y="9525"/>
                  </a:lnTo>
                  <a:lnTo>
                    <a:pt x="22210268" y="19050"/>
                  </a:lnTo>
                  <a:lnTo>
                    <a:pt x="9525" y="19050"/>
                  </a:lnTo>
                  <a:close/>
                </a:path>
              </a:pathLst>
            </a:custGeom>
            <a:solidFill>
              <a:srgbClr val="FFFFFF"/>
            </a:solidFill>
          </p:spPr>
        </p:sp>
      </p:grpSp>
      <p:sp>
        <p:nvSpPr>
          <p:cNvPr name="TextBox 10" id="10"/>
          <p:cNvSpPr txBox="true"/>
          <p:nvPr/>
        </p:nvSpPr>
        <p:spPr>
          <a:xfrm rot="0">
            <a:off x="1120940" y="3096130"/>
            <a:ext cx="242519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Document size</a:t>
            </a:r>
          </a:p>
        </p:txBody>
      </p:sp>
      <p:sp>
        <p:nvSpPr>
          <p:cNvPr name="TextBox 11" id="11"/>
          <p:cNvSpPr txBox="true"/>
          <p:nvPr/>
        </p:nvSpPr>
        <p:spPr>
          <a:xfrm rot="0">
            <a:off x="3934920" y="3096130"/>
            <a:ext cx="2150659"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Token range</a:t>
            </a:r>
          </a:p>
        </p:txBody>
      </p:sp>
      <p:sp>
        <p:nvSpPr>
          <p:cNvPr name="TextBox 12" id="12"/>
          <p:cNvSpPr txBox="true"/>
          <p:nvPr/>
        </p:nvSpPr>
        <p:spPr>
          <a:xfrm rot="0">
            <a:off x="6542999" y="3096130"/>
            <a:ext cx="118979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chunk_size</a:t>
            </a:r>
          </a:p>
        </p:txBody>
      </p:sp>
      <p:sp>
        <p:nvSpPr>
          <p:cNvPr name="TextBox 13" id="13"/>
          <p:cNvSpPr txBox="true"/>
          <p:nvPr/>
        </p:nvSpPr>
        <p:spPr>
          <a:xfrm rot="0">
            <a:off x="8190205" y="3096130"/>
            <a:ext cx="118979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k retrieved</a:t>
            </a:r>
          </a:p>
        </p:txBody>
      </p:sp>
      <p:sp>
        <p:nvSpPr>
          <p:cNvPr name="TextBox 14" id="14"/>
          <p:cNvSpPr txBox="true"/>
          <p:nvPr/>
        </p:nvSpPr>
        <p:spPr>
          <a:xfrm rot="0">
            <a:off x="9837410" y="3096130"/>
            <a:ext cx="709228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Rationale</a:t>
            </a:r>
          </a:p>
        </p:txBody>
      </p:sp>
      <p:sp>
        <p:nvSpPr>
          <p:cNvPr name="TextBox 15" id="15"/>
          <p:cNvSpPr txBox="true"/>
          <p:nvPr/>
        </p:nvSpPr>
        <p:spPr>
          <a:xfrm rot="0">
            <a:off x="1120940" y="3713836"/>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Tiny  (&lt;20 pages)</a:t>
            </a:r>
          </a:p>
        </p:txBody>
      </p:sp>
      <p:sp>
        <p:nvSpPr>
          <p:cNvPr name="TextBox 16" id="16"/>
          <p:cNvSpPr txBox="true"/>
          <p:nvPr/>
        </p:nvSpPr>
        <p:spPr>
          <a:xfrm rot="0">
            <a:off x="3934920" y="3713836"/>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10 K</a:t>
            </a:r>
          </a:p>
        </p:txBody>
      </p:sp>
      <p:sp>
        <p:nvSpPr>
          <p:cNvPr name="TextBox 17" id="17"/>
          <p:cNvSpPr txBox="true"/>
          <p:nvPr/>
        </p:nvSpPr>
        <p:spPr>
          <a:xfrm rot="0">
            <a:off x="6542999" y="3713836"/>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256</a:t>
            </a:r>
          </a:p>
        </p:txBody>
      </p:sp>
      <p:sp>
        <p:nvSpPr>
          <p:cNvPr name="TextBox 18" id="18"/>
          <p:cNvSpPr txBox="true"/>
          <p:nvPr/>
        </p:nvSpPr>
        <p:spPr>
          <a:xfrm rot="0">
            <a:off x="8190205" y="3713836"/>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5</a:t>
            </a:r>
          </a:p>
        </p:txBody>
      </p:sp>
      <p:sp>
        <p:nvSpPr>
          <p:cNvPr name="TextBox 19" id="19"/>
          <p:cNvSpPr txBox="true"/>
          <p:nvPr/>
        </p:nvSpPr>
        <p:spPr>
          <a:xfrm rot="0">
            <a:off x="9837410" y="3713836"/>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Tight chunks; few results enough</a:t>
            </a:r>
          </a:p>
        </p:txBody>
      </p:sp>
      <p:sp>
        <p:nvSpPr>
          <p:cNvPr name="TextBox 20" id="20"/>
          <p:cNvSpPr txBox="true"/>
          <p:nvPr/>
        </p:nvSpPr>
        <p:spPr>
          <a:xfrm rot="0">
            <a:off x="1120940" y="4564894"/>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Small (20–100 p)</a:t>
            </a:r>
          </a:p>
        </p:txBody>
      </p:sp>
      <p:sp>
        <p:nvSpPr>
          <p:cNvPr name="TextBox 21" id="21"/>
          <p:cNvSpPr txBox="true"/>
          <p:nvPr/>
        </p:nvSpPr>
        <p:spPr>
          <a:xfrm rot="0">
            <a:off x="3934920" y="4564894"/>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50 K</a:t>
            </a:r>
          </a:p>
        </p:txBody>
      </p:sp>
      <p:sp>
        <p:nvSpPr>
          <p:cNvPr name="TextBox 22" id="22"/>
          <p:cNvSpPr txBox="true"/>
          <p:nvPr/>
        </p:nvSpPr>
        <p:spPr>
          <a:xfrm rot="0">
            <a:off x="6542999" y="4564894"/>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384</a:t>
            </a:r>
          </a:p>
        </p:txBody>
      </p:sp>
      <p:sp>
        <p:nvSpPr>
          <p:cNvPr name="TextBox 23" id="23"/>
          <p:cNvSpPr txBox="true"/>
          <p:nvPr/>
        </p:nvSpPr>
        <p:spPr>
          <a:xfrm rot="0">
            <a:off x="8190205" y="4564894"/>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8</a:t>
            </a:r>
          </a:p>
        </p:txBody>
      </p:sp>
      <p:sp>
        <p:nvSpPr>
          <p:cNvPr name="TextBox 24" id="24"/>
          <p:cNvSpPr txBox="true"/>
          <p:nvPr/>
        </p:nvSpPr>
        <p:spPr>
          <a:xfrm rot="0">
            <a:off x="9837410" y="4564894"/>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Balanced default</a:t>
            </a:r>
          </a:p>
        </p:txBody>
      </p:sp>
      <p:sp>
        <p:nvSpPr>
          <p:cNvPr name="TextBox 25" id="25"/>
          <p:cNvSpPr txBox="true"/>
          <p:nvPr/>
        </p:nvSpPr>
        <p:spPr>
          <a:xfrm rot="0">
            <a:off x="1120940" y="5415953"/>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Medium (100–400 p)</a:t>
            </a:r>
          </a:p>
        </p:txBody>
      </p:sp>
      <p:sp>
        <p:nvSpPr>
          <p:cNvPr name="TextBox 26" id="26"/>
          <p:cNvSpPr txBox="true"/>
          <p:nvPr/>
        </p:nvSpPr>
        <p:spPr>
          <a:xfrm rot="0">
            <a:off x="3934920" y="5415953"/>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200 K</a:t>
            </a:r>
          </a:p>
        </p:txBody>
      </p:sp>
      <p:sp>
        <p:nvSpPr>
          <p:cNvPr name="TextBox 27" id="27"/>
          <p:cNvSpPr txBox="true"/>
          <p:nvPr/>
        </p:nvSpPr>
        <p:spPr>
          <a:xfrm rot="0">
            <a:off x="6542999" y="5415953"/>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512</a:t>
            </a:r>
          </a:p>
        </p:txBody>
      </p:sp>
      <p:sp>
        <p:nvSpPr>
          <p:cNvPr name="TextBox 28" id="28"/>
          <p:cNvSpPr txBox="true"/>
          <p:nvPr/>
        </p:nvSpPr>
        <p:spPr>
          <a:xfrm rot="0">
            <a:off x="8190205" y="5415953"/>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12</a:t>
            </a:r>
          </a:p>
        </p:txBody>
      </p:sp>
      <p:sp>
        <p:nvSpPr>
          <p:cNvPr name="TextBox 29" id="29"/>
          <p:cNvSpPr txBox="true"/>
          <p:nvPr/>
        </p:nvSpPr>
        <p:spPr>
          <a:xfrm rot="0">
            <a:off x="9837410" y="5415953"/>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More context needed per chunk</a:t>
            </a:r>
          </a:p>
        </p:txBody>
      </p:sp>
      <p:sp>
        <p:nvSpPr>
          <p:cNvPr name="TextBox 30" id="30"/>
          <p:cNvSpPr txBox="true"/>
          <p:nvPr/>
        </p:nvSpPr>
        <p:spPr>
          <a:xfrm rot="0">
            <a:off x="1120940" y="6267002"/>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Large (400–1000 p)</a:t>
            </a:r>
          </a:p>
        </p:txBody>
      </p:sp>
      <p:sp>
        <p:nvSpPr>
          <p:cNvPr name="TextBox 31" id="31"/>
          <p:cNvSpPr txBox="true"/>
          <p:nvPr/>
        </p:nvSpPr>
        <p:spPr>
          <a:xfrm rot="0">
            <a:off x="3934920" y="6267002"/>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500 K</a:t>
            </a:r>
          </a:p>
        </p:txBody>
      </p:sp>
      <p:sp>
        <p:nvSpPr>
          <p:cNvPr name="TextBox 32" id="32"/>
          <p:cNvSpPr txBox="true"/>
          <p:nvPr/>
        </p:nvSpPr>
        <p:spPr>
          <a:xfrm rot="0">
            <a:off x="6542999" y="6267002"/>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768</a:t>
            </a:r>
          </a:p>
        </p:txBody>
      </p:sp>
      <p:sp>
        <p:nvSpPr>
          <p:cNvPr name="TextBox 33" id="33"/>
          <p:cNvSpPr txBox="true"/>
          <p:nvPr/>
        </p:nvSpPr>
        <p:spPr>
          <a:xfrm rot="0">
            <a:off x="8190205" y="6267002"/>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15</a:t>
            </a:r>
          </a:p>
        </p:txBody>
      </p:sp>
      <p:sp>
        <p:nvSpPr>
          <p:cNvPr name="TextBox 34" id="34"/>
          <p:cNvSpPr txBox="true"/>
          <p:nvPr/>
        </p:nvSpPr>
        <p:spPr>
          <a:xfrm rot="0">
            <a:off x="9837410" y="6267002"/>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Wide chunks, broad retrieval</a:t>
            </a:r>
          </a:p>
        </p:txBody>
      </p:sp>
      <p:sp>
        <p:nvSpPr>
          <p:cNvPr name="TextBox 35" id="35"/>
          <p:cNvSpPr txBox="true"/>
          <p:nvPr/>
        </p:nvSpPr>
        <p:spPr>
          <a:xfrm rot="0">
            <a:off x="1120940" y="7118061"/>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Huge  (1000+ pages)</a:t>
            </a:r>
          </a:p>
        </p:txBody>
      </p:sp>
      <p:sp>
        <p:nvSpPr>
          <p:cNvPr name="TextBox 36" id="36"/>
          <p:cNvSpPr txBox="true"/>
          <p:nvPr/>
        </p:nvSpPr>
        <p:spPr>
          <a:xfrm rot="0">
            <a:off x="3934920" y="7118061"/>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 500 K</a:t>
            </a:r>
          </a:p>
        </p:txBody>
      </p:sp>
      <p:sp>
        <p:nvSpPr>
          <p:cNvPr name="TextBox 37" id="37"/>
          <p:cNvSpPr txBox="true"/>
          <p:nvPr/>
        </p:nvSpPr>
        <p:spPr>
          <a:xfrm rot="0">
            <a:off x="6542999" y="7118061"/>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1024</a:t>
            </a:r>
          </a:p>
        </p:txBody>
      </p:sp>
      <p:sp>
        <p:nvSpPr>
          <p:cNvPr name="TextBox 38" id="38"/>
          <p:cNvSpPr txBox="true"/>
          <p:nvPr/>
        </p:nvSpPr>
        <p:spPr>
          <a:xfrm rot="0">
            <a:off x="8190205" y="7118061"/>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20</a:t>
            </a:r>
          </a:p>
        </p:txBody>
      </p:sp>
      <p:sp>
        <p:nvSpPr>
          <p:cNvPr name="TextBox 39" id="39"/>
          <p:cNvSpPr txBox="true"/>
          <p:nvPr/>
        </p:nvSpPr>
        <p:spPr>
          <a:xfrm rot="0">
            <a:off x="9837410" y="7118061"/>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Maximum context coverage</a:t>
            </a:r>
          </a:p>
        </p:txBody>
      </p:sp>
    </p:spTree>
  </p:cSld>
  <p:clrMapOvr>
    <a:masterClrMapping/>
  </p:clrMapOvr>
</p:sld>
</file>

<file path=ppt/slides/slide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TECHNOLOGY CHOICES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Stack &amp; rationale</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816454" y="2120494"/>
            <a:ext cx="16664816" cy="7769895"/>
            <a:chOff x="0" y="0"/>
            <a:chExt cx="22219755" cy="10359860"/>
          </a:xfrm>
        </p:grpSpPr>
        <p:sp>
          <p:nvSpPr>
            <p:cNvPr name="Freeform 7" id="7"/>
            <p:cNvSpPr/>
            <p:nvPr/>
          </p:nvSpPr>
          <p:spPr>
            <a:xfrm flipH="false" flipV="false" rot="0">
              <a:off x="9525" y="9525"/>
              <a:ext cx="22200743" cy="10340848"/>
            </a:xfrm>
            <a:custGeom>
              <a:avLst/>
              <a:gdLst/>
              <a:ahLst/>
              <a:cxnLst/>
              <a:rect r="r" b="b" t="t" l="l"/>
              <a:pathLst>
                <a:path h="10340848" w="22200743">
                  <a:moveTo>
                    <a:pt x="0" y="0"/>
                  </a:moveTo>
                  <a:lnTo>
                    <a:pt x="22200743" y="0"/>
                  </a:lnTo>
                  <a:lnTo>
                    <a:pt x="22200743" y="10340848"/>
                  </a:lnTo>
                  <a:lnTo>
                    <a:pt x="0" y="10340848"/>
                  </a:lnTo>
                  <a:close/>
                </a:path>
              </a:pathLst>
            </a:custGeom>
            <a:solidFill>
              <a:srgbClr val="FFFFFF"/>
            </a:solidFill>
          </p:spPr>
        </p:sp>
        <p:sp>
          <p:nvSpPr>
            <p:cNvPr name="Freeform 8" id="8"/>
            <p:cNvSpPr/>
            <p:nvPr/>
          </p:nvSpPr>
          <p:spPr>
            <a:xfrm flipH="false" flipV="false" rot="0">
              <a:off x="0" y="0"/>
              <a:ext cx="22219793" cy="10359898"/>
            </a:xfrm>
            <a:custGeom>
              <a:avLst/>
              <a:gdLst/>
              <a:ahLst/>
              <a:cxnLst/>
              <a:rect r="r" b="b" t="t" l="l"/>
              <a:pathLst>
                <a:path h="10359898" w="22219793">
                  <a:moveTo>
                    <a:pt x="9525" y="0"/>
                  </a:moveTo>
                  <a:lnTo>
                    <a:pt x="22210268" y="0"/>
                  </a:lnTo>
                  <a:cubicBezTo>
                    <a:pt x="22215475" y="0"/>
                    <a:pt x="22219793" y="4318"/>
                    <a:pt x="22219793" y="9525"/>
                  </a:cubicBezTo>
                  <a:lnTo>
                    <a:pt x="22219793" y="10350373"/>
                  </a:lnTo>
                  <a:cubicBezTo>
                    <a:pt x="22219793" y="10355580"/>
                    <a:pt x="22215475" y="10359898"/>
                    <a:pt x="22210268" y="10359898"/>
                  </a:cubicBezTo>
                  <a:lnTo>
                    <a:pt x="9525" y="10359898"/>
                  </a:lnTo>
                  <a:cubicBezTo>
                    <a:pt x="4318" y="10359898"/>
                    <a:pt x="0" y="10355580"/>
                    <a:pt x="0" y="10350373"/>
                  </a:cubicBezTo>
                  <a:lnTo>
                    <a:pt x="0" y="9525"/>
                  </a:lnTo>
                  <a:cubicBezTo>
                    <a:pt x="0" y="4318"/>
                    <a:pt x="4318" y="0"/>
                    <a:pt x="9525" y="0"/>
                  </a:cubicBezTo>
                  <a:moveTo>
                    <a:pt x="9525" y="19050"/>
                  </a:moveTo>
                  <a:lnTo>
                    <a:pt x="9525" y="9525"/>
                  </a:lnTo>
                  <a:lnTo>
                    <a:pt x="19050" y="9525"/>
                  </a:lnTo>
                  <a:lnTo>
                    <a:pt x="19050" y="10350373"/>
                  </a:lnTo>
                  <a:lnTo>
                    <a:pt x="9525" y="10350373"/>
                  </a:lnTo>
                  <a:lnTo>
                    <a:pt x="9525" y="10340848"/>
                  </a:lnTo>
                  <a:lnTo>
                    <a:pt x="22210268" y="10340848"/>
                  </a:lnTo>
                  <a:lnTo>
                    <a:pt x="22210268" y="10350373"/>
                  </a:lnTo>
                  <a:lnTo>
                    <a:pt x="22200743" y="10350373"/>
                  </a:lnTo>
                  <a:lnTo>
                    <a:pt x="22200743" y="9525"/>
                  </a:lnTo>
                  <a:lnTo>
                    <a:pt x="22210268" y="9525"/>
                  </a:lnTo>
                  <a:lnTo>
                    <a:pt x="22210268" y="19050"/>
                  </a:lnTo>
                  <a:lnTo>
                    <a:pt x="9525" y="19050"/>
                  </a:lnTo>
                  <a:close/>
                </a:path>
              </a:pathLst>
            </a:custGeom>
            <a:solidFill>
              <a:srgbClr val="FFFFFF"/>
            </a:solidFill>
          </p:spPr>
        </p:sp>
      </p:grpSp>
      <p:sp>
        <p:nvSpPr>
          <p:cNvPr name="TextBox 9" id="9"/>
          <p:cNvSpPr txBox="true"/>
          <p:nvPr/>
        </p:nvSpPr>
        <p:spPr>
          <a:xfrm rot="0">
            <a:off x="1120940" y="2350684"/>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PDF extraction</a:t>
            </a:r>
          </a:p>
        </p:txBody>
      </p:sp>
      <p:sp>
        <p:nvSpPr>
          <p:cNvPr name="TextBox 10" id="10"/>
          <p:cNvSpPr txBox="true"/>
          <p:nvPr/>
        </p:nvSpPr>
        <p:spPr>
          <a:xfrm rot="0">
            <a:off x="4003558" y="2350684"/>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PyMuPDF</a:t>
            </a:r>
          </a:p>
        </p:txBody>
      </p:sp>
      <p:sp>
        <p:nvSpPr>
          <p:cNvPr name="TextBox 11" id="11"/>
          <p:cNvSpPr txBox="true"/>
          <p:nvPr/>
        </p:nvSpPr>
        <p:spPr>
          <a:xfrm rot="0">
            <a:off x="7160704" y="2350684"/>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Gemini extraction silently truncates at 65 K output tokens — a 100-page PDF returned 6 chunks. PyMuPDF has no output limit.</a:t>
            </a:r>
          </a:p>
        </p:txBody>
      </p:sp>
      <p:sp>
        <p:nvSpPr>
          <p:cNvPr name="TextBox 12" id="12"/>
          <p:cNvSpPr txBox="true"/>
          <p:nvPr/>
        </p:nvSpPr>
        <p:spPr>
          <a:xfrm rot="0">
            <a:off x="1120940" y="3339008"/>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Token counting</a:t>
            </a:r>
          </a:p>
        </p:txBody>
      </p:sp>
      <p:sp>
        <p:nvSpPr>
          <p:cNvPr name="TextBox 13" id="13"/>
          <p:cNvSpPr txBox="true"/>
          <p:nvPr/>
        </p:nvSpPr>
        <p:spPr>
          <a:xfrm rot="0">
            <a:off x="4003558" y="3339008"/>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tiktoken cl100k_base</a:t>
            </a:r>
          </a:p>
        </p:txBody>
      </p:sp>
      <p:sp>
        <p:nvSpPr>
          <p:cNvPr name="TextBox 14" id="14"/>
          <p:cNvSpPr txBox="true"/>
          <p:nvPr/>
        </p:nvSpPr>
        <p:spPr>
          <a:xfrm rot="0">
            <a:off x="7160704" y="3339008"/>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Same encoding the chunker uses — no unit mismatch. Character counts are unreliable across document types.</a:t>
            </a:r>
          </a:p>
        </p:txBody>
      </p:sp>
      <p:sp>
        <p:nvSpPr>
          <p:cNvPr name="TextBox 15" id="15"/>
          <p:cNvSpPr txBox="true"/>
          <p:nvPr/>
        </p:nvSpPr>
        <p:spPr>
          <a:xfrm rot="0">
            <a:off x="1120940" y="4327341"/>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Embeddings</a:t>
            </a:r>
          </a:p>
        </p:txBody>
      </p:sp>
      <p:sp>
        <p:nvSpPr>
          <p:cNvPr name="TextBox 16" id="16"/>
          <p:cNvSpPr txBox="true"/>
          <p:nvPr/>
        </p:nvSpPr>
        <p:spPr>
          <a:xfrm rot="0">
            <a:off x="4003558" y="4327341"/>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gemini-embedding-2</a:t>
            </a:r>
          </a:p>
        </p:txBody>
      </p:sp>
      <p:sp>
        <p:nvSpPr>
          <p:cNvPr name="TextBox 17" id="17"/>
          <p:cNvSpPr txBox="true"/>
          <p:nvPr/>
        </p:nvSpPr>
        <p:spPr>
          <a:xfrm rot="0">
            <a:off x="7160704" y="4327341"/>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Separate RETRIEVAL_DOCUMENT / RETRIEVAL_QUERY task types improve accuracy over symmetric embeddings.</a:t>
            </a:r>
          </a:p>
        </p:txBody>
      </p:sp>
      <p:sp>
        <p:nvSpPr>
          <p:cNvPr name="TextBox 18" id="18"/>
          <p:cNvSpPr txBox="true"/>
          <p:nvPr/>
        </p:nvSpPr>
        <p:spPr>
          <a:xfrm rot="0">
            <a:off x="1120940" y="5315664"/>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Vector store</a:t>
            </a:r>
          </a:p>
        </p:txBody>
      </p:sp>
      <p:sp>
        <p:nvSpPr>
          <p:cNvPr name="TextBox 19" id="19"/>
          <p:cNvSpPr txBox="true"/>
          <p:nvPr/>
        </p:nvSpPr>
        <p:spPr>
          <a:xfrm rot="0">
            <a:off x="4003558" y="5315664"/>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Postgres + pgvector</a:t>
            </a:r>
          </a:p>
        </p:txBody>
      </p:sp>
      <p:sp>
        <p:nvSpPr>
          <p:cNvPr name="TextBox 20" id="20"/>
          <p:cNvSpPr txBox="true"/>
          <p:nvPr/>
        </p:nvSpPr>
        <p:spPr>
          <a:xfrm rot="0">
            <a:off x="7160704" y="5315664"/>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HNSW needs no pre-training. One service handles relational + vector + full-text search. No extra infra.</a:t>
            </a:r>
          </a:p>
        </p:txBody>
      </p:sp>
      <p:sp>
        <p:nvSpPr>
          <p:cNvPr name="TextBox 21" id="21"/>
          <p:cNvSpPr txBox="true"/>
          <p:nvPr/>
        </p:nvSpPr>
        <p:spPr>
          <a:xfrm rot="0">
            <a:off x="1120940" y="6303988"/>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DB driver</a:t>
            </a:r>
          </a:p>
        </p:txBody>
      </p:sp>
      <p:sp>
        <p:nvSpPr>
          <p:cNvPr name="TextBox 22" id="22"/>
          <p:cNvSpPr txBox="true"/>
          <p:nvPr/>
        </p:nvSpPr>
        <p:spPr>
          <a:xfrm rot="0">
            <a:off x="4003558" y="6303988"/>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asyncpg</a:t>
            </a:r>
          </a:p>
        </p:txBody>
      </p:sp>
      <p:sp>
        <p:nvSpPr>
          <p:cNvPr name="TextBox 23" id="23"/>
          <p:cNvSpPr txBox="true"/>
          <p:nvPr/>
        </p:nvSpPr>
        <p:spPr>
          <a:xfrm rot="0">
            <a:off x="7160704" y="6303988"/>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Binary wire protocol — lower latency than psycopg. No ORM overhead for a minimal schema.</a:t>
            </a:r>
          </a:p>
        </p:txBody>
      </p:sp>
      <p:sp>
        <p:nvSpPr>
          <p:cNvPr name="TextBox 24" id="24"/>
          <p:cNvSpPr txBox="true"/>
          <p:nvPr/>
        </p:nvSpPr>
        <p:spPr>
          <a:xfrm rot="0">
            <a:off x="1120940" y="7292311"/>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Generation</a:t>
            </a:r>
          </a:p>
        </p:txBody>
      </p:sp>
      <p:sp>
        <p:nvSpPr>
          <p:cNvPr name="TextBox 25" id="25"/>
          <p:cNvSpPr txBox="true"/>
          <p:nvPr/>
        </p:nvSpPr>
        <p:spPr>
          <a:xfrm rot="0">
            <a:off x="4003558" y="7292311"/>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Gemini 2.5 Flash</a:t>
            </a:r>
          </a:p>
        </p:txBody>
      </p:sp>
      <p:sp>
        <p:nvSpPr>
          <p:cNvPr name="TextBox 26" id="26"/>
          <p:cNvSpPr txBox="true"/>
          <p:nvPr/>
        </p:nvSpPr>
        <p:spPr>
          <a:xfrm rot="0">
            <a:off x="7160704" y="7292311"/>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Fast, cost-effective, streamed output via SSE for a responsive UX. Also used for re-ranking.</a:t>
            </a:r>
          </a:p>
        </p:txBody>
      </p:sp>
      <p:sp>
        <p:nvSpPr>
          <p:cNvPr name="TextBox 27" id="27"/>
          <p:cNvSpPr txBox="true"/>
          <p:nvPr/>
        </p:nvSpPr>
        <p:spPr>
          <a:xfrm rot="0">
            <a:off x="1120940" y="8280635"/>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Frontend</a:t>
            </a:r>
          </a:p>
        </p:txBody>
      </p:sp>
      <p:sp>
        <p:nvSpPr>
          <p:cNvPr name="TextBox 28" id="28"/>
          <p:cNvSpPr txBox="true"/>
          <p:nvPr/>
        </p:nvSpPr>
        <p:spPr>
          <a:xfrm rot="0">
            <a:off x="4003558" y="8280635"/>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Single HTML file</a:t>
            </a:r>
          </a:p>
        </p:txBody>
      </p:sp>
      <p:sp>
        <p:nvSpPr>
          <p:cNvPr name="TextBox 29" id="29"/>
          <p:cNvSpPr txBox="true"/>
          <p:nvPr/>
        </p:nvSpPr>
        <p:spPr>
          <a:xfrm rot="0">
            <a:off x="7160704" y="8280635"/>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No build tools, no Node.js. Served by FastAPI — one uvicorn command to run everything.</a:t>
            </a:r>
          </a:p>
        </p:txBody>
      </p:sp>
    </p:spTree>
  </p:cSld>
  <p:clrMapOvr>
    <a:masterClrMapping/>
  </p:clrMapOvr>
</p:sld>
</file>

<file path=ppt/slides/slide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ENGINEERING CHOICES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Key design decisions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189131"/>
            <a:ext cx="8387601" cy="3034179"/>
            <a:chOff x="0" y="0"/>
            <a:chExt cx="11183468" cy="4045572"/>
          </a:xfrm>
        </p:grpSpPr>
        <p:sp>
          <p:nvSpPr>
            <p:cNvPr name="Freeform 7" id="7"/>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8" id="8"/>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9" id="9"/>
          <p:cNvGrpSpPr/>
          <p:nvPr/>
        </p:nvGrpSpPr>
        <p:grpSpPr>
          <a:xfrm rot="0">
            <a:off x="411804" y="2196274"/>
            <a:ext cx="76257" cy="3019882"/>
            <a:chOff x="0" y="0"/>
            <a:chExt cx="101676" cy="4026510"/>
          </a:xfrm>
        </p:grpSpPr>
        <p:sp>
          <p:nvSpPr>
            <p:cNvPr name="Freeform 10" id="10"/>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7C3AED"/>
            </a:solidFill>
          </p:spPr>
        </p:sp>
      </p:grpSp>
      <p:sp>
        <p:nvSpPr>
          <p:cNvPr name="TextBox 11" id="11"/>
          <p:cNvSpPr txBox="true"/>
          <p:nvPr/>
        </p:nvSpPr>
        <p:spPr>
          <a:xfrm rot="0">
            <a:off x="777773" y="2468909"/>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Concurrent embedding with retry</a:t>
            </a:r>
          </a:p>
        </p:txBody>
      </p:sp>
      <p:sp>
        <p:nvSpPr>
          <p:cNvPr name="TextBox 12" id="12"/>
          <p:cNvSpPr txBox="true"/>
          <p:nvPr/>
        </p:nvSpPr>
        <p:spPr>
          <a:xfrm rot="0">
            <a:off x="777773" y="3096130"/>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All chunks embedded via asyncio.gather — no serial bottleneck. 429/503 errors retry with exponential backoff (2 → 64 s). Non-retryable errors surface immediately.</a:t>
            </a:r>
          </a:p>
        </p:txBody>
      </p:sp>
      <p:grpSp>
        <p:nvGrpSpPr>
          <p:cNvPr name="Group 13" id="13"/>
          <p:cNvGrpSpPr/>
          <p:nvPr/>
        </p:nvGrpSpPr>
        <p:grpSpPr>
          <a:xfrm rot="0">
            <a:off x="9230935" y="2189131"/>
            <a:ext cx="8387601" cy="3034179"/>
            <a:chOff x="0" y="0"/>
            <a:chExt cx="11183468" cy="4045572"/>
          </a:xfrm>
        </p:grpSpPr>
        <p:sp>
          <p:nvSpPr>
            <p:cNvPr name="Freeform 14" id="14"/>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15" id="15"/>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16" id="16"/>
          <p:cNvGrpSpPr/>
          <p:nvPr/>
        </p:nvGrpSpPr>
        <p:grpSpPr>
          <a:xfrm rot="0">
            <a:off x="9238088" y="2196274"/>
            <a:ext cx="76257" cy="3019882"/>
            <a:chOff x="0" y="0"/>
            <a:chExt cx="101676" cy="4026510"/>
          </a:xfrm>
        </p:grpSpPr>
        <p:sp>
          <p:nvSpPr>
            <p:cNvPr name="Freeform 17" id="17"/>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059669"/>
            </a:solidFill>
          </p:spPr>
        </p:sp>
      </p:grpSp>
      <p:sp>
        <p:nvSpPr>
          <p:cNvPr name="TextBox 18" id="18"/>
          <p:cNvSpPr txBox="true"/>
          <p:nvPr/>
        </p:nvSpPr>
        <p:spPr>
          <a:xfrm rot="0">
            <a:off x="9604057" y="2468909"/>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State survives restarts</a:t>
            </a:r>
          </a:p>
        </p:txBody>
      </p:sp>
      <p:sp>
        <p:nvSpPr>
          <p:cNvPr name="TextBox 19" id="19"/>
          <p:cNvSpPr txBox="true"/>
          <p:nvPr/>
        </p:nvSpPr>
        <p:spPr>
          <a:xfrm rot="0">
            <a:off x="9604057" y="3096130"/>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doc_meta table stores doc_id, chunk_count, and k. FastAPI lifespan hook restores all three on startup — no re-upload needed after a server bounce.</a:t>
            </a:r>
          </a:p>
        </p:txBody>
      </p:sp>
      <p:grpSp>
        <p:nvGrpSpPr>
          <p:cNvPr name="Group 20" id="20"/>
          <p:cNvGrpSpPr/>
          <p:nvPr/>
        </p:nvGrpSpPr>
        <p:grpSpPr>
          <a:xfrm rot="0">
            <a:off x="404651" y="5620807"/>
            <a:ext cx="8387601" cy="3034179"/>
            <a:chOff x="0" y="0"/>
            <a:chExt cx="11183468" cy="4045572"/>
          </a:xfrm>
        </p:grpSpPr>
        <p:sp>
          <p:nvSpPr>
            <p:cNvPr name="Freeform 21" id="21"/>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22" id="22"/>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23" id="23"/>
          <p:cNvGrpSpPr/>
          <p:nvPr/>
        </p:nvGrpSpPr>
        <p:grpSpPr>
          <a:xfrm rot="0">
            <a:off x="411804" y="5627951"/>
            <a:ext cx="76257" cy="3019882"/>
            <a:chOff x="0" y="0"/>
            <a:chExt cx="101676" cy="4026510"/>
          </a:xfrm>
        </p:grpSpPr>
        <p:sp>
          <p:nvSpPr>
            <p:cNvPr name="Freeform 24" id="24"/>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A78BFA"/>
            </a:solidFill>
          </p:spPr>
        </p:sp>
      </p:grpSp>
      <p:sp>
        <p:nvSpPr>
          <p:cNvPr name="TextBox 25" id="25"/>
          <p:cNvSpPr txBox="true"/>
          <p:nvPr/>
        </p:nvSpPr>
        <p:spPr>
          <a:xfrm rot="0">
            <a:off x="777773" y="5900585"/>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Sentence-boundary overlap</a:t>
            </a:r>
          </a:p>
        </p:txBody>
      </p:sp>
      <p:sp>
        <p:nvSpPr>
          <p:cNvPr name="TextBox 26" id="26"/>
          <p:cNvSpPr txBox="true"/>
          <p:nvPr/>
        </p:nvSpPr>
        <p:spPr>
          <a:xfrm rot="0">
            <a:off x="777773" y="6527816"/>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Each chunk seeds itself with the last 64 tokens of the previous chunk. Prevents context loss when an argument spans a chunk boundary.</a:t>
            </a:r>
          </a:p>
        </p:txBody>
      </p:sp>
      <p:grpSp>
        <p:nvGrpSpPr>
          <p:cNvPr name="Group 27" id="27"/>
          <p:cNvGrpSpPr/>
          <p:nvPr/>
        </p:nvGrpSpPr>
        <p:grpSpPr>
          <a:xfrm rot="0">
            <a:off x="9230935" y="5620807"/>
            <a:ext cx="8387601" cy="3034179"/>
            <a:chOff x="0" y="0"/>
            <a:chExt cx="11183468" cy="4045572"/>
          </a:xfrm>
        </p:grpSpPr>
        <p:sp>
          <p:nvSpPr>
            <p:cNvPr name="Freeform 28" id="28"/>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29" id="29"/>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30" id="30"/>
          <p:cNvGrpSpPr/>
          <p:nvPr/>
        </p:nvGrpSpPr>
        <p:grpSpPr>
          <a:xfrm rot="0">
            <a:off x="9238088" y="5627951"/>
            <a:ext cx="76257" cy="3019882"/>
            <a:chOff x="0" y="0"/>
            <a:chExt cx="101676" cy="4026510"/>
          </a:xfrm>
        </p:grpSpPr>
        <p:sp>
          <p:nvSpPr>
            <p:cNvPr name="Freeform 31" id="31"/>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F97316"/>
            </a:solidFill>
          </p:spPr>
        </p:sp>
      </p:grpSp>
      <p:sp>
        <p:nvSpPr>
          <p:cNvPr name="TextBox 32" id="32"/>
          <p:cNvSpPr txBox="true"/>
          <p:nvPr/>
        </p:nvSpPr>
        <p:spPr>
          <a:xfrm rot="0">
            <a:off x="9604057" y="5900585"/>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Server-Sent Events streaming</a:t>
            </a:r>
          </a:p>
        </p:txBody>
      </p:sp>
      <p:sp>
        <p:nvSpPr>
          <p:cNvPr name="TextBox 33" id="33"/>
          <p:cNvSpPr txBox="true"/>
          <p:nvPr/>
        </p:nvSpPr>
        <p:spPr>
          <a:xfrm rot="0">
            <a:off x="9604057" y="6527816"/>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Ingest progress (extracting → chunking → embedding → done) and answer tokens both stream via SSE. No polling, no page reload — real-time updates throughout.</a:t>
            </a:r>
          </a:p>
        </p:txBody>
      </p:sp>
    </p:spTree>
  </p:cSld>
  <p:clrMapOvr>
    <a:masterClrMapping/>
  </p:clrMapOvr>
</p:sld>
</file>

<file path=ppt/slides/slide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ADDITIONAL FEATURES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Retrieval quality improvements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404651" y="2189131"/>
            <a:ext cx="5299091" cy="3445983"/>
            <a:chOff x="0" y="0"/>
            <a:chExt cx="7065454" cy="4594644"/>
          </a:xfrm>
        </p:grpSpPr>
        <p:sp>
          <p:nvSpPr>
            <p:cNvPr name="Freeform 7" id="7"/>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8" id="8"/>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9" id="9"/>
          <p:cNvGrpSpPr/>
          <p:nvPr/>
        </p:nvGrpSpPr>
        <p:grpSpPr>
          <a:xfrm rot="0">
            <a:off x="411804" y="2196274"/>
            <a:ext cx="5284784" cy="57198"/>
            <a:chOff x="0" y="0"/>
            <a:chExt cx="7046379" cy="76264"/>
          </a:xfrm>
        </p:grpSpPr>
        <p:sp>
          <p:nvSpPr>
            <p:cNvPr name="Freeform 10" id="10"/>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7C3AED"/>
            </a:solidFill>
          </p:spPr>
        </p:sp>
      </p:grpSp>
      <p:sp>
        <p:nvSpPr>
          <p:cNvPr name="TextBox 11" id="11"/>
          <p:cNvSpPr txBox="true"/>
          <p:nvPr/>
        </p:nvSpPr>
        <p:spPr>
          <a:xfrm rot="0">
            <a:off x="709146"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Hybrid Search (BM25 + Vector)</a:t>
            </a:r>
          </a:p>
        </p:txBody>
      </p:sp>
      <p:sp>
        <p:nvSpPr>
          <p:cNvPr name="TextBox 12" id="12"/>
          <p:cNvSpPr txBox="true"/>
          <p:nvPr/>
        </p:nvSpPr>
        <p:spPr>
          <a:xfrm rot="0">
            <a:off x="709146"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pgvector cosine similarity fused with Postgres tsvector BM25 via Reciprocal Rank Fusion (k=60). Dense retrieval catches semantic matches; BM25 catches exact keyword matches. Zero new infrastructure — Postgres handles both. Generated tsv column with GIN index.</a:t>
            </a:r>
          </a:p>
        </p:txBody>
      </p:sp>
      <p:grpSp>
        <p:nvGrpSpPr>
          <p:cNvPr name="Group 13" id="13"/>
          <p:cNvGrpSpPr/>
          <p:nvPr/>
        </p:nvGrpSpPr>
        <p:grpSpPr>
          <a:xfrm rot="0">
            <a:off x="6101239" y="2189131"/>
            <a:ext cx="5299091" cy="3445983"/>
            <a:chOff x="0" y="0"/>
            <a:chExt cx="7065454" cy="4594644"/>
          </a:xfrm>
        </p:grpSpPr>
        <p:sp>
          <p:nvSpPr>
            <p:cNvPr name="Freeform 14" id="14"/>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15" id="15"/>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16" id="16"/>
          <p:cNvGrpSpPr/>
          <p:nvPr/>
        </p:nvGrpSpPr>
        <p:grpSpPr>
          <a:xfrm rot="0">
            <a:off x="6108392" y="2196274"/>
            <a:ext cx="5284784" cy="57198"/>
            <a:chOff x="0" y="0"/>
            <a:chExt cx="7046379" cy="76264"/>
          </a:xfrm>
        </p:grpSpPr>
        <p:sp>
          <p:nvSpPr>
            <p:cNvPr name="Freeform 17" id="17"/>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059669"/>
            </a:solidFill>
          </p:spPr>
        </p:sp>
      </p:grpSp>
      <p:sp>
        <p:nvSpPr>
          <p:cNvPr name="TextBox 18" id="18"/>
          <p:cNvSpPr txBox="true"/>
          <p:nvPr/>
        </p:nvSpPr>
        <p:spPr>
          <a:xfrm rot="0">
            <a:off x="6405734"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Multimodal Image Retrieval</a:t>
            </a:r>
          </a:p>
        </p:txBody>
      </p:sp>
      <p:sp>
        <p:nvSpPr>
          <p:cNvPr name="TextBox 19" id="19"/>
          <p:cNvSpPr txBox="true"/>
          <p:nvPr/>
        </p:nvSpPr>
        <p:spPr>
          <a:xfrm rot="0">
            <a:off x="6405734"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Opt-in at upload: extract embedded images with PyMuPDF, caption each with Gemini Vision (downsized + bounded concurrency), embed captions into the same hybrid space, and store image bytes in BYTEA. At answer time, image chunks are passed as multimodal Parts so Gemini reasons over the picture itself. Bold painting/figure names in the answer become clickable hyperlinks via fuzzy match against caption + adjacent page text.</a:t>
            </a:r>
          </a:p>
        </p:txBody>
      </p:sp>
      <p:grpSp>
        <p:nvGrpSpPr>
          <p:cNvPr name="Group 20" id="20"/>
          <p:cNvGrpSpPr/>
          <p:nvPr/>
        </p:nvGrpSpPr>
        <p:grpSpPr>
          <a:xfrm rot="0">
            <a:off x="11797836" y="2189131"/>
            <a:ext cx="5299091" cy="3445983"/>
            <a:chOff x="0" y="0"/>
            <a:chExt cx="7065454" cy="4594644"/>
          </a:xfrm>
        </p:grpSpPr>
        <p:sp>
          <p:nvSpPr>
            <p:cNvPr name="Freeform 21" id="21"/>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22" id="22"/>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23" id="23"/>
          <p:cNvGrpSpPr/>
          <p:nvPr/>
        </p:nvGrpSpPr>
        <p:grpSpPr>
          <a:xfrm rot="0">
            <a:off x="11804980" y="2196274"/>
            <a:ext cx="5284784" cy="57198"/>
            <a:chOff x="0" y="0"/>
            <a:chExt cx="7046379" cy="76264"/>
          </a:xfrm>
        </p:grpSpPr>
        <p:sp>
          <p:nvSpPr>
            <p:cNvPr name="Freeform 24" id="24"/>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A78BFA"/>
            </a:solidFill>
          </p:spPr>
        </p:sp>
      </p:grpSp>
      <p:sp>
        <p:nvSpPr>
          <p:cNvPr name="TextBox 25" id="25"/>
          <p:cNvSpPr txBox="true"/>
          <p:nvPr/>
        </p:nvSpPr>
        <p:spPr>
          <a:xfrm rot="0">
            <a:off x="12102322"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Parent-Child Chunking</a:t>
            </a:r>
          </a:p>
        </p:txBody>
      </p:sp>
      <p:sp>
        <p:nvSpPr>
          <p:cNvPr name="TextBox 26" id="26"/>
          <p:cNvSpPr txBox="true"/>
          <p:nvPr/>
        </p:nvSpPr>
        <p:spPr>
          <a:xfrm rot="0">
            <a:off x="12102322"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Small chunks (precise retrieval) are embedded and retrieved. Each chunk also stores its adjacent-window text (prev + self + next chunk) as parent_text. The LLM receives the wider context; citations show only the precise matched chunk.</a:t>
            </a:r>
          </a:p>
        </p:txBody>
      </p:sp>
      <p:grpSp>
        <p:nvGrpSpPr>
          <p:cNvPr name="Group 27" id="27"/>
          <p:cNvGrpSpPr/>
          <p:nvPr/>
        </p:nvGrpSpPr>
        <p:grpSpPr>
          <a:xfrm rot="0">
            <a:off x="3218631" y="5895346"/>
            <a:ext cx="6191326" cy="3720513"/>
            <a:chOff x="0" y="0"/>
            <a:chExt cx="8255102" cy="4960684"/>
          </a:xfrm>
        </p:grpSpPr>
        <p:sp>
          <p:nvSpPr>
            <p:cNvPr name="Freeform 28" id="28"/>
            <p:cNvSpPr/>
            <p:nvPr/>
          </p:nvSpPr>
          <p:spPr>
            <a:xfrm flipH="false" flipV="false" rot="0">
              <a:off x="9525" y="9525"/>
              <a:ext cx="8236077" cy="4941570"/>
            </a:xfrm>
            <a:custGeom>
              <a:avLst/>
              <a:gdLst/>
              <a:ahLst/>
              <a:cxnLst/>
              <a:rect r="r" b="b" t="t" l="l"/>
              <a:pathLst>
                <a:path h="4941570" w="8236077">
                  <a:moveTo>
                    <a:pt x="0" y="0"/>
                  </a:moveTo>
                  <a:lnTo>
                    <a:pt x="8236077" y="0"/>
                  </a:lnTo>
                  <a:lnTo>
                    <a:pt x="8236077" y="4941570"/>
                  </a:lnTo>
                  <a:lnTo>
                    <a:pt x="0" y="4941570"/>
                  </a:lnTo>
                  <a:close/>
                </a:path>
              </a:pathLst>
            </a:custGeom>
            <a:solidFill>
              <a:srgbClr val="FFFFFF"/>
            </a:solidFill>
          </p:spPr>
        </p:sp>
        <p:sp>
          <p:nvSpPr>
            <p:cNvPr name="Freeform 29" id="29"/>
            <p:cNvSpPr/>
            <p:nvPr/>
          </p:nvSpPr>
          <p:spPr>
            <a:xfrm flipH="false" flipV="false" rot="0">
              <a:off x="0" y="0"/>
              <a:ext cx="8255127" cy="4960620"/>
            </a:xfrm>
            <a:custGeom>
              <a:avLst/>
              <a:gdLst/>
              <a:ahLst/>
              <a:cxnLst/>
              <a:rect r="r" b="b" t="t" l="l"/>
              <a:pathLst>
                <a:path h="4960620" w="8255127">
                  <a:moveTo>
                    <a:pt x="9525" y="0"/>
                  </a:moveTo>
                  <a:lnTo>
                    <a:pt x="8245602" y="0"/>
                  </a:lnTo>
                  <a:cubicBezTo>
                    <a:pt x="8250809" y="0"/>
                    <a:pt x="8255127" y="4318"/>
                    <a:pt x="8255127" y="9525"/>
                  </a:cubicBezTo>
                  <a:lnTo>
                    <a:pt x="8255127" y="4951095"/>
                  </a:lnTo>
                  <a:cubicBezTo>
                    <a:pt x="8255127" y="4956302"/>
                    <a:pt x="8250809" y="4960620"/>
                    <a:pt x="8245602" y="4960620"/>
                  </a:cubicBezTo>
                  <a:lnTo>
                    <a:pt x="9525" y="4960620"/>
                  </a:lnTo>
                  <a:cubicBezTo>
                    <a:pt x="4318" y="4960620"/>
                    <a:pt x="0" y="4956302"/>
                    <a:pt x="0" y="4951095"/>
                  </a:cubicBezTo>
                  <a:lnTo>
                    <a:pt x="0" y="9525"/>
                  </a:lnTo>
                  <a:cubicBezTo>
                    <a:pt x="0" y="4318"/>
                    <a:pt x="4318" y="0"/>
                    <a:pt x="9525" y="0"/>
                  </a:cubicBezTo>
                  <a:moveTo>
                    <a:pt x="9525" y="19050"/>
                  </a:moveTo>
                  <a:lnTo>
                    <a:pt x="9525" y="9525"/>
                  </a:lnTo>
                  <a:lnTo>
                    <a:pt x="19050" y="9525"/>
                  </a:lnTo>
                  <a:lnTo>
                    <a:pt x="19050" y="4951095"/>
                  </a:lnTo>
                  <a:lnTo>
                    <a:pt x="9525" y="4951095"/>
                  </a:lnTo>
                  <a:lnTo>
                    <a:pt x="9525" y="4941570"/>
                  </a:lnTo>
                  <a:lnTo>
                    <a:pt x="8245602" y="4941570"/>
                  </a:lnTo>
                  <a:lnTo>
                    <a:pt x="8245602" y="4951095"/>
                  </a:lnTo>
                  <a:lnTo>
                    <a:pt x="8236077" y="4951095"/>
                  </a:lnTo>
                  <a:lnTo>
                    <a:pt x="8236077" y="9525"/>
                  </a:lnTo>
                  <a:lnTo>
                    <a:pt x="8245602" y="9525"/>
                  </a:lnTo>
                  <a:lnTo>
                    <a:pt x="8245602" y="19050"/>
                  </a:lnTo>
                  <a:lnTo>
                    <a:pt x="9525" y="19050"/>
                  </a:lnTo>
                  <a:close/>
                </a:path>
              </a:pathLst>
            </a:custGeom>
            <a:solidFill>
              <a:srgbClr val="FFFFFF"/>
            </a:solidFill>
          </p:spPr>
        </p:sp>
      </p:grpSp>
      <p:grpSp>
        <p:nvGrpSpPr>
          <p:cNvPr name="Group 30" id="30"/>
          <p:cNvGrpSpPr/>
          <p:nvPr/>
        </p:nvGrpSpPr>
        <p:grpSpPr>
          <a:xfrm rot="0">
            <a:off x="3225784" y="5902490"/>
            <a:ext cx="6177029" cy="57198"/>
            <a:chOff x="0" y="0"/>
            <a:chExt cx="8236039" cy="76264"/>
          </a:xfrm>
        </p:grpSpPr>
        <p:sp>
          <p:nvSpPr>
            <p:cNvPr name="Freeform 31" id="31"/>
            <p:cNvSpPr/>
            <p:nvPr/>
          </p:nvSpPr>
          <p:spPr>
            <a:xfrm flipH="false" flipV="false" rot="0">
              <a:off x="0" y="0"/>
              <a:ext cx="8236077" cy="76200"/>
            </a:xfrm>
            <a:custGeom>
              <a:avLst/>
              <a:gdLst/>
              <a:ahLst/>
              <a:cxnLst/>
              <a:rect r="r" b="b" t="t" l="l"/>
              <a:pathLst>
                <a:path h="76200" w="8236077">
                  <a:moveTo>
                    <a:pt x="0" y="0"/>
                  </a:moveTo>
                  <a:lnTo>
                    <a:pt x="8236077" y="0"/>
                  </a:lnTo>
                  <a:lnTo>
                    <a:pt x="8236077" y="76200"/>
                  </a:lnTo>
                  <a:lnTo>
                    <a:pt x="0" y="76200"/>
                  </a:lnTo>
                  <a:close/>
                </a:path>
              </a:pathLst>
            </a:custGeom>
            <a:solidFill>
              <a:srgbClr val="F97316"/>
            </a:solidFill>
          </p:spPr>
        </p:sp>
      </p:grpSp>
      <p:sp>
        <p:nvSpPr>
          <p:cNvPr name="TextBox 32" id="32"/>
          <p:cNvSpPr txBox="true"/>
          <p:nvPr/>
        </p:nvSpPr>
        <p:spPr>
          <a:xfrm rot="0">
            <a:off x="3523117" y="6074835"/>
            <a:ext cx="5582345"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Duplicate Upload Detection</a:t>
            </a:r>
          </a:p>
        </p:txBody>
      </p:sp>
      <p:sp>
        <p:nvSpPr>
          <p:cNvPr name="TextBox 33" id="33"/>
          <p:cNvSpPr txBox="true"/>
          <p:nvPr/>
        </p:nvSpPr>
        <p:spPr>
          <a:xfrm rot="0">
            <a:off x="3523117" y="6665081"/>
            <a:ext cx="5582345" cy="2692003"/>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doc_id is a SHA-256 hash of the PDF bytes. On upload, doc_exists() checks doc_meta before extraction begins. Identical file re-uploads skip PyMuPDF, tiktoken, all Gemini embedding calls, and DB writes — instant load from cache.</a:t>
            </a:r>
          </a:p>
        </p:txBody>
      </p:sp>
      <p:grpSp>
        <p:nvGrpSpPr>
          <p:cNvPr name="Group 34" id="34"/>
          <p:cNvGrpSpPr/>
          <p:nvPr/>
        </p:nvGrpSpPr>
        <p:grpSpPr>
          <a:xfrm rot="0">
            <a:off x="8915219" y="5895346"/>
            <a:ext cx="6191326" cy="3720513"/>
            <a:chOff x="0" y="0"/>
            <a:chExt cx="8255102" cy="4960684"/>
          </a:xfrm>
        </p:grpSpPr>
        <p:sp>
          <p:nvSpPr>
            <p:cNvPr name="Freeform 35" id="35"/>
            <p:cNvSpPr/>
            <p:nvPr/>
          </p:nvSpPr>
          <p:spPr>
            <a:xfrm flipH="false" flipV="false" rot="0">
              <a:off x="9525" y="9525"/>
              <a:ext cx="8236077" cy="4941570"/>
            </a:xfrm>
            <a:custGeom>
              <a:avLst/>
              <a:gdLst/>
              <a:ahLst/>
              <a:cxnLst/>
              <a:rect r="r" b="b" t="t" l="l"/>
              <a:pathLst>
                <a:path h="4941570" w="8236077">
                  <a:moveTo>
                    <a:pt x="0" y="0"/>
                  </a:moveTo>
                  <a:lnTo>
                    <a:pt x="8236077" y="0"/>
                  </a:lnTo>
                  <a:lnTo>
                    <a:pt x="8236077" y="4941570"/>
                  </a:lnTo>
                  <a:lnTo>
                    <a:pt x="0" y="4941570"/>
                  </a:lnTo>
                  <a:close/>
                </a:path>
              </a:pathLst>
            </a:custGeom>
            <a:solidFill>
              <a:srgbClr val="FFFFFF"/>
            </a:solidFill>
          </p:spPr>
        </p:sp>
        <p:sp>
          <p:nvSpPr>
            <p:cNvPr name="Freeform 36" id="36"/>
            <p:cNvSpPr/>
            <p:nvPr/>
          </p:nvSpPr>
          <p:spPr>
            <a:xfrm flipH="false" flipV="false" rot="0">
              <a:off x="0" y="0"/>
              <a:ext cx="8255127" cy="4960620"/>
            </a:xfrm>
            <a:custGeom>
              <a:avLst/>
              <a:gdLst/>
              <a:ahLst/>
              <a:cxnLst/>
              <a:rect r="r" b="b" t="t" l="l"/>
              <a:pathLst>
                <a:path h="4960620" w="8255127">
                  <a:moveTo>
                    <a:pt x="9525" y="0"/>
                  </a:moveTo>
                  <a:lnTo>
                    <a:pt x="8245602" y="0"/>
                  </a:lnTo>
                  <a:cubicBezTo>
                    <a:pt x="8250809" y="0"/>
                    <a:pt x="8255127" y="4318"/>
                    <a:pt x="8255127" y="9525"/>
                  </a:cubicBezTo>
                  <a:lnTo>
                    <a:pt x="8255127" y="4951095"/>
                  </a:lnTo>
                  <a:cubicBezTo>
                    <a:pt x="8255127" y="4956302"/>
                    <a:pt x="8250809" y="4960620"/>
                    <a:pt x="8245602" y="4960620"/>
                  </a:cubicBezTo>
                  <a:lnTo>
                    <a:pt x="9525" y="4960620"/>
                  </a:lnTo>
                  <a:cubicBezTo>
                    <a:pt x="4318" y="4960620"/>
                    <a:pt x="0" y="4956302"/>
                    <a:pt x="0" y="4951095"/>
                  </a:cubicBezTo>
                  <a:lnTo>
                    <a:pt x="0" y="9525"/>
                  </a:lnTo>
                  <a:cubicBezTo>
                    <a:pt x="0" y="4318"/>
                    <a:pt x="4318" y="0"/>
                    <a:pt x="9525" y="0"/>
                  </a:cubicBezTo>
                  <a:moveTo>
                    <a:pt x="9525" y="19050"/>
                  </a:moveTo>
                  <a:lnTo>
                    <a:pt x="9525" y="9525"/>
                  </a:lnTo>
                  <a:lnTo>
                    <a:pt x="19050" y="9525"/>
                  </a:lnTo>
                  <a:lnTo>
                    <a:pt x="19050" y="4951095"/>
                  </a:lnTo>
                  <a:lnTo>
                    <a:pt x="9525" y="4951095"/>
                  </a:lnTo>
                  <a:lnTo>
                    <a:pt x="9525" y="4941570"/>
                  </a:lnTo>
                  <a:lnTo>
                    <a:pt x="8245602" y="4941570"/>
                  </a:lnTo>
                  <a:lnTo>
                    <a:pt x="8245602" y="4951095"/>
                  </a:lnTo>
                  <a:lnTo>
                    <a:pt x="8236077" y="4951095"/>
                  </a:lnTo>
                  <a:lnTo>
                    <a:pt x="8236077" y="9525"/>
                  </a:lnTo>
                  <a:lnTo>
                    <a:pt x="8245602" y="9525"/>
                  </a:lnTo>
                  <a:lnTo>
                    <a:pt x="8245602" y="19050"/>
                  </a:lnTo>
                  <a:lnTo>
                    <a:pt x="9525" y="19050"/>
                  </a:lnTo>
                  <a:close/>
                </a:path>
              </a:pathLst>
            </a:custGeom>
            <a:solidFill>
              <a:srgbClr val="FFFFFF"/>
            </a:solidFill>
          </p:spPr>
        </p:sp>
      </p:grpSp>
      <p:grpSp>
        <p:nvGrpSpPr>
          <p:cNvPr name="Group 37" id="37"/>
          <p:cNvGrpSpPr/>
          <p:nvPr/>
        </p:nvGrpSpPr>
        <p:grpSpPr>
          <a:xfrm rot="0">
            <a:off x="8922372" y="5902490"/>
            <a:ext cx="6177029" cy="57198"/>
            <a:chOff x="0" y="0"/>
            <a:chExt cx="8236039" cy="76264"/>
          </a:xfrm>
        </p:grpSpPr>
        <p:sp>
          <p:nvSpPr>
            <p:cNvPr name="Freeform 38" id="38"/>
            <p:cNvSpPr/>
            <p:nvPr/>
          </p:nvSpPr>
          <p:spPr>
            <a:xfrm flipH="false" flipV="false" rot="0">
              <a:off x="0" y="0"/>
              <a:ext cx="8236077" cy="76200"/>
            </a:xfrm>
            <a:custGeom>
              <a:avLst/>
              <a:gdLst/>
              <a:ahLst/>
              <a:cxnLst/>
              <a:rect r="r" b="b" t="t" l="l"/>
              <a:pathLst>
                <a:path h="76200" w="8236077">
                  <a:moveTo>
                    <a:pt x="0" y="0"/>
                  </a:moveTo>
                  <a:lnTo>
                    <a:pt x="8236077" y="0"/>
                  </a:lnTo>
                  <a:lnTo>
                    <a:pt x="8236077" y="76200"/>
                  </a:lnTo>
                  <a:lnTo>
                    <a:pt x="0" y="76200"/>
                  </a:lnTo>
                  <a:close/>
                </a:path>
              </a:pathLst>
            </a:custGeom>
            <a:solidFill>
              <a:srgbClr val="F59E0B"/>
            </a:solidFill>
          </p:spPr>
        </p:sp>
      </p:grpSp>
      <p:sp>
        <p:nvSpPr>
          <p:cNvPr name="TextBox 39" id="39"/>
          <p:cNvSpPr txBox="true"/>
          <p:nvPr/>
        </p:nvSpPr>
        <p:spPr>
          <a:xfrm rot="0">
            <a:off x="9219714" y="6074835"/>
            <a:ext cx="5582345"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Numbered Citations, PDF Viewer &amp; Memory</a:t>
            </a:r>
          </a:p>
        </p:txBody>
      </p:sp>
      <p:sp>
        <p:nvSpPr>
          <p:cNvPr name="TextBox 40" id="40"/>
          <p:cNvSpPr txBox="true"/>
          <p:nvPr/>
        </p:nvSpPr>
        <p:spPr>
          <a:xfrm rot="0">
            <a:off x="9219714" y="6665081"/>
            <a:ext cx="5582345" cy="2692003"/>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Inline numbered [1][2][3] citations in every answer. Click any badge to open the PDF viewer highlighting the exact source chunk. Conversation memory persists across turns. — a low min_sim signals k is too small for the document. Citation pills in the UI show a colour-coded % badge: green ≥75%, amber ≥50%, red &lt;50%.</a:t>
            </a:r>
          </a:p>
        </p:txBody>
      </p:sp>
    </p:spTree>
  </p:cSld>
  <p:clrMapOvr>
    <a:masterClrMapping/>
  </p:clrMapOvr>
</p:sld>
</file>

<file path=ppt/slides/slide1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DEMONSTRATION</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Live demo</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816454" y="2189131"/>
            <a:ext cx="16664816" cy="6191326"/>
            <a:chOff x="0" y="0"/>
            <a:chExt cx="22219755" cy="8255102"/>
          </a:xfrm>
        </p:grpSpPr>
        <p:sp>
          <p:nvSpPr>
            <p:cNvPr name="Freeform 7" id="7"/>
            <p:cNvSpPr/>
            <p:nvPr/>
          </p:nvSpPr>
          <p:spPr>
            <a:xfrm flipH="false" flipV="false" rot="0">
              <a:off x="9525" y="9525"/>
              <a:ext cx="22200743" cy="8236077"/>
            </a:xfrm>
            <a:custGeom>
              <a:avLst/>
              <a:gdLst/>
              <a:ahLst/>
              <a:cxnLst/>
              <a:rect r="r" b="b" t="t" l="l"/>
              <a:pathLst>
                <a:path h="8236077" w="22200743">
                  <a:moveTo>
                    <a:pt x="0" y="0"/>
                  </a:moveTo>
                  <a:lnTo>
                    <a:pt x="22200743" y="0"/>
                  </a:lnTo>
                  <a:lnTo>
                    <a:pt x="22200743" y="8236077"/>
                  </a:lnTo>
                  <a:lnTo>
                    <a:pt x="0" y="8236077"/>
                  </a:lnTo>
                  <a:close/>
                </a:path>
              </a:pathLst>
            </a:custGeom>
            <a:solidFill>
              <a:srgbClr val="FFFFFF"/>
            </a:solidFill>
          </p:spPr>
        </p:sp>
        <p:sp>
          <p:nvSpPr>
            <p:cNvPr name="Freeform 8" id="8"/>
            <p:cNvSpPr/>
            <p:nvPr/>
          </p:nvSpPr>
          <p:spPr>
            <a:xfrm flipH="false" flipV="false" rot="0">
              <a:off x="0" y="0"/>
              <a:ext cx="22219793" cy="8255127"/>
            </a:xfrm>
            <a:custGeom>
              <a:avLst/>
              <a:gdLst/>
              <a:ahLst/>
              <a:cxnLst/>
              <a:rect r="r" b="b" t="t" l="l"/>
              <a:pathLst>
                <a:path h="8255127" w="22219793">
                  <a:moveTo>
                    <a:pt x="9525" y="0"/>
                  </a:moveTo>
                  <a:lnTo>
                    <a:pt x="22210268" y="0"/>
                  </a:lnTo>
                  <a:cubicBezTo>
                    <a:pt x="22215475" y="0"/>
                    <a:pt x="22219793" y="4318"/>
                    <a:pt x="22219793" y="9525"/>
                  </a:cubicBezTo>
                  <a:lnTo>
                    <a:pt x="22219793" y="8245602"/>
                  </a:lnTo>
                  <a:cubicBezTo>
                    <a:pt x="22219793" y="8250809"/>
                    <a:pt x="22215475" y="8255127"/>
                    <a:pt x="22210268" y="8255127"/>
                  </a:cubicBezTo>
                  <a:lnTo>
                    <a:pt x="9525" y="8255127"/>
                  </a:lnTo>
                  <a:cubicBezTo>
                    <a:pt x="4318" y="8255127"/>
                    <a:pt x="0" y="8250809"/>
                    <a:pt x="0" y="8245602"/>
                  </a:cubicBezTo>
                  <a:lnTo>
                    <a:pt x="0" y="9525"/>
                  </a:lnTo>
                  <a:cubicBezTo>
                    <a:pt x="0" y="4318"/>
                    <a:pt x="4318" y="0"/>
                    <a:pt x="9525" y="0"/>
                  </a:cubicBezTo>
                  <a:moveTo>
                    <a:pt x="9525" y="19050"/>
                  </a:moveTo>
                  <a:lnTo>
                    <a:pt x="9525" y="9525"/>
                  </a:lnTo>
                  <a:lnTo>
                    <a:pt x="19050" y="9525"/>
                  </a:lnTo>
                  <a:lnTo>
                    <a:pt x="19050" y="8245602"/>
                  </a:lnTo>
                  <a:lnTo>
                    <a:pt x="9525" y="8245602"/>
                  </a:lnTo>
                  <a:lnTo>
                    <a:pt x="9525" y="8236077"/>
                  </a:lnTo>
                  <a:lnTo>
                    <a:pt x="22210268" y="8236077"/>
                  </a:lnTo>
                  <a:lnTo>
                    <a:pt x="22210268" y="8245602"/>
                  </a:lnTo>
                  <a:lnTo>
                    <a:pt x="22200743" y="8245602"/>
                  </a:lnTo>
                  <a:lnTo>
                    <a:pt x="22200743" y="9525"/>
                  </a:lnTo>
                  <a:lnTo>
                    <a:pt x="22210268" y="9525"/>
                  </a:lnTo>
                  <a:lnTo>
                    <a:pt x="22210268" y="19050"/>
                  </a:lnTo>
                  <a:lnTo>
                    <a:pt x="9525" y="19050"/>
                  </a:lnTo>
                  <a:close/>
                </a:path>
              </a:pathLst>
            </a:custGeom>
            <a:solidFill>
              <a:srgbClr val="7C3AED"/>
            </a:solidFill>
          </p:spPr>
        </p:sp>
      </p:grpSp>
      <p:sp>
        <p:nvSpPr>
          <p:cNvPr name="TextBox 9" id="9"/>
          <p:cNvSpPr txBox="true"/>
          <p:nvPr/>
        </p:nvSpPr>
        <p:spPr>
          <a:xfrm rot="0">
            <a:off x="1326842" y="2468909"/>
            <a:ext cx="15602855" cy="505254"/>
          </a:xfrm>
          <a:prstGeom prst="rect">
            <a:avLst/>
          </a:prstGeom>
        </p:spPr>
        <p:txBody>
          <a:bodyPr anchor="t" rtlCol="false" tIns="0" lIns="0" bIns="0" rIns="0">
            <a:spAutoFit/>
          </a:bodyPr>
          <a:lstStyle/>
          <a:p>
            <a:pPr algn="l">
              <a:lnSpc>
                <a:spcPts val="2521"/>
              </a:lnSpc>
            </a:pPr>
            <a:r>
              <a:rPr lang="en-US" sz="2101" b="true">
                <a:solidFill>
                  <a:srgbClr val="4C1D95"/>
                </a:solidFill>
                <a:latin typeface="Calibri (MS) Bold"/>
                <a:ea typeface="Calibri (MS) Bold"/>
                <a:cs typeface="Calibri (MS) Bold"/>
                <a:sym typeface="Calibri (MS) Bold"/>
              </a:rPr>
              <a:t>Demo flow</a:t>
            </a:r>
          </a:p>
        </p:txBody>
      </p:sp>
      <p:sp>
        <p:nvSpPr>
          <p:cNvPr name="TextBox 10" id="10"/>
          <p:cNvSpPr txBox="true"/>
          <p:nvPr/>
        </p:nvSpPr>
        <p:spPr>
          <a:xfrm rot="0">
            <a:off x="1326842" y="3145717"/>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1️⃣</a:t>
            </a:r>
          </a:p>
        </p:txBody>
      </p:sp>
      <p:sp>
        <p:nvSpPr>
          <p:cNvPr name="TextBox 11" id="11"/>
          <p:cNvSpPr txBox="true"/>
          <p:nvPr/>
        </p:nvSpPr>
        <p:spPr>
          <a:xfrm rot="0">
            <a:off x="2150450" y="3223879"/>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Upload a PDF</a:t>
            </a:r>
          </a:p>
        </p:txBody>
      </p:sp>
      <p:sp>
        <p:nvSpPr>
          <p:cNvPr name="TextBox 12" id="12"/>
          <p:cNvSpPr txBox="true"/>
          <p:nvPr/>
        </p:nvSpPr>
        <p:spPr>
          <a:xfrm rot="0">
            <a:off x="2150450" y="3695910"/>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Drag &amp; drop — watch ingest progress: extract → chunk → embed → done</a:t>
            </a:r>
          </a:p>
        </p:txBody>
      </p:sp>
      <p:sp>
        <p:nvSpPr>
          <p:cNvPr name="TextBox 13" id="13"/>
          <p:cNvSpPr txBox="true"/>
          <p:nvPr/>
        </p:nvSpPr>
        <p:spPr>
          <a:xfrm rot="0">
            <a:off x="1326842" y="4312491"/>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2️⃣</a:t>
            </a:r>
          </a:p>
        </p:txBody>
      </p:sp>
      <p:sp>
        <p:nvSpPr>
          <p:cNvPr name="TextBox 14" id="14"/>
          <p:cNvSpPr txBox="true"/>
          <p:nvPr/>
        </p:nvSpPr>
        <p:spPr>
          <a:xfrm rot="0">
            <a:off x="2150450" y="4390644"/>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Ask a specific question</a:t>
            </a:r>
          </a:p>
        </p:txBody>
      </p:sp>
      <p:sp>
        <p:nvSpPr>
          <p:cNvPr name="TextBox 15" id="15"/>
          <p:cNvSpPr txBox="true"/>
          <p:nvPr/>
        </p:nvSpPr>
        <p:spPr>
          <a:xfrm rot="0">
            <a:off x="2150450" y="4862674"/>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Observe streamed response, citation pills with similarity % badges, and hover for raw chunk text</a:t>
            </a:r>
          </a:p>
        </p:txBody>
      </p:sp>
      <p:sp>
        <p:nvSpPr>
          <p:cNvPr name="TextBox 16" id="16"/>
          <p:cNvSpPr txBox="true"/>
          <p:nvPr/>
        </p:nvSpPr>
        <p:spPr>
          <a:xfrm rot="0">
            <a:off x="1326842" y="5479256"/>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3️⃣</a:t>
            </a:r>
          </a:p>
        </p:txBody>
      </p:sp>
      <p:sp>
        <p:nvSpPr>
          <p:cNvPr name="TextBox 17" id="17"/>
          <p:cNvSpPr txBox="true"/>
          <p:nvPr/>
        </p:nvSpPr>
        <p:spPr>
          <a:xfrm rot="0">
            <a:off x="2150450" y="5557418"/>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Re-upload the same PDF</a:t>
            </a:r>
          </a:p>
        </p:txBody>
      </p:sp>
      <p:sp>
        <p:nvSpPr>
          <p:cNvPr name="TextBox 18" id="18"/>
          <p:cNvSpPr txBox="true"/>
          <p:nvPr/>
        </p:nvSpPr>
        <p:spPr>
          <a:xfrm rot="0">
            <a:off x="2150450" y="6029449"/>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Ingest completes instantly — duplicate detection skips all embedding</a:t>
            </a:r>
          </a:p>
        </p:txBody>
      </p:sp>
      <p:sp>
        <p:nvSpPr>
          <p:cNvPr name="TextBox 19" id="19"/>
          <p:cNvSpPr txBox="true"/>
          <p:nvPr/>
        </p:nvSpPr>
        <p:spPr>
          <a:xfrm rot="0">
            <a:off x="1326842" y="6646031"/>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4️⃣</a:t>
            </a:r>
          </a:p>
        </p:txBody>
      </p:sp>
      <p:sp>
        <p:nvSpPr>
          <p:cNvPr name="TextBox 20" id="20"/>
          <p:cNvSpPr txBox="true"/>
          <p:nvPr/>
        </p:nvSpPr>
        <p:spPr>
          <a:xfrm rot="0">
            <a:off x="2150450" y="6724193"/>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Ask something unanswerable</a:t>
            </a:r>
          </a:p>
        </p:txBody>
      </p:sp>
      <p:sp>
        <p:nvSpPr>
          <p:cNvPr name="TextBox 21" id="21"/>
          <p:cNvSpPr txBox="true"/>
          <p:nvPr/>
        </p:nvSpPr>
        <p:spPr>
          <a:xfrm rot="0">
            <a:off x="2150450" y="7196223"/>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System responds "I don't know." — no hallucination</a:t>
            </a:r>
          </a:p>
        </p:txBody>
      </p:sp>
      <p:sp>
        <p:nvSpPr>
          <p:cNvPr name="TextBox 22" id="22"/>
          <p:cNvSpPr txBox="true"/>
          <p:nvPr/>
        </p:nvSpPr>
        <p:spPr>
          <a:xfrm rot="0">
            <a:off x="915048" y="8664978"/>
            <a:ext cx="164676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http://localhost:8000   ·   docker compose up -d &amp;&amp; uvicorn backend.main:app --reload</a:t>
            </a:r>
          </a:p>
        </p:txBody>
      </p:sp>
    </p:spTree>
  </p:cSld>
  <p:clrMapOvr>
    <a:masterClrMapping/>
  </p:clrMapOvr>
</p:sld>
</file>

<file path=ppt/slides/slide1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ROADMAP</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Next steps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189131"/>
            <a:ext cx="5710885" cy="7632630"/>
            <a:chOff x="0" y="0"/>
            <a:chExt cx="7614514" cy="10176840"/>
          </a:xfrm>
        </p:grpSpPr>
        <p:sp>
          <p:nvSpPr>
            <p:cNvPr name="Freeform 7" id="7"/>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8" id="8"/>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9" id="9"/>
          <p:cNvGrpSpPr/>
          <p:nvPr/>
        </p:nvGrpSpPr>
        <p:grpSpPr>
          <a:xfrm rot="0">
            <a:off x="411804" y="2196274"/>
            <a:ext cx="5696588" cy="57198"/>
            <a:chOff x="0" y="0"/>
            <a:chExt cx="7595451" cy="76264"/>
          </a:xfrm>
        </p:grpSpPr>
        <p:sp>
          <p:nvSpPr>
            <p:cNvPr name="Freeform 10" id="10"/>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7C3AED"/>
            </a:solidFill>
          </p:spPr>
        </p:sp>
      </p:grpSp>
      <p:sp>
        <p:nvSpPr>
          <p:cNvPr name="TextBox 11" id="11"/>
          <p:cNvSpPr txBox="true"/>
          <p:nvPr/>
        </p:nvSpPr>
        <p:spPr>
          <a:xfrm rot="0">
            <a:off x="709146" y="2331634"/>
            <a:ext cx="5101904" cy="505254"/>
          </a:xfrm>
          <a:prstGeom prst="rect">
            <a:avLst/>
          </a:prstGeom>
        </p:spPr>
        <p:txBody>
          <a:bodyPr anchor="t" rtlCol="false" tIns="0" lIns="0" bIns="0" rIns="0">
            <a:spAutoFit/>
          </a:bodyPr>
          <a:lstStyle/>
          <a:p>
            <a:pPr algn="l">
              <a:lnSpc>
                <a:spcPts val="2341"/>
              </a:lnSpc>
            </a:pPr>
            <a:r>
              <a:rPr lang="en-US" sz="1951" b="true">
                <a:solidFill>
                  <a:srgbClr val="7C3AED"/>
                </a:solidFill>
                <a:latin typeface="Calibri (MS) Bold"/>
                <a:ea typeface="Calibri (MS) Bold"/>
                <a:cs typeface="Calibri (MS) Bold"/>
                <a:sym typeface="Calibri (MS) Bold"/>
              </a:rPr>
              <a:t>🔧  Reliability</a:t>
            </a:r>
          </a:p>
        </p:txBody>
      </p:sp>
      <p:sp>
        <p:nvSpPr>
          <p:cNvPr name="TextBox 12" id="12"/>
          <p:cNvSpPr txBox="true"/>
          <p:nvPr/>
        </p:nvSpPr>
        <p:spPr>
          <a:xfrm rot="0">
            <a:off x="709146"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OCR for scanned PDFs (shipped)</a:t>
            </a:r>
          </a:p>
        </p:txBody>
      </p:sp>
      <p:sp>
        <p:nvSpPr>
          <p:cNvPr name="TextBox 13" id="13"/>
          <p:cNvSpPr txBox="true"/>
          <p:nvPr/>
        </p:nvSpPr>
        <p:spPr>
          <a:xfrm rot="0">
            <a:off x="709146"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Empty-text pages render at 200 DPI and Gemini Vision returns the verbatim transcription; the text flows into the normal chunker/embedder/retriever.</a:t>
            </a:r>
          </a:p>
        </p:txBody>
      </p:sp>
      <p:sp>
        <p:nvSpPr>
          <p:cNvPr name="TextBox 14" id="14"/>
          <p:cNvSpPr txBox="true"/>
          <p:nvPr/>
        </p:nvSpPr>
        <p:spPr>
          <a:xfrm rot="0">
            <a:off x="709146"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Upload queue</a:t>
            </a:r>
          </a:p>
        </p:txBody>
      </p:sp>
      <p:sp>
        <p:nvSpPr>
          <p:cNvPr name="TextBox 15" id="15"/>
          <p:cNvSpPr txBox="true"/>
          <p:nvPr/>
        </p:nvSpPr>
        <p:spPr>
          <a:xfrm rot="0">
            <a:off x="709146"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Background job for large PDFs — free the HTTP request immediately and let the client poll for status.</a:t>
            </a:r>
          </a:p>
        </p:txBody>
      </p:sp>
      <p:sp>
        <p:nvSpPr>
          <p:cNvPr name="TextBox 16" id="16"/>
          <p:cNvSpPr txBox="true"/>
          <p:nvPr/>
        </p:nvSpPr>
        <p:spPr>
          <a:xfrm rot="0">
            <a:off x="709146"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Auth + multi-user</a:t>
            </a:r>
          </a:p>
        </p:txBody>
      </p:sp>
      <p:sp>
        <p:nvSpPr>
          <p:cNvPr name="TextBox 17" id="17"/>
          <p:cNvSpPr txBox="true"/>
          <p:nvPr/>
        </p:nvSpPr>
        <p:spPr>
          <a:xfrm rot="0">
            <a:off x="709146"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Session isolation so multiple users can each have their own document state without shared _state.</a:t>
            </a:r>
          </a:p>
        </p:txBody>
      </p:sp>
      <p:grpSp>
        <p:nvGrpSpPr>
          <p:cNvPr name="Group 18" id="18"/>
          <p:cNvGrpSpPr/>
          <p:nvPr/>
        </p:nvGrpSpPr>
        <p:grpSpPr>
          <a:xfrm rot="0">
            <a:off x="6293415" y="2189131"/>
            <a:ext cx="5710885" cy="7632630"/>
            <a:chOff x="0" y="0"/>
            <a:chExt cx="7614514" cy="10176840"/>
          </a:xfrm>
        </p:grpSpPr>
        <p:sp>
          <p:nvSpPr>
            <p:cNvPr name="Freeform 19" id="19"/>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20" id="20"/>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21" id="21"/>
          <p:cNvGrpSpPr/>
          <p:nvPr/>
        </p:nvGrpSpPr>
        <p:grpSpPr>
          <a:xfrm rot="0">
            <a:off x="6300568" y="2196274"/>
            <a:ext cx="5696588" cy="57198"/>
            <a:chOff x="0" y="0"/>
            <a:chExt cx="7595451" cy="76264"/>
          </a:xfrm>
        </p:grpSpPr>
        <p:sp>
          <p:nvSpPr>
            <p:cNvPr name="Freeform 22" id="22"/>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A78BFA"/>
            </a:solidFill>
          </p:spPr>
        </p:sp>
      </p:grpSp>
      <p:sp>
        <p:nvSpPr>
          <p:cNvPr name="TextBox 23" id="23"/>
          <p:cNvSpPr txBox="true"/>
          <p:nvPr/>
        </p:nvSpPr>
        <p:spPr>
          <a:xfrm rot="0">
            <a:off x="6597910" y="2331634"/>
            <a:ext cx="5101904" cy="505254"/>
          </a:xfrm>
          <a:prstGeom prst="rect">
            <a:avLst/>
          </a:prstGeom>
        </p:spPr>
        <p:txBody>
          <a:bodyPr anchor="t" rtlCol="false" tIns="0" lIns="0" bIns="0" rIns="0">
            <a:spAutoFit/>
          </a:bodyPr>
          <a:lstStyle/>
          <a:p>
            <a:pPr algn="l">
              <a:lnSpc>
                <a:spcPts val="2341"/>
              </a:lnSpc>
            </a:pPr>
            <a:r>
              <a:rPr lang="en-US" sz="1951" b="true">
                <a:solidFill>
                  <a:srgbClr val="5B21B6"/>
                </a:solidFill>
                <a:latin typeface="Calibri (MS) Bold"/>
                <a:ea typeface="Calibri (MS) Bold"/>
                <a:cs typeface="Calibri (MS) Bold"/>
                <a:sym typeface="Calibri (MS) Bold"/>
              </a:rPr>
              <a:t>🧩  Quality</a:t>
            </a:r>
          </a:p>
        </p:txBody>
      </p:sp>
      <p:sp>
        <p:nvSpPr>
          <p:cNvPr name="TextBox 24" id="24"/>
          <p:cNvSpPr txBox="true"/>
          <p:nvPr/>
        </p:nvSpPr>
        <p:spPr>
          <a:xfrm rot="0">
            <a:off x="6597910"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Query expansion / HyDE</a:t>
            </a:r>
          </a:p>
        </p:txBody>
      </p:sp>
      <p:sp>
        <p:nvSpPr>
          <p:cNvPr name="TextBox 25" id="25"/>
          <p:cNvSpPr txBox="true"/>
          <p:nvPr/>
        </p:nvSpPr>
        <p:spPr>
          <a:xfrm rot="0">
            <a:off x="6597910"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Generate a hypothetical answer, embed it, use that for retrieval — improves recall on vague or abstract questions.</a:t>
            </a:r>
          </a:p>
        </p:txBody>
      </p:sp>
      <p:sp>
        <p:nvSpPr>
          <p:cNvPr name="TextBox 26" id="26"/>
          <p:cNvSpPr txBox="true"/>
          <p:nvPr/>
        </p:nvSpPr>
        <p:spPr>
          <a:xfrm rot="0">
            <a:off x="6597910"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Structured chunk types</a:t>
            </a:r>
          </a:p>
        </p:txBody>
      </p:sp>
      <p:sp>
        <p:nvSpPr>
          <p:cNvPr name="TextBox 27" id="27"/>
          <p:cNvSpPr txBox="true"/>
          <p:nvPr/>
        </p:nvSpPr>
        <p:spPr>
          <a:xfrm rot="0">
            <a:off x="6597910"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Detect headings, tables, and lists in PDFs and split at structural boundaries rather than sentence boundaries.</a:t>
            </a:r>
          </a:p>
        </p:txBody>
      </p:sp>
      <p:sp>
        <p:nvSpPr>
          <p:cNvPr name="TextBox 28" id="28"/>
          <p:cNvSpPr txBox="true"/>
          <p:nvPr/>
        </p:nvSpPr>
        <p:spPr>
          <a:xfrm rot="0">
            <a:off x="6597910"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Eval harness</a:t>
            </a:r>
          </a:p>
        </p:txBody>
      </p:sp>
      <p:sp>
        <p:nvSpPr>
          <p:cNvPr name="TextBox 29" id="29"/>
          <p:cNvSpPr txBox="true"/>
          <p:nvPr/>
        </p:nvSpPr>
        <p:spPr>
          <a:xfrm rot="0">
            <a:off x="6597910"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Automated Q&amp;A pairs against known answers to measure retrieval precision, recall, and answer faithfulness.</a:t>
            </a:r>
          </a:p>
        </p:txBody>
      </p:sp>
      <p:grpSp>
        <p:nvGrpSpPr>
          <p:cNvPr name="Group 30" id="30"/>
          <p:cNvGrpSpPr/>
          <p:nvPr/>
        </p:nvGrpSpPr>
        <p:grpSpPr>
          <a:xfrm rot="0">
            <a:off x="12182180" y="2189131"/>
            <a:ext cx="5710885" cy="7632630"/>
            <a:chOff x="0" y="0"/>
            <a:chExt cx="7614514" cy="10176840"/>
          </a:xfrm>
        </p:grpSpPr>
        <p:sp>
          <p:nvSpPr>
            <p:cNvPr name="Freeform 31" id="31"/>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32" id="32"/>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33" id="33"/>
          <p:cNvGrpSpPr/>
          <p:nvPr/>
        </p:nvGrpSpPr>
        <p:grpSpPr>
          <a:xfrm rot="0">
            <a:off x="12189333" y="2196274"/>
            <a:ext cx="5696588" cy="57198"/>
            <a:chOff x="0" y="0"/>
            <a:chExt cx="7595451" cy="76264"/>
          </a:xfrm>
        </p:grpSpPr>
        <p:sp>
          <p:nvSpPr>
            <p:cNvPr name="Freeform 34" id="34"/>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059669"/>
            </a:solidFill>
          </p:spPr>
        </p:sp>
      </p:grpSp>
      <p:sp>
        <p:nvSpPr>
          <p:cNvPr name="TextBox 35" id="35"/>
          <p:cNvSpPr txBox="true"/>
          <p:nvPr/>
        </p:nvSpPr>
        <p:spPr>
          <a:xfrm rot="0">
            <a:off x="12486675" y="2331634"/>
            <a:ext cx="5101904" cy="505254"/>
          </a:xfrm>
          <a:prstGeom prst="rect">
            <a:avLst/>
          </a:prstGeom>
        </p:spPr>
        <p:txBody>
          <a:bodyPr anchor="t" rtlCol="false" tIns="0" lIns="0" bIns="0" rIns="0">
            <a:spAutoFit/>
          </a:bodyPr>
          <a:lstStyle/>
          <a:p>
            <a:pPr algn="l">
              <a:lnSpc>
                <a:spcPts val="2341"/>
              </a:lnSpc>
            </a:pPr>
            <a:r>
              <a:rPr lang="en-US" sz="1951" b="true">
                <a:solidFill>
                  <a:srgbClr val="059669"/>
                </a:solidFill>
                <a:latin typeface="Calibri (MS) Bold"/>
                <a:ea typeface="Calibri (MS) Bold"/>
                <a:cs typeface="Calibri (MS) Bold"/>
                <a:sym typeface="Calibri (MS) Bold"/>
              </a:rPr>
              <a:t>📦  Scale</a:t>
            </a:r>
          </a:p>
        </p:txBody>
      </p:sp>
      <p:sp>
        <p:nvSpPr>
          <p:cNvPr name="TextBox 36" id="36"/>
          <p:cNvSpPr txBox="true"/>
          <p:nvPr/>
        </p:nvSpPr>
        <p:spPr>
          <a:xfrm rot="0">
            <a:off x="12486675"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Multi-document library</a:t>
            </a:r>
          </a:p>
        </p:txBody>
      </p:sp>
      <p:sp>
        <p:nvSpPr>
          <p:cNvPr name="TextBox 37" id="37"/>
          <p:cNvSpPr txBox="true"/>
          <p:nvPr/>
        </p:nvSpPr>
        <p:spPr>
          <a:xfrm rot="0">
            <a:off x="12486675"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Doc picker with per-doc metadata — query across multiple PDFs with doc_id filtering.</a:t>
            </a:r>
          </a:p>
        </p:txBody>
      </p:sp>
      <p:sp>
        <p:nvSpPr>
          <p:cNvPr name="TextBox 38" id="38"/>
          <p:cNvSpPr txBox="true"/>
          <p:nvPr/>
        </p:nvSpPr>
        <p:spPr>
          <a:xfrm rot="0">
            <a:off x="12486675"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Streaming embed batches</a:t>
            </a:r>
          </a:p>
        </p:txBody>
      </p:sp>
      <p:sp>
        <p:nvSpPr>
          <p:cNvPr name="TextBox 39" id="39"/>
          <p:cNvSpPr txBox="true"/>
          <p:nvPr/>
        </p:nvSpPr>
        <p:spPr>
          <a:xfrm rot="0">
            <a:off x="12486675"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For very large docs, stream embedding in fixed batches rather than one giant asyncio.gather to bound peak memory.</a:t>
            </a:r>
          </a:p>
        </p:txBody>
      </p:sp>
      <p:sp>
        <p:nvSpPr>
          <p:cNvPr name="TextBox 40" id="40"/>
          <p:cNvSpPr txBox="true"/>
          <p:nvPr/>
        </p:nvSpPr>
        <p:spPr>
          <a:xfrm rot="0">
            <a:off x="12486675"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Persistent conversation</a:t>
            </a:r>
          </a:p>
        </p:txBody>
      </p:sp>
      <p:sp>
        <p:nvSpPr>
          <p:cNvPr name="TextBox 41" id="41"/>
          <p:cNvSpPr txBox="true"/>
          <p:nvPr/>
        </p:nvSpPr>
        <p:spPr>
          <a:xfrm rot="0">
            <a:off x="12486675"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Store chat history per session so follow-up questions can reference earlier answers.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484632"/>
            <a:ext cx="16285463" cy="429768"/>
          </a:xfrm>
          <a:prstGeom prst="rect">
            <a:avLst/>
          </a:prstGeom>
          <a:noFill/>
        </p:spPr>
        <p:txBody>
          <a:bodyPr wrap="square">
            <a:spAutoFit/>
          </a:bodyPr>
          <a:lstStyle/>
          <a:p>
            <a:pPr algn="l"/>
            <a:r>
              <a:rPr sz="1400" b="1" i="0">
                <a:solidFill>
                  <a:srgbClr val="7C3AED"/>
                </a:solidFill>
              </a:rPr>
              <a:t>LIMITATIONS</a:t>
            </a:r>
          </a:p>
        </p:txBody>
      </p:sp>
      <p:sp>
        <p:nvSpPr>
          <p:cNvPr id="3" name="TextBox 2"/>
          <p:cNvSpPr txBox="1"/>
          <p:nvPr/>
        </p:nvSpPr>
        <p:spPr>
          <a:xfrm>
            <a:off x="914400" y="987552"/>
            <a:ext cx="16285463" cy="502920"/>
          </a:xfrm>
          <a:prstGeom prst="rect">
            <a:avLst/>
          </a:prstGeom>
          <a:noFill/>
        </p:spPr>
        <p:txBody>
          <a:bodyPr wrap="square">
            <a:spAutoFit/>
          </a:bodyPr>
          <a:lstStyle/>
          <a:p>
            <a:pPr algn="l"/>
            <a:r>
              <a:rPr sz="2800" b="1" i="0">
                <a:solidFill>
                  <a:srgbClr val="4C1D95"/>
                </a:solidFill>
              </a:rPr>
              <a:t>Current scope — known constraints</a:t>
            </a:r>
          </a:p>
        </p:txBody>
      </p:sp>
      <p:sp>
        <p:nvSpPr>
          <p:cNvPr id="4" name="Rectangle 3"/>
          <p:cNvSpPr/>
          <p:nvPr/>
        </p:nvSpPr>
        <p:spPr>
          <a:xfrm>
            <a:off x="822960" y="1856231"/>
            <a:ext cx="16651224" cy="54864"/>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02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02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359152"/>
            <a:ext cx="4892040" cy="466344"/>
          </a:xfrm>
          <a:prstGeom prst="rect">
            <a:avLst/>
          </a:prstGeom>
          <a:noFill/>
        </p:spPr>
        <p:txBody>
          <a:bodyPr wrap="square">
            <a:spAutoFit/>
          </a:bodyPr>
          <a:lstStyle/>
          <a:p>
            <a:pPr algn="l"/>
            <a:r>
              <a:rPr sz="1500" b="1" i="0">
                <a:solidFill>
                  <a:srgbClr val="4C1D95"/>
                </a:solidFill>
              </a:rPr>
              <a:t>🚫  Single Document Only</a:t>
            </a:r>
          </a:p>
        </p:txBody>
      </p:sp>
      <p:sp>
        <p:nvSpPr>
          <p:cNvPr id="8" name="TextBox 7"/>
          <p:cNvSpPr txBox="1"/>
          <p:nvPr/>
        </p:nvSpPr>
        <p:spPr>
          <a:xfrm>
            <a:off x="704088" y="2962656"/>
            <a:ext cx="4892040" cy="2414016"/>
          </a:xfrm>
          <a:prstGeom prst="rect">
            <a:avLst/>
          </a:prstGeom>
          <a:noFill/>
        </p:spPr>
        <p:txBody>
          <a:bodyPr wrap="square">
            <a:spAutoFit/>
          </a:bodyPr>
          <a:lstStyle/>
          <a:p>
            <a:pPr algn="l"/>
            <a:r>
              <a:rPr sz="1250" b="0" i="0">
                <a:solidFill>
                  <a:srgbClr val="7C3AED"/>
                </a:solidFill>
              </a:rPr>
              <a:t>One PDF at a time. Uploading a new document wipes the previous one — no multi-doc library or cross-document queries.</a:t>
            </a:r>
          </a:p>
        </p:txBody>
      </p:sp>
      <p:sp>
        <p:nvSpPr>
          <p:cNvPr id="9" name="Rectangle 8"/>
          <p:cNvSpPr/>
          <p:nvPr/>
        </p:nvSpPr>
        <p:spPr>
          <a:xfrm>
            <a:off x="6117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17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9088" y="2359152"/>
            <a:ext cx="4892040" cy="466344"/>
          </a:xfrm>
          <a:prstGeom prst="rect">
            <a:avLst/>
          </a:prstGeom>
          <a:noFill/>
        </p:spPr>
        <p:txBody>
          <a:bodyPr wrap="square">
            <a:spAutoFit/>
          </a:bodyPr>
          <a:lstStyle/>
          <a:p>
            <a:pPr algn="l"/>
            <a:r>
              <a:rPr sz="1500" b="1" i="0">
                <a:solidFill>
                  <a:srgbClr val="4C1D95"/>
                </a:solidFill>
              </a:rPr>
              <a:t>🔍  OCR opt-in only</a:t>
            </a:r>
          </a:p>
        </p:txBody>
      </p:sp>
      <p:sp>
        <p:nvSpPr>
          <p:cNvPr id="12" name="TextBox 11"/>
          <p:cNvSpPr txBox="1"/>
          <p:nvPr/>
        </p:nvSpPr>
        <p:spPr>
          <a:xfrm>
            <a:off x="6419088" y="2962656"/>
            <a:ext cx="4892040" cy="2414016"/>
          </a:xfrm>
          <a:prstGeom prst="rect">
            <a:avLst/>
          </a:prstGeom>
          <a:noFill/>
        </p:spPr>
        <p:txBody>
          <a:bodyPr wrap="square">
            <a:spAutoFit/>
          </a:bodyPr>
          <a:lstStyle/>
          <a:p>
            <a:pPr algn="l"/>
            <a:r>
              <a:rPr sz="1250" b="0" i="0">
                <a:solidFill>
                  <a:srgbClr val="7C3AED"/>
                </a:solidFill>
              </a:rPr>
              <a:t>Per-page detection: pages with typed content above 50 chars skip OCR (so a typed page with a handwritten margin note is missed). The transcription is plain text only — color metadata is not preserved, so red vs blue ink reads the same.</a:t>
            </a:r>
          </a:p>
        </p:txBody>
      </p:sp>
      <p:sp>
        <p:nvSpPr>
          <p:cNvPr id="13" name="Rectangle 12"/>
          <p:cNvSpPr/>
          <p:nvPr/>
        </p:nvSpPr>
        <p:spPr>
          <a:xfrm>
            <a:off x="11832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832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134088" y="2359152"/>
            <a:ext cx="4892040" cy="466344"/>
          </a:xfrm>
          <a:prstGeom prst="rect">
            <a:avLst/>
          </a:prstGeom>
          <a:noFill/>
        </p:spPr>
        <p:txBody>
          <a:bodyPr wrap="square">
            <a:spAutoFit/>
          </a:bodyPr>
          <a:lstStyle/>
          <a:p>
            <a:pPr algn="l"/>
            <a:r>
              <a:rPr sz="1500" b="1" i="0">
                <a:solidFill>
                  <a:srgbClr val="4C1D95"/>
                </a:solidFill>
              </a:rPr>
              <a:t>👤  No Auth / Multi-User</a:t>
            </a:r>
          </a:p>
        </p:txBody>
      </p:sp>
      <p:sp>
        <p:nvSpPr>
          <p:cNvPr id="16" name="TextBox 15"/>
          <p:cNvSpPr txBox="1"/>
          <p:nvPr/>
        </p:nvSpPr>
        <p:spPr>
          <a:xfrm>
            <a:off x="12134088" y="2962656"/>
            <a:ext cx="4892040" cy="2414016"/>
          </a:xfrm>
          <a:prstGeom prst="rect">
            <a:avLst/>
          </a:prstGeom>
          <a:noFill/>
        </p:spPr>
        <p:txBody>
          <a:bodyPr wrap="square">
            <a:spAutoFit/>
          </a:bodyPr>
          <a:lstStyle/>
          <a:p>
            <a:pPr algn="l"/>
            <a:r>
              <a:rPr sz="1250" b="0" i="0">
                <a:solidFill>
                  <a:srgbClr val="7C3AED"/>
                </a:solidFill>
              </a:rPr>
              <a:t>Single shared server state. No session isolation — concurrent users share the same document with no login or permission model.</a:t>
            </a:r>
          </a:p>
        </p:txBody>
      </p:sp>
      <p:sp>
        <p:nvSpPr>
          <p:cNvPr id="17" name="Rectangle 16"/>
          <p:cNvSpPr/>
          <p:nvPr/>
        </p:nvSpPr>
        <p:spPr>
          <a:xfrm>
            <a:off x="402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2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980176"/>
            <a:ext cx="4892040" cy="466344"/>
          </a:xfrm>
          <a:prstGeom prst="rect">
            <a:avLst/>
          </a:prstGeom>
          <a:noFill/>
        </p:spPr>
        <p:txBody>
          <a:bodyPr wrap="square">
            <a:spAutoFit/>
          </a:bodyPr>
          <a:lstStyle/>
          <a:p>
            <a:pPr algn="l"/>
            <a:r>
              <a:rPr sz="1500" b="1" i="0">
                <a:solidFill>
                  <a:srgbClr val="4C1D95"/>
                </a:solidFill>
              </a:rPr>
              <a:t>💬  No Persistent Chat History</a:t>
            </a:r>
          </a:p>
        </p:txBody>
      </p:sp>
      <p:sp>
        <p:nvSpPr>
          <p:cNvPr id="20" name="TextBox 19"/>
          <p:cNvSpPr txBox="1"/>
          <p:nvPr/>
        </p:nvSpPr>
        <p:spPr>
          <a:xfrm>
            <a:off x="704088" y="6583679"/>
            <a:ext cx="4892040" cy="2414016"/>
          </a:xfrm>
          <a:prstGeom prst="rect">
            <a:avLst/>
          </a:prstGeom>
          <a:noFill/>
        </p:spPr>
        <p:txBody>
          <a:bodyPr wrap="square">
            <a:spAutoFit/>
          </a:bodyPr>
          <a:lstStyle/>
          <a:p>
            <a:pPr algn="l"/>
            <a:r>
              <a:rPr sz="1250" b="0" i="0">
                <a:solidFill>
                  <a:srgbClr val="7C3AED"/>
                </a:solidFill>
              </a:rPr>
              <a:t>Conversation context resets on page reload. Follow-up questions cannot reference answers from a previous browsing session.</a:t>
            </a:r>
          </a:p>
        </p:txBody>
      </p:sp>
      <p:sp>
        <p:nvSpPr>
          <p:cNvPr id="21" name="Rectangle 20"/>
          <p:cNvSpPr/>
          <p:nvPr/>
        </p:nvSpPr>
        <p:spPr>
          <a:xfrm>
            <a:off x="6117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17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9088" y="5980176"/>
            <a:ext cx="4892040" cy="466344"/>
          </a:xfrm>
          <a:prstGeom prst="rect">
            <a:avLst/>
          </a:prstGeom>
          <a:noFill/>
        </p:spPr>
        <p:txBody>
          <a:bodyPr wrap="square">
            <a:spAutoFit/>
          </a:bodyPr>
          <a:lstStyle/>
          <a:p>
            <a:pPr algn="l"/>
            <a:r>
              <a:rPr sz="1500" b="1" i="0">
                <a:solidFill>
                  <a:srgbClr val="4C1D95"/>
                </a:solidFill>
              </a:rPr>
              <a:t>⚡  Gemini API Rate Limits</a:t>
            </a:r>
          </a:p>
        </p:txBody>
      </p:sp>
      <p:sp>
        <p:nvSpPr>
          <p:cNvPr id="24" name="TextBox 23"/>
          <p:cNvSpPr txBox="1"/>
          <p:nvPr/>
        </p:nvSpPr>
        <p:spPr>
          <a:xfrm>
            <a:off x="6419088" y="6583679"/>
            <a:ext cx="4892040" cy="2414016"/>
          </a:xfrm>
          <a:prstGeom prst="rect">
            <a:avLst/>
          </a:prstGeom>
          <a:noFill/>
        </p:spPr>
        <p:txBody>
          <a:bodyPr wrap="square">
            <a:spAutoFit/>
          </a:bodyPr>
          <a:lstStyle/>
          <a:p>
            <a:pPr algn="l"/>
            <a:r>
              <a:rPr sz="1250" b="0" i="0">
                <a:solidFill>
                  <a:srgbClr val="7C3AED"/>
                </a:solidFill>
              </a:rPr>
              <a:t>Concurrent embedding calls hit 429 limits on large documents. Exponential backoff adds latency for 100+ page PDFs.</a:t>
            </a:r>
          </a:p>
        </p:txBody>
      </p:sp>
      <p:sp>
        <p:nvSpPr>
          <p:cNvPr id="25" name="Rectangle 24"/>
          <p:cNvSpPr/>
          <p:nvPr/>
        </p:nvSpPr>
        <p:spPr>
          <a:xfrm>
            <a:off x="11832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1832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34088" y="5980176"/>
            <a:ext cx="4892040" cy="466344"/>
          </a:xfrm>
          <a:prstGeom prst="rect">
            <a:avLst/>
          </a:prstGeom>
          <a:noFill/>
        </p:spPr>
        <p:txBody>
          <a:bodyPr wrap="square">
            <a:spAutoFit/>
          </a:bodyPr>
          <a:lstStyle/>
          <a:p>
            <a:pPr algn="l"/>
            <a:r>
              <a:rPr sz="1500" b="1" i="0">
                <a:solidFill>
                  <a:srgbClr val="4C1D95"/>
                </a:solidFill>
              </a:rPr>
              <a:t>🔤  PyMuPDF ≠ PDF.js Extraction</a:t>
            </a:r>
          </a:p>
        </p:txBody>
      </p:sp>
      <p:sp>
        <p:nvSpPr>
          <p:cNvPr id="28" name="TextBox 27"/>
          <p:cNvSpPr txBox="1"/>
          <p:nvPr/>
        </p:nvSpPr>
        <p:spPr>
          <a:xfrm>
            <a:off x="12134088" y="6583679"/>
            <a:ext cx="4892040" cy="2414016"/>
          </a:xfrm>
          <a:prstGeom prst="rect">
            <a:avLst/>
          </a:prstGeom>
          <a:noFill/>
        </p:spPr>
        <p:txBody>
          <a:bodyPr wrap="square">
            <a:spAutoFit/>
          </a:bodyPr>
          <a:lstStyle/>
          <a:p>
            <a:pPr algn="l"/>
            <a:r>
              <a:rPr sz="1250" b="0" i="0">
                <a:solidFill>
                  <a:srgbClr val="7C3AED"/>
                </a:solidFill>
              </a:rPr>
              <a:t>Math and symbols render differently at ingest (PyMuPDF) and in the viewer (PDF.js), requiring fuzzy word-anchor matching for highlighting.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484632"/>
            <a:ext cx="16285463" cy="429768"/>
          </a:xfrm>
          <a:prstGeom prst="rect">
            <a:avLst/>
          </a:prstGeom>
          <a:noFill/>
        </p:spPr>
        <p:txBody>
          <a:bodyPr wrap="square">
            <a:spAutoFit/>
          </a:bodyPr>
          <a:lstStyle/>
          <a:p>
            <a:pPr algn="l"/>
            <a:r>
              <a:rPr sz="1400" b="1" i="0">
                <a:solidFill>
                  <a:srgbClr val="7C3AED"/>
                </a:solidFill>
              </a:rPr>
              <a:t>SYSTEM DESIGN</a:t>
            </a:r>
          </a:p>
        </p:txBody>
      </p:sp>
      <p:sp>
        <p:nvSpPr>
          <p:cNvPr id="3" name="TextBox 2"/>
          <p:cNvSpPr txBox="1"/>
          <p:nvPr/>
        </p:nvSpPr>
        <p:spPr>
          <a:xfrm>
            <a:off x="914400" y="987552"/>
            <a:ext cx="16285463" cy="502920"/>
          </a:xfrm>
          <a:prstGeom prst="rect">
            <a:avLst/>
          </a:prstGeom>
          <a:noFill/>
        </p:spPr>
        <p:txBody>
          <a:bodyPr wrap="square">
            <a:spAutoFit/>
          </a:bodyPr>
          <a:lstStyle/>
          <a:p>
            <a:pPr algn="l"/>
            <a:r>
              <a:rPr sz="2800" b="1" i="0">
                <a:solidFill>
                  <a:srgbClr val="4C1D95"/>
                </a:solidFill>
              </a:rPr>
              <a:t>Component architecture &amp; data flow</a:t>
            </a:r>
          </a:p>
        </p:txBody>
      </p:sp>
      <p:sp>
        <p:nvSpPr>
          <p:cNvPr id="4" name="Rectangle 3"/>
          <p:cNvSpPr/>
          <p:nvPr/>
        </p:nvSpPr>
        <p:spPr>
          <a:xfrm>
            <a:off x="822960" y="1856231"/>
            <a:ext cx="16651224"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20040" y="3291840"/>
            <a:ext cx="3474720" cy="3474720"/>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291840"/>
            <a:ext cx="347472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456432"/>
            <a:ext cx="3108960" cy="502920"/>
          </a:xfrm>
          <a:prstGeom prst="rect">
            <a:avLst/>
          </a:prstGeom>
          <a:noFill/>
        </p:spPr>
        <p:txBody>
          <a:bodyPr wrap="square">
            <a:spAutoFit/>
          </a:bodyPr>
          <a:lstStyle/>
          <a:p>
            <a:pPr algn="l"/>
            <a:r>
              <a:rPr sz="2200" b="0" i="0">
                <a:solidFill>
                  <a:srgbClr val="4C1D95"/>
                </a:solidFill>
              </a:rPr>
              <a:t>🌐</a:t>
            </a:r>
          </a:p>
        </p:txBody>
      </p:sp>
      <p:sp>
        <p:nvSpPr>
          <p:cNvPr id="8" name="TextBox 7"/>
          <p:cNvSpPr txBox="1"/>
          <p:nvPr/>
        </p:nvSpPr>
        <p:spPr>
          <a:xfrm>
            <a:off x="548640" y="3977639"/>
            <a:ext cx="3108960" cy="457200"/>
          </a:xfrm>
          <a:prstGeom prst="rect">
            <a:avLst/>
          </a:prstGeom>
          <a:noFill/>
        </p:spPr>
        <p:txBody>
          <a:bodyPr wrap="square">
            <a:spAutoFit/>
          </a:bodyPr>
          <a:lstStyle/>
          <a:p>
            <a:pPr algn="l"/>
            <a:r>
              <a:rPr sz="1600" b="1" i="0">
                <a:solidFill>
                  <a:srgbClr val="4C1D95"/>
                </a:solidFill>
              </a:rPr>
              <a:t>Browser</a:t>
            </a:r>
          </a:p>
        </p:txBody>
      </p:sp>
      <p:sp>
        <p:nvSpPr>
          <p:cNvPr id="9" name="TextBox 8"/>
          <p:cNvSpPr txBox="1"/>
          <p:nvPr/>
        </p:nvSpPr>
        <p:spPr>
          <a:xfrm>
            <a:off x="548640" y="4480560"/>
            <a:ext cx="3108960" cy="2103120"/>
          </a:xfrm>
          <a:prstGeom prst="rect">
            <a:avLst/>
          </a:prstGeom>
          <a:noFill/>
        </p:spPr>
        <p:txBody>
          <a:bodyPr wrap="square">
            <a:spAutoFit/>
          </a:bodyPr>
          <a:lstStyle/>
          <a:p>
            <a:pPr algn="l"/>
            <a:r>
              <a:rPr sz="1150" b="0" i="0">
                <a:solidFill>
                  <a:srgbClr val="7C3AED"/>
                </a:solidFill>
              </a:rPr>
              <a:t>index.html
PDF.js viewer
SSE streaming
citation pills</a:t>
            </a:r>
          </a:p>
        </p:txBody>
      </p:sp>
      <p:sp>
        <p:nvSpPr>
          <p:cNvPr id="10" name="Rectangle 9"/>
          <p:cNvSpPr/>
          <p:nvPr/>
        </p:nvSpPr>
        <p:spPr>
          <a:xfrm>
            <a:off x="7406640" y="2194560"/>
            <a:ext cx="3474720" cy="5120640"/>
          </a:xfrm>
          <a:prstGeom prst="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40" y="2194560"/>
            <a:ext cx="347472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35240" y="2359152"/>
            <a:ext cx="3108960" cy="502920"/>
          </a:xfrm>
          <a:prstGeom prst="rect">
            <a:avLst/>
          </a:prstGeom>
          <a:noFill/>
        </p:spPr>
        <p:txBody>
          <a:bodyPr wrap="square">
            <a:spAutoFit/>
          </a:bodyPr>
          <a:lstStyle/>
          <a:p>
            <a:pPr algn="l"/>
            <a:r>
              <a:rPr sz="2200" b="0" i="0">
                <a:solidFill>
                  <a:srgbClr val="4C1D95"/>
                </a:solidFill>
              </a:rPr>
              <a:t>⚙️</a:t>
            </a:r>
          </a:p>
        </p:txBody>
      </p:sp>
      <p:sp>
        <p:nvSpPr>
          <p:cNvPr id="13" name="TextBox 12"/>
          <p:cNvSpPr txBox="1"/>
          <p:nvPr/>
        </p:nvSpPr>
        <p:spPr>
          <a:xfrm>
            <a:off x="7635240" y="2880360"/>
            <a:ext cx="3108960" cy="457200"/>
          </a:xfrm>
          <a:prstGeom prst="rect">
            <a:avLst/>
          </a:prstGeom>
          <a:noFill/>
        </p:spPr>
        <p:txBody>
          <a:bodyPr wrap="square">
            <a:spAutoFit/>
          </a:bodyPr>
          <a:lstStyle/>
          <a:p>
            <a:pPr algn="l"/>
            <a:r>
              <a:rPr sz="1600" b="1" i="0">
                <a:solidFill>
                  <a:srgbClr val="4C1D95"/>
                </a:solidFill>
              </a:rPr>
              <a:t>FastAPI</a:t>
            </a:r>
          </a:p>
        </p:txBody>
      </p:sp>
      <p:sp>
        <p:nvSpPr>
          <p:cNvPr id="14" name="TextBox 13"/>
          <p:cNvSpPr txBox="1"/>
          <p:nvPr/>
        </p:nvSpPr>
        <p:spPr>
          <a:xfrm>
            <a:off x="7635240" y="3383280"/>
            <a:ext cx="3108960" cy="3749039"/>
          </a:xfrm>
          <a:prstGeom prst="rect">
            <a:avLst/>
          </a:prstGeom>
          <a:noFill/>
        </p:spPr>
        <p:txBody>
          <a:bodyPr wrap="square">
            <a:spAutoFit/>
          </a:bodyPr>
          <a:lstStyle/>
          <a:p>
            <a:pPr algn="l"/>
            <a:r>
              <a:rPr sz="1150" b="0" i="0">
                <a:solidFill>
                  <a:srgbClr val="7C3AED"/>
                </a:solidFill>
              </a:rPr>
              <a:t>POST /ingest
POST /query
DELETE /doc
GET /doc/info
GET /health
asyncpg · uvicorn</a:t>
            </a:r>
          </a:p>
        </p:txBody>
      </p:sp>
      <p:sp>
        <p:nvSpPr>
          <p:cNvPr id="15" name="Rectangle 14"/>
          <p:cNvSpPr/>
          <p:nvPr/>
        </p:nvSpPr>
        <p:spPr>
          <a:xfrm>
            <a:off x="14493240" y="3291840"/>
            <a:ext cx="3474720" cy="3474720"/>
          </a:xfrm>
          <a:prstGeom prst="rect">
            <a:avLst/>
          </a:prstGeom>
          <a:solidFill>
            <a:srgbClr val="FFFFFF"/>
          </a:solidFill>
          <a:ln w="19050">
            <a:solidFill>
              <a:srgbClr val="428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4493240" y="3291840"/>
            <a:ext cx="3474720" cy="54864"/>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21840" y="3456432"/>
            <a:ext cx="3108960" cy="502920"/>
          </a:xfrm>
          <a:prstGeom prst="rect">
            <a:avLst/>
          </a:prstGeom>
          <a:noFill/>
        </p:spPr>
        <p:txBody>
          <a:bodyPr wrap="square">
            <a:spAutoFit/>
          </a:bodyPr>
          <a:lstStyle/>
          <a:p>
            <a:pPr algn="l"/>
            <a:r>
              <a:rPr sz="2200" b="0" i="0">
                <a:solidFill>
                  <a:srgbClr val="4C1D95"/>
                </a:solidFill>
              </a:rPr>
              <a:t>🧠</a:t>
            </a:r>
          </a:p>
        </p:txBody>
      </p:sp>
      <p:sp>
        <p:nvSpPr>
          <p:cNvPr id="18" name="TextBox 17"/>
          <p:cNvSpPr txBox="1"/>
          <p:nvPr/>
        </p:nvSpPr>
        <p:spPr>
          <a:xfrm>
            <a:off x="14721840" y="3977639"/>
            <a:ext cx="3108960" cy="457200"/>
          </a:xfrm>
          <a:prstGeom prst="rect">
            <a:avLst/>
          </a:prstGeom>
          <a:noFill/>
        </p:spPr>
        <p:txBody>
          <a:bodyPr wrap="square">
            <a:spAutoFit/>
          </a:bodyPr>
          <a:lstStyle/>
          <a:p>
            <a:pPr algn="l"/>
            <a:r>
              <a:rPr sz="1600" b="1" i="0">
                <a:solidFill>
                  <a:srgbClr val="4C1D95"/>
                </a:solidFill>
              </a:rPr>
              <a:t>Gemini API</a:t>
            </a:r>
          </a:p>
        </p:txBody>
      </p:sp>
      <p:sp>
        <p:nvSpPr>
          <p:cNvPr id="19" name="TextBox 18"/>
          <p:cNvSpPr txBox="1"/>
          <p:nvPr/>
        </p:nvSpPr>
        <p:spPr>
          <a:xfrm>
            <a:off x="14721840" y="4480560"/>
            <a:ext cx="3108960" cy="2103120"/>
          </a:xfrm>
          <a:prstGeom prst="rect">
            <a:avLst/>
          </a:prstGeom>
          <a:noFill/>
        </p:spPr>
        <p:txBody>
          <a:bodyPr wrap="square">
            <a:spAutoFit/>
          </a:bodyPr>
          <a:lstStyle/>
          <a:p>
            <a:pPr algn="l"/>
            <a:r>
              <a:rPr sz="1150">
                <a:solidFill>
                  <a:srgbClr val="7C3AED"/>
                </a:solidFill>
              </a:rPr>
              <a:t>embedding-2 (768-dim)</a:t>
            </a:r>
          </a:p>
          <a:p>
            <a:pPr algn="l"/>
            <a:r>
              <a:rPr sz="1150">
                <a:solidFill>
                  <a:srgbClr val="7C3AED"/>
                </a:solidFill>
              </a:rPr>
              <a:t>RETRIEVAL_DOCUMENT/QUERY</a:t>
            </a:r>
          </a:p>
          <a:p>
            <a:pPr algn="l"/>
            <a:r>
              <a:rPr sz="1150">
                <a:solidFill>
                  <a:srgbClr val="7C3AED"/>
                </a:solidFill>
              </a:rPr>
              <a:t>2.5-flash vision (image captions)</a:t>
            </a:r>
          </a:p>
          <a:p>
            <a:pPr algn="l"/>
            <a:r>
              <a:rPr sz="1150">
                <a:solidFill>
                  <a:srgbClr val="7C3AED"/>
                </a:solidFill>
              </a:rPr>
              <a:t>2.5-flash answer (SSE)</a:t>
            </a:r>
          </a:p>
        </p:txBody>
      </p:sp>
      <p:sp>
        <p:nvSpPr>
          <p:cNvPr id="20" name="Rectangle 19"/>
          <p:cNvSpPr/>
          <p:nvPr/>
        </p:nvSpPr>
        <p:spPr>
          <a:xfrm>
            <a:off x="7406640" y="7863840"/>
            <a:ext cx="3474720" cy="2103120"/>
          </a:xfrm>
          <a:prstGeom prst="rect">
            <a:avLst/>
          </a:prstGeom>
          <a:solidFill>
            <a:srgbClr val="FFFFFF"/>
          </a:solidFill>
          <a:ln w="19050">
            <a:solidFill>
              <a:srgbClr val="3367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06640" y="7863840"/>
            <a:ext cx="3474720" cy="54864"/>
          </a:xfrm>
          <a:prstGeom prst="rect">
            <a:avLst/>
          </a:prstGeom>
          <a:solidFill>
            <a:srgbClr val="3367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8028431"/>
            <a:ext cx="3108960" cy="502920"/>
          </a:xfrm>
          <a:prstGeom prst="rect">
            <a:avLst/>
          </a:prstGeom>
          <a:noFill/>
        </p:spPr>
        <p:txBody>
          <a:bodyPr wrap="square">
            <a:spAutoFit/>
          </a:bodyPr>
          <a:lstStyle/>
          <a:p>
            <a:pPr algn="l"/>
            <a:r>
              <a:rPr sz="2200" b="0" i="0">
                <a:solidFill>
                  <a:srgbClr val="4C1D95"/>
                </a:solidFill>
              </a:rPr>
              <a:t>🗄️</a:t>
            </a:r>
          </a:p>
        </p:txBody>
      </p:sp>
      <p:sp>
        <p:nvSpPr>
          <p:cNvPr id="23" name="TextBox 22"/>
          <p:cNvSpPr txBox="1"/>
          <p:nvPr/>
        </p:nvSpPr>
        <p:spPr>
          <a:xfrm>
            <a:off x="7635240" y="8549640"/>
            <a:ext cx="3108960" cy="457200"/>
          </a:xfrm>
          <a:prstGeom prst="rect">
            <a:avLst/>
          </a:prstGeom>
          <a:noFill/>
        </p:spPr>
        <p:txBody>
          <a:bodyPr wrap="square">
            <a:spAutoFit/>
          </a:bodyPr>
          <a:lstStyle/>
          <a:p>
            <a:pPr algn="l"/>
            <a:r>
              <a:rPr sz="1600" b="1" i="0">
                <a:solidFill>
                  <a:srgbClr val="4C1D95"/>
                </a:solidFill>
              </a:rPr>
              <a:t>PostgreSQL + pgvector</a:t>
            </a:r>
          </a:p>
        </p:txBody>
      </p:sp>
      <p:sp>
        <p:nvSpPr>
          <p:cNvPr id="24" name="TextBox 23"/>
          <p:cNvSpPr txBox="1"/>
          <p:nvPr/>
        </p:nvSpPr>
        <p:spPr>
          <a:xfrm>
            <a:off x="7635240" y="9052560"/>
            <a:ext cx="3108960" cy="731519"/>
          </a:xfrm>
          <a:prstGeom prst="rect">
            <a:avLst/>
          </a:prstGeom>
          <a:noFill/>
        </p:spPr>
        <p:txBody>
          <a:bodyPr wrap="square">
            <a:spAutoFit/>
          </a:bodyPr>
          <a:lstStyle/>
          <a:p>
            <a:pPr algn="l"/>
            <a:r>
              <a:rPr sz="1150" b="0" i="0">
                <a:solidFill>
                  <a:srgbClr val="7C3AED"/>
                </a:solidFill>
              </a:rPr>
              <a:t>chunks · doc_meta
HNSW cosine · tsvector BM25
RRF fusion</a:t>
            </a:r>
          </a:p>
        </p:txBody>
      </p:sp>
      <p:cxnSp>
        <p:nvCxnSpPr>
          <p:cNvPr id="25" name="Connector 24"/>
          <p:cNvCxnSpPr/>
          <p:nvPr/>
        </p:nvCxnSpPr>
        <p:spPr>
          <a:xfrm>
            <a:off x="3794759" y="4297680"/>
            <a:ext cx="3611881" cy="0"/>
          </a:xfrm>
          <a:prstGeom prst="line">
            <a:avLst/>
          </a:prstGeom>
          <a:ln w="25400">
            <a:solidFill>
              <a:srgbClr val="7C3AED"/>
            </a:solidFill>
            <a:tailEnd type="arrow"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840479" y="3977640"/>
            <a:ext cx="3520440" cy="292608"/>
          </a:xfrm>
          <a:prstGeom prst="rect">
            <a:avLst/>
          </a:prstGeom>
          <a:noFill/>
        </p:spPr>
        <p:txBody>
          <a:bodyPr wrap="square">
            <a:spAutoFit/>
          </a:bodyPr>
          <a:lstStyle/>
          <a:p>
            <a:pPr algn="ctr"/>
            <a:r>
              <a:rPr sz="1000" b="0" i="1">
                <a:solidFill>
                  <a:srgbClr val="64748B"/>
                </a:solidFill>
              </a:rPr>
              <a:t>upload PDF / query</a:t>
            </a:r>
          </a:p>
        </p:txBody>
      </p:sp>
      <p:cxnSp>
        <p:nvCxnSpPr>
          <p:cNvPr id="27" name="Connector 26"/>
          <p:cNvCxnSpPr/>
          <p:nvPr/>
        </p:nvCxnSpPr>
        <p:spPr>
          <a:xfrm flipH="1">
            <a:off x="3794759" y="5486400"/>
            <a:ext cx="3611881" cy="0"/>
          </a:xfrm>
          <a:prstGeom prst="line">
            <a:avLst/>
          </a:prstGeom>
          <a:ln w="25400">
            <a:solidFill>
              <a:srgbClr val="059669"/>
            </a:solidFill>
            <a:tailEnd type="arrow"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40479" y="5559552"/>
            <a:ext cx="3520440" cy="292608"/>
          </a:xfrm>
          <a:prstGeom prst="rect">
            <a:avLst/>
          </a:prstGeom>
          <a:noFill/>
        </p:spPr>
        <p:txBody>
          <a:bodyPr wrap="square">
            <a:spAutoFit/>
          </a:bodyPr>
          <a:lstStyle/>
          <a:p>
            <a:pPr algn="ctr"/>
            <a:r>
              <a:rPr sz="1000" b="0" i="1">
                <a:solidFill>
                  <a:srgbClr val="64748B"/>
                </a:solidFill>
              </a:rPr>
              <a:t>SSE stream</a:t>
            </a:r>
          </a:p>
        </p:txBody>
      </p:sp>
      <p:cxnSp>
        <p:nvCxnSpPr>
          <p:cNvPr id="29" name="Connector 28"/>
          <p:cNvCxnSpPr/>
          <p:nvPr/>
        </p:nvCxnSpPr>
        <p:spPr>
          <a:xfrm>
            <a:off x="10881359" y="4297680"/>
            <a:ext cx="3611881" cy="0"/>
          </a:xfrm>
          <a:prstGeom prst="line">
            <a:avLst/>
          </a:prstGeom>
          <a:ln w="25400">
            <a:solidFill>
              <a:srgbClr val="4285F4"/>
            </a:solidFill>
            <a:tailEnd type="arrow"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927080" y="3977640"/>
            <a:ext cx="3520440" cy="292608"/>
          </a:xfrm>
          <a:prstGeom prst="rect">
            <a:avLst/>
          </a:prstGeom>
          <a:noFill/>
        </p:spPr>
        <p:txBody>
          <a:bodyPr wrap="square">
            <a:spAutoFit/>
          </a:bodyPr>
          <a:lstStyle/>
          <a:p>
            <a:pPr algn="ctr"/>
            <a:r>
              <a:rPr sz="1000" b="0" i="1">
                <a:solidFill>
                  <a:srgbClr val="64748B"/>
                </a:solidFill>
              </a:rPr>
              <a:t>embed / answer</a:t>
            </a:r>
          </a:p>
        </p:txBody>
      </p:sp>
      <p:cxnSp>
        <p:nvCxnSpPr>
          <p:cNvPr id="31" name="Connector 30"/>
          <p:cNvCxnSpPr/>
          <p:nvPr/>
        </p:nvCxnSpPr>
        <p:spPr>
          <a:xfrm flipH="1">
            <a:off x="10881359" y="5577840"/>
            <a:ext cx="3611881" cy="0"/>
          </a:xfrm>
          <a:prstGeom prst="line">
            <a:avLst/>
          </a:prstGeom>
          <a:ln w="25400">
            <a:solidFill>
              <a:srgbClr val="4285F4"/>
            </a:solidFill>
            <a:tailEnd type="arrow"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0927080" y="5650992"/>
            <a:ext cx="3520440" cy="292608"/>
          </a:xfrm>
          <a:prstGeom prst="rect">
            <a:avLst/>
          </a:prstGeom>
          <a:noFill/>
        </p:spPr>
        <p:txBody>
          <a:bodyPr wrap="square">
            <a:spAutoFit/>
          </a:bodyPr>
          <a:lstStyle/>
          <a:p>
            <a:pPr algn="ctr"/>
            <a:r>
              <a:rPr sz="1000" b="0" i="1">
                <a:solidFill>
                  <a:srgbClr val="64748B"/>
                </a:solidFill>
              </a:rPr>
              <a:t>embeddings / tokens</a:t>
            </a:r>
          </a:p>
        </p:txBody>
      </p:sp>
      <p:cxnSp>
        <p:nvCxnSpPr>
          <p:cNvPr id="33" name="Connector 32"/>
          <p:cNvCxnSpPr/>
          <p:nvPr/>
        </p:nvCxnSpPr>
        <p:spPr>
          <a:xfrm>
            <a:off x="9144000" y="7315200"/>
            <a:ext cx="0" cy="548640"/>
          </a:xfrm>
          <a:prstGeom prst="line">
            <a:avLst/>
          </a:prstGeom>
          <a:ln w="25400">
            <a:solidFill>
              <a:srgbClr val="336791"/>
            </a:solidFill>
            <a:tailEnd type="arrow"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235440" y="7424928"/>
            <a:ext cx="2011680" cy="329184"/>
          </a:xfrm>
          <a:prstGeom prst="rect">
            <a:avLst/>
          </a:prstGeom>
          <a:noFill/>
        </p:spPr>
        <p:txBody>
          <a:bodyPr wrap="square">
            <a:spAutoFit/>
          </a:bodyPr>
          <a:lstStyle/>
          <a:p>
            <a:pPr algn="l"/>
            <a:r>
              <a:rPr sz="1000" b="0" i="1">
                <a:solidFill>
                  <a:srgbClr val="64748B"/>
                </a:solidFill>
              </a:rPr>
              <a:t>store &amp; retrieve</a:t>
            </a:r>
          </a:p>
        </p:txBody>
      </p:sp>
      <p:sp>
        <p:nvSpPr>
          <p:cNvPr id="35" name="TextBox 34"/>
          <p:cNvSpPr txBox="1"/>
          <p:nvPr/>
        </p:nvSpPr>
        <p:spPr>
          <a:xfrm>
            <a:off x="457200" y="10058400"/>
            <a:ext cx="17373600" cy="274320"/>
          </a:xfrm>
          <a:prstGeom prst="rect">
            <a:avLst/>
          </a:prstGeom>
          <a:noFill/>
        </p:spPr>
        <p:txBody>
          <a:bodyPr wrap="none">
            <a:spAutoFit/>
          </a:bodyPr>
          <a:lstStyle/>
          <a:p>
            <a:pPr algn="l"/>
            <a:r>
              <a:rPr sz="900" b="0" i="0">
                <a:solidFill>
                  <a:srgbClr val="94A3B8"/>
                </a:solidFill>
              </a:rPr>
              <a:t>Ingest flow: Browser → FastAPI → Gemini (embed) → Postgres (store)   Query flow: Browser → FastAPI → Postgres (hybrid search) → Gemini (+answer) → Browser (SSE)</a:t>
            </a:r>
          </a:p>
        </p:txBody>
      </p:sp>
    </p:spTree>
  </p:cSld>
  <p:clrMapOvr>
    <a:masterClrMapping/>
  </p:clrMapOvr>
</p:sld>
</file>

<file path=ppt/slides/slide1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440" y="1550051"/>
            <a:ext cx="18114845" cy="1424111"/>
          </a:xfrm>
          <a:prstGeom prst="rect">
            <a:avLst/>
          </a:prstGeom>
        </p:spPr>
        <p:txBody>
          <a:bodyPr anchor="t" rtlCol="false" tIns="0" lIns="0" bIns="0" rIns="0">
            <a:spAutoFit/>
          </a:bodyPr>
          <a:lstStyle/>
          <a:p>
            <a:pPr algn="ctr">
              <a:lnSpc>
                <a:spcPts val="8646"/>
              </a:lnSpc>
            </a:pPr>
            <a:r>
              <a:rPr lang="en-US" sz="7205">
                <a:solidFill>
                  <a:srgbClr val="4C1D95"/>
                </a:solidFill>
                <a:latin typeface="Calibri (MS)"/>
                <a:ea typeface="Calibri (MS)"/>
                <a:cs typeface="Calibri (MS)"/>
                <a:sym typeface="Calibri (MS)"/>
              </a:rPr>
              <a:t>🙏</a:t>
            </a:r>
          </a:p>
        </p:txBody>
      </p:sp>
      <p:sp>
        <p:nvSpPr>
          <p:cNvPr name="TextBox 3" id="3"/>
          <p:cNvSpPr txBox="true"/>
          <p:nvPr/>
        </p:nvSpPr>
        <p:spPr>
          <a:xfrm rot="0">
            <a:off x="91440" y="3059992"/>
            <a:ext cx="18114845" cy="1424111"/>
          </a:xfrm>
          <a:prstGeom prst="rect">
            <a:avLst/>
          </a:prstGeom>
        </p:spPr>
        <p:txBody>
          <a:bodyPr anchor="t" rtlCol="false" tIns="0" lIns="0" bIns="0" rIns="0">
            <a:spAutoFit/>
          </a:bodyPr>
          <a:lstStyle/>
          <a:p>
            <a:pPr algn="ctr">
              <a:lnSpc>
                <a:spcPts val="8646"/>
              </a:lnSpc>
            </a:pPr>
            <a:r>
              <a:rPr lang="en-US" sz="7205" b="true">
                <a:solidFill>
                  <a:srgbClr val="4C1D95"/>
                </a:solidFill>
                <a:latin typeface="Calibri (MS) Bold"/>
                <a:ea typeface="Calibri (MS) Bold"/>
                <a:cs typeface="Calibri (MS) Bold"/>
                <a:sym typeface="Calibri (MS) Bold"/>
              </a:rPr>
              <a:t>Thank you</a:t>
            </a:r>
          </a:p>
        </p:txBody>
      </p:sp>
      <p:sp>
        <p:nvSpPr>
          <p:cNvPr name="TextBox 4" id="4"/>
          <p:cNvSpPr txBox="true"/>
          <p:nvPr/>
        </p:nvSpPr>
        <p:spPr>
          <a:xfrm rot="0">
            <a:off x="91440" y="4646133"/>
            <a:ext cx="18114845" cy="798843"/>
          </a:xfrm>
          <a:prstGeom prst="rect">
            <a:avLst/>
          </a:prstGeom>
        </p:spPr>
        <p:txBody>
          <a:bodyPr anchor="t" rtlCol="false" tIns="0" lIns="0" bIns="0" rIns="0">
            <a:spAutoFit/>
          </a:bodyPr>
          <a:lstStyle/>
          <a:p>
            <a:pPr algn="ctr">
              <a:lnSpc>
                <a:spcPts val="3602"/>
              </a:lnSpc>
            </a:pPr>
            <a:r>
              <a:rPr lang="en-US" sz="3002">
                <a:solidFill>
                  <a:srgbClr val="7C3AED"/>
                </a:solidFill>
                <a:latin typeface="Calibri (MS)"/>
                <a:ea typeface="Calibri (MS)"/>
                <a:cs typeface="Calibri (MS)"/>
                <a:sym typeface="Calibri (MS)"/>
              </a:rPr>
              <a:t>Questions &amp; live Q&amp;A</a:t>
            </a:r>
          </a:p>
        </p:txBody>
      </p:sp>
      <p:grpSp>
        <p:nvGrpSpPr>
          <p:cNvPr name="Group 5" id="5"/>
          <p:cNvGrpSpPr/>
          <p:nvPr/>
        </p:nvGrpSpPr>
        <p:grpSpPr>
          <a:xfrm rot="0">
            <a:off x="4794818" y="5755691"/>
            <a:ext cx="8708079" cy="705402"/>
            <a:chOff x="0" y="0"/>
            <a:chExt cx="11610772" cy="940537"/>
          </a:xfrm>
        </p:grpSpPr>
        <p:sp>
          <p:nvSpPr>
            <p:cNvPr name="Freeform 6" id="6"/>
            <p:cNvSpPr/>
            <p:nvPr/>
          </p:nvSpPr>
          <p:spPr>
            <a:xfrm flipH="false" flipV="false" rot="0">
              <a:off x="12700" y="12700"/>
              <a:ext cx="11585321" cy="915162"/>
            </a:xfrm>
            <a:custGeom>
              <a:avLst/>
              <a:gdLst/>
              <a:ahLst/>
              <a:cxnLst/>
              <a:rect r="r" b="b" t="t" l="l"/>
              <a:pathLst>
                <a:path h="915162" w="11585321">
                  <a:moveTo>
                    <a:pt x="0" y="0"/>
                  </a:moveTo>
                  <a:lnTo>
                    <a:pt x="11585321" y="0"/>
                  </a:lnTo>
                  <a:lnTo>
                    <a:pt x="11585321" y="915162"/>
                  </a:lnTo>
                  <a:lnTo>
                    <a:pt x="0" y="915162"/>
                  </a:lnTo>
                  <a:close/>
                </a:path>
              </a:pathLst>
            </a:custGeom>
            <a:solidFill>
              <a:srgbClr val="FFFFFF"/>
            </a:solidFill>
          </p:spPr>
        </p:sp>
        <p:sp>
          <p:nvSpPr>
            <p:cNvPr name="Freeform 7" id="7"/>
            <p:cNvSpPr/>
            <p:nvPr/>
          </p:nvSpPr>
          <p:spPr>
            <a:xfrm flipH="false" flipV="false" rot="0">
              <a:off x="0" y="0"/>
              <a:ext cx="11610721" cy="940562"/>
            </a:xfrm>
            <a:custGeom>
              <a:avLst/>
              <a:gdLst/>
              <a:ahLst/>
              <a:cxnLst/>
              <a:rect r="r" b="b" t="t" l="l"/>
              <a:pathLst>
                <a:path h="940562" w="11610721">
                  <a:moveTo>
                    <a:pt x="12700" y="0"/>
                  </a:moveTo>
                  <a:lnTo>
                    <a:pt x="11598021" y="0"/>
                  </a:lnTo>
                  <a:cubicBezTo>
                    <a:pt x="11605006" y="0"/>
                    <a:pt x="11610721" y="5715"/>
                    <a:pt x="11610721" y="12700"/>
                  </a:cubicBezTo>
                  <a:lnTo>
                    <a:pt x="11610721" y="927862"/>
                  </a:lnTo>
                  <a:cubicBezTo>
                    <a:pt x="11610721" y="934847"/>
                    <a:pt x="11605006" y="940562"/>
                    <a:pt x="11598021" y="940562"/>
                  </a:cubicBezTo>
                  <a:lnTo>
                    <a:pt x="12700" y="940562"/>
                  </a:lnTo>
                  <a:cubicBezTo>
                    <a:pt x="5715" y="940562"/>
                    <a:pt x="0" y="934847"/>
                    <a:pt x="0" y="927862"/>
                  </a:cubicBezTo>
                  <a:lnTo>
                    <a:pt x="0" y="12700"/>
                  </a:lnTo>
                  <a:cubicBezTo>
                    <a:pt x="0" y="5715"/>
                    <a:pt x="5715" y="0"/>
                    <a:pt x="12700" y="0"/>
                  </a:cubicBezTo>
                  <a:moveTo>
                    <a:pt x="12700" y="25400"/>
                  </a:moveTo>
                  <a:lnTo>
                    <a:pt x="12700" y="12700"/>
                  </a:lnTo>
                  <a:lnTo>
                    <a:pt x="25400" y="12700"/>
                  </a:lnTo>
                  <a:lnTo>
                    <a:pt x="25400" y="927862"/>
                  </a:lnTo>
                  <a:lnTo>
                    <a:pt x="12700" y="927862"/>
                  </a:lnTo>
                  <a:lnTo>
                    <a:pt x="12700" y="915162"/>
                  </a:lnTo>
                  <a:lnTo>
                    <a:pt x="11598021" y="915162"/>
                  </a:lnTo>
                  <a:lnTo>
                    <a:pt x="11598021" y="927862"/>
                  </a:lnTo>
                  <a:lnTo>
                    <a:pt x="11585321" y="927862"/>
                  </a:lnTo>
                  <a:lnTo>
                    <a:pt x="11585321" y="12700"/>
                  </a:lnTo>
                  <a:lnTo>
                    <a:pt x="11598021" y="12700"/>
                  </a:lnTo>
                  <a:lnTo>
                    <a:pt x="11598021" y="25400"/>
                  </a:lnTo>
                  <a:lnTo>
                    <a:pt x="12700" y="25400"/>
                  </a:lnTo>
                  <a:close/>
                </a:path>
              </a:pathLst>
            </a:custGeom>
            <a:solidFill>
              <a:srgbClr val="7C3AED"/>
            </a:solidFill>
          </p:spPr>
        </p:sp>
      </p:grpSp>
      <p:sp>
        <p:nvSpPr>
          <p:cNvPr name="TextBox 8" id="8"/>
          <p:cNvSpPr txBox="true"/>
          <p:nvPr/>
        </p:nvSpPr>
        <p:spPr>
          <a:xfrm rot="0">
            <a:off x="4895793" y="5868934"/>
            <a:ext cx="8506139" cy="495729"/>
          </a:xfrm>
          <a:prstGeom prst="rect">
            <a:avLst/>
          </a:prstGeom>
        </p:spPr>
        <p:txBody>
          <a:bodyPr anchor="t" rtlCol="false" tIns="0" lIns="0" bIns="0" rIns="0">
            <a:spAutoFit/>
          </a:bodyPr>
          <a:lstStyle/>
          <a:p>
            <a:pPr algn="ctr">
              <a:lnSpc>
                <a:spcPts val="2161"/>
              </a:lnSpc>
            </a:pPr>
            <a:r>
              <a:rPr lang="en-US" sz="1801">
                <a:solidFill>
                  <a:srgbClr val="7C3AED"/>
                </a:solidFill>
                <a:latin typeface="Calibri (MS)"/>
                <a:ea typeface="Calibri (MS)"/>
                <a:cs typeface="Calibri (MS)"/>
                <a:sym typeface="Calibri (MS)"/>
              </a:rPr>
              <a:t>github.com/GaneshMadarasu/nymbl-demo-RAG-system</a:t>
            </a:r>
          </a:p>
        </p:txBody>
      </p:sp>
      <p:sp>
        <p:nvSpPr>
          <p:cNvPr name="TextBox 9" id="9"/>
          <p:cNvSpPr txBox="true"/>
          <p:nvPr/>
        </p:nvSpPr>
        <p:spPr>
          <a:xfrm rot="0">
            <a:off x="1189577"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Hybrid BM25 + vector</a:t>
            </a:r>
          </a:p>
        </p:txBody>
      </p:sp>
      <p:sp>
        <p:nvSpPr>
          <p:cNvPr name="TextBox 10" id="10"/>
          <p:cNvSpPr txBox="true"/>
          <p:nvPr/>
        </p:nvSpPr>
        <p:spPr>
          <a:xfrm rot="0">
            <a:off x="5307597"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Image retrieval + linking</a:t>
            </a:r>
          </a:p>
        </p:txBody>
      </p:sp>
      <p:sp>
        <p:nvSpPr>
          <p:cNvPr name="TextBox 11" id="11"/>
          <p:cNvSpPr txBox="true"/>
          <p:nvPr/>
        </p:nvSpPr>
        <p:spPr>
          <a:xfrm rot="0">
            <a:off x="9425616"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Parent-child chunks</a:t>
            </a:r>
          </a:p>
        </p:txBody>
      </p:sp>
      <p:sp>
        <p:nvSpPr>
          <p:cNvPr name="TextBox 12" id="12"/>
          <p:cNvSpPr txBox="true"/>
          <p:nvPr/>
        </p:nvSpPr>
        <p:spPr>
          <a:xfrm rot="0">
            <a:off x="13543626"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Dedup + similarity scores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DAHJG9ljMf8</dc:identifier>
  <dcterms:modified xsi:type="dcterms:W3CDTF">2011-08-01T06:04:30Z</dcterms:modified>
  <cp:revision>1</cp:revision>
  <dc:title>DocRAG.pptx</dc:title>
</cp:coreProperties>
</file>