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8" r:id="rId21"/>
    <p:sldId id="269" r:id="rId22"/>
    <p:sldId id="267" r:id="rId17"/>
  </p:sldIdLst>
  <p:sldSz cx="18288000" cy="10287000"/>
  <p:notesSz cx="6858000" cy="9144000"/>
  <p:embeddedFontLst>
    <p:embeddedFont>
      <p:font typeface="Calibri (MS) Bold" charset="1" panose="020F0702030404030204"/>
      <p:regular r:id="rId18"/>
    </p:embeddedFont>
    <p:embeddedFont>
      <p:font typeface="Calibri (MS)" charset="1" panose="020F0502020204030204"/>
      <p:regular r:id="rId19"/>
    </p:embeddedFont>
    <p:embeddedFont>
      <p:font typeface="Calibri (MS) Italics" charset="1" panose="020F05020202040A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4.xml"/><Relationship Id="rId18" Type="http://schemas.openxmlformats.org/officeDocument/2006/relationships/font" Target="fonts/font18.fntdata"/><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slide" Target="slides/slide12.xml"/><Relationship Id="rId22"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95039" y="0"/>
            <a:ext cx="8236039" cy="10295039"/>
            <a:chOff x="0" y="0"/>
            <a:chExt cx="10981385" cy="13726719"/>
          </a:xfrm>
        </p:grpSpPr>
        <p:sp>
          <p:nvSpPr>
            <p:cNvPr name="Freeform 3" id="3"/>
            <p:cNvSpPr/>
            <p:nvPr/>
          </p:nvSpPr>
          <p:spPr>
            <a:xfrm flipH="false" flipV="false" rot="0">
              <a:off x="0" y="0"/>
              <a:ext cx="10981436" cy="13726668"/>
            </a:xfrm>
            <a:custGeom>
              <a:avLst/>
              <a:gdLst/>
              <a:ahLst/>
              <a:cxnLst/>
              <a:rect r="r" b="b" t="t" l="l"/>
              <a:pathLst>
                <a:path h="13726668" w="10981436">
                  <a:moveTo>
                    <a:pt x="0" y="0"/>
                  </a:moveTo>
                  <a:lnTo>
                    <a:pt x="10981436" y="0"/>
                  </a:lnTo>
                  <a:lnTo>
                    <a:pt x="10981436" y="13726668"/>
                  </a:lnTo>
                  <a:lnTo>
                    <a:pt x="0" y="13726668"/>
                  </a:lnTo>
                  <a:close/>
                </a:path>
              </a:pathLst>
            </a:custGeom>
            <a:solidFill>
              <a:srgbClr val="FFFFFF"/>
            </a:solidFill>
          </p:spPr>
        </p:sp>
      </p:grpSp>
      <p:sp>
        <p:nvSpPr>
          <p:cNvPr name="TextBox 4" id="4"/>
          <p:cNvSpPr txBox="true"/>
          <p:nvPr/>
        </p:nvSpPr>
        <p:spPr>
          <a:xfrm rot="0">
            <a:off x="915048" y="1929365"/>
            <a:ext cx="9425826" cy="304800"/>
          </a:xfrm>
          <a:prstGeom prst="rect">
            <a:avLst/>
          </a:prstGeom>
        </p:spPr>
        <p:txBody>
          <a:bodyPr anchor="t" rtlCol="false" tIns="0" lIns="0" bIns="0" rIns="0">
            <a:spAutoFit/>
          </a:bodyPr>
          <a:lstStyle/>
          <a:p>
            <a:pPr algn="l">
              <a:lnSpc>
                <a:spcPts val="2161"/>
              </a:lnSpc>
            </a:pPr>
            <a:r>
              <a:rPr lang="en-US" sz="1801" b="true">
                <a:solidFill>
                  <a:srgbClr val="7C3AED"/>
                </a:solidFill>
                <a:latin typeface="Calibri (MS) Bold"/>
                <a:ea typeface="Calibri (MS) Bold"/>
                <a:cs typeface="Calibri (MS) Bold"/>
                <a:sym typeface="Calibri (MS) Bold"/>
              </a:rPr>
              <a:t>Ganesh Madarasu X </a:t>
            </a:r>
            <a:r>
              <a:rPr lang="en-US" sz="1801" b="true">
                <a:solidFill>
                  <a:srgbClr val="7C3AED"/>
                </a:solidFill>
                <a:latin typeface="Calibri (MS) Bold"/>
                <a:ea typeface="Calibri (MS) Bold"/>
                <a:cs typeface="Calibri (MS) Bold"/>
                <a:sym typeface="Calibri (MS) Bold"/>
              </a:rPr>
              <a:t>AI Engineer</a:t>
            </a:r>
          </a:p>
        </p:txBody>
      </p:sp>
      <p:sp>
        <p:nvSpPr>
          <p:cNvPr name="TextBox 5" id="5"/>
          <p:cNvSpPr txBox="true"/>
          <p:nvPr/>
        </p:nvSpPr>
        <p:spPr>
          <a:xfrm rot="0">
            <a:off x="915048" y="2463298"/>
            <a:ext cx="9425826" cy="1562100"/>
          </a:xfrm>
          <a:prstGeom prst="rect">
            <a:avLst/>
          </a:prstGeom>
        </p:spPr>
        <p:txBody>
          <a:bodyPr anchor="t" rtlCol="false" tIns="0" lIns="0" bIns="0" rIns="0">
            <a:spAutoFit/>
          </a:bodyPr>
          <a:lstStyle/>
          <a:p>
            <a:pPr algn="l">
              <a:lnSpc>
                <a:spcPts val="10808"/>
              </a:lnSpc>
            </a:pPr>
            <a:r>
              <a:rPr lang="en-US" sz="9007" b="true">
                <a:solidFill>
                  <a:srgbClr val="4C1D95"/>
                </a:solidFill>
                <a:latin typeface="Calibri (MS) Bold"/>
                <a:ea typeface="Calibri (MS) Bold"/>
                <a:cs typeface="Calibri (MS) Bold"/>
                <a:sym typeface="Calibri (MS) Bold"/>
              </a:rPr>
              <a:t>Nymbl - </a:t>
            </a:r>
            <a:r>
              <a:rPr lang="en-US" sz="9007" b="true">
                <a:solidFill>
                  <a:srgbClr val="4C1D95"/>
                </a:solidFill>
                <a:latin typeface="Calibri (MS) Bold"/>
                <a:ea typeface="Calibri (MS) Bold"/>
                <a:cs typeface="Calibri (MS) Bold"/>
                <a:sym typeface="Calibri (MS) Bold"/>
              </a:rPr>
              <a:t>Doc RAG</a:t>
            </a:r>
          </a:p>
        </p:txBody>
      </p:sp>
      <p:sp>
        <p:nvSpPr>
          <p:cNvPr name="TextBox 6" id="6"/>
          <p:cNvSpPr txBox="true"/>
          <p:nvPr/>
        </p:nvSpPr>
        <p:spPr>
          <a:xfrm rot="0">
            <a:off x="915048" y="4655658"/>
            <a:ext cx="9425826" cy="652043"/>
          </a:xfrm>
          <a:prstGeom prst="rect">
            <a:avLst/>
          </a:prstGeom>
        </p:spPr>
        <p:txBody>
          <a:bodyPr anchor="t" rtlCol="false" tIns="0" lIns="0" bIns="0" rIns="0">
            <a:spAutoFit/>
          </a:bodyPr>
          <a:lstStyle/>
          <a:p>
            <a:pPr algn="l">
              <a:lnSpc>
                <a:spcPts val="3242"/>
              </a:lnSpc>
            </a:pPr>
            <a:r>
              <a:rPr lang="en-US" sz="2702">
                <a:solidFill>
                  <a:srgbClr val="7C3AED"/>
                </a:solidFill>
                <a:latin typeface="Calibri (MS)"/>
                <a:ea typeface="Calibri (MS)"/>
                <a:cs typeface="Calibri (MS)"/>
                <a:sym typeface="Calibri (MS)"/>
              </a:rPr>
              <a:t>Single-document Q&amp;A grounded in your PDF</a:t>
            </a:r>
          </a:p>
        </p:txBody>
      </p:sp>
      <p:grpSp>
        <p:nvGrpSpPr>
          <p:cNvPr name="Group 7" id="7"/>
          <p:cNvGrpSpPr/>
          <p:nvPr/>
        </p:nvGrpSpPr>
        <p:grpSpPr>
          <a:xfrm rot="0">
            <a:off x="814073" y="5618426"/>
            <a:ext cx="2627138" cy="540677"/>
            <a:chOff x="0" y="0"/>
            <a:chExt cx="3502850" cy="720903"/>
          </a:xfrm>
        </p:grpSpPr>
        <p:sp>
          <p:nvSpPr>
            <p:cNvPr name="Freeform 8" id="8"/>
            <p:cNvSpPr/>
            <p:nvPr/>
          </p:nvSpPr>
          <p:spPr>
            <a:xfrm flipH="false" flipV="false" rot="0">
              <a:off x="12700" y="12700"/>
              <a:ext cx="3477387" cy="695452"/>
            </a:xfrm>
            <a:custGeom>
              <a:avLst/>
              <a:gdLst/>
              <a:ahLst/>
              <a:cxnLst/>
              <a:rect r="r" b="b" t="t" l="l"/>
              <a:pathLst>
                <a:path h="695452" w="3477387">
                  <a:moveTo>
                    <a:pt x="0" y="0"/>
                  </a:moveTo>
                  <a:lnTo>
                    <a:pt x="3477387" y="0"/>
                  </a:lnTo>
                  <a:lnTo>
                    <a:pt x="3477387" y="695452"/>
                  </a:lnTo>
                  <a:lnTo>
                    <a:pt x="0" y="695452"/>
                  </a:lnTo>
                  <a:close/>
                </a:path>
              </a:pathLst>
            </a:custGeom>
            <a:solidFill>
              <a:srgbClr val="FFFFFF"/>
            </a:solidFill>
          </p:spPr>
        </p:sp>
        <p:sp>
          <p:nvSpPr>
            <p:cNvPr name="Freeform 9" id="9"/>
            <p:cNvSpPr/>
            <p:nvPr/>
          </p:nvSpPr>
          <p:spPr>
            <a:xfrm flipH="false" flipV="false" rot="0">
              <a:off x="0" y="0"/>
              <a:ext cx="3502787" cy="720852"/>
            </a:xfrm>
            <a:custGeom>
              <a:avLst/>
              <a:gdLst/>
              <a:ahLst/>
              <a:cxnLst/>
              <a:rect r="r" b="b" t="t" l="l"/>
              <a:pathLst>
                <a:path h="720852" w="3502787">
                  <a:moveTo>
                    <a:pt x="12700" y="0"/>
                  </a:moveTo>
                  <a:lnTo>
                    <a:pt x="3490087" y="0"/>
                  </a:lnTo>
                  <a:cubicBezTo>
                    <a:pt x="3497072" y="0"/>
                    <a:pt x="3502787" y="5715"/>
                    <a:pt x="3502787" y="12700"/>
                  </a:cubicBezTo>
                  <a:lnTo>
                    <a:pt x="3502787" y="708152"/>
                  </a:lnTo>
                  <a:cubicBezTo>
                    <a:pt x="3502787" y="715137"/>
                    <a:pt x="3497072" y="720852"/>
                    <a:pt x="3490087" y="720852"/>
                  </a:cubicBezTo>
                  <a:lnTo>
                    <a:pt x="12700" y="720852"/>
                  </a:lnTo>
                  <a:cubicBezTo>
                    <a:pt x="5715" y="720852"/>
                    <a:pt x="0" y="715137"/>
                    <a:pt x="0" y="708152"/>
                  </a:cubicBezTo>
                  <a:lnTo>
                    <a:pt x="0" y="12700"/>
                  </a:lnTo>
                  <a:cubicBezTo>
                    <a:pt x="0" y="5715"/>
                    <a:pt x="5715" y="0"/>
                    <a:pt x="12700" y="0"/>
                  </a:cubicBezTo>
                  <a:moveTo>
                    <a:pt x="12700" y="25400"/>
                  </a:moveTo>
                  <a:lnTo>
                    <a:pt x="12700" y="12700"/>
                  </a:lnTo>
                  <a:lnTo>
                    <a:pt x="25400" y="12700"/>
                  </a:lnTo>
                  <a:lnTo>
                    <a:pt x="25400" y="708152"/>
                  </a:lnTo>
                  <a:lnTo>
                    <a:pt x="12700" y="708152"/>
                  </a:lnTo>
                  <a:lnTo>
                    <a:pt x="12700" y="695452"/>
                  </a:lnTo>
                  <a:lnTo>
                    <a:pt x="3490087" y="695452"/>
                  </a:lnTo>
                  <a:lnTo>
                    <a:pt x="3490087" y="708152"/>
                  </a:lnTo>
                  <a:lnTo>
                    <a:pt x="3477387" y="708152"/>
                  </a:lnTo>
                  <a:lnTo>
                    <a:pt x="3477387" y="12700"/>
                  </a:lnTo>
                  <a:lnTo>
                    <a:pt x="3490087" y="12700"/>
                  </a:lnTo>
                  <a:lnTo>
                    <a:pt x="3490087" y="25400"/>
                  </a:lnTo>
                  <a:lnTo>
                    <a:pt x="12700" y="25400"/>
                  </a:lnTo>
                  <a:close/>
                </a:path>
              </a:pathLst>
            </a:custGeom>
            <a:solidFill>
              <a:srgbClr val="7C3AED"/>
            </a:solidFill>
          </p:spPr>
        </p:sp>
      </p:grpSp>
      <p:sp>
        <p:nvSpPr>
          <p:cNvPr name="TextBox 10" id="10"/>
          <p:cNvSpPr txBox="true"/>
          <p:nvPr/>
        </p:nvSpPr>
        <p:spPr>
          <a:xfrm rot="0">
            <a:off x="1024861" y="5663032"/>
            <a:ext cx="2219296" cy="413366"/>
          </a:xfrm>
          <a:prstGeom prst="rect">
            <a:avLst/>
          </a:prstGeom>
        </p:spPr>
        <p:txBody>
          <a:bodyPr anchor="t" rtlCol="false" tIns="0" lIns="0" bIns="0" rIns="0">
            <a:spAutoFit/>
          </a:bodyPr>
          <a:lstStyle/>
          <a:p>
            <a:pPr algn="ctr">
              <a:lnSpc>
                <a:spcPts val="1801"/>
              </a:lnSpc>
            </a:pPr>
            <a:r>
              <a:rPr lang="en-US" sz="1501" b="true">
                <a:solidFill>
                  <a:srgbClr val="7C3AED"/>
                </a:solidFill>
                <a:latin typeface="Calibri (MS) Bold"/>
                <a:ea typeface="Calibri (MS) Bold"/>
                <a:cs typeface="Calibri (MS) Bold"/>
                <a:sym typeface="Calibri (MS) Bold"/>
              </a:rPr>
              <a:t>Gemini Embeddings</a:t>
            </a:r>
          </a:p>
        </p:txBody>
      </p:sp>
      <p:grpSp>
        <p:nvGrpSpPr>
          <p:cNvPr name="Group 11" id="11"/>
          <p:cNvGrpSpPr/>
          <p:nvPr/>
        </p:nvGrpSpPr>
        <p:grpSpPr>
          <a:xfrm rot="0">
            <a:off x="3559416" y="5618426"/>
            <a:ext cx="2627138" cy="540677"/>
            <a:chOff x="0" y="0"/>
            <a:chExt cx="3502850" cy="720903"/>
          </a:xfrm>
        </p:grpSpPr>
        <p:sp>
          <p:nvSpPr>
            <p:cNvPr name="Freeform 12" id="12"/>
            <p:cNvSpPr/>
            <p:nvPr/>
          </p:nvSpPr>
          <p:spPr>
            <a:xfrm flipH="false" flipV="false" rot="0">
              <a:off x="12700" y="12700"/>
              <a:ext cx="3477387" cy="695452"/>
            </a:xfrm>
            <a:custGeom>
              <a:avLst/>
              <a:gdLst/>
              <a:ahLst/>
              <a:cxnLst/>
              <a:rect r="r" b="b" t="t" l="l"/>
              <a:pathLst>
                <a:path h="695452" w="3477387">
                  <a:moveTo>
                    <a:pt x="0" y="0"/>
                  </a:moveTo>
                  <a:lnTo>
                    <a:pt x="3477387" y="0"/>
                  </a:lnTo>
                  <a:lnTo>
                    <a:pt x="3477387" y="695452"/>
                  </a:lnTo>
                  <a:lnTo>
                    <a:pt x="0" y="695452"/>
                  </a:lnTo>
                  <a:close/>
                </a:path>
              </a:pathLst>
            </a:custGeom>
            <a:solidFill>
              <a:srgbClr val="FFFFFF"/>
            </a:solidFill>
          </p:spPr>
        </p:sp>
        <p:sp>
          <p:nvSpPr>
            <p:cNvPr name="Freeform 13" id="13"/>
            <p:cNvSpPr/>
            <p:nvPr/>
          </p:nvSpPr>
          <p:spPr>
            <a:xfrm flipH="false" flipV="false" rot="0">
              <a:off x="0" y="0"/>
              <a:ext cx="3502787" cy="720852"/>
            </a:xfrm>
            <a:custGeom>
              <a:avLst/>
              <a:gdLst/>
              <a:ahLst/>
              <a:cxnLst/>
              <a:rect r="r" b="b" t="t" l="l"/>
              <a:pathLst>
                <a:path h="720852" w="3502787">
                  <a:moveTo>
                    <a:pt x="12700" y="0"/>
                  </a:moveTo>
                  <a:lnTo>
                    <a:pt x="3490087" y="0"/>
                  </a:lnTo>
                  <a:cubicBezTo>
                    <a:pt x="3497072" y="0"/>
                    <a:pt x="3502787" y="5715"/>
                    <a:pt x="3502787" y="12700"/>
                  </a:cubicBezTo>
                  <a:lnTo>
                    <a:pt x="3502787" y="708152"/>
                  </a:lnTo>
                  <a:cubicBezTo>
                    <a:pt x="3502787" y="715137"/>
                    <a:pt x="3497072" y="720852"/>
                    <a:pt x="3490087" y="720852"/>
                  </a:cubicBezTo>
                  <a:lnTo>
                    <a:pt x="12700" y="720852"/>
                  </a:lnTo>
                  <a:cubicBezTo>
                    <a:pt x="5715" y="720852"/>
                    <a:pt x="0" y="715137"/>
                    <a:pt x="0" y="708152"/>
                  </a:cubicBezTo>
                  <a:lnTo>
                    <a:pt x="0" y="12700"/>
                  </a:lnTo>
                  <a:cubicBezTo>
                    <a:pt x="0" y="5715"/>
                    <a:pt x="5715" y="0"/>
                    <a:pt x="12700" y="0"/>
                  </a:cubicBezTo>
                  <a:moveTo>
                    <a:pt x="12700" y="25400"/>
                  </a:moveTo>
                  <a:lnTo>
                    <a:pt x="12700" y="12700"/>
                  </a:lnTo>
                  <a:lnTo>
                    <a:pt x="25400" y="12700"/>
                  </a:lnTo>
                  <a:lnTo>
                    <a:pt x="25400" y="708152"/>
                  </a:lnTo>
                  <a:lnTo>
                    <a:pt x="12700" y="708152"/>
                  </a:lnTo>
                  <a:lnTo>
                    <a:pt x="12700" y="695452"/>
                  </a:lnTo>
                  <a:lnTo>
                    <a:pt x="3490087" y="695452"/>
                  </a:lnTo>
                  <a:lnTo>
                    <a:pt x="3490087" y="708152"/>
                  </a:lnTo>
                  <a:lnTo>
                    <a:pt x="3477387" y="708152"/>
                  </a:lnTo>
                  <a:lnTo>
                    <a:pt x="3477387" y="12700"/>
                  </a:lnTo>
                  <a:lnTo>
                    <a:pt x="3490087" y="12700"/>
                  </a:lnTo>
                  <a:lnTo>
                    <a:pt x="3490087" y="25400"/>
                  </a:lnTo>
                  <a:lnTo>
                    <a:pt x="12700" y="25400"/>
                  </a:lnTo>
                  <a:close/>
                </a:path>
              </a:pathLst>
            </a:custGeom>
            <a:solidFill>
              <a:srgbClr val="059669"/>
            </a:solidFill>
          </p:spPr>
        </p:sp>
      </p:grpSp>
      <p:sp>
        <p:nvSpPr>
          <p:cNvPr name="TextBox 14" id="14"/>
          <p:cNvSpPr txBox="true"/>
          <p:nvPr/>
        </p:nvSpPr>
        <p:spPr>
          <a:xfrm rot="0">
            <a:off x="3770205" y="5663032"/>
            <a:ext cx="2219296" cy="413366"/>
          </a:xfrm>
          <a:prstGeom prst="rect">
            <a:avLst/>
          </a:prstGeom>
        </p:spPr>
        <p:txBody>
          <a:bodyPr anchor="t" rtlCol="false" tIns="0" lIns="0" bIns="0" rIns="0">
            <a:spAutoFit/>
          </a:bodyPr>
          <a:lstStyle/>
          <a:p>
            <a:pPr algn="ctr">
              <a:lnSpc>
                <a:spcPts val="1801"/>
              </a:lnSpc>
            </a:pPr>
            <a:r>
              <a:rPr lang="en-US" sz="1501" b="true">
                <a:solidFill>
                  <a:srgbClr val="059669"/>
                </a:solidFill>
                <a:latin typeface="Calibri (MS) Bold"/>
                <a:ea typeface="Calibri (MS) Bold"/>
                <a:cs typeface="Calibri (MS) Bold"/>
                <a:sym typeface="Calibri (MS) Bold"/>
              </a:rPr>
              <a:t>pgvector + BM25</a:t>
            </a:r>
          </a:p>
        </p:txBody>
      </p:sp>
      <p:grpSp>
        <p:nvGrpSpPr>
          <p:cNvPr name="Group 15" id="15"/>
          <p:cNvGrpSpPr/>
          <p:nvPr/>
        </p:nvGrpSpPr>
        <p:grpSpPr>
          <a:xfrm rot="0">
            <a:off x="4968392" y="6799269"/>
            <a:ext cx="2627138" cy="540677"/>
            <a:chOff x="0" y="0"/>
            <a:chExt cx="3502850" cy="720903"/>
          </a:xfrm>
        </p:grpSpPr>
        <p:sp>
          <p:nvSpPr>
            <p:cNvPr name="Freeform 16" id="16"/>
            <p:cNvSpPr/>
            <p:nvPr/>
          </p:nvSpPr>
          <p:spPr>
            <a:xfrm flipH="false" flipV="false" rot="0">
              <a:off x="12700" y="12700"/>
              <a:ext cx="3477387" cy="695452"/>
            </a:xfrm>
            <a:custGeom>
              <a:avLst/>
              <a:gdLst/>
              <a:ahLst/>
              <a:cxnLst/>
              <a:rect r="r" b="b" t="t" l="l"/>
              <a:pathLst>
                <a:path h="695452" w="3477387">
                  <a:moveTo>
                    <a:pt x="0" y="0"/>
                  </a:moveTo>
                  <a:lnTo>
                    <a:pt x="3477387" y="0"/>
                  </a:lnTo>
                  <a:lnTo>
                    <a:pt x="3477387" y="695452"/>
                  </a:lnTo>
                  <a:lnTo>
                    <a:pt x="0" y="695452"/>
                  </a:lnTo>
                  <a:close/>
                </a:path>
              </a:pathLst>
            </a:custGeom>
            <a:solidFill>
              <a:srgbClr val="FFFFFF"/>
            </a:solidFill>
          </p:spPr>
        </p:sp>
        <p:sp>
          <p:nvSpPr>
            <p:cNvPr name="Freeform 17" id="17"/>
            <p:cNvSpPr/>
            <p:nvPr/>
          </p:nvSpPr>
          <p:spPr>
            <a:xfrm flipH="false" flipV="false" rot="0">
              <a:off x="0" y="0"/>
              <a:ext cx="3502787" cy="720852"/>
            </a:xfrm>
            <a:custGeom>
              <a:avLst/>
              <a:gdLst/>
              <a:ahLst/>
              <a:cxnLst/>
              <a:rect r="r" b="b" t="t" l="l"/>
              <a:pathLst>
                <a:path h="720852" w="3502787">
                  <a:moveTo>
                    <a:pt x="12700" y="0"/>
                  </a:moveTo>
                  <a:lnTo>
                    <a:pt x="3490087" y="0"/>
                  </a:lnTo>
                  <a:cubicBezTo>
                    <a:pt x="3497072" y="0"/>
                    <a:pt x="3502787" y="5715"/>
                    <a:pt x="3502787" y="12700"/>
                  </a:cubicBezTo>
                  <a:lnTo>
                    <a:pt x="3502787" y="708152"/>
                  </a:lnTo>
                  <a:cubicBezTo>
                    <a:pt x="3502787" y="715137"/>
                    <a:pt x="3497072" y="720852"/>
                    <a:pt x="3490087" y="720852"/>
                  </a:cubicBezTo>
                  <a:lnTo>
                    <a:pt x="12700" y="720852"/>
                  </a:lnTo>
                  <a:cubicBezTo>
                    <a:pt x="5715" y="720852"/>
                    <a:pt x="0" y="715137"/>
                    <a:pt x="0" y="708152"/>
                  </a:cubicBezTo>
                  <a:lnTo>
                    <a:pt x="0" y="12700"/>
                  </a:lnTo>
                  <a:cubicBezTo>
                    <a:pt x="0" y="5715"/>
                    <a:pt x="5715" y="0"/>
                    <a:pt x="12700" y="0"/>
                  </a:cubicBezTo>
                  <a:moveTo>
                    <a:pt x="12700" y="25400"/>
                  </a:moveTo>
                  <a:lnTo>
                    <a:pt x="12700" y="12700"/>
                  </a:lnTo>
                  <a:lnTo>
                    <a:pt x="25400" y="12700"/>
                  </a:lnTo>
                  <a:lnTo>
                    <a:pt x="25400" y="708152"/>
                  </a:lnTo>
                  <a:lnTo>
                    <a:pt x="12700" y="708152"/>
                  </a:lnTo>
                  <a:lnTo>
                    <a:pt x="12700" y="695452"/>
                  </a:lnTo>
                  <a:lnTo>
                    <a:pt x="3490087" y="695452"/>
                  </a:lnTo>
                  <a:lnTo>
                    <a:pt x="3490087" y="708152"/>
                  </a:lnTo>
                  <a:lnTo>
                    <a:pt x="3477387" y="708152"/>
                  </a:lnTo>
                  <a:lnTo>
                    <a:pt x="3477387" y="12700"/>
                  </a:lnTo>
                  <a:lnTo>
                    <a:pt x="3490087" y="12700"/>
                  </a:lnTo>
                  <a:lnTo>
                    <a:pt x="3490087" y="25400"/>
                  </a:lnTo>
                  <a:lnTo>
                    <a:pt x="12700" y="25400"/>
                  </a:lnTo>
                  <a:close/>
                </a:path>
              </a:pathLst>
            </a:custGeom>
            <a:solidFill>
              <a:srgbClr val="A78BFA"/>
            </a:solidFill>
          </p:spPr>
        </p:sp>
      </p:grpSp>
      <p:sp>
        <p:nvSpPr>
          <p:cNvPr name="TextBox 18" id="18"/>
          <p:cNvSpPr txBox="true"/>
          <p:nvPr/>
        </p:nvSpPr>
        <p:spPr>
          <a:xfrm rot="0">
            <a:off x="5179181" y="6843874"/>
            <a:ext cx="2219296" cy="413366"/>
          </a:xfrm>
          <a:prstGeom prst="rect">
            <a:avLst/>
          </a:prstGeom>
        </p:spPr>
        <p:txBody>
          <a:bodyPr anchor="t" rtlCol="false" tIns="0" lIns="0" bIns="0" rIns="0">
            <a:spAutoFit/>
          </a:bodyPr>
          <a:lstStyle/>
          <a:p>
            <a:pPr algn="ctr">
              <a:lnSpc>
                <a:spcPts val="1801"/>
              </a:lnSpc>
            </a:pPr>
            <a:r>
              <a:rPr lang="en-US" sz="1501" b="true">
                <a:solidFill>
                  <a:srgbClr val="5B21B6"/>
                </a:solidFill>
                <a:latin typeface="Calibri (MS) Bold"/>
                <a:ea typeface="Calibri (MS) Bold"/>
                <a:cs typeface="Calibri (MS) Bold"/>
                <a:sym typeface="Calibri (MS) Bold"/>
              </a:rPr>
              <a:t>FastAPI</a:t>
            </a:r>
          </a:p>
        </p:txBody>
      </p:sp>
      <p:grpSp>
        <p:nvGrpSpPr>
          <p:cNvPr name="Group 19" id="19"/>
          <p:cNvGrpSpPr/>
          <p:nvPr/>
        </p:nvGrpSpPr>
        <p:grpSpPr>
          <a:xfrm rot="0">
            <a:off x="7713736" y="6799269"/>
            <a:ext cx="2627138" cy="540677"/>
            <a:chOff x="0" y="0"/>
            <a:chExt cx="3502850" cy="720903"/>
          </a:xfrm>
        </p:grpSpPr>
        <p:sp>
          <p:nvSpPr>
            <p:cNvPr name="Freeform 20" id="20"/>
            <p:cNvSpPr/>
            <p:nvPr/>
          </p:nvSpPr>
          <p:spPr>
            <a:xfrm flipH="false" flipV="false" rot="0">
              <a:off x="12700" y="12700"/>
              <a:ext cx="3477387" cy="695452"/>
            </a:xfrm>
            <a:custGeom>
              <a:avLst/>
              <a:gdLst/>
              <a:ahLst/>
              <a:cxnLst/>
              <a:rect r="r" b="b" t="t" l="l"/>
              <a:pathLst>
                <a:path h="695452" w="3477387">
                  <a:moveTo>
                    <a:pt x="0" y="0"/>
                  </a:moveTo>
                  <a:lnTo>
                    <a:pt x="3477387" y="0"/>
                  </a:lnTo>
                  <a:lnTo>
                    <a:pt x="3477387" y="695452"/>
                  </a:lnTo>
                  <a:lnTo>
                    <a:pt x="0" y="695452"/>
                  </a:lnTo>
                  <a:close/>
                </a:path>
              </a:pathLst>
            </a:custGeom>
            <a:solidFill>
              <a:srgbClr val="FFFFFF"/>
            </a:solidFill>
          </p:spPr>
        </p:sp>
        <p:sp>
          <p:nvSpPr>
            <p:cNvPr name="Freeform 21" id="21"/>
            <p:cNvSpPr/>
            <p:nvPr/>
          </p:nvSpPr>
          <p:spPr>
            <a:xfrm flipH="false" flipV="false" rot="0">
              <a:off x="0" y="0"/>
              <a:ext cx="3502787" cy="720852"/>
            </a:xfrm>
            <a:custGeom>
              <a:avLst/>
              <a:gdLst/>
              <a:ahLst/>
              <a:cxnLst/>
              <a:rect r="r" b="b" t="t" l="l"/>
              <a:pathLst>
                <a:path h="720852" w="3502787">
                  <a:moveTo>
                    <a:pt x="12700" y="0"/>
                  </a:moveTo>
                  <a:lnTo>
                    <a:pt x="3490087" y="0"/>
                  </a:lnTo>
                  <a:cubicBezTo>
                    <a:pt x="3497072" y="0"/>
                    <a:pt x="3502787" y="5715"/>
                    <a:pt x="3502787" y="12700"/>
                  </a:cubicBezTo>
                  <a:lnTo>
                    <a:pt x="3502787" y="708152"/>
                  </a:lnTo>
                  <a:cubicBezTo>
                    <a:pt x="3502787" y="715137"/>
                    <a:pt x="3497072" y="720852"/>
                    <a:pt x="3490087" y="720852"/>
                  </a:cubicBezTo>
                  <a:lnTo>
                    <a:pt x="12700" y="720852"/>
                  </a:lnTo>
                  <a:cubicBezTo>
                    <a:pt x="5715" y="720852"/>
                    <a:pt x="0" y="715137"/>
                    <a:pt x="0" y="708152"/>
                  </a:cubicBezTo>
                  <a:lnTo>
                    <a:pt x="0" y="12700"/>
                  </a:lnTo>
                  <a:cubicBezTo>
                    <a:pt x="0" y="5715"/>
                    <a:pt x="5715" y="0"/>
                    <a:pt x="12700" y="0"/>
                  </a:cubicBezTo>
                  <a:moveTo>
                    <a:pt x="12700" y="25400"/>
                  </a:moveTo>
                  <a:lnTo>
                    <a:pt x="12700" y="12700"/>
                  </a:lnTo>
                  <a:lnTo>
                    <a:pt x="25400" y="12700"/>
                  </a:lnTo>
                  <a:lnTo>
                    <a:pt x="25400" y="708152"/>
                  </a:lnTo>
                  <a:lnTo>
                    <a:pt x="12700" y="708152"/>
                  </a:lnTo>
                  <a:lnTo>
                    <a:pt x="12700" y="695452"/>
                  </a:lnTo>
                  <a:lnTo>
                    <a:pt x="3490087" y="695452"/>
                  </a:lnTo>
                  <a:lnTo>
                    <a:pt x="3490087" y="708152"/>
                  </a:lnTo>
                  <a:lnTo>
                    <a:pt x="3477387" y="708152"/>
                  </a:lnTo>
                  <a:lnTo>
                    <a:pt x="3477387" y="12700"/>
                  </a:lnTo>
                  <a:lnTo>
                    <a:pt x="3490087" y="12700"/>
                  </a:lnTo>
                  <a:lnTo>
                    <a:pt x="3490087" y="25400"/>
                  </a:lnTo>
                  <a:lnTo>
                    <a:pt x="12700" y="25400"/>
                  </a:lnTo>
                  <a:close/>
                </a:path>
              </a:pathLst>
            </a:custGeom>
            <a:solidFill>
              <a:srgbClr val="F97316"/>
            </a:solidFill>
          </p:spPr>
        </p:sp>
      </p:grpSp>
      <p:sp>
        <p:nvSpPr>
          <p:cNvPr name="TextBox 22" id="22"/>
          <p:cNvSpPr txBox="true"/>
          <p:nvPr/>
        </p:nvSpPr>
        <p:spPr>
          <a:xfrm rot="0">
            <a:off x="7924524" y="6843874"/>
            <a:ext cx="2219296" cy="413366"/>
          </a:xfrm>
          <a:prstGeom prst="rect">
            <a:avLst/>
          </a:prstGeom>
        </p:spPr>
        <p:txBody>
          <a:bodyPr anchor="t" rtlCol="false" tIns="0" lIns="0" bIns="0" rIns="0">
            <a:spAutoFit/>
          </a:bodyPr>
          <a:lstStyle/>
          <a:p>
            <a:pPr algn="ctr">
              <a:lnSpc>
                <a:spcPts val="1801"/>
              </a:lnSpc>
            </a:pPr>
            <a:r>
              <a:rPr lang="en-US" sz="1501" b="true">
                <a:solidFill>
                  <a:srgbClr val="F97316"/>
                </a:solidFill>
                <a:latin typeface="Calibri (MS) Bold"/>
                <a:ea typeface="Calibri (MS) Bold"/>
                <a:cs typeface="Calibri (MS) Bold"/>
                <a:sym typeface="Calibri (MS) Bold"/>
              </a:rPr>
              <a:t>Hybrid RAG</a:t>
            </a:r>
          </a:p>
        </p:txBody>
      </p:sp>
      <p:sp>
        <p:nvSpPr>
          <p:cNvPr name="TextBox 23" id="23"/>
          <p:cNvSpPr txBox="true"/>
          <p:nvPr/>
        </p:nvSpPr>
        <p:spPr>
          <a:xfrm rot="0">
            <a:off x="11347352" y="2478434"/>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Upload any PDF</a:t>
            </a:r>
          </a:p>
        </p:txBody>
      </p:sp>
      <p:sp>
        <p:nvSpPr>
          <p:cNvPr name="TextBox 24" id="24"/>
          <p:cNvSpPr txBox="true"/>
          <p:nvPr/>
        </p:nvSpPr>
        <p:spPr>
          <a:xfrm rot="0">
            <a:off x="11347352" y="3192218"/>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Auto-scaled chunking + parent context</a:t>
            </a:r>
          </a:p>
        </p:txBody>
      </p:sp>
      <p:sp>
        <p:nvSpPr>
          <p:cNvPr name="TextBox 25" id="25"/>
          <p:cNvSpPr txBox="true"/>
          <p:nvPr/>
        </p:nvSpPr>
        <p:spPr>
          <a:xfrm rot="0">
            <a:off x="11347352" y="3906012"/>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Gemini semantic embeddings</a:t>
            </a:r>
          </a:p>
        </p:txBody>
      </p:sp>
      <p:sp>
        <p:nvSpPr>
          <p:cNvPr name="TextBox 26" id="26"/>
          <p:cNvSpPr txBox="true"/>
          <p:nvPr/>
        </p:nvSpPr>
        <p:spPr>
          <a:xfrm rot="0">
            <a:off x="11347352" y="4619796"/>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Hybrid BM25 + vector search (RRF)</a:t>
            </a:r>
          </a:p>
        </p:txBody>
      </p:sp>
      <p:sp>
        <p:nvSpPr>
          <p:cNvPr name="TextBox 27" id="27"/>
          <p:cNvSpPr txBox="true"/>
          <p:nvPr/>
        </p:nvSpPr>
        <p:spPr>
          <a:xfrm rot="0">
            <a:off x="11347352" y="5333590"/>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Gemini re-ranking</a:t>
            </a:r>
          </a:p>
        </p:txBody>
      </p:sp>
      <p:sp>
        <p:nvSpPr>
          <p:cNvPr name="TextBox 28" id="28"/>
          <p:cNvSpPr txBox="true"/>
          <p:nvPr/>
        </p:nvSpPr>
        <p:spPr>
          <a:xfrm rot="0">
            <a:off x="11347352" y="6047375"/>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Streaming answers with markdown rendering</a:t>
            </a:r>
          </a:p>
        </p:txBody>
      </p:sp>
      <p:sp>
        <p:nvSpPr>
          <p:cNvPr name="TextBox 29" id="29"/>
          <p:cNvSpPr txBox="true"/>
          <p:nvPr/>
        </p:nvSpPr>
        <p:spPr>
          <a:xfrm rot="0">
            <a:off x="11347352" y="6761169"/>
            <a:ext cx="6268679" cy="495729"/>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  Numbered [N] citations + PDF viewer + similarity %</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OVERVIEW</a:t>
            </a:r>
          </a:p>
        </p:txBody>
      </p:sp>
      <p:sp>
        <p:nvSpPr>
          <p:cNvPr name="TextBox 3" id="3"/>
          <p:cNvSpPr txBox="true"/>
          <p:nvPr/>
        </p:nvSpPr>
        <p:spPr>
          <a:xfrm rot="0">
            <a:off x="915048" y="989495"/>
            <a:ext cx="16289188" cy="809625"/>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What Doc RAG does</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7C3AED"/>
            </a:solidFill>
          </p:spPr>
        </p:sp>
      </p:grpSp>
      <p:grpSp>
        <p:nvGrpSpPr>
          <p:cNvPr name="Group 6" id="6"/>
          <p:cNvGrpSpPr/>
          <p:nvPr/>
        </p:nvGrpSpPr>
        <p:grpSpPr>
          <a:xfrm rot="0">
            <a:off x="816454" y="2189131"/>
            <a:ext cx="8113062" cy="2210572"/>
            <a:chOff x="0" y="0"/>
            <a:chExt cx="10817416" cy="2947429"/>
          </a:xfrm>
        </p:grpSpPr>
        <p:sp>
          <p:nvSpPr>
            <p:cNvPr name="Freeform 7" id="7"/>
            <p:cNvSpPr/>
            <p:nvPr/>
          </p:nvSpPr>
          <p:spPr>
            <a:xfrm flipH="false" flipV="false" rot="0">
              <a:off x="9525" y="9525"/>
              <a:ext cx="10798302" cy="2928366"/>
            </a:xfrm>
            <a:custGeom>
              <a:avLst/>
              <a:gdLst/>
              <a:ahLst/>
              <a:cxnLst/>
              <a:rect r="r" b="b" t="t" l="l"/>
              <a:pathLst>
                <a:path h="2928366" w="10798302">
                  <a:moveTo>
                    <a:pt x="0" y="0"/>
                  </a:moveTo>
                  <a:lnTo>
                    <a:pt x="10798302" y="0"/>
                  </a:lnTo>
                  <a:lnTo>
                    <a:pt x="10798302" y="2928366"/>
                  </a:lnTo>
                  <a:lnTo>
                    <a:pt x="0" y="2928366"/>
                  </a:lnTo>
                  <a:close/>
                </a:path>
              </a:pathLst>
            </a:custGeom>
            <a:solidFill>
              <a:srgbClr val="FFFFFF"/>
            </a:solidFill>
          </p:spPr>
        </p:sp>
        <p:sp>
          <p:nvSpPr>
            <p:cNvPr name="Freeform 8" id="8"/>
            <p:cNvSpPr/>
            <p:nvPr/>
          </p:nvSpPr>
          <p:spPr>
            <a:xfrm flipH="false" flipV="false" rot="0">
              <a:off x="0" y="0"/>
              <a:ext cx="10817352" cy="2947416"/>
            </a:xfrm>
            <a:custGeom>
              <a:avLst/>
              <a:gdLst/>
              <a:ahLst/>
              <a:cxnLst/>
              <a:rect r="r" b="b" t="t" l="l"/>
              <a:pathLst>
                <a:path h="2947416" w="10817352">
                  <a:moveTo>
                    <a:pt x="9525" y="0"/>
                  </a:moveTo>
                  <a:lnTo>
                    <a:pt x="10807827" y="0"/>
                  </a:lnTo>
                  <a:cubicBezTo>
                    <a:pt x="10813034" y="0"/>
                    <a:pt x="10817352" y="4318"/>
                    <a:pt x="10817352" y="9525"/>
                  </a:cubicBezTo>
                  <a:lnTo>
                    <a:pt x="10817352" y="2937891"/>
                  </a:lnTo>
                  <a:cubicBezTo>
                    <a:pt x="10817352" y="2943098"/>
                    <a:pt x="10813034" y="2947416"/>
                    <a:pt x="10807827" y="2947416"/>
                  </a:cubicBezTo>
                  <a:lnTo>
                    <a:pt x="9525" y="2947416"/>
                  </a:lnTo>
                  <a:cubicBezTo>
                    <a:pt x="4318" y="2947416"/>
                    <a:pt x="0" y="2943098"/>
                    <a:pt x="0" y="2937891"/>
                  </a:cubicBezTo>
                  <a:lnTo>
                    <a:pt x="0" y="9525"/>
                  </a:lnTo>
                  <a:cubicBezTo>
                    <a:pt x="0" y="4318"/>
                    <a:pt x="4318" y="0"/>
                    <a:pt x="9525" y="0"/>
                  </a:cubicBezTo>
                  <a:moveTo>
                    <a:pt x="9525" y="19050"/>
                  </a:moveTo>
                  <a:lnTo>
                    <a:pt x="9525" y="9525"/>
                  </a:lnTo>
                  <a:lnTo>
                    <a:pt x="19050" y="9525"/>
                  </a:lnTo>
                  <a:lnTo>
                    <a:pt x="19050" y="2937891"/>
                  </a:lnTo>
                  <a:lnTo>
                    <a:pt x="9525" y="2937891"/>
                  </a:lnTo>
                  <a:lnTo>
                    <a:pt x="9525" y="2928366"/>
                  </a:lnTo>
                  <a:lnTo>
                    <a:pt x="10807827" y="2928366"/>
                  </a:lnTo>
                  <a:lnTo>
                    <a:pt x="10807827" y="2937891"/>
                  </a:lnTo>
                  <a:lnTo>
                    <a:pt x="10798302" y="2937891"/>
                  </a:lnTo>
                  <a:lnTo>
                    <a:pt x="10798302" y="9525"/>
                  </a:lnTo>
                  <a:lnTo>
                    <a:pt x="10807827" y="9525"/>
                  </a:lnTo>
                  <a:lnTo>
                    <a:pt x="10807827" y="19050"/>
                  </a:lnTo>
                  <a:lnTo>
                    <a:pt x="9525" y="19050"/>
                  </a:lnTo>
                  <a:close/>
                </a:path>
              </a:pathLst>
            </a:custGeom>
            <a:solidFill>
              <a:srgbClr val="FFFFFF"/>
            </a:solidFill>
          </p:spPr>
        </p:sp>
      </p:grpSp>
      <p:sp>
        <p:nvSpPr>
          <p:cNvPr name="TextBox 9" id="9"/>
          <p:cNvSpPr txBox="true"/>
          <p:nvPr/>
        </p:nvSpPr>
        <p:spPr>
          <a:xfrm rot="0">
            <a:off x="1189577" y="2400271"/>
            <a:ext cx="7366816" cy="505254"/>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  The problem</a:t>
            </a:r>
          </a:p>
        </p:txBody>
      </p:sp>
      <p:sp>
        <p:nvSpPr>
          <p:cNvPr name="TextBox 10" id="10"/>
          <p:cNvSpPr txBox="true"/>
          <p:nvPr/>
        </p:nvSpPr>
        <p:spPr>
          <a:xfrm rot="0">
            <a:off x="1189577" y="2958865"/>
            <a:ext cx="7366816" cy="1182062"/>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LLMs hallucinate when asked about documents they haven't seen. Generic chat can't cite specific passages or say "I don't know" reliably.</a:t>
            </a:r>
          </a:p>
        </p:txBody>
      </p:sp>
      <p:grpSp>
        <p:nvGrpSpPr>
          <p:cNvPr name="Group 11" id="11"/>
          <p:cNvGrpSpPr/>
          <p:nvPr/>
        </p:nvGrpSpPr>
        <p:grpSpPr>
          <a:xfrm rot="0">
            <a:off x="9368199" y="2189131"/>
            <a:ext cx="8113062" cy="2210572"/>
            <a:chOff x="0" y="0"/>
            <a:chExt cx="10817416" cy="2947429"/>
          </a:xfrm>
        </p:grpSpPr>
        <p:sp>
          <p:nvSpPr>
            <p:cNvPr name="Freeform 12" id="12"/>
            <p:cNvSpPr/>
            <p:nvPr/>
          </p:nvSpPr>
          <p:spPr>
            <a:xfrm flipH="false" flipV="false" rot="0">
              <a:off x="9525" y="9525"/>
              <a:ext cx="10798302" cy="2928366"/>
            </a:xfrm>
            <a:custGeom>
              <a:avLst/>
              <a:gdLst/>
              <a:ahLst/>
              <a:cxnLst/>
              <a:rect r="r" b="b" t="t" l="l"/>
              <a:pathLst>
                <a:path h="2928366" w="10798302">
                  <a:moveTo>
                    <a:pt x="0" y="0"/>
                  </a:moveTo>
                  <a:lnTo>
                    <a:pt x="10798302" y="0"/>
                  </a:lnTo>
                  <a:lnTo>
                    <a:pt x="10798302" y="2928366"/>
                  </a:lnTo>
                  <a:lnTo>
                    <a:pt x="0" y="2928366"/>
                  </a:lnTo>
                  <a:close/>
                </a:path>
              </a:pathLst>
            </a:custGeom>
            <a:solidFill>
              <a:srgbClr val="FFFFFF"/>
            </a:solidFill>
          </p:spPr>
        </p:sp>
        <p:sp>
          <p:nvSpPr>
            <p:cNvPr name="Freeform 13" id="13"/>
            <p:cNvSpPr/>
            <p:nvPr/>
          </p:nvSpPr>
          <p:spPr>
            <a:xfrm flipH="false" flipV="false" rot="0">
              <a:off x="0" y="0"/>
              <a:ext cx="10817352" cy="2947416"/>
            </a:xfrm>
            <a:custGeom>
              <a:avLst/>
              <a:gdLst/>
              <a:ahLst/>
              <a:cxnLst/>
              <a:rect r="r" b="b" t="t" l="l"/>
              <a:pathLst>
                <a:path h="2947416" w="10817352">
                  <a:moveTo>
                    <a:pt x="9525" y="0"/>
                  </a:moveTo>
                  <a:lnTo>
                    <a:pt x="10807827" y="0"/>
                  </a:lnTo>
                  <a:cubicBezTo>
                    <a:pt x="10813034" y="0"/>
                    <a:pt x="10817352" y="4318"/>
                    <a:pt x="10817352" y="9525"/>
                  </a:cubicBezTo>
                  <a:lnTo>
                    <a:pt x="10817352" y="2937891"/>
                  </a:lnTo>
                  <a:cubicBezTo>
                    <a:pt x="10817352" y="2943098"/>
                    <a:pt x="10813034" y="2947416"/>
                    <a:pt x="10807827" y="2947416"/>
                  </a:cubicBezTo>
                  <a:lnTo>
                    <a:pt x="9525" y="2947416"/>
                  </a:lnTo>
                  <a:cubicBezTo>
                    <a:pt x="4318" y="2947416"/>
                    <a:pt x="0" y="2943098"/>
                    <a:pt x="0" y="2937891"/>
                  </a:cubicBezTo>
                  <a:lnTo>
                    <a:pt x="0" y="9525"/>
                  </a:lnTo>
                  <a:cubicBezTo>
                    <a:pt x="0" y="4318"/>
                    <a:pt x="4318" y="0"/>
                    <a:pt x="9525" y="0"/>
                  </a:cubicBezTo>
                  <a:moveTo>
                    <a:pt x="9525" y="19050"/>
                  </a:moveTo>
                  <a:lnTo>
                    <a:pt x="9525" y="9525"/>
                  </a:lnTo>
                  <a:lnTo>
                    <a:pt x="19050" y="9525"/>
                  </a:lnTo>
                  <a:lnTo>
                    <a:pt x="19050" y="2937891"/>
                  </a:lnTo>
                  <a:lnTo>
                    <a:pt x="9525" y="2937891"/>
                  </a:lnTo>
                  <a:lnTo>
                    <a:pt x="9525" y="2928366"/>
                  </a:lnTo>
                  <a:lnTo>
                    <a:pt x="10807827" y="2928366"/>
                  </a:lnTo>
                  <a:lnTo>
                    <a:pt x="10807827" y="2937891"/>
                  </a:lnTo>
                  <a:lnTo>
                    <a:pt x="10798302" y="2937891"/>
                  </a:lnTo>
                  <a:lnTo>
                    <a:pt x="10798302" y="9525"/>
                  </a:lnTo>
                  <a:lnTo>
                    <a:pt x="10807827" y="9525"/>
                  </a:lnTo>
                  <a:lnTo>
                    <a:pt x="10807827" y="19050"/>
                  </a:lnTo>
                  <a:lnTo>
                    <a:pt x="9525" y="19050"/>
                  </a:lnTo>
                  <a:close/>
                </a:path>
              </a:pathLst>
            </a:custGeom>
            <a:solidFill>
              <a:srgbClr val="FFFFFF"/>
            </a:solidFill>
          </p:spPr>
        </p:sp>
      </p:grpSp>
      <p:sp>
        <p:nvSpPr>
          <p:cNvPr name="TextBox 14" id="14"/>
          <p:cNvSpPr txBox="true"/>
          <p:nvPr/>
        </p:nvSpPr>
        <p:spPr>
          <a:xfrm rot="0">
            <a:off x="9741322" y="2400271"/>
            <a:ext cx="7366816" cy="505254"/>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  The solution</a:t>
            </a:r>
          </a:p>
        </p:txBody>
      </p:sp>
      <p:sp>
        <p:nvSpPr>
          <p:cNvPr name="TextBox 15" id="15"/>
          <p:cNvSpPr txBox="true"/>
          <p:nvPr/>
        </p:nvSpPr>
        <p:spPr>
          <a:xfrm rot="0">
            <a:off x="9741322" y="2958865"/>
            <a:ext cx="7366816" cy="1182062"/>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Retrieval-Augmented Generation — ground every answer in retrieved chunks from the actual document, with inline citations so claims can be verified.</a:t>
            </a:r>
          </a:p>
        </p:txBody>
      </p:sp>
      <p:grpSp>
        <p:nvGrpSpPr>
          <p:cNvPr name="Group 16" id="16"/>
          <p:cNvGrpSpPr/>
          <p:nvPr/>
        </p:nvGrpSpPr>
        <p:grpSpPr>
          <a:xfrm rot="0">
            <a:off x="816454" y="4659935"/>
            <a:ext cx="16664816" cy="2347846"/>
            <a:chOff x="0" y="0"/>
            <a:chExt cx="22219755" cy="3130461"/>
          </a:xfrm>
        </p:grpSpPr>
        <p:sp>
          <p:nvSpPr>
            <p:cNvPr name="Freeform 17" id="17"/>
            <p:cNvSpPr/>
            <p:nvPr/>
          </p:nvSpPr>
          <p:spPr>
            <a:xfrm flipH="false" flipV="false" rot="0">
              <a:off x="9525" y="9525"/>
              <a:ext cx="22200743" cy="3111373"/>
            </a:xfrm>
            <a:custGeom>
              <a:avLst/>
              <a:gdLst/>
              <a:ahLst/>
              <a:cxnLst/>
              <a:rect r="r" b="b" t="t" l="l"/>
              <a:pathLst>
                <a:path h="3111373" w="22200743">
                  <a:moveTo>
                    <a:pt x="0" y="0"/>
                  </a:moveTo>
                  <a:lnTo>
                    <a:pt x="22200743" y="0"/>
                  </a:lnTo>
                  <a:lnTo>
                    <a:pt x="22200743" y="3111373"/>
                  </a:lnTo>
                  <a:lnTo>
                    <a:pt x="0" y="3111373"/>
                  </a:lnTo>
                  <a:close/>
                </a:path>
              </a:pathLst>
            </a:custGeom>
            <a:solidFill>
              <a:srgbClr val="FFFFFF"/>
            </a:solidFill>
          </p:spPr>
        </p:sp>
        <p:sp>
          <p:nvSpPr>
            <p:cNvPr name="Freeform 18" id="18"/>
            <p:cNvSpPr/>
            <p:nvPr/>
          </p:nvSpPr>
          <p:spPr>
            <a:xfrm flipH="false" flipV="false" rot="0">
              <a:off x="0" y="0"/>
              <a:ext cx="22219793" cy="3130423"/>
            </a:xfrm>
            <a:custGeom>
              <a:avLst/>
              <a:gdLst/>
              <a:ahLst/>
              <a:cxnLst/>
              <a:rect r="r" b="b" t="t" l="l"/>
              <a:pathLst>
                <a:path h="3130423" w="22219793">
                  <a:moveTo>
                    <a:pt x="9525" y="0"/>
                  </a:moveTo>
                  <a:lnTo>
                    <a:pt x="22210268" y="0"/>
                  </a:lnTo>
                  <a:cubicBezTo>
                    <a:pt x="22215475" y="0"/>
                    <a:pt x="22219793" y="4318"/>
                    <a:pt x="22219793" y="9525"/>
                  </a:cubicBezTo>
                  <a:lnTo>
                    <a:pt x="22219793" y="3120898"/>
                  </a:lnTo>
                  <a:cubicBezTo>
                    <a:pt x="22219793" y="3126105"/>
                    <a:pt x="22215475" y="3130423"/>
                    <a:pt x="22210268" y="3130423"/>
                  </a:cubicBezTo>
                  <a:lnTo>
                    <a:pt x="9525" y="3130423"/>
                  </a:lnTo>
                  <a:cubicBezTo>
                    <a:pt x="4318" y="3130423"/>
                    <a:pt x="0" y="3126105"/>
                    <a:pt x="0" y="3120898"/>
                  </a:cubicBezTo>
                  <a:lnTo>
                    <a:pt x="0" y="9525"/>
                  </a:lnTo>
                  <a:cubicBezTo>
                    <a:pt x="0" y="4318"/>
                    <a:pt x="4318" y="0"/>
                    <a:pt x="9525" y="0"/>
                  </a:cubicBezTo>
                  <a:moveTo>
                    <a:pt x="9525" y="19050"/>
                  </a:moveTo>
                  <a:lnTo>
                    <a:pt x="9525" y="9525"/>
                  </a:lnTo>
                  <a:lnTo>
                    <a:pt x="19050" y="9525"/>
                  </a:lnTo>
                  <a:lnTo>
                    <a:pt x="19050" y="3120898"/>
                  </a:lnTo>
                  <a:lnTo>
                    <a:pt x="9525" y="3120898"/>
                  </a:lnTo>
                  <a:lnTo>
                    <a:pt x="9525" y="3111373"/>
                  </a:lnTo>
                  <a:lnTo>
                    <a:pt x="22210268" y="3111373"/>
                  </a:lnTo>
                  <a:lnTo>
                    <a:pt x="22210268" y="3120898"/>
                  </a:lnTo>
                  <a:lnTo>
                    <a:pt x="22200743" y="3120898"/>
                  </a:lnTo>
                  <a:lnTo>
                    <a:pt x="22200743" y="9525"/>
                  </a:lnTo>
                  <a:lnTo>
                    <a:pt x="22210268" y="9525"/>
                  </a:lnTo>
                  <a:lnTo>
                    <a:pt x="22210268" y="19050"/>
                  </a:lnTo>
                  <a:lnTo>
                    <a:pt x="9525" y="19050"/>
                  </a:lnTo>
                  <a:close/>
                </a:path>
              </a:pathLst>
            </a:custGeom>
            <a:solidFill>
              <a:srgbClr val="FFFFFF"/>
            </a:solidFill>
          </p:spPr>
        </p:sp>
      </p:grpSp>
      <p:grpSp>
        <p:nvGrpSpPr>
          <p:cNvPr name="Group 19" id="19"/>
          <p:cNvGrpSpPr/>
          <p:nvPr/>
        </p:nvGrpSpPr>
        <p:grpSpPr>
          <a:xfrm rot="0">
            <a:off x="1090984" y="4934474"/>
            <a:ext cx="2896914" cy="1798777"/>
            <a:chOff x="0" y="0"/>
            <a:chExt cx="3862553" cy="2398370"/>
          </a:xfrm>
        </p:grpSpPr>
        <p:sp>
          <p:nvSpPr>
            <p:cNvPr name="Freeform 20" id="20"/>
            <p:cNvSpPr/>
            <p:nvPr/>
          </p:nvSpPr>
          <p:spPr>
            <a:xfrm flipH="false" flipV="false" rot="0">
              <a:off x="9525" y="9525"/>
              <a:ext cx="3843528" cy="2379345"/>
            </a:xfrm>
            <a:custGeom>
              <a:avLst/>
              <a:gdLst/>
              <a:ahLst/>
              <a:cxnLst/>
              <a:rect r="r" b="b" t="t" l="l"/>
              <a:pathLst>
                <a:path h="2379345" w="3843528">
                  <a:moveTo>
                    <a:pt x="0" y="0"/>
                  </a:moveTo>
                  <a:lnTo>
                    <a:pt x="3843528" y="0"/>
                  </a:lnTo>
                  <a:lnTo>
                    <a:pt x="3843528" y="2379345"/>
                  </a:lnTo>
                  <a:lnTo>
                    <a:pt x="0" y="2379345"/>
                  </a:lnTo>
                  <a:close/>
                </a:path>
              </a:pathLst>
            </a:custGeom>
            <a:solidFill>
              <a:srgbClr val="FFFFFF"/>
            </a:solidFill>
          </p:spPr>
        </p:sp>
        <p:sp>
          <p:nvSpPr>
            <p:cNvPr name="Freeform 21" id="21"/>
            <p:cNvSpPr/>
            <p:nvPr/>
          </p:nvSpPr>
          <p:spPr>
            <a:xfrm flipH="false" flipV="false" rot="0">
              <a:off x="0" y="0"/>
              <a:ext cx="3862578" cy="2398395"/>
            </a:xfrm>
            <a:custGeom>
              <a:avLst/>
              <a:gdLst/>
              <a:ahLst/>
              <a:cxnLst/>
              <a:rect r="r" b="b" t="t" l="l"/>
              <a:pathLst>
                <a:path h="2398395" w="3862578">
                  <a:moveTo>
                    <a:pt x="9525" y="0"/>
                  </a:moveTo>
                  <a:lnTo>
                    <a:pt x="3853053" y="0"/>
                  </a:lnTo>
                  <a:cubicBezTo>
                    <a:pt x="3858260" y="0"/>
                    <a:pt x="3862578" y="4318"/>
                    <a:pt x="3862578" y="9525"/>
                  </a:cubicBezTo>
                  <a:lnTo>
                    <a:pt x="3862578" y="2388870"/>
                  </a:lnTo>
                  <a:cubicBezTo>
                    <a:pt x="3862578" y="2394077"/>
                    <a:pt x="3858260" y="2398395"/>
                    <a:pt x="3853053" y="2398395"/>
                  </a:cubicBezTo>
                  <a:lnTo>
                    <a:pt x="9525" y="2398395"/>
                  </a:lnTo>
                  <a:cubicBezTo>
                    <a:pt x="4318" y="2398395"/>
                    <a:pt x="0" y="2394077"/>
                    <a:pt x="0" y="2388870"/>
                  </a:cubicBezTo>
                  <a:lnTo>
                    <a:pt x="0" y="9525"/>
                  </a:lnTo>
                  <a:cubicBezTo>
                    <a:pt x="0" y="4318"/>
                    <a:pt x="4318" y="0"/>
                    <a:pt x="9525" y="0"/>
                  </a:cubicBezTo>
                  <a:moveTo>
                    <a:pt x="9525" y="19050"/>
                  </a:moveTo>
                  <a:lnTo>
                    <a:pt x="9525" y="9525"/>
                  </a:lnTo>
                  <a:lnTo>
                    <a:pt x="19050" y="9525"/>
                  </a:lnTo>
                  <a:lnTo>
                    <a:pt x="19050" y="2388870"/>
                  </a:lnTo>
                  <a:lnTo>
                    <a:pt x="9525" y="2388870"/>
                  </a:lnTo>
                  <a:lnTo>
                    <a:pt x="9525" y="2379345"/>
                  </a:lnTo>
                  <a:lnTo>
                    <a:pt x="3853053" y="2379345"/>
                  </a:lnTo>
                  <a:lnTo>
                    <a:pt x="3853053" y="2388870"/>
                  </a:lnTo>
                  <a:lnTo>
                    <a:pt x="3843528" y="2388870"/>
                  </a:lnTo>
                  <a:lnTo>
                    <a:pt x="3843528" y="9525"/>
                  </a:lnTo>
                  <a:lnTo>
                    <a:pt x="3853053" y="9525"/>
                  </a:lnTo>
                  <a:lnTo>
                    <a:pt x="3853053" y="19050"/>
                  </a:lnTo>
                  <a:lnTo>
                    <a:pt x="9525" y="19050"/>
                  </a:lnTo>
                  <a:close/>
                </a:path>
              </a:pathLst>
            </a:custGeom>
            <a:solidFill>
              <a:srgbClr val="7C3AED"/>
            </a:solidFill>
          </p:spPr>
        </p:sp>
      </p:grpSp>
      <p:sp>
        <p:nvSpPr>
          <p:cNvPr name="TextBox 22" id="22"/>
          <p:cNvSpPr txBox="true"/>
          <p:nvPr/>
        </p:nvSpPr>
        <p:spPr>
          <a:xfrm rot="0">
            <a:off x="1189577" y="4998825"/>
            <a:ext cx="2699728" cy="514779"/>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23" id="23"/>
          <p:cNvSpPr txBox="true"/>
          <p:nvPr/>
        </p:nvSpPr>
        <p:spPr>
          <a:xfrm rot="0">
            <a:off x="1189577" y="5645096"/>
            <a:ext cx="2699728" cy="417566"/>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PDF Upload</a:t>
            </a:r>
          </a:p>
        </p:txBody>
      </p:sp>
      <p:sp>
        <p:nvSpPr>
          <p:cNvPr name="TextBox 24" id="24"/>
          <p:cNvSpPr txBox="true"/>
          <p:nvPr/>
        </p:nvSpPr>
        <p:spPr>
          <a:xfrm rot="0">
            <a:off x="1189577" y="6125537"/>
            <a:ext cx="2699728" cy="348939"/>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any size</a:t>
            </a:r>
          </a:p>
        </p:txBody>
      </p:sp>
      <p:grpSp>
        <p:nvGrpSpPr>
          <p:cNvPr name="Group 25" id="25"/>
          <p:cNvGrpSpPr/>
          <p:nvPr/>
        </p:nvGrpSpPr>
        <p:grpSpPr>
          <a:xfrm rot="0">
            <a:off x="4110866" y="4934474"/>
            <a:ext cx="2896914" cy="1798777"/>
            <a:chOff x="0" y="0"/>
            <a:chExt cx="3862553" cy="2398370"/>
          </a:xfrm>
        </p:grpSpPr>
        <p:sp>
          <p:nvSpPr>
            <p:cNvPr name="Freeform 26" id="26"/>
            <p:cNvSpPr/>
            <p:nvPr/>
          </p:nvSpPr>
          <p:spPr>
            <a:xfrm flipH="false" flipV="false" rot="0">
              <a:off x="9525" y="9525"/>
              <a:ext cx="3843528" cy="2379345"/>
            </a:xfrm>
            <a:custGeom>
              <a:avLst/>
              <a:gdLst/>
              <a:ahLst/>
              <a:cxnLst/>
              <a:rect r="r" b="b" t="t" l="l"/>
              <a:pathLst>
                <a:path h="2379345" w="3843528">
                  <a:moveTo>
                    <a:pt x="0" y="0"/>
                  </a:moveTo>
                  <a:lnTo>
                    <a:pt x="3843528" y="0"/>
                  </a:lnTo>
                  <a:lnTo>
                    <a:pt x="3843528" y="2379345"/>
                  </a:lnTo>
                  <a:lnTo>
                    <a:pt x="0" y="2379345"/>
                  </a:lnTo>
                  <a:close/>
                </a:path>
              </a:pathLst>
            </a:custGeom>
            <a:solidFill>
              <a:srgbClr val="FFFFFF"/>
            </a:solidFill>
          </p:spPr>
        </p:sp>
        <p:sp>
          <p:nvSpPr>
            <p:cNvPr name="Freeform 27" id="27"/>
            <p:cNvSpPr/>
            <p:nvPr/>
          </p:nvSpPr>
          <p:spPr>
            <a:xfrm flipH="false" flipV="false" rot="0">
              <a:off x="0" y="0"/>
              <a:ext cx="3862578" cy="2398395"/>
            </a:xfrm>
            <a:custGeom>
              <a:avLst/>
              <a:gdLst/>
              <a:ahLst/>
              <a:cxnLst/>
              <a:rect r="r" b="b" t="t" l="l"/>
              <a:pathLst>
                <a:path h="2398395" w="3862578">
                  <a:moveTo>
                    <a:pt x="9525" y="0"/>
                  </a:moveTo>
                  <a:lnTo>
                    <a:pt x="3853053" y="0"/>
                  </a:lnTo>
                  <a:cubicBezTo>
                    <a:pt x="3858260" y="0"/>
                    <a:pt x="3862578" y="4318"/>
                    <a:pt x="3862578" y="9525"/>
                  </a:cubicBezTo>
                  <a:lnTo>
                    <a:pt x="3862578" y="2388870"/>
                  </a:lnTo>
                  <a:cubicBezTo>
                    <a:pt x="3862578" y="2394077"/>
                    <a:pt x="3858260" y="2398395"/>
                    <a:pt x="3853053" y="2398395"/>
                  </a:cubicBezTo>
                  <a:lnTo>
                    <a:pt x="9525" y="2398395"/>
                  </a:lnTo>
                  <a:cubicBezTo>
                    <a:pt x="4318" y="2398395"/>
                    <a:pt x="0" y="2394077"/>
                    <a:pt x="0" y="2388870"/>
                  </a:cubicBezTo>
                  <a:lnTo>
                    <a:pt x="0" y="9525"/>
                  </a:lnTo>
                  <a:cubicBezTo>
                    <a:pt x="0" y="4318"/>
                    <a:pt x="4318" y="0"/>
                    <a:pt x="9525" y="0"/>
                  </a:cubicBezTo>
                  <a:moveTo>
                    <a:pt x="9525" y="19050"/>
                  </a:moveTo>
                  <a:lnTo>
                    <a:pt x="9525" y="9525"/>
                  </a:lnTo>
                  <a:lnTo>
                    <a:pt x="19050" y="9525"/>
                  </a:lnTo>
                  <a:lnTo>
                    <a:pt x="19050" y="2388870"/>
                  </a:lnTo>
                  <a:lnTo>
                    <a:pt x="9525" y="2388870"/>
                  </a:lnTo>
                  <a:lnTo>
                    <a:pt x="9525" y="2379345"/>
                  </a:lnTo>
                  <a:lnTo>
                    <a:pt x="3853053" y="2379345"/>
                  </a:lnTo>
                  <a:lnTo>
                    <a:pt x="3853053" y="2388870"/>
                  </a:lnTo>
                  <a:lnTo>
                    <a:pt x="3843528" y="2388870"/>
                  </a:lnTo>
                  <a:lnTo>
                    <a:pt x="3843528" y="9525"/>
                  </a:lnTo>
                  <a:lnTo>
                    <a:pt x="3853053" y="9525"/>
                  </a:lnTo>
                  <a:lnTo>
                    <a:pt x="3853053" y="19050"/>
                  </a:lnTo>
                  <a:lnTo>
                    <a:pt x="9525" y="19050"/>
                  </a:lnTo>
                  <a:close/>
                </a:path>
              </a:pathLst>
            </a:custGeom>
            <a:solidFill>
              <a:srgbClr val="A78BFA"/>
            </a:solidFill>
          </p:spPr>
        </p:sp>
      </p:grpSp>
      <p:sp>
        <p:nvSpPr>
          <p:cNvPr name="TextBox 28" id="28"/>
          <p:cNvSpPr txBox="true"/>
          <p:nvPr/>
        </p:nvSpPr>
        <p:spPr>
          <a:xfrm rot="0">
            <a:off x="4209459" y="4998825"/>
            <a:ext cx="2699728" cy="514779"/>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29" id="29"/>
          <p:cNvSpPr txBox="true"/>
          <p:nvPr/>
        </p:nvSpPr>
        <p:spPr>
          <a:xfrm rot="0">
            <a:off x="4209459" y="5645096"/>
            <a:ext cx="2699728" cy="417566"/>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Extract &amp; Chunk</a:t>
            </a:r>
          </a:p>
        </p:txBody>
      </p:sp>
      <p:sp>
        <p:nvSpPr>
          <p:cNvPr name="TextBox 30" id="30"/>
          <p:cNvSpPr txBox="true"/>
          <p:nvPr/>
        </p:nvSpPr>
        <p:spPr>
          <a:xfrm rot="0">
            <a:off x="4209459" y="6125537"/>
            <a:ext cx="2699728" cy="348939"/>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PyMuPDF + tiktoken</a:t>
            </a:r>
          </a:p>
        </p:txBody>
      </p:sp>
      <p:grpSp>
        <p:nvGrpSpPr>
          <p:cNvPr name="Group 31" id="31"/>
          <p:cNvGrpSpPr/>
          <p:nvPr/>
        </p:nvGrpSpPr>
        <p:grpSpPr>
          <a:xfrm rot="0">
            <a:off x="7130748" y="4934474"/>
            <a:ext cx="2896914" cy="1798777"/>
            <a:chOff x="0" y="0"/>
            <a:chExt cx="3862553" cy="2398370"/>
          </a:xfrm>
        </p:grpSpPr>
        <p:sp>
          <p:nvSpPr>
            <p:cNvPr name="Freeform 32" id="32"/>
            <p:cNvSpPr/>
            <p:nvPr/>
          </p:nvSpPr>
          <p:spPr>
            <a:xfrm flipH="false" flipV="false" rot="0">
              <a:off x="9525" y="9525"/>
              <a:ext cx="3843528" cy="2379345"/>
            </a:xfrm>
            <a:custGeom>
              <a:avLst/>
              <a:gdLst/>
              <a:ahLst/>
              <a:cxnLst/>
              <a:rect r="r" b="b" t="t" l="l"/>
              <a:pathLst>
                <a:path h="2379345" w="3843528">
                  <a:moveTo>
                    <a:pt x="0" y="0"/>
                  </a:moveTo>
                  <a:lnTo>
                    <a:pt x="3843528" y="0"/>
                  </a:lnTo>
                  <a:lnTo>
                    <a:pt x="3843528" y="2379345"/>
                  </a:lnTo>
                  <a:lnTo>
                    <a:pt x="0" y="2379345"/>
                  </a:lnTo>
                  <a:close/>
                </a:path>
              </a:pathLst>
            </a:custGeom>
            <a:solidFill>
              <a:srgbClr val="FFFFFF"/>
            </a:solidFill>
          </p:spPr>
        </p:sp>
        <p:sp>
          <p:nvSpPr>
            <p:cNvPr name="Freeform 33" id="33"/>
            <p:cNvSpPr/>
            <p:nvPr/>
          </p:nvSpPr>
          <p:spPr>
            <a:xfrm flipH="false" flipV="false" rot="0">
              <a:off x="0" y="0"/>
              <a:ext cx="3862578" cy="2398395"/>
            </a:xfrm>
            <a:custGeom>
              <a:avLst/>
              <a:gdLst/>
              <a:ahLst/>
              <a:cxnLst/>
              <a:rect r="r" b="b" t="t" l="l"/>
              <a:pathLst>
                <a:path h="2398395" w="3862578">
                  <a:moveTo>
                    <a:pt x="9525" y="0"/>
                  </a:moveTo>
                  <a:lnTo>
                    <a:pt x="3853053" y="0"/>
                  </a:lnTo>
                  <a:cubicBezTo>
                    <a:pt x="3858260" y="0"/>
                    <a:pt x="3862578" y="4318"/>
                    <a:pt x="3862578" y="9525"/>
                  </a:cubicBezTo>
                  <a:lnTo>
                    <a:pt x="3862578" y="2388870"/>
                  </a:lnTo>
                  <a:cubicBezTo>
                    <a:pt x="3862578" y="2394077"/>
                    <a:pt x="3858260" y="2398395"/>
                    <a:pt x="3853053" y="2398395"/>
                  </a:cubicBezTo>
                  <a:lnTo>
                    <a:pt x="9525" y="2398395"/>
                  </a:lnTo>
                  <a:cubicBezTo>
                    <a:pt x="4318" y="2398395"/>
                    <a:pt x="0" y="2394077"/>
                    <a:pt x="0" y="2388870"/>
                  </a:cubicBezTo>
                  <a:lnTo>
                    <a:pt x="0" y="9525"/>
                  </a:lnTo>
                  <a:cubicBezTo>
                    <a:pt x="0" y="4318"/>
                    <a:pt x="4318" y="0"/>
                    <a:pt x="9525" y="0"/>
                  </a:cubicBezTo>
                  <a:moveTo>
                    <a:pt x="9525" y="19050"/>
                  </a:moveTo>
                  <a:lnTo>
                    <a:pt x="9525" y="9525"/>
                  </a:lnTo>
                  <a:lnTo>
                    <a:pt x="19050" y="9525"/>
                  </a:lnTo>
                  <a:lnTo>
                    <a:pt x="19050" y="2388870"/>
                  </a:lnTo>
                  <a:lnTo>
                    <a:pt x="9525" y="2388870"/>
                  </a:lnTo>
                  <a:lnTo>
                    <a:pt x="9525" y="2379345"/>
                  </a:lnTo>
                  <a:lnTo>
                    <a:pt x="3853053" y="2379345"/>
                  </a:lnTo>
                  <a:lnTo>
                    <a:pt x="3853053" y="2388870"/>
                  </a:lnTo>
                  <a:lnTo>
                    <a:pt x="3843528" y="2388870"/>
                  </a:lnTo>
                  <a:lnTo>
                    <a:pt x="3843528" y="9525"/>
                  </a:lnTo>
                  <a:lnTo>
                    <a:pt x="3853053" y="9525"/>
                  </a:lnTo>
                  <a:lnTo>
                    <a:pt x="3853053" y="19050"/>
                  </a:lnTo>
                  <a:lnTo>
                    <a:pt x="9525" y="19050"/>
                  </a:lnTo>
                  <a:close/>
                </a:path>
              </a:pathLst>
            </a:custGeom>
            <a:solidFill>
              <a:srgbClr val="4285F4"/>
            </a:solidFill>
          </p:spPr>
        </p:sp>
      </p:grpSp>
      <p:sp>
        <p:nvSpPr>
          <p:cNvPr name="TextBox 34" id="34"/>
          <p:cNvSpPr txBox="true"/>
          <p:nvPr/>
        </p:nvSpPr>
        <p:spPr>
          <a:xfrm rot="0">
            <a:off x="7229332" y="4998825"/>
            <a:ext cx="2699728" cy="514779"/>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35" id="35"/>
          <p:cNvSpPr txBox="true"/>
          <p:nvPr/>
        </p:nvSpPr>
        <p:spPr>
          <a:xfrm rot="0">
            <a:off x="7229332" y="5645096"/>
            <a:ext cx="2699728" cy="417566"/>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Embed</a:t>
            </a:r>
          </a:p>
        </p:txBody>
      </p:sp>
      <p:sp>
        <p:nvSpPr>
          <p:cNvPr name="TextBox 36" id="36"/>
          <p:cNvSpPr txBox="true"/>
          <p:nvPr/>
        </p:nvSpPr>
        <p:spPr>
          <a:xfrm rot="0">
            <a:off x="7229332" y="6125537"/>
            <a:ext cx="2699728" cy="348939"/>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gemini-embedding-2</a:t>
            </a:r>
          </a:p>
        </p:txBody>
      </p:sp>
      <p:grpSp>
        <p:nvGrpSpPr>
          <p:cNvPr name="Group 37" id="37"/>
          <p:cNvGrpSpPr/>
          <p:nvPr/>
        </p:nvGrpSpPr>
        <p:grpSpPr>
          <a:xfrm rot="0">
            <a:off x="10150631" y="4934474"/>
            <a:ext cx="2896914" cy="1798777"/>
            <a:chOff x="0" y="0"/>
            <a:chExt cx="3862553" cy="2398370"/>
          </a:xfrm>
        </p:grpSpPr>
        <p:sp>
          <p:nvSpPr>
            <p:cNvPr name="Freeform 38" id="38"/>
            <p:cNvSpPr/>
            <p:nvPr/>
          </p:nvSpPr>
          <p:spPr>
            <a:xfrm flipH="false" flipV="false" rot="0">
              <a:off x="9525" y="9525"/>
              <a:ext cx="3843528" cy="2379345"/>
            </a:xfrm>
            <a:custGeom>
              <a:avLst/>
              <a:gdLst/>
              <a:ahLst/>
              <a:cxnLst/>
              <a:rect r="r" b="b" t="t" l="l"/>
              <a:pathLst>
                <a:path h="2379345" w="3843528">
                  <a:moveTo>
                    <a:pt x="0" y="0"/>
                  </a:moveTo>
                  <a:lnTo>
                    <a:pt x="3843528" y="0"/>
                  </a:lnTo>
                  <a:lnTo>
                    <a:pt x="3843528" y="2379345"/>
                  </a:lnTo>
                  <a:lnTo>
                    <a:pt x="0" y="2379345"/>
                  </a:lnTo>
                  <a:close/>
                </a:path>
              </a:pathLst>
            </a:custGeom>
            <a:solidFill>
              <a:srgbClr val="FFFFFF"/>
            </a:solidFill>
          </p:spPr>
        </p:sp>
        <p:sp>
          <p:nvSpPr>
            <p:cNvPr name="Freeform 39" id="39"/>
            <p:cNvSpPr/>
            <p:nvPr/>
          </p:nvSpPr>
          <p:spPr>
            <a:xfrm flipH="false" flipV="false" rot="0">
              <a:off x="0" y="0"/>
              <a:ext cx="3862578" cy="2398395"/>
            </a:xfrm>
            <a:custGeom>
              <a:avLst/>
              <a:gdLst/>
              <a:ahLst/>
              <a:cxnLst/>
              <a:rect r="r" b="b" t="t" l="l"/>
              <a:pathLst>
                <a:path h="2398395" w="3862578">
                  <a:moveTo>
                    <a:pt x="9525" y="0"/>
                  </a:moveTo>
                  <a:lnTo>
                    <a:pt x="3853053" y="0"/>
                  </a:lnTo>
                  <a:cubicBezTo>
                    <a:pt x="3858260" y="0"/>
                    <a:pt x="3862578" y="4318"/>
                    <a:pt x="3862578" y="9525"/>
                  </a:cubicBezTo>
                  <a:lnTo>
                    <a:pt x="3862578" y="2388870"/>
                  </a:lnTo>
                  <a:cubicBezTo>
                    <a:pt x="3862578" y="2394077"/>
                    <a:pt x="3858260" y="2398395"/>
                    <a:pt x="3853053" y="2398395"/>
                  </a:cubicBezTo>
                  <a:lnTo>
                    <a:pt x="9525" y="2398395"/>
                  </a:lnTo>
                  <a:cubicBezTo>
                    <a:pt x="4318" y="2398395"/>
                    <a:pt x="0" y="2394077"/>
                    <a:pt x="0" y="2388870"/>
                  </a:cubicBezTo>
                  <a:lnTo>
                    <a:pt x="0" y="9525"/>
                  </a:lnTo>
                  <a:cubicBezTo>
                    <a:pt x="0" y="4318"/>
                    <a:pt x="4318" y="0"/>
                    <a:pt x="9525" y="0"/>
                  </a:cubicBezTo>
                  <a:moveTo>
                    <a:pt x="9525" y="19050"/>
                  </a:moveTo>
                  <a:lnTo>
                    <a:pt x="9525" y="9525"/>
                  </a:lnTo>
                  <a:lnTo>
                    <a:pt x="19050" y="9525"/>
                  </a:lnTo>
                  <a:lnTo>
                    <a:pt x="19050" y="2388870"/>
                  </a:lnTo>
                  <a:lnTo>
                    <a:pt x="9525" y="2388870"/>
                  </a:lnTo>
                  <a:lnTo>
                    <a:pt x="9525" y="2379345"/>
                  </a:lnTo>
                  <a:lnTo>
                    <a:pt x="3853053" y="2379345"/>
                  </a:lnTo>
                  <a:lnTo>
                    <a:pt x="3853053" y="2388870"/>
                  </a:lnTo>
                  <a:lnTo>
                    <a:pt x="3843528" y="2388870"/>
                  </a:lnTo>
                  <a:lnTo>
                    <a:pt x="3843528" y="9525"/>
                  </a:lnTo>
                  <a:lnTo>
                    <a:pt x="3853053" y="9525"/>
                  </a:lnTo>
                  <a:lnTo>
                    <a:pt x="3853053" y="19050"/>
                  </a:lnTo>
                  <a:lnTo>
                    <a:pt x="9525" y="19050"/>
                  </a:lnTo>
                  <a:close/>
                </a:path>
              </a:pathLst>
            </a:custGeom>
            <a:solidFill>
              <a:srgbClr val="336791"/>
            </a:solidFill>
          </p:spPr>
        </p:sp>
      </p:grpSp>
      <p:sp>
        <p:nvSpPr>
          <p:cNvPr name="TextBox 40" id="40"/>
          <p:cNvSpPr txBox="true"/>
          <p:nvPr/>
        </p:nvSpPr>
        <p:spPr>
          <a:xfrm rot="0">
            <a:off x="10249214" y="4998825"/>
            <a:ext cx="2699728" cy="514779"/>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41" id="41"/>
          <p:cNvSpPr txBox="true"/>
          <p:nvPr/>
        </p:nvSpPr>
        <p:spPr>
          <a:xfrm rot="0">
            <a:off x="10249214" y="5645096"/>
            <a:ext cx="2699728" cy="417566"/>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Store</a:t>
            </a:r>
          </a:p>
        </p:txBody>
      </p:sp>
      <p:sp>
        <p:nvSpPr>
          <p:cNvPr name="TextBox 42" id="42"/>
          <p:cNvSpPr txBox="true"/>
          <p:nvPr/>
        </p:nvSpPr>
        <p:spPr>
          <a:xfrm rot="0">
            <a:off x="10249214" y="6125537"/>
            <a:ext cx="2699728" cy="348939"/>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Postgres + pgvector</a:t>
            </a:r>
          </a:p>
        </p:txBody>
      </p:sp>
      <p:grpSp>
        <p:nvGrpSpPr>
          <p:cNvPr name="Group 43" id="43"/>
          <p:cNvGrpSpPr/>
          <p:nvPr/>
        </p:nvGrpSpPr>
        <p:grpSpPr>
          <a:xfrm rot="0">
            <a:off x="13170503" y="4934474"/>
            <a:ext cx="2896914" cy="1798777"/>
            <a:chOff x="0" y="0"/>
            <a:chExt cx="3862553" cy="2398370"/>
          </a:xfrm>
        </p:grpSpPr>
        <p:sp>
          <p:nvSpPr>
            <p:cNvPr name="Freeform 44" id="44"/>
            <p:cNvSpPr/>
            <p:nvPr/>
          </p:nvSpPr>
          <p:spPr>
            <a:xfrm flipH="false" flipV="false" rot="0">
              <a:off x="9525" y="9525"/>
              <a:ext cx="3843528" cy="2379345"/>
            </a:xfrm>
            <a:custGeom>
              <a:avLst/>
              <a:gdLst/>
              <a:ahLst/>
              <a:cxnLst/>
              <a:rect r="r" b="b" t="t" l="l"/>
              <a:pathLst>
                <a:path h="2379345" w="3843528">
                  <a:moveTo>
                    <a:pt x="0" y="0"/>
                  </a:moveTo>
                  <a:lnTo>
                    <a:pt x="3843528" y="0"/>
                  </a:lnTo>
                  <a:lnTo>
                    <a:pt x="3843528" y="2379345"/>
                  </a:lnTo>
                  <a:lnTo>
                    <a:pt x="0" y="2379345"/>
                  </a:lnTo>
                  <a:close/>
                </a:path>
              </a:pathLst>
            </a:custGeom>
            <a:solidFill>
              <a:srgbClr val="FFFFFF"/>
            </a:solidFill>
          </p:spPr>
        </p:sp>
        <p:sp>
          <p:nvSpPr>
            <p:cNvPr name="Freeform 45" id="45"/>
            <p:cNvSpPr/>
            <p:nvPr/>
          </p:nvSpPr>
          <p:spPr>
            <a:xfrm flipH="false" flipV="false" rot="0">
              <a:off x="0" y="0"/>
              <a:ext cx="3862578" cy="2398395"/>
            </a:xfrm>
            <a:custGeom>
              <a:avLst/>
              <a:gdLst/>
              <a:ahLst/>
              <a:cxnLst/>
              <a:rect r="r" b="b" t="t" l="l"/>
              <a:pathLst>
                <a:path h="2398395" w="3862578">
                  <a:moveTo>
                    <a:pt x="9525" y="0"/>
                  </a:moveTo>
                  <a:lnTo>
                    <a:pt x="3853053" y="0"/>
                  </a:lnTo>
                  <a:cubicBezTo>
                    <a:pt x="3858260" y="0"/>
                    <a:pt x="3862578" y="4318"/>
                    <a:pt x="3862578" y="9525"/>
                  </a:cubicBezTo>
                  <a:lnTo>
                    <a:pt x="3862578" y="2388870"/>
                  </a:lnTo>
                  <a:cubicBezTo>
                    <a:pt x="3862578" y="2394077"/>
                    <a:pt x="3858260" y="2398395"/>
                    <a:pt x="3853053" y="2398395"/>
                  </a:cubicBezTo>
                  <a:lnTo>
                    <a:pt x="9525" y="2398395"/>
                  </a:lnTo>
                  <a:cubicBezTo>
                    <a:pt x="4318" y="2398395"/>
                    <a:pt x="0" y="2394077"/>
                    <a:pt x="0" y="2388870"/>
                  </a:cubicBezTo>
                  <a:lnTo>
                    <a:pt x="0" y="9525"/>
                  </a:lnTo>
                  <a:cubicBezTo>
                    <a:pt x="0" y="4318"/>
                    <a:pt x="4318" y="0"/>
                    <a:pt x="9525" y="0"/>
                  </a:cubicBezTo>
                  <a:moveTo>
                    <a:pt x="9525" y="19050"/>
                  </a:moveTo>
                  <a:lnTo>
                    <a:pt x="9525" y="9525"/>
                  </a:lnTo>
                  <a:lnTo>
                    <a:pt x="19050" y="9525"/>
                  </a:lnTo>
                  <a:lnTo>
                    <a:pt x="19050" y="2388870"/>
                  </a:lnTo>
                  <a:lnTo>
                    <a:pt x="9525" y="2388870"/>
                  </a:lnTo>
                  <a:lnTo>
                    <a:pt x="9525" y="2379345"/>
                  </a:lnTo>
                  <a:lnTo>
                    <a:pt x="3853053" y="2379345"/>
                  </a:lnTo>
                  <a:lnTo>
                    <a:pt x="3853053" y="2388870"/>
                  </a:lnTo>
                  <a:lnTo>
                    <a:pt x="3843528" y="2388870"/>
                  </a:lnTo>
                  <a:lnTo>
                    <a:pt x="3843528" y="9525"/>
                  </a:lnTo>
                  <a:lnTo>
                    <a:pt x="3853053" y="9525"/>
                  </a:lnTo>
                  <a:lnTo>
                    <a:pt x="3853053" y="19050"/>
                  </a:lnTo>
                  <a:lnTo>
                    <a:pt x="9525" y="19050"/>
                  </a:lnTo>
                  <a:close/>
                </a:path>
              </a:pathLst>
            </a:custGeom>
            <a:solidFill>
              <a:srgbClr val="059669"/>
            </a:solidFill>
          </p:spPr>
        </p:sp>
      </p:grpSp>
      <p:sp>
        <p:nvSpPr>
          <p:cNvPr name="TextBox 46" id="46"/>
          <p:cNvSpPr txBox="true"/>
          <p:nvPr/>
        </p:nvSpPr>
        <p:spPr>
          <a:xfrm rot="0">
            <a:off x="13269097" y="4998825"/>
            <a:ext cx="2699728" cy="514779"/>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47" id="47"/>
          <p:cNvSpPr txBox="true"/>
          <p:nvPr/>
        </p:nvSpPr>
        <p:spPr>
          <a:xfrm rot="0">
            <a:off x="13269097" y="5645096"/>
            <a:ext cx="2699728" cy="417566"/>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Answer</a:t>
            </a:r>
          </a:p>
        </p:txBody>
      </p:sp>
      <p:sp>
        <p:nvSpPr>
          <p:cNvPr name="TextBox 48" id="48"/>
          <p:cNvSpPr txBox="true"/>
          <p:nvPr/>
        </p:nvSpPr>
        <p:spPr>
          <a:xfrm rot="0">
            <a:off x="13269097" y="6125537"/>
            <a:ext cx="2699728" cy="348939"/>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Gemini 2.5 Flash</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SYSTEM DESIGN</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Architecture</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7C3AED"/>
            </a:solidFill>
          </p:spPr>
        </p:sp>
      </p:grpSp>
      <p:grpSp>
        <p:nvGrpSpPr>
          <p:cNvPr name="Group 6" id="6"/>
          <p:cNvGrpSpPr/>
          <p:nvPr/>
        </p:nvGrpSpPr>
        <p:grpSpPr>
          <a:xfrm rot="0">
            <a:off x="404651" y="3836337"/>
            <a:ext cx="2210572" cy="2073307"/>
            <a:chOff x="0" y="0"/>
            <a:chExt cx="2947429" cy="2764409"/>
          </a:xfrm>
        </p:grpSpPr>
        <p:sp>
          <p:nvSpPr>
            <p:cNvPr name="Freeform 7" id="7"/>
            <p:cNvSpPr/>
            <p:nvPr/>
          </p:nvSpPr>
          <p:spPr>
            <a:xfrm flipH="false" flipV="false" rot="0">
              <a:off x="9525" y="9525"/>
              <a:ext cx="2928366" cy="2745359"/>
            </a:xfrm>
            <a:custGeom>
              <a:avLst/>
              <a:gdLst/>
              <a:ahLst/>
              <a:cxnLst/>
              <a:rect r="r" b="b" t="t" l="l"/>
              <a:pathLst>
                <a:path h="2745359" w="2928366">
                  <a:moveTo>
                    <a:pt x="0" y="0"/>
                  </a:moveTo>
                  <a:lnTo>
                    <a:pt x="2928366" y="0"/>
                  </a:lnTo>
                  <a:lnTo>
                    <a:pt x="2928366" y="2745359"/>
                  </a:lnTo>
                  <a:lnTo>
                    <a:pt x="0" y="2745359"/>
                  </a:lnTo>
                  <a:close/>
                </a:path>
              </a:pathLst>
            </a:custGeom>
            <a:solidFill>
              <a:srgbClr val="FFFFFF"/>
            </a:solidFill>
          </p:spPr>
        </p:sp>
        <p:sp>
          <p:nvSpPr>
            <p:cNvPr name="Freeform 8" id="8"/>
            <p:cNvSpPr/>
            <p:nvPr/>
          </p:nvSpPr>
          <p:spPr>
            <a:xfrm flipH="false" flipV="false" rot="0">
              <a:off x="0" y="0"/>
              <a:ext cx="2947416" cy="2764409"/>
            </a:xfrm>
            <a:custGeom>
              <a:avLst/>
              <a:gdLst/>
              <a:ahLst/>
              <a:cxnLst/>
              <a:rect r="r" b="b" t="t" l="l"/>
              <a:pathLst>
                <a:path h="2764409" w="2947416">
                  <a:moveTo>
                    <a:pt x="9525" y="0"/>
                  </a:moveTo>
                  <a:lnTo>
                    <a:pt x="2937891" y="0"/>
                  </a:lnTo>
                  <a:cubicBezTo>
                    <a:pt x="2943098" y="0"/>
                    <a:pt x="2947416" y="4318"/>
                    <a:pt x="2947416" y="9525"/>
                  </a:cubicBezTo>
                  <a:lnTo>
                    <a:pt x="2947416" y="2754884"/>
                  </a:lnTo>
                  <a:cubicBezTo>
                    <a:pt x="2947416" y="2760091"/>
                    <a:pt x="2943098" y="2764409"/>
                    <a:pt x="2937891" y="2764409"/>
                  </a:cubicBezTo>
                  <a:lnTo>
                    <a:pt x="9525" y="2764409"/>
                  </a:lnTo>
                  <a:cubicBezTo>
                    <a:pt x="4318" y="2764409"/>
                    <a:pt x="0" y="2760091"/>
                    <a:pt x="0" y="2754884"/>
                  </a:cubicBezTo>
                  <a:lnTo>
                    <a:pt x="0" y="9525"/>
                  </a:lnTo>
                  <a:cubicBezTo>
                    <a:pt x="0" y="4318"/>
                    <a:pt x="4318" y="0"/>
                    <a:pt x="9525" y="0"/>
                  </a:cubicBezTo>
                  <a:moveTo>
                    <a:pt x="9525" y="19050"/>
                  </a:moveTo>
                  <a:lnTo>
                    <a:pt x="9525" y="9525"/>
                  </a:lnTo>
                  <a:lnTo>
                    <a:pt x="19050" y="9525"/>
                  </a:lnTo>
                  <a:lnTo>
                    <a:pt x="19050" y="2754884"/>
                  </a:lnTo>
                  <a:lnTo>
                    <a:pt x="9525" y="2754884"/>
                  </a:lnTo>
                  <a:lnTo>
                    <a:pt x="9525" y="2745359"/>
                  </a:lnTo>
                  <a:lnTo>
                    <a:pt x="2937891" y="2745359"/>
                  </a:lnTo>
                  <a:lnTo>
                    <a:pt x="2937891" y="2754884"/>
                  </a:lnTo>
                  <a:lnTo>
                    <a:pt x="2928366" y="2754884"/>
                  </a:lnTo>
                  <a:lnTo>
                    <a:pt x="2928366" y="9525"/>
                  </a:lnTo>
                  <a:lnTo>
                    <a:pt x="2937891" y="9525"/>
                  </a:lnTo>
                  <a:lnTo>
                    <a:pt x="2937891" y="19050"/>
                  </a:lnTo>
                  <a:lnTo>
                    <a:pt x="9525" y="19050"/>
                  </a:lnTo>
                  <a:close/>
                </a:path>
              </a:pathLst>
            </a:custGeom>
            <a:solidFill>
              <a:srgbClr val="FFFFFF"/>
            </a:solidFill>
          </p:spPr>
        </p:sp>
      </p:grpSp>
      <p:sp>
        <p:nvSpPr>
          <p:cNvPr name="TextBox 9" id="9"/>
          <p:cNvSpPr txBox="true"/>
          <p:nvPr/>
        </p:nvSpPr>
        <p:spPr>
          <a:xfrm rot="0">
            <a:off x="503244" y="3891163"/>
            <a:ext cx="2013394" cy="661568"/>
          </a:xfrm>
          <a:prstGeom prst="rect">
            <a:avLst/>
          </a:prstGeom>
        </p:spPr>
        <p:txBody>
          <a:bodyPr anchor="t" rtlCol="false" tIns="0" lIns="0" bIns="0" rIns="0">
            <a:spAutoFit/>
          </a:bodyPr>
          <a:lstStyle/>
          <a:p>
            <a:pPr algn="ctr">
              <a:lnSpc>
                <a:spcPts val="3602"/>
              </a:lnSpc>
            </a:pPr>
            <a:r>
              <a:rPr lang="en-US" sz="3002">
                <a:solidFill>
                  <a:srgbClr val="4C1D95"/>
                </a:solidFill>
                <a:latin typeface="Calibri (MS)"/>
                <a:ea typeface="Calibri (MS)"/>
                <a:cs typeface="Calibri (MS)"/>
                <a:sym typeface="Calibri (MS)"/>
              </a:rPr>
              <a:t>🌐</a:t>
            </a:r>
          </a:p>
        </p:txBody>
      </p:sp>
      <p:sp>
        <p:nvSpPr>
          <p:cNvPr name="TextBox 10" id="10"/>
          <p:cNvSpPr txBox="true"/>
          <p:nvPr/>
        </p:nvSpPr>
        <p:spPr>
          <a:xfrm rot="0">
            <a:off x="503244" y="4478331"/>
            <a:ext cx="2013394" cy="348939"/>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Browser</a:t>
            </a:r>
          </a:p>
        </p:txBody>
      </p:sp>
      <p:sp>
        <p:nvSpPr>
          <p:cNvPr name="TextBox 11" id="11"/>
          <p:cNvSpPr txBox="true"/>
          <p:nvPr/>
        </p:nvSpPr>
        <p:spPr>
          <a:xfrm rot="0">
            <a:off x="503244" y="4890135"/>
            <a:ext cx="2013394" cy="760743"/>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index.html</a:t>
            </a:r>
          </a:p>
          <a:p>
            <a:pPr algn="ctr">
              <a:lnSpc>
                <a:spcPts val="1621"/>
              </a:lnSpc>
            </a:pPr>
            <a:r>
              <a:rPr lang="en-US" sz="1351">
                <a:solidFill>
                  <a:srgbClr val="7C3AED"/>
                </a:solidFill>
                <a:latin typeface="Calibri (MS)"/>
                <a:ea typeface="Calibri (MS)"/>
                <a:cs typeface="Calibri (MS)"/>
                <a:sym typeface="Calibri (MS)"/>
              </a:rPr>
              <a:t>SSE streaming</a:t>
            </a:r>
          </a:p>
        </p:txBody>
      </p:sp>
      <p:sp>
        <p:nvSpPr>
          <p:cNvPr name="TextBox 12" id="12"/>
          <p:cNvSpPr txBox="true"/>
          <p:nvPr/>
        </p:nvSpPr>
        <p:spPr>
          <a:xfrm rot="0">
            <a:off x="2699518" y="4743336"/>
            <a:ext cx="366189" cy="495729"/>
          </a:xfrm>
          <a:prstGeom prst="rect">
            <a:avLst/>
          </a:prstGeom>
        </p:spPr>
        <p:txBody>
          <a:bodyPr anchor="t" rtlCol="false" tIns="0" lIns="0" bIns="0" rIns="0">
            <a:spAutoFit/>
          </a:bodyPr>
          <a:lstStyle/>
          <a:p>
            <a:pPr algn="ctr">
              <a:lnSpc>
                <a:spcPts val="2882"/>
              </a:lnSpc>
            </a:pPr>
            <a:r>
              <a:rPr lang="en-US" sz="2401">
                <a:solidFill>
                  <a:srgbClr val="7C3AED"/>
                </a:solidFill>
                <a:latin typeface="Calibri (MS)"/>
                <a:ea typeface="Calibri (MS)"/>
                <a:cs typeface="Calibri (MS)"/>
                <a:sym typeface="Calibri (MS)"/>
              </a:rPr>
              <a:t>→</a:t>
            </a:r>
          </a:p>
        </p:txBody>
      </p:sp>
      <p:grpSp>
        <p:nvGrpSpPr>
          <p:cNvPr name="Group 13" id="13"/>
          <p:cNvGrpSpPr/>
          <p:nvPr/>
        </p:nvGrpSpPr>
        <p:grpSpPr>
          <a:xfrm rot="0">
            <a:off x="3149994" y="2463660"/>
            <a:ext cx="2622375" cy="4818650"/>
            <a:chOff x="0" y="0"/>
            <a:chExt cx="3496500" cy="6424866"/>
          </a:xfrm>
        </p:grpSpPr>
        <p:sp>
          <p:nvSpPr>
            <p:cNvPr name="Freeform 14" id="14"/>
            <p:cNvSpPr/>
            <p:nvPr/>
          </p:nvSpPr>
          <p:spPr>
            <a:xfrm flipH="false" flipV="false" rot="0">
              <a:off x="9525" y="9525"/>
              <a:ext cx="3477387" cy="6405753"/>
            </a:xfrm>
            <a:custGeom>
              <a:avLst/>
              <a:gdLst/>
              <a:ahLst/>
              <a:cxnLst/>
              <a:rect r="r" b="b" t="t" l="l"/>
              <a:pathLst>
                <a:path h="6405753" w="3477387">
                  <a:moveTo>
                    <a:pt x="0" y="0"/>
                  </a:moveTo>
                  <a:lnTo>
                    <a:pt x="3477387" y="0"/>
                  </a:lnTo>
                  <a:lnTo>
                    <a:pt x="3477387" y="6405753"/>
                  </a:lnTo>
                  <a:lnTo>
                    <a:pt x="0" y="6405753"/>
                  </a:lnTo>
                  <a:close/>
                </a:path>
              </a:pathLst>
            </a:custGeom>
            <a:solidFill>
              <a:srgbClr val="FFFFFF"/>
            </a:solidFill>
          </p:spPr>
        </p:sp>
        <p:sp>
          <p:nvSpPr>
            <p:cNvPr name="Freeform 15" id="15"/>
            <p:cNvSpPr/>
            <p:nvPr/>
          </p:nvSpPr>
          <p:spPr>
            <a:xfrm flipH="false" flipV="false" rot="0">
              <a:off x="0" y="0"/>
              <a:ext cx="3496437" cy="6424803"/>
            </a:xfrm>
            <a:custGeom>
              <a:avLst/>
              <a:gdLst/>
              <a:ahLst/>
              <a:cxnLst/>
              <a:rect r="r" b="b" t="t" l="l"/>
              <a:pathLst>
                <a:path h="6424803" w="3496437">
                  <a:moveTo>
                    <a:pt x="9525" y="0"/>
                  </a:moveTo>
                  <a:lnTo>
                    <a:pt x="3486912" y="0"/>
                  </a:lnTo>
                  <a:cubicBezTo>
                    <a:pt x="3492119" y="0"/>
                    <a:pt x="3496437" y="4318"/>
                    <a:pt x="3496437" y="9525"/>
                  </a:cubicBezTo>
                  <a:lnTo>
                    <a:pt x="3496437" y="6415278"/>
                  </a:lnTo>
                  <a:cubicBezTo>
                    <a:pt x="3496437" y="6420485"/>
                    <a:pt x="3492119" y="6424803"/>
                    <a:pt x="3486912" y="6424803"/>
                  </a:cubicBezTo>
                  <a:lnTo>
                    <a:pt x="9525" y="6424803"/>
                  </a:lnTo>
                  <a:cubicBezTo>
                    <a:pt x="4318" y="6424803"/>
                    <a:pt x="0" y="6420485"/>
                    <a:pt x="0" y="6415278"/>
                  </a:cubicBezTo>
                  <a:lnTo>
                    <a:pt x="0" y="9525"/>
                  </a:lnTo>
                  <a:cubicBezTo>
                    <a:pt x="0" y="4318"/>
                    <a:pt x="4318" y="0"/>
                    <a:pt x="9525" y="0"/>
                  </a:cubicBezTo>
                  <a:moveTo>
                    <a:pt x="9525" y="19050"/>
                  </a:moveTo>
                  <a:lnTo>
                    <a:pt x="9525" y="9525"/>
                  </a:lnTo>
                  <a:lnTo>
                    <a:pt x="19050" y="9525"/>
                  </a:lnTo>
                  <a:lnTo>
                    <a:pt x="19050" y="6415278"/>
                  </a:lnTo>
                  <a:lnTo>
                    <a:pt x="9525" y="6415278"/>
                  </a:lnTo>
                  <a:lnTo>
                    <a:pt x="9525" y="6405753"/>
                  </a:lnTo>
                  <a:lnTo>
                    <a:pt x="3486912" y="6405753"/>
                  </a:lnTo>
                  <a:lnTo>
                    <a:pt x="3486912" y="6415278"/>
                  </a:lnTo>
                  <a:lnTo>
                    <a:pt x="3477387" y="6415278"/>
                  </a:lnTo>
                  <a:lnTo>
                    <a:pt x="3477387" y="9525"/>
                  </a:lnTo>
                  <a:lnTo>
                    <a:pt x="3486912" y="9525"/>
                  </a:lnTo>
                  <a:lnTo>
                    <a:pt x="3486912" y="19050"/>
                  </a:lnTo>
                  <a:lnTo>
                    <a:pt x="9525" y="19050"/>
                  </a:lnTo>
                  <a:close/>
                </a:path>
              </a:pathLst>
            </a:custGeom>
            <a:solidFill>
              <a:srgbClr val="7C3AED"/>
            </a:solidFill>
          </p:spPr>
        </p:sp>
      </p:grpSp>
      <p:sp>
        <p:nvSpPr>
          <p:cNvPr name="TextBox 16" id="16"/>
          <p:cNvSpPr txBox="true"/>
          <p:nvPr/>
        </p:nvSpPr>
        <p:spPr>
          <a:xfrm rot="0">
            <a:off x="3248587" y="2615698"/>
            <a:ext cx="2425198" cy="495729"/>
          </a:xfrm>
          <a:prstGeom prst="rect">
            <a:avLst/>
          </a:prstGeom>
        </p:spPr>
        <p:txBody>
          <a:bodyPr anchor="t" rtlCol="false" tIns="0" lIns="0" bIns="0" rIns="0">
            <a:spAutoFit/>
          </a:bodyPr>
          <a:lstStyle/>
          <a:p>
            <a:pPr algn="ctr">
              <a:lnSpc>
                <a:spcPts val="2161"/>
              </a:lnSpc>
            </a:pPr>
            <a:r>
              <a:rPr lang="en-US" sz="1801" b="true">
                <a:solidFill>
                  <a:srgbClr val="7C3AED"/>
                </a:solidFill>
                <a:latin typeface="Calibri (MS) Bold"/>
                <a:ea typeface="Calibri (MS) Bold"/>
                <a:cs typeface="Calibri (MS) Bold"/>
                <a:sym typeface="Calibri (MS) Bold"/>
              </a:rPr>
              <a:t>FastAPI</a:t>
            </a:r>
          </a:p>
        </p:txBody>
      </p:sp>
      <p:grpSp>
        <p:nvGrpSpPr>
          <p:cNvPr name="Group 17" id="17"/>
          <p:cNvGrpSpPr/>
          <p:nvPr/>
        </p:nvGrpSpPr>
        <p:grpSpPr>
          <a:xfrm rot="0">
            <a:off x="3317100" y="3221012"/>
            <a:ext cx="2288172" cy="531152"/>
            <a:chOff x="0" y="0"/>
            <a:chExt cx="3050896" cy="708203"/>
          </a:xfrm>
        </p:grpSpPr>
        <p:sp>
          <p:nvSpPr>
            <p:cNvPr name="Freeform 18" id="18"/>
            <p:cNvSpPr/>
            <p:nvPr/>
          </p:nvSpPr>
          <p:spPr>
            <a:xfrm flipH="false" flipV="false" rot="0">
              <a:off x="6350" y="6350"/>
              <a:ext cx="3038221" cy="695452"/>
            </a:xfrm>
            <a:custGeom>
              <a:avLst/>
              <a:gdLst/>
              <a:ahLst/>
              <a:cxnLst/>
              <a:rect r="r" b="b" t="t" l="l"/>
              <a:pathLst>
                <a:path h="695452" w="3038221">
                  <a:moveTo>
                    <a:pt x="0" y="0"/>
                  </a:moveTo>
                  <a:lnTo>
                    <a:pt x="3038221" y="0"/>
                  </a:lnTo>
                  <a:lnTo>
                    <a:pt x="3038221" y="695452"/>
                  </a:lnTo>
                  <a:lnTo>
                    <a:pt x="0" y="695452"/>
                  </a:lnTo>
                  <a:close/>
                </a:path>
              </a:pathLst>
            </a:custGeom>
            <a:solidFill>
              <a:srgbClr val="FFFFFF"/>
            </a:solidFill>
          </p:spPr>
        </p:sp>
        <p:sp>
          <p:nvSpPr>
            <p:cNvPr name="Freeform 19" id="19"/>
            <p:cNvSpPr/>
            <p:nvPr/>
          </p:nvSpPr>
          <p:spPr>
            <a:xfrm flipH="false" flipV="false" rot="0">
              <a:off x="0" y="0"/>
              <a:ext cx="3050921" cy="708152"/>
            </a:xfrm>
            <a:custGeom>
              <a:avLst/>
              <a:gdLst/>
              <a:ahLst/>
              <a:cxnLst/>
              <a:rect r="r" b="b" t="t" l="l"/>
              <a:pathLst>
                <a:path h="708152" w="3050921">
                  <a:moveTo>
                    <a:pt x="6350" y="0"/>
                  </a:moveTo>
                  <a:lnTo>
                    <a:pt x="3044571" y="0"/>
                  </a:lnTo>
                  <a:cubicBezTo>
                    <a:pt x="3048127" y="0"/>
                    <a:pt x="3050921" y="2794"/>
                    <a:pt x="3050921" y="6350"/>
                  </a:cubicBezTo>
                  <a:lnTo>
                    <a:pt x="3050921" y="701802"/>
                  </a:lnTo>
                  <a:cubicBezTo>
                    <a:pt x="3050921" y="705358"/>
                    <a:pt x="3048127" y="708152"/>
                    <a:pt x="3044571" y="708152"/>
                  </a:cubicBezTo>
                  <a:lnTo>
                    <a:pt x="6350" y="708152"/>
                  </a:lnTo>
                  <a:cubicBezTo>
                    <a:pt x="2794" y="708152"/>
                    <a:pt x="0" y="705358"/>
                    <a:pt x="0" y="701802"/>
                  </a:cubicBezTo>
                  <a:lnTo>
                    <a:pt x="0" y="6350"/>
                  </a:lnTo>
                  <a:cubicBezTo>
                    <a:pt x="0" y="2794"/>
                    <a:pt x="2794" y="0"/>
                    <a:pt x="6350" y="0"/>
                  </a:cubicBezTo>
                  <a:moveTo>
                    <a:pt x="6350" y="12700"/>
                  </a:moveTo>
                  <a:lnTo>
                    <a:pt x="6350" y="6350"/>
                  </a:lnTo>
                  <a:lnTo>
                    <a:pt x="12700" y="6350"/>
                  </a:lnTo>
                  <a:lnTo>
                    <a:pt x="12700" y="701802"/>
                  </a:lnTo>
                  <a:lnTo>
                    <a:pt x="6350" y="701802"/>
                  </a:lnTo>
                  <a:lnTo>
                    <a:pt x="6350" y="695452"/>
                  </a:lnTo>
                  <a:lnTo>
                    <a:pt x="3044571" y="695452"/>
                  </a:lnTo>
                  <a:lnTo>
                    <a:pt x="3044571" y="701802"/>
                  </a:lnTo>
                  <a:lnTo>
                    <a:pt x="3038221" y="701802"/>
                  </a:lnTo>
                  <a:lnTo>
                    <a:pt x="3038221" y="6350"/>
                  </a:lnTo>
                  <a:lnTo>
                    <a:pt x="3044571" y="6350"/>
                  </a:lnTo>
                  <a:lnTo>
                    <a:pt x="3044571" y="12700"/>
                  </a:lnTo>
                  <a:lnTo>
                    <a:pt x="6350" y="12700"/>
                  </a:lnTo>
                  <a:close/>
                </a:path>
              </a:pathLst>
            </a:custGeom>
            <a:solidFill>
              <a:srgbClr val="FFFFFF"/>
            </a:solidFill>
          </p:spPr>
        </p:sp>
      </p:grpSp>
      <p:sp>
        <p:nvSpPr>
          <p:cNvPr name="TextBox 20" id="20"/>
          <p:cNvSpPr txBox="true"/>
          <p:nvPr/>
        </p:nvSpPr>
        <p:spPr>
          <a:xfrm rot="0">
            <a:off x="3413303" y="3311557"/>
            <a:ext cx="2095757" cy="348939"/>
          </a:xfrm>
          <a:prstGeom prst="rect">
            <a:avLst/>
          </a:prstGeom>
        </p:spPr>
        <p:txBody>
          <a:bodyPr anchor="t" rtlCol="false" tIns="0" lIns="0" bIns="0" rIns="0">
            <a:spAutoFit/>
          </a:bodyPr>
          <a:lstStyle/>
          <a:p>
            <a:pPr algn="ctr">
              <a:lnSpc>
                <a:spcPts val="1621"/>
              </a:lnSpc>
            </a:pPr>
            <a:r>
              <a:rPr lang="en-US" sz="1351">
                <a:solidFill>
                  <a:srgbClr val="4C1D95"/>
                </a:solidFill>
                <a:latin typeface="Calibri (MS)"/>
                <a:ea typeface="Calibri (MS)"/>
                <a:cs typeface="Calibri (MS)"/>
                <a:sym typeface="Calibri (MS)"/>
              </a:rPr>
              <a:t>POST /ingest</a:t>
            </a:r>
          </a:p>
        </p:txBody>
      </p:sp>
      <p:grpSp>
        <p:nvGrpSpPr>
          <p:cNvPr name="Group 21" id="21"/>
          <p:cNvGrpSpPr/>
          <p:nvPr/>
        </p:nvGrpSpPr>
        <p:grpSpPr>
          <a:xfrm rot="0">
            <a:off x="3317100" y="3907346"/>
            <a:ext cx="2288172" cy="531152"/>
            <a:chOff x="0" y="0"/>
            <a:chExt cx="3050896" cy="708203"/>
          </a:xfrm>
        </p:grpSpPr>
        <p:sp>
          <p:nvSpPr>
            <p:cNvPr name="Freeform 22" id="22"/>
            <p:cNvSpPr/>
            <p:nvPr/>
          </p:nvSpPr>
          <p:spPr>
            <a:xfrm flipH="false" flipV="false" rot="0">
              <a:off x="6350" y="6350"/>
              <a:ext cx="3038221" cy="695452"/>
            </a:xfrm>
            <a:custGeom>
              <a:avLst/>
              <a:gdLst/>
              <a:ahLst/>
              <a:cxnLst/>
              <a:rect r="r" b="b" t="t" l="l"/>
              <a:pathLst>
                <a:path h="695452" w="3038221">
                  <a:moveTo>
                    <a:pt x="0" y="0"/>
                  </a:moveTo>
                  <a:lnTo>
                    <a:pt x="3038221" y="0"/>
                  </a:lnTo>
                  <a:lnTo>
                    <a:pt x="3038221" y="695452"/>
                  </a:lnTo>
                  <a:lnTo>
                    <a:pt x="0" y="695452"/>
                  </a:lnTo>
                  <a:close/>
                </a:path>
              </a:pathLst>
            </a:custGeom>
            <a:solidFill>
              <a:srgbClr val="FFFFFF"/>
            </a:solidFill>
          </p:spPr>
        </p:sp>
        <p:sp>
          <p:nvSpPr>
            <p:cNvPr name="Freeform 23" id="23"/>
            <p:cNvSpPr/>
            <p:nvPr/>
          </p:nvSpPr>
          <p:spPr>
            <a:xfrm flipH="false" flipV="false" rot="0">
              <a:off x="0" y="0"/>
              <a:ext cx="3050921" cy="708152"/>
            </a:xfrm>
            <a:custGeom>
              <a:avLst/>
              <a:gdLst/>
              <a:ahLst/>
              <a:cxnLst/>
              <a:rect r="r" b="b" t="t" l="l"/>
              <a:pathLst>
                <a:path h="708152" w="3050921">
                  <a:moveTo>
                    <a:pt x="6350" y="0"/>
                  </a:moveTo>
                  <a:lnTo>
                    <a:pt x="3044571" y="0"/>
                  </a:lnTo>
                  <a:cubicBezTo>
                    <a:pt x="3048127" y="0"/>
                    <a:pt x="3050921" y="2794"/>
                    <a:pt x="3050921" y="6350"/>
                  </a:cubicBezTo>
                  <a:lnTo>
                    <a:pt x="3050921" y="701802"/>
                  </a:lnTo>
                  <a:cubicBezTo>
                    <a:pt x="3050921" y="705358"/>
                    <a:pt x="3048127" y="708152"/>
                    <a:pt x="3044571" y="708152"/>
                  </a:cubicBezTo>
                  <a:lnTo>
                    <a:pt x="6350" y="708152"/>
                  </a:lnTo>
                  <a:cubicBezTo>
                    <a:pt x="2794" y="708152"/>
                    <a:pt x="0" y="705358"/>
                    <a:pt x="0" y="701802"/>
                  </a:cubicBezTo>
                  <a:lnTo>
                    <a:pt x="0" y="6350"/>
                  </a:lnTo>
                  <a:cubicBezTo>
                    <a:pt x="0" y="2794"/>
                    <a:pt x="2794" y="0"/>
                    <a:pt x="6350" y="0"/>
                  </a:cubicBezTo>
                  <a:moveTo>
                    <a:pt x="6350" y="12700"/>
                  </a:moveTo>
                  <a:lnTo>
                    <a:pt x="6350" y="6350"/>
                  </a:lnTo>
                  <a:lnTo>
                    <a:pt x="12700" y="6350"/>
                  </a:lnTo>
                  <a:lnTo>
                    <a:pt x="12700" y="701802"/>
                  </a:lnTo>
                  <a:lnTo>
                    <a:pt x="6350" y="701802"/>
                  </a:lnTo>
                  <a:lnTo>
                    <a:pt x="6350" y="695452"/>
                  </a:lnTo>
                  <a:lnTo>
                    <a:pt x="3044571" y="695452"/>
                  </a:lnTo>
                  <a:lnTo>
                    <a:pt x="3044571" y="701802"/>
                  </a:lnTo>
                  <a:lnTo>
                    <a:pt x="3038221" y="701802"/>
                  </a:lnTo>
                  <a:lnTo>
                    <a:pt x="3038221" y="6350"/>
                  </a:lnTo>
                  <a:lnTo>
                    <a:pt x="3044571" y="6350"/>
                  </a:lnTo>
                  <a:lnTo>
                    <a:pt x="3044571" y="12700"/>
                  </a:lnTo>
                  <a:lnTo>
                    <a:pt x="6350" y="12700"/>
                  </a:lnTo>
                  <a:close/>
                </a:path>
              </a:pathLst>
            </a:custGeom>
            <a:solidFill>
              <a:srgbClr val="FFFFFF"/>
            </a:solidFill>
          </p:spPr>
        </p:sp>
      </p:grpSp>
      <p:sp>
        <p:nvSpPr>
          <p:cNvPr name="TextBox 24" id="24"/>
          <p:cNvSpPr txBox="true"/>
          <p:nvPr/>
        </p:nvSpPr>
        <p:spPr>
          <a:xfrm rot="0">
            <a:off x="3413303" y="3997900"/>
            <a:ext cx="2095757" cy="348939"/>
          </a:xfrm>
          <a:prstGeom prst="rect">
            <a:avLst/>
          </a:prstGeom>
        </p:spPr>
        <p:txBody>
          <a:bodyPr anchor="t" rtlCol="false" tIns="0" lIns="0" bIns="0" rIns="0">
            <a:spAutoFit/>
          </a:bodyPr>
          <a:lstStyle/>
          <a:p>
            <a:pPr algn="ctr">
              <a:lnSpc>
                <a:spcPts val="1621"/>
              </a:lnSpc>
            </a:pPr>
            <a:r>
              <a:rPr lang="en-US" sz="1351">
                <a:solidFill>
                  <a:srgbClr val="4C1D95"/>
                </a:solidFill>
                <a:latin typeface="Calibri (MS)"/>
                <a:ea typeface="Calibri (MS)"/>
                <a:cs typeface="Calibri (MS)"/>
                <a:sym typeface="Calibri (MS)"/>
              </a:rPr>
              <a:t>POST /query</a:t>
            </a:r>
          </a:p>
        </p:txBody>
      </p:sp>
      <p:grpSp>
        <p:nvGrpSpPr>
          <p:cNvPr name="Group 25" id="25"/>
          <p:cNvGrpSpPr/>
          <p:nvPr/>
        </p:nvGrpSpPr>
        <p:grpSpPr>
          <a:xfrm rot="0">
            <a:off x="3317100" y="4593688"/>
            <a:ext cx="2288172" cy="531152"/>
            <a:chOff x="0" y="0"/>
            <a:chExt cx="3050896" cy="708203"/>
          </a:xfrm>
        </p:grpSpPr>
        <p:sp>
          <p:nvSpPr>
            <p:cNvPr name="Freeform 26" id="26"/>
            <p:cNvSpPr/>
            <p:nvPr/>
          </p:nvSpPr>
          <p:spPr>
            <a:xfrm flipH="false" flipV="false" rot="0">
              <a:off x="6350" y="6350"/>
              <a:ext cx="3038221" cy="695452"/>
            </a:xfrm>
            <a:custGeom>
              <a:avLst/>
              <a:gdLst/>
              <a:ahLst/>
              <a:cxnLst/>
              <a:rect r="r" b="b" t="t" l="l"/>
              <a:pathLst>
                <a:path h="695452" w="3038221">
                  <a:moveTo>
                    <a:pt x="0" y="0"/>
                  </a:moveTo>
                  <a:lnTo>
                    <a:pt x="3038221" y="0"/>
                  </a:lnTo>
                  <a:lnTo>
                    <a:pt x="3038221" y="695452"/>
                  </a:lnTo>
                  <a:lnTo>
                    <a:pt x="0" y="695452"/>
                  </a:lnTo>
                  <a:close/>
                </a:path>
              </a:pathLst>
            </a:custGeom>
            <a:solidFill>
              <a:srgbClr val="FFFFFF"/>
            </a:solidFill>
          </p:spPr>
        </p:sp>
        <p:sp>
          <p:nvSpPr>
            <p:cNvPr name="Freeform 27" id="27"/>
            <p:cNvSpPr/>
            <p:nvPr/>
          </p:nvSpPr>
          <p:spPr>
            <a:xfrm flipH="false" flipV="false" rot="0">
              <a:off x="0" y="0"/>
              <a:ext cx="3050921" cy="708152"/>
            </a:xfrm>
            <a:custGeom>
              <a:avLst/>
              <a:gdLst/>
              <a:ahLst/>
              <a:cxnLst/>
              <a:rect r="r" b="b" t="t" l="l"/>
              <a:pathLst>
                <a:path h="708152" w="3050921">
                  <a:moveTo>
                    <a:pt x="6350" y="0"/>
                  </a:moveTo>
                  <a:lnTo>
                    <a:pt x="3044571" y="0"/>
                  </a:lnTo>
                  <a:cubicBezTo>
                    <a:pt x="3048127" y="0"/>
                    <a:pt x="3050921" y="2794"/>
                    <a:pt x="3050921" y="6350"/>
                  </a:cubicBezTo>
                  <a:lnTo>
                    <a:pt x="3050921" y="701802"/>
                  </a:lnTo>
                  <a:cubicBezTo>
                    <a:pt x="3050921" y="705358"/>
                    <a:pt x="3048127" y="708152"/>
                    <a:pt x="3044571" y="708152"/>
                  </a:cubicBezTo>
                  <a:lnTo>
                    <a:pt x="6350" y="708152"/>
                  </a:lnTo>
                  <a:cubicBezTo>
                    <a:pt x="2794" y="708152"/>
                    <a:pt x="0" y="705358"/>
                    <a:pt x="0" y="701802"/>
                  </a:cubicBezTo>
                  <a:lnTo>
                    <a:pt x="0" y="6350"/>
                  </a:lnTo>
                  <a:cubicBezTo>
                    <a:pt x="0" y="2794"/>
                    <a:pt x="2794" y="0"/>
                    <a:pt x="6350" y="0"/>
                  </a:cubicBezTo>
                  <a:moveTo>
                    <a:pt x="6350" y="12700"/>
                  </a:moveTo>
                  <a:lnTo>
                    <a:pt x="6350" y="6350"/>
                  </a:lnTo>
                  <a:lnTo>
                    <a:pt x="12700" y="6350"/>
                  </a:lnTo>
                  <a:lnTo>
                    <a:pt x="12700" y="701802"/>
                  </a:lnTo>
                  <a:lnTo>
                    <a:pt x="6350" y="701802"/>
                  </a:lnTo>
                  <a:lnTo>
                    <a:pt x="6350" y="695452"/>
                  </a:lnTo>
                  <a:lnTo>
                    <a:pt x="3044571" y="695452"/>
                  </a:lnTo>
                  <a:lnTo>
                    <a:pt x="3044571" y="701802"/>
                  </a:lnTo>
                  <a:lnTo>
                    <a:pt x="3038221" y="701802"/>
                  </a:lnTo>
                  <a:lnTo>
                    <a:pt x="3038221" y="6350"/>
                  </a:lnTo>
                  <a:lnTo>
                    <a:pt x="3044571" y="6350"/>
                  </a:lnTo>
                  <a:lnTo>
                    <a:pt x="3044571" y="12700"/>
                  </a:lnTo>
                  <a:lnTo>
                    <a:pt x="6350" y="12700"/>
                  </a:lnTo>
                  <a:close/>
                </a:path>
              </a:pathLst>
            </a:custGeom>
            <a:solidFill>
              <a:srgbClr val="FFFFFF"/>
            </a:solidFill>
          </p:spPr>
        </p:sp>
      </p:grpSp>
      <p:sp>
        <p:nvSpPr>
          <p:cNvPr name="TextBox 28" id="28"/>
          <p:cNvSpPr txBox="true"/>
          <p:nvPr/>
        </p:nvSpPr>
        <p:spPr>
          <a:xfrm rot="0">
            <a:off x="3413303" y="4684233"/>
            <a:ext cx="2095757" cy="348939"/>
          </a:xfrm>
          <a:prstGeom prst="rect">
            <a:avLst/>
          </a:prstGeom>
        </p:spPr>
        <p:txBody>
          <a:bodyPr anchor="t" rtlCol="false" tIns="0" lIns="0" bIns="0" rIns="0">
            <a:spAutoFit/>
          </a:bodyPr>
          <a:lstStyle/>
          <a:p>
            <a:pPr algn="ctr">
              <a:lnSpc>
                <a:spcPts val="1621"/>
              </a:lnSpc>
            </a:pPr>
            <a:r>
              <a:rPr lang="en-US" sz="1351">
                <a:solidFill>
                  <a:srgbClr val="4C1D95"/>
                </a:solidFill>
                <a:latin typeface="Calibri (MS)"/>
                <a:ea typeface="Calibri (MS)"/>
                <a:cs typeface="Calibri (MS)"/>
                <a:sym typeface="Calibri (MS)"/>
              </a:rPr>
              <a:t>DELETE /doc</a:t>
            </a:r>
          </a:p>
        </p:txBody>
      </p:sp>
      <p:grpSp>
        <p:nvGrpSpPr>
          <p:cNvPr name="Group 29" id="29"/>
          <p:cNvGrpSpPr/>
          <p:nvPr/>
        </p:nvGrpSpPr>
        <p:grpSpPr>
          <a:xfrm rot="0">
            <a:off x="3317100" y="5280022"/>
            <a:ext cx="2288172" cy="531152"/>
            <a:chOff x="0" y="0"/>
            <a:chExt cx="3050896" cy="708203"/>
          </a:xfrm>
        </p:grpSpPr>
        <p:sp>
          <p:nvSpPr>
            <p:cNvPr name="Freeform 30" id="30"/>
            <p:cNvSpPr/>
            <p:nvPr/>
          </p:nvSpPr>
          <p:spPr>
            <a:xfrm flipH="false" flipV="false" rot="0">
              <a:off x="6350" y="6350"/>
              <a:ext cx="3038221" cy="695452"/>
            </a:xfrm>
            <a:custGeom>
              <a:avLst/>
              <a:gdLst/>
              <a:ahLst/>
              <a:cxnLst/>
              <a:rect r="r" b="b" t="t" l="l"/>
              <a:pathLst>
                <a:path h="695452" w="3038221">
                  <a:moveTo>
                    <a:pt x="0" y="0"/>
                  </a:moveTo>
                  <a:lnTo>
                    <a:pt x="3038221" y="0"/>
                  </a:lnTo>
                  <a:lnTo>
                    <a:pt x="3038221" y="695452"/>
                  </a:lnTo>
                  <a:lnTo>
                    <a:pt x="0" y="695452"/>
                  </a:lnTo>
                  <a:close/>
                </a:path>
              </a:pathLst>
            </a:custGeom>
            <a:solidFill>
              <a:srgbClr val="FFFFFF"/>
            </a:solidFill>
          </p:spPr>
        </p:sp>
        <p:sp>
          <p:nvSpPr>
            <p:cNvPr name="Freeform 31" id="31"/>
            <p:cNvSpPr/>
            <p:nvPr/>
          </p:nvSpPr>
          <p:spPr>
            <a:xfrm flipH="false" flipV="false" rot="0">
              <a:off x="0" y="0"/>
              <a:ext cx="3050921" cy="708152"/>
            </a:xfrm>
            <a:custGeom>
              <a:avLst/>
              <a:gdLst/>
              <a:ahLst/>
              <a:cxnLst/>
              <a:rect r="r" b="b" t="t" l="l"/>
              <a:pathLst>
                <a:path h="708152" w="3050921">
                  <a:moveTo>
                    <a:pt x="6350" y="0"/>
                  </a:moveTo>
                  <a:lnTo>
                    <a:pt x="3044571" y="0"/>
                  </a:lnTo>
                  <a:cubicBezTo>
                    <a:pt x="3048127" y="0"/>
                    <a:pt x="3050921" y="2794"/>
                    <a:pt x="3050921" y="6350"/>
                  </a:cubicBezTo>
                  <a:lnTo>
                    <a:pt x="3050921" y="701802"/>
                  </a:lnTo>
                  <a:cubicBezTo>
                    <a:pt x="3050921" y="705358"/>
                    <a:pt x="3048127" y="708152"/>
                    <a:pt x="3044571" y="708152"/>
                  </a:cubicBezTo>
                  <a:lnTo>
                    <a:pt x="6350" y="708152"/>
                  </a:lnTo>
                  <a:cubicBezTo>
                    <a:pt x="2794" y="708152"/>
                    <a:pt x="0" y="705358"/>
                    <a:pt x="0" y="701802"/>
                  </a:cubicBezTo>
                  <a:lnTo>
                    <a:pt x="0" y="6350"/>
                  </a:lnTo>
                  <a:cubicBezTo>
                    <a:pt x="0" y="2794"/>
                    <a:pt x="2794" y="0"/>
                    <a:pt x="6350" y="0"/>
                  </a:cubicBezTo>
                  <a:moveTo>
                    <a:pt x="6350" y="12700"/>
                  </a:moveTo>
                  <a:lnTo>
                    <a:pt x="6350" y="6350"/>
                  </a:lnTo>
                  <a:lnTo>
                    <a:pt x="12700" y="6350"/>
                  </a:lnTo>
                  <a:lnTo>
                    <a:pt x="12700" y="701802"/>
                  </a:lnTo>
                  <a:lnTo>
                    <a:pt x="6350" y="701802"/>
                  </a:lnTo>
                  <a:lnTo>
                    <a:pt x="6350" y="695452"/>
                  </a:lnTo>
                  <a:lnTo>
                    <a:pt x="3044571" y="695452"/>
                  </a:lnTo>
                  <a:lnTo>
                    <a:pt x="3044571" y="701802"/>
                  </a:lnTo>
                  <a:lnTo>
                    <a:pt x="3038221" y="701802"/>
                  </a:lnTo>
                  <a:lnTo>
                    <a:pt x="3038221" y="6350"/>
                  </a:lnTo>
                  <a:lnTo>
                    <a:pt x="3044571" y="6350"/>
                  </a:lnTo>
                  <a:lnTo>
                    <a:pt x="3044571" y="12700"/>
                  </a:lnTo>
                  <a:lnTo>
                    <a:pt x="6350" y="12700"/>
                  </a:lnTo>
                  <a:close/>
                </a:path>
              </a:pathLst>
            </a:custGeom>
            <a:solidFill>
              <a:srgbClr val="FFFFFF"/>
            </a:solidFill>
          </p:spPr>
        </p:sp>
      </p:grpSp>
      <p:sp>
        <p:nvSpPr>
          <p:cNvPr name="TextBox 32" id="32"/>
          <p:cNvSpPr txBox="true"/>
          <p:nvPr/>
        </p:nvSpPr>
        <p:spPr>
          <a:xfrm rot="0">
            <a:off x="3413303" y="5370566"/>
            <a:ext cx="2095757" cy="348939"/>
          </a:xfrm>
          <a:prstGeom prst="rect">
            <a:avLst/>
          </a:prstGeom>
        </p:spPr>
        <p:txBody>
          <a:bodyPr anchor="t" rtlCol="false" tIns="0" lIns="0" bIns="0" rIns="0">
            <a:spAutoFit/>
          </a:bodyPr>
          <a:lstStyle/>
          <a:p>
            <a:pPr algn="ctr">
              <a:lnSpc>
                <a:spcPts val="1621"/>
              </a:lnSpc>
            </a:pPr>
            <a:r>
              <a:rPr lang="en-US" sz="1351">
                <a:solidFill>
                  <a:srgbClr val="4C1D95"/>
                </a:solidFill>
                <a:latin typeface="Calibri (MS)"/>
                <a:ea typeface="Calibri (MS)"/>
                <a:cs typeface="Calibri (MS)"/>
                <a:sym typeface="Calibri (MS)"/>
              </a:rPr>
              <a:t>GET /doc/info</a:t>
            </a:r>
          </a:p>
        </p:txBody>
      </p:sp>
      <p:grpSp>
        <p:nvGrpSpPr>
          <p:cNvPr name="Group 33" id="33"/>
          <p:cNvGrpSpPr/>
          <p:nvPr/>
        </p:nvGrpSpPr>
        <p:grpSpPr>
          <a:xfrm rot="0">
            <a:off x="3317100" y="5966355"/>
            <a:ext cx="2288172" cy="531152"/>
            <a:chOff x="0" y="0"/>
            <a:chExt cx="3050896" cy="708203"/>
          </a:xfrm>
        </p:grpSpPr>
        <p:sp>
          <p:nvSpPr>
            <p:cNvPr name="Freeform 34" id="34"/>
            <p:cNvSpPr/>
            <p:nvPr/>
          </p:nvSpPr>
          <p:spPr>
            <a:xfrm flipH="false" flipV="false" rot="0">
              <a:off x="6350" y="6350"/>
              <a:ext cx="3038221" cy="695452"/>
            </a:xfrm>
            <a:custGeom>
              <a:avLst/>
              <a:gdLst/>
              <a:ahLst/>
              <a:cxnLst/>
              <a:rect r="r" b="b" t="t" l="l"/>
              <a:pathLst>
                <a:path h="695452" w="3038221">
                  <a:moveTo>
                    <a:pt x="0" y="0"/>
                  </a:moveTo>
                  <a:lnTo>
                    <a:pt x="3038221" y="0"/>
                  </a:lnTo>
                  <a:lnTo>
                    <a:pt x="3038221" y="695452"/>
                  </a:lnTo>
                  <a:lnTo>
                    <a:pt x="0" y="695452"/>
                  </a:lnTo>
                  <a:close/>
                </a:path>
              </a:pathLst>
            </a:custGeom>
            <a:solidFill>
              <a:srgbClr val="FFFFFF"/>
            </a:solidFill>
          </p:spPr>
        </p:sp>
        <p:sp>
          <p:nvSpPr>
            <p:cNvPr name="Freeform 35" id="35"/>
            <p:cNvSpPr/>
            <p:nvPr/>
          </p:nvSpPr>
          <p:spPr>
            <a:xfrm flipH="false" flipV="false" rot="0">
              <a:off x="0" y="0"/>
              <a:ext cx="3050921" cy="708152"/>
            </a:xfrm>
            <a:custGeom>
              <a:avLst/>
              <a:gdLst/>
              <a:ahLst/>
              <a:cxnLst/>
              <a:rect r="r" b="b" t="t" l="l"/>
              <a:pathLst>
                <a:path h="708152" w="3050921">
                  <a:moveTo>
                    <a:pt x="6350" y="0"/>
                  </a:moveTo>
                  <a:lnTo>
                    <a:pt x="3044571" y="0"/>
                  </a:lnTo>
                  <a:cubicBezTo>
                    <a:pt x="3048127" y="0"/>
                    <a:pt x="3050921" y="2794"/>
                    <a:pt x="3050921" y="6350"/>
                  </a:cubicBezTo>
                  <a:lnTo>
                    <a:pt x="3050921" y="701802"/>
                  </a:lnTo>
                  <a:cubicBezTo>
                    <a:pt x="3050921" y="705358"/>
                    <a:pt x="3048127" y="708152"/>
                    <a:pt x="3044571" y="708152"/>
                  </a:cubicBezTo>
                  <a:lnTo>
                    <a:pt x="6350" y="708152"/>
                  </a:lnTo>
                  <a:cubicBezTo>
                    <a:pt x="2794" y="708152"/>
                    <a:pt x="0" y="705358"/>
                    <a:pt x="0" y="701802"/>
                  </a:cubicBezTo>
                  <a:lnTo>
                    <a:pt x="0" y="6350"/>
                  </a:lnTo>
                  <a:cubicBezTo>
                    <a:pt x="0" y="2794"/>
                    <a:pt x="2794" y="0"/>
                    <a:pt x="6350" y="0"/>
                  </a:cubicBezTo>
                  <a:moveTo>
                    <a:pt x="6350" y="12700"/>
                  </a:moveTo>
                  <a:lnTo>
                    <a:pt x="6350" y="6350"/>
                  </a:lnTo>
                  <a:lnTo>
                    <a:pt x="12700" y="6350"/>
                  </a:lnTo>
                  <a:lnTo>
                    <a:pt x="12700" y="701802"/>
                  </a:lnTo>
                  <a:lnTo>
                    <a:pt x="6350" y="701802"/>
                  </a:lnTo>
                  <a:lnTo>
                    <a:pt x="6350" y="695452"/>
                  </a:lnTo>
                  <a:lnTo>
                    <a:pt x="3044571" y="695452"/>
                  </a:lnTo>
                  <a:lnTo>
                    <a:pt x="3044571" y="701802"/>
                  </a:lnTo>
                  <a:lnTo>
                    <a:pt x="3038221" y="701802"/>
                  </a:lnTo>
                  <a:lnTo>
                    <a:pt x="3038221" y="6350"/>
                  </a:lnTo>
                  <a:lnTo>
                    <a:pt x="3044571" y="6350"/>
                  </a:lnTo>
                  <a:lnTo>
                    <a:pt x="3044571" y="12700"/>
                  </a:lnTo>
                  <a:lnTo>
                    <a:pt x="6350" y="12700"/>
                  </a:lnTo>
                  <a:close/>
                </a:path>
              </a:pathLst>
            </a:custGeom>
            <a:solidFill>
              <a:srgbClr val="FFFFFF"/>
            </a:solidFill>
          </p:spPr>
        </p:sp>
      </p:grpSp>
      <p:sp>
        <p:nvSpPr>
          <p:cNvPr name="TextBox 36" id="36"/>
          <p:cNvSpPr txBox="true"/>
          <p:nvPr/>
        </p:nvSpPr>
        <p:spPr>
          <a:xfrm rot="0">
            <a:off x="3413303" y="6056900"/>
            <a:ext cx="2095757" cy="348939"/>
          </a:xfrm>
          <a:prstGeom prst="rect">
            <a:avLst/>
          </a:prstGeom>
        </p:spPr>
        <p:txBody>
          <a:bodyPr anchor="t" rtlCol="false" tIns="0" lIns="0" bIns="0" rIns="0">
            <a:spAutoFit/>
          </a:bodyPr>
          <a:lstStyle/>
          <a:p>
            <a:pPr algn="ctr">
              <a:lnSpc>
                <a:spcPts val="1621"/>
              </a:lnSpc>
            </a:pPr>
            <a:r>
              <a:rPr lang="en-US" sz="1351">
                <a:solidFill>
                  <a:srgbClr val="4C1D95"/>
                </a:solidFill>
                <a:latin typeface="Calibri (MS)"/>
                <a:ea typeface="Calibri (MS)"/>
                <a:cs typeface="Calibri (MS)"/>
                <a:sym typeface="Calibri (MS)"/>
              </a:rPr>
              <a:t>GET /health</a:t>
            </a:r>
          </a:p>
        </p:txBody>
      </p:sp>
      <p:grpSp>
        <p:nvGrpSpPr>
          <p:cNvPr name="Group 37" id="37"/>
          <p:cNvGrpSpPr/>
          <p:nvPr/>
        </p:nvGrpSpPr>
        <p:grpSpPr>
          <a:xfrm rot="0">
            <a:off x="6169876" y="2051856"/>
            <a:ext cx="11682012" cy="3034179"/>
            <a:chOff x="0" y="0"/>
            <a:chExt cx="15576017" cy="4045572"/>
          </a:xfrm>
        </p:grpSpPr>
        <p:sp>
          <p:nvSpPr>
            <p:cNvPr name="Freeform 38" id="38"/>
            <p:cNvSpPr/>
            <p:nvPr/>
          </p:nvSpPr>
          <p:spPr>
            <a:xfrm flipH="false" flipV="false" rot="0">
              <a:off x="9525" y="9525"/>
              <a:ext cx="15556992" cy="4026535"/>
            </a:xfrm>
            <a:custGeom>
              <a:avLst/>
              <a:gdLst/>
              <a:ahLst/>
              <a:cxnLst/>
              <a:rect r="r" b="b" t="t" l="l"/>
              <a:pathLst>
                <a:path h="4026535" w="15556992">
                  <a:moveTo>
                    <a:pt x="0" y="0"/>
                  </a:moveTo>
                  <a:lnTo>
                    <a:pt x="15556992" y="0"/>
                  </a:lnTo>
                  <a:lnTo>
                    <a:pt x="15556992" y="4026535"/>
                  </a:lnTo>
                  <a:lnTo>
                    <a:pt x="0" y="4026535"/>
                  </a:lnTo>
                  <a:close/>
                </a:path>
              </a:pathLst>
            </a:custGeom>
            <a:solidFill>
              <a:srgbClr val="FFFFFF"/>
            </a:solidFill>
          </p:spPr>
        </p:sp>
        <p:sp>
          <p:nvSpPr>
            <p:cNvPr name="Freeform 39" id="39"/>
            <p:cNvSpPr/>
            <p:nvPr/>
          </p:nvSpPr>
          <p:spPr>
            <a:xfrm flipH="false" flipV="false" rot="0">
              <a:off x="0" y="0"/>
              <a:ext cx="15576042" cy="4045585"/>
            </a:xfrm>
            <a:custGeom>
              <a:avLst/>
              <a:gdLst/>
              <a:ahLst/>
              <a:cxnLst/>
              <a:rect r="r" b="b" t="t" l="l"/>
              <a:pathLst>
                <a:path h="4045585" w="15576042">
                  <a:moveTo>
                    <a:pt x="9525" y="0"/>
                  </a:moveTo>
                  <a:lnTo>
                    <a:pt x="15566517" y="0"/>
                  </a:lnTo>
                  <a:cubicBezTo>
                    <a:pt x="15571724" y="0"/>
                    <a:pt x="15576042" y="4318"/>
                    <a:pt x="15576042" y="9525"/>
                  </a:cubicBezTo>
                  <a:lnTo>
                    <a:pt x="15576042" y="4036060"/>
                  </a:lnTo>
                  <a:cubicBezTo>
                    <a:pt x="15576042" y="4041267"/>
                    <a:pt x="15571724" y="4045585"/>
                    <a:pt x="15566517" y="4045585"/>
                  </a:cubicBezTo>
                  <a:lnTo>
                    <a:pt x="9525" y="4045585"/>
                  </a:lnTo>
                  <a:cubicBezTo>
                    <a:pt x="4318" y="4045585"/>
                    <a:pt x="0" y="4041267"/>
                    <a:pt x="0" y="4036060"/>
                  </a:cubicBezTo>
                  <a:lnTo>
                    <a:pt x="0" y="9525"/>
                  </a:lnTo>
                  <a:cubicBezTo>
                    <a:pt x="0" y="4318"/>
                    <a:pt x="4318" y="0"/>
                    <a:pt x="9525" y="0"/>
                  </a:cubicBezTo>
                  <a:moveTo>
                    <a:pt x="9525" y="19050"/>
                  </a:moveTo>
                  <a:lnTo>
                    <a:pt x="9525" y="9525"/>
                  </a:lnTo>
                  <a:lnTo>
                    <a:pt x="19050" y="9525"/>
                  </a:lnTo>
                  <a:lnTo>
                    <a:pt x="19050" y="4036060"/>
                  </a:lnTo>
                  <a:lnTo>
                    <a:pt x="9525" y="4036060"/>
                  </a:lnTo>
                  <a:lnTo>
                    <a:pt x="9525" y="4026535"/>
                  </a:lnTo>
                  <a:lnTo>
                    <a:pt x="15566517" y="4026535"/>
                  </a:lnTo>
                  <a:lnTo>
                    <a:pt x="15566517" y="4036060"/>
                  </a:lnTo>
                  <a:lnTo>
                    <a:pt x="15556992" y="4036060"/>
                  </a:lnTo>
                  <a:lnTo>
                    <a:pt x="15556992" y="9525"/>
                  </a:lnTo>
                  <a:lnTo>
                    <a:pt x="15566517" y="9525"/>
                  </a:lnTo>
                  <a:lnTo>
                    <a:pt x="15566517" y="19050"/>
                  </a:lnTo>
                  <a:lnTo>
                    <a:pt x="9525" y="19050"/>
                  </a:lnTo>
                  <a:close/>
                </a:path>
              </a:pathLst>
            </a:custGeom>
            <a:solidFill>
              <a:srgbClr val="059669"/>
            </a:solidFill>
          </p:spPr>
        </p:sp>
      </p:grpSp>
      <p:sp>
        <p:nvSpPr>
          <p:cNvPr name="TextBox 40" id="40"/>
          <p:cNvSpPr txBox="true"/>
          <p:nvPr/>
        </p:nvSpPr>
        <p:spPr>
          <a:xfrm rot="0">
            <a:off x="6268469" y="2185968"/>
            <a:ext cx="11484835" cy="348939"/>
          </a:xfrm>
          <a:prstGeom prst="rect">
            <a:avLst/>
          </a:prstGeom>
        </p:spPr>
        <p:txBody>
          <a:bodyPr anchor="t" rtlCol="false" tIns="0" lIns="0" bIns="0" rIns="0">
            <a:spAutoFit/>
          </a:bodyPr>
          <a:lstStyle/>
          <a:p>
            <a:pPr algn="ctr">
              <a:lnSpc>
                <a:spcPts val="1621"/>
              </a:lnSpc>
            </a:pPr>
            <a:r>
              <a:rPr lang="en-US" sz="1351" b="true">
                <a:solidFill>
                  <a:srgbClr val="059669"/>
                </a:solidFill>
                <a:latin typeface="Calibri (MS) Bold"/>
                <a:ea typeface="Calibri (MS) Bold"/>
                <a:cs typeface="Calibri (MS) Bold"/>
                <a:sym typeface="Calibri (MS) Bold"/>
              </a:rPr>
              <a:t>INGEST PIPELINE</a:t>
            </a:r>
          </a:p>
        </p:txBody>
      </p:sp>
      <p:grpSp>
        <p:nvGrpSpPr>
          <p:cNvPr name="Group 41" id="41"/>
          <p:cNvGrpSpPr/>
          <p:nvPr/>
        </p:nvGrpSpPr>
        <p:grpSpPr>
          <a:xfrm rot="0">
            <a:off x="6375778" y="2600925"/>
            <a:ext cx="2553738" cy="2279209"/>
            <a:chOff x="0" y="0"/>
            <a:chExt cx="3404984" cy="3038945"/>
          </a:xfrm>
        </p:grpSpPr>
        <p:sp>
          <p:nvSpPr>
            <p:cNvPr name="Freeform 42" id="42"/>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43" id="43"/>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FFFFFF"/>
            </a:solidFill>
          </p:spPr>
        </p:sp>
      </p:grpSp>
      <p:sp>
        <p:nvSpPr>
          <p:cNvPr name="TextBox 44" id="44"/>
          <p:cNvSpPr txBox="true"/>
          <p:nvPr/>
        </p:nvSpPr>
        <p:spPr>
          <a:xfrm rot="0">
            <a:off x="6474371" y="2656875"/>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45" id="45"/>
          <p:cNvSpPr txBox="true"/>
          <p:nvPr/>
        </p:nvSpPr>
        <p:spPr>
          <a:xfrm rot="0">
            <a:off x="6474371" y="3164767"/>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PyMuPDF</a:t>
            </a:r>
          </a:p>
        </p:txBody>
      </p:sp>
      <p:sp>
        <p:nvSpPr>
          <p:cNvPr name="TextBox 46" id="46"/>
          <p:cNvSpPr txBox="true"/>
          <p:nvPr/>
        </p:nvSpPr>
        <p:spPr>
          <a:xfrm rot="0">
            <a:off x="6474371" y="3595621"/>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extract text</a:t>
            </a:r>
          </a:p>
          <a:p>
            <a:pPr algn="ctr">
              <a:lnSpc>
                <a:spcPts val="1441"/>
              </a:lnSpc>
            </a:pPr>
            <a:r>
              <a:rPr lang="en-US" sz="1200">
                <a:solidFill>
                  <a:srgbClr val="7C3AED"/>
                </a:solidFill>
                <a:latin typeface="Calibri (MS)"/>
                <a:ea typeface="Calibri (MS)"/>
                <a:cs typeface="Calibri (MS)"/>
                <a:sym typeface="Calibri (MS)"/>
              </a:rPr>
              <a:t>no token limit</a:t>
            </a:r>
          </a:p>
        </p:txBody>
      </p:sp>
      <p:grpSp>
        <p:nvGrpSpPr>
          <p:cNvPr name="Group 47" id="47"/>
          <p:cNvGrpSpPr/>
          <p:nvPr/>
        </p:nvGrpSpPr>
        <p:grpSpPr>
          <a:xfrm rot="0">
            <a:off x="9052484" y="2600925"/>
            <a:ext cx="2553738" cy="2279209"/>
            <a:chOff x="0" y="0"/>
            <a:chExt cx="3404984" cy="3038945"/>
          </a:xfrm>
        </p:grpSpPr>
        <p:sp>
          <p:nvSpPr>
            <p:cNvPr name="Freeform 48" id="48"/>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49" id="49"/>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FFFFFF"/>
            </a:solidFill>
          </p:spPr>
        </p:sp>
      </p:grpSp>
      <p:sp>
        <p:nvSpPr>
          <p:cNvPr name="TextBox 50" id="50"/>
          <p:cNvSpPr txBox="true"/>
          <p:nvPr/>
        </p:nvSpPr>
        <p:spPr>
          <a:xfrm rot="0">
            <a:off x="9151077" y="2656875"/>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51" id="51"/>
          <p:cNvSpPr txBox="true"/>
          <p:nvPr/>
        </p:nvSpPr>
        <p:spPr>
          <a:xfrm rot="0">
            <a:off x="9151077" y="3164767"/>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tiktoken</a:t>
            </a:r>
          </a:p>
        </p:txBody>
      </p:sp>
      <p:sp>
        <p:nvSpPr>
          <p:cNvPr name="TextBox 52" id="52"/>
          <p:cNvSpPr txBox="true"/>
          <p:nvPr/>
        </p:nvSpPr>
        <p:spPr>
          <a:xfrm rot="0">
            <a:off x="9151077" y="3595621"/>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count tokens</a:t>
            </a:r>
          </a:p>
          <a:p>
            <a:pPr algn="ctr">
              <a:lnSpc>
                <a:spcPts val="1441"/>
              </a:lnSpc>
            </a:pPr>
            <a:r>
              <a:rPr lang="en-US" sz="1200">
                <a:solidFill>
                  <a:srgbClr val="7C3AED"/>
                </a:solidFill>
                <a:latin typeface="Calibri (MS)"/>
                <a:ea typeface="Calibri (MS)"/>
                <a:cs typeface="Calibri (MS)"/>
                <a:sym typeface="Calibri (MS)"/>
              </a:rPr>
              <a:t>compute_params</a:t>
            </a:r>
          </a:p>
          <a:p>
            <a:pPr algn="ctr">
              <a:lnSpc>
                <a:spcPts val="1441"/>
              </a:lnSpc>
            </a:pPr>
            <a:r>
              <a:rPr lang="en-US" sz="1200">
                <a:solidFill>
                  <a:srgbClr val="7C3AED"/>
                </a:solidFill>
                <a:latin typeface="Calibri (MS)"/>
                <a:ea typeface="Calibri (MS)"/>
                <a:cs typeface="Calibri (MS)"/>
                <a:sym typeface="Calibri (MS)"/>
              </a:rPr>
              <a:t>chunk+overlap</a:t>
            </a:r>
          </a:p>
        </p:txBody>
      </p:sp>
      <p:grpSp>
        <p:nvGrpSpPr>
          <p:cNvPr name="Group 53" id="53"/>
          <p:cNvGrpSpPr/>
          <p:nvPr/>
        </p:nvGrpSpPr>
        <p:grpSpPr>
          <a:xfrm rot="0">
            <a:off x="11729199" y="2600925"/>
            <a:ext cx="2553738" cy="2279209"/>
            <a:chOff x="0" y="0"/>
            <a:chExt cx="3404984" cy="3038945"/>
          </a:xfrm>
        </p:grpSpPr>
        <p:sp>
          <p:nvSpPr>
            <p:cNvPr name="Freeform 54" id="54"/>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55" id="55"/>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4285F4"/>
            </a:solidFill>
          </p:spPr>
        </p:sp>
      </p:grpSp>
      <p:sp>
        <p:nvSpPr>
          <p:cNvPr name="TextBox 56" id="56"/>
          <p:cNvSpPr txBox="true"/>
          <p:nvPr/>
        </p:nvSpPr>
        <p:spPr>
          <a:xfrm rot="0">
            <a:off x="11827793" y="2656875"/>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57" id="57"/>
          <p:cNvSpPr txBox="true"/>
          <p:nvPr/>
        </p:nvSpPr>
        <p:spPr>
          <a:xfrm rot="0">
            <a:off x="11827793" y="3164767"/>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Gemini</a:t>
            </a:r>
          </a:p>
        </p:txBody>
      </p:sp>
      <p:sp>
        <p:nvSpPr>
          <p:cNvPr name="TextBox 58" id="58"/>
          <p:cNvSpPr txBox="true"/>
          <p:nvPr/>
        </p:nvSpPr>
        <p:spPr>
          <a:xfrm rot="0">
            <a:off x="11827793" y="3595621"/>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embedding-2</a:t>
            </a:r>
          </a:p>
          <a:p>
            <a:pPr algn="ctr">
              <a:lnSpc>
                <a:spcPts val="1441"/>
              </a:lnSpc>
            </a:pPr>
            <a:r>
              <a:rPr lang="en-US" sz="1200">
                <a:solidFill>
                  <a:srgbClr val="7C3AED"/>
                </a:solidFill>
                <a:latin typeface="Calibri (MS)"/>
                <a:ea typeface="Calibri (MS)"/>
                <a:cs typeface="Calibri (MS)"/>
                <a:sym typeface="Calibri (MS)"/>
              </a:rPr>
              <a:t>768-dim</a:t>
            </a:r>
          </a:p>
          <a:p>
            <a:pPr algn="ctr">
              <a:lnSpc>
                <a:spcPts val="1441"/>
              </a:lnSpc>
            </a:pPr>
            <a:r>
              <a:rPr lang="en-US" sz="1200">
                <a:solidFill>
                  <a:srgbClr val="7C3AED"/>
                </a:solidFill>
                <a:latin typeface="Calibri (MS)"/>
                <a:ea typeface="Calibri (MS)"/>
                <a:cs typeface="Calibri (MS)"/>
                <a:sym typeface="Calibri (MS)"/>
              </a:rPr>
              <a:t>concurrent+retry</a:t>
            </a:r>
          </a:p>
        </p:txBody>
      </p:sp>
      <p:grpSp>
        <p:nvGrpSpPr>
          <p:cNvPr name="Group 59" id="59"/>
          <p:cNvGrpSpPr/>
          <p:nvPr/>
        </p:nvGrpSpPr>
        <p:grpSpPr>
          <a:xfrm rot="0">
            <a:off x="14405915" y="2600925"/>
            <a:ext cx="2553738" cy="2279209"/>
            <a:chOff x="0" y="0"/>
            <a:chExt cx="3404984" cy="3038945"/>
          </a:xfrm>
        </p:grpSpPr>
        <p:sp>
          <p:nvSpPr>
            <p:cNvPr name="Freeform 60" id="60"/>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61" id="61"/>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336791"/>
            </a:solidFill>
          </p:spPr>
        </p:sp>
      </p:grpSp>
      <p:sp>
        <p:nvSpPr>
          <p:cNvPr name="TextBox 62" id="62"/>
          <p:cNvSpPr txBox="true"/>
          <p:nvPr/>
        </p:nvSpPr>
        <p:spPr>
          <a:xfrm rot="0">
            <a:off x="14504499" y="2656875"/>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63" id="63"/>
          <p:cNvSpPr txBox="true"/>
          <p:nvPr/>
        </p:nvSpPr>
        <p:spPr>
          <a:xfrm rot="0">
            <a:off x="14504499" y="3164767"/>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Postgres</a:t>
            </a:r>
          </a:p>
        </p:txBody>
      </p:sp>
      <p:sp>
        <p:nvSpPr>
          <p:cNvPr name="TextBox 64" id="64"/>
          <p:cNvSpPr txBox="true"/>
          <p:nvPr/>
        </p:nvSpPr>
        <p:spPr>
          <a:xfrm rot="0">
            <a:off x="14504499" y="3595621"/>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chunks+parent_text</a:t>
            </a:r>
          </a:p>
          <a:p>
            <a:pPr algn="ctr">
              <a:lnSpc>
                <a:spcPts val="1441"/>
              </a:lnSpc>
            </a:pPr>
            <a:r>
              <a:rPr lang="en-US" sz="1200">
                <a:solidFill>
                  <a:srgbClr val="7C3AED"/>
                </a:solidFill>
                <a:latin typeface="Calibri (MS)"/>
                <a:ea typeface="Calibri (MS)"/>
                <a:cs typeface="Calibri (MS)"/>
                <a:sym typeface="Calibri (MS)"/>
              </a:rPr>
              <a:t>doc_meta</a:t>
            </a:r>
          </a:p>
          <a:p>
            <a:pPr algn="ctr">
              <a:lnSpc>
                <a:spcPts val="1441"/>
              </a:lnSpc>
            </a:pPr>
            <a:r>
              <a:rPr lang="en-US" sz="1200">
                <a:solidFill>
                  <a:srgbClr val="7C3AED"/>
                </a:solidFill>
                <a:latin typeface="Calibri (MS)"/>
                <a:ea typeface="Calibri (MS)"/>
                <a:cs typeface="Calibri (MS)"/>
                <a:sym typeface="Calibri (MS)"/>
              </a:rPr>
              <a:t>pgvector HNSW</a:t>
            </a:r>
          </a:p>
        </p:txBody>
      </p:sp>
      <p:grpSp>
        <p:nvGrpSpPr>
          <p:cNvPr name="Group 65" id="65"/>
          <p:cNvGrpSpPr/>
          <p:nvPr/>
        </p:nvGrpSpPr>
        <p:grpSpPr>
          <a:xfrm rot="0">
            <a:off x="6169876" y="5346278"/>
            <a:ext cx="11682012" cy="3034179"/>
            <a:chOff x="0" y="0"/>
            <a:chExt cx="15576017" cy="4045572"/>
          </a:xfrm>
        </p:grpSpPr>
        <p:sp>
          <p:nvSpPr>
            <p:cNvPr name="Freeform 66" id="66"/>
            <p:cNvSpPr/>
            <p:nvPr/>
          </p:nvSpPr>
          <p:spPr>
            <a:xfrm flipH="false" flipV="false" rot="0">
              <a:off x="9525" y="9525"/>
              <a:ext cx="15556992" cy="4026535"/>
            </a:xfrm>
            <a:custGeom>
              <a:avLst/>
              <a:gdLst/>
              <a:ahLst/>
              <a:cxnLst/>
              <a:rect r="r" b="b" t="t" l="l"/>
              <a:pathLst>
                <a:path h="4026535" w="15556992">
                  <a:moveTo>
                    <a:pt x="0" y="0"/>
                  </a:moveTo>
                  <a:lnTo>
                    <a:pt x="15556992" y="0"/>
                  </a:lnTo>
                  <a:lnTo>
                    <a:pt x="15556992" y="4026535"/>
                  </a:lnTo>
                  <a:lnTo>
                    <a:pt x="0" y="4026535"/>
                  </a:lnTo>
                  <a:close/>
                </a:path>
              </a:pathLst>
            </a:custGeom>
            <a:solidFill>
              <a:srgbClr val="FFFFFF"/>
            </a:solidFill>
          </p:spPr>
        </p:sp>
        <p:sp>
          <p:nvSpPr>
            <p:cNvPr name="Freeform 67" id="67"/>
            <p:cNvSpPr/>
            <p:nvPr/>
          </p:nvSpPr>
          <p:spPr>
            <a:xfrm flipH="false" flipV="false" rot="0">
              <a:off x="0" y="0"/>
              <a:ext cx="15576042" cy="4045585"/>
            </a:xfrm>
            <a:custGeom>
              <a:avLst/>
              <a:gdLst/>
              <a:ahLst/>
              <a:cxnLst/>
              <a:rect r="r" b="b" t="t" l="l"/>
              <a:pathLst>
                <a:path h="4045585" w="15576042">
                  <a:moveTo>
                    <a:pt x="9525" y="0"/>
                  </a:moveTo>
                  <a:lnTo>
                    <a:pt x="15566517" y="0"/>
                  </a:lnTo>
                  <a:cubicBezTo>
                    <a:pt x="15571724" y="0"/>
                    <a:pt x="15576042" y="4318"/>
                    <a:pt x="15576042" y="9525"/>
                  </a:cubicBezTo>
                  <a:lnTo>
                    <a:pt x="15576042" y="4036060"/>
                  </a:lnTo>
                  <a:cubicBezTo>
                    <a:pt x="15576042" y="4041267"/>
                    <a:pt x="15571724" y="4045585"/>
                    <a:pt x="15566517" y="4045585"/>
                  </a:cubicBezTo>
                  <a:lnTo>
                    <a:pt x="9525" y="4045585"/>
                  </a:lnTo>
                  <a:cubicBezTo>
                    <a:pt x="4318" y="4045585"/>
                    <a:pt x="0" y="4041267"/>
                    <a:pt x="0" y="4036060"/>
                  </a:cubicBezTo>
                  <a:lnTo>
                    <a:pt x="0" y="9525"/>
                  </a:lnTo>
                  <a:cubicBezTo>
                    <a:pt x="0" y="4318"/>
                    <a:pt x="4318" y="0"/>
                    <a:pt x="9525" y="0"/>
                  </a:cubicBezTo>
                  <a:moveTo>
                    <a:pt x="9525" y="19050"/>
                  </a:moveTo>
                  <a:lnTo>
                    <a:pt x="9525" y="9525"/>
                  </a:lnTo>
                  <a:lnTo>
                    <a:pt x="19050" y="9525"/>
                  </a:lnTo>
                  <a:lnTo>
                    <a:pt x="19050" y="4036060"/>
                  </a:lnTo>
                  <a:lnTo>
                    <a:pt x="9525" y="4036060"/>
                  </a:lnTo>
                  <a:lnTo>
                    <a:pt x="9525" y="4026535"/>
                  </a:lnTo>
                  <a:lnTo>
                    <a:pt x="15566517" y="4026535"/>
                  </a:lnTo>
                  <a:lnTo>
                    <a:pt x="15566517" y="4036060"/>
                  </a:lnTo>
                  <a:lnTo>
                    <a:pt x="15556992" y="4036060"/>
                  </a:lnTo>
                  <a:lnTo>
                    <a:pt x="15556992" y="9525"/>
                  </a:lnTo>
                  <a:lnTo>
                    <a:pt x="15566517" y="9525"/>
                  </a:lnTo>
                  <a:lnTo>
                    <a:pt x="15566517" y="19050"/>
                  </a:lnTo>
                  <a:lnTo>
                    <a:pt x="9525" y="19050"/>
                  </a:lnTo>
                  <a:close/>
                </a:path>
              </a:pathLst>
            </a:custGeom>
            <a:solidFill>
              <a:srgbClr val="7C3AED"/>
            </a:solidFill>
          </p:spPr>
        </p:sp>
      </p:grpSp>
      <p:sp>
        <p:nvSpPr>
          <p:cNvPr name="TextBox 68" id="68"/>
          <p:cNvSpPr txBox="true"/>
          <p:nvPr/>
        </p:nvSpPr>
        <p:spPr>
          <a:xfrm rot="0">
            <a:off x="6268469" y="5480380"/>
            <a:ext cx="11484835" cy="348939"/>
          </a:xfrm>
          <a:prstGeom prst="rect">
            <a:avLst/>
          </a:prstGeom>
        </p:spPr>
        <p:txBody>
          <a:bodyPr anchor="t" rtlCol="false" tIns="0" lIns="0" bIns="0" rIns="0">
            <a:spAutoFit/>
          </a:bodyPr>
          <a:lstStyle/>
          <a:p>
            <a:pPr algn="ctr">
              <a:lnSpc>
                <a:spcPts val="1621"/>
              </a:lnSpc>
            </a:pPr>
            <a:r>
              <a:rPr lang="en-US" sz="1351" b="true">
                <a:solidFill>
                  <a:srgbClr val="7C3AED"/>
                </a:solidFill>
                <a:latin typeface="Calibri (MS) Bold"/>
                <a:ea typeface="Calibri (MS) Bold"/>
                <a:cs typeface="Calibri (MS) Bold"/>
                <a:sym typeface="Calibri (MS) Bold"/>
              </a:rPr>
              <a:t>QUERY PIPELINE</a:t>
            </a:r>
          </a:p>
        </p:txBody>
      </p:sp>
      <p:grpSp>
        <p:nvGrpSpPr>
          <p:cNvPr name="Group 69" id="69"/>
          <p:cNvGrpSpPr/>
          <p:nvPr/>
        </p:nvGrpSpPr>
        <p:grpSpPr>
          <a:xfrm rot="0">
            <a:off x="6375778" y="5895346"/>
            <a:ext cx="2553738" cy="2279209"/>
            <a:chOff x="0" y="0"/>
            <a:chExt cx="3404984" cy="3038945"/>
          </a:xfrm>
        </p:grpSpPr>
        <p:sp>
          <p:nvSpPr>
            <p:cNvPr name="Freeform 70" id="70"/>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71" id="71"/>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4285F4"/>
            </a:solidFill>
          </p:spPr>
        </p:sp>
      </p:grpSp>
      <p:sp>
        <p:nvSpPr>
          <p:cNvPr name="TextBox 72" id="72"/>
          <p:cNvSpPr txBox="true"/>
          <p:nvPr/>
        </p:nvSpPr>
        <p:spPr>
          <a:xfrm rot="0">
            <a:off x="6474371" y="5951296"/>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73" id="73"/>
          <p:cNvSpPr txBox="true"/>
          <p:nvPr/>
        </p:nvSpPr>
        <p:spPr>
          <a:xfrm rot="0">
            <a:off x="6474371" y="6459179"/>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Embed query</a:t>
            </a:r>
          </a:p>
        </p:txBody>
      </p:sp>
      <p:sp>
        <p:nvSpPr>
          <p:cNvPr name="TextBox 74" id="74"/>
          <p:cNvSpPr txBox="true"/>
          <p:nvPr/>
        </p:nvSpPr>
        <p:spPr>
          <a:xfrm rot="0">
            <a:off x="6474371" y="6890033"/>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RETRIEVAL_QUERY</a:t>
            </a:r>
          </a:p>
          <a:p>
            <a:pPr algn="ctr">
              <a:lnSpc>
                <a:spcPts val="1441"/>
              </a:lnSpc>
            </a:pPr>
            <a:r>
              <a:rPr lang="en-US" sz="1200">
                <a:solidFill>
                  <a:srgbClr val="7C3AED"/>
                </a:solidFill>
                <a:latin typeface="Calibri (MS)"/>
                <a:ea typeface="Calibri (MS)"/>
                <a:cs typeface="Calibri (MS)"/>
                <a:sym typeface="Calibri (MS)"/>
              </a:rPr>
              <a:t>768-dim</a:t>
            </a:r>
          </a:p>
        </p:txBody>
      </p:sp>
      <p:grpSp>
        <p:nvGrpSpPr>
          <p:cNvPr name="Group 75" id="75"/>
          <p:cNvGrpSpPr/>
          <p:nvPr/>
        </p:nvGrpSpPr>
        <p:grpSpPr>
          <a:xfrm rot="0">
            <a:off x="9052484" y="5895346"/>
            <a:ext cx="2553738" cy="2279209"/>
            <a:chOff x="0" y="0"/>
            <a:chExt cx="3404984" cy="3038945"/>
          </a:xfrm>
        </p:grpSpPr>
        <p:sp>
          <p:nvSpPr>
            <p:cNvPr name="Freeform 76" id="76"/>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77" id="77"/>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336791"/>
            </a:solidFill>
          </p:spPr>
        </p:sp>
      </p:grpSp>
      <p:sp>
        <p:nvSpPr>
          <p:cNvPr name="TextBox 78" id="78"/>
          <p:cNvSpPr txBox="true"/>
          <p:nvPr/>
        </p:nvSpPr>
        <p:spPr>
          <a:xfrm rot="0">
            <a:off x="9151077" y="5951296"/>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79" id="79"/>
          <p:cNvSpPr txBox="true"/>
          <p:nvPr/>
        </p:nvSpPr>
        <p:spPr>
          <a:xfrm rot="0">
            <a:off x="9151077" y="6459179"/>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Hybrid search</a:t>
            </a:r>
          </a:p>
        </p:txBody>
      </p:sp>
      <p:sp>
        <p:nvSpPr>
          <p:cNvPr name="TextBox 80" id="80"/>
          <p:cNvSpPr txBox="true"/>
          <p:nvPr/>
        </p:nvSpPr>
        <p:spPr>
          <a:xfrm rot="0">
            <a:off x="9151077" y="6890033"/>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BM25 + pgvector</a:t>
            </a:r>
          </a:p>
          <a:p>
            <a:pPr algn="ctr">
              <a:lnSpc>
                <a:spcPts val="1441"/>
              </a:lnSpc>
            </a:pPr>
            <a:r>
              <a:rPr lang="en-US" sz="1200">
                <a:solidFill>
                  <a:srgbClr val="7C3AED"/>
                </a:solidFill>
                <a:latin typeface="Calibri (MS)"/>
                <a:ea typeface="Calibri (MS)"/>
                <a:cs typeface="Calibri (MS)"/>
                <a:sym typeface="Calibri (MS)"/>
              </a:rPr>
              <a:t>RRF fusion</a:t>
            </a:r>
          </a:p>
        </p:txBody>
      </p:sp>
      <p:grpSp>
        <p:nvGrpSpPr>
          <p:cNvPr name="Group 81" id="81"/>
          <p:cNvGrpSpPr/>
          <p:nvPr/>
        </p:nvGrpSpPr>
        <p:grpSpPr>
          <a:xfrm rot="0">
            <a:off x="11729199" y="5895346"/>
            <a:ext cx="2553738" cy="2279209"/>
            <a:chOff x="0" y="0"/>
            <a:chExt cx="3404984" cy="3038945"/>
          </a:xfrm>
        </p:grpSpPr>
        <p:sp>
          <p:nvSpPr>
            <p:cNvPr name="Freeform 82" id="82"/>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83" id="83"/>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7C3AED"/>
            </a:solidFill>
          </p:spPr>
        </p:sp>
      </p:grpSp>
      <p:sp>
        <p:nvSpPr>
          <p:cNvPr name="TextBox 84" id="84"/>
          <p:cNvSpPr txBox="true"/>
          <p:nvPr/>
        </p:nvSpPr>
        <p:spPr>
          <a:xfrm rot="0">
            <a:off x="11827793" y="5951296"/>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85" id="85"/>
          <p:cNvSpPr txBox="true"/>
          <p:nvPr/>
        </p:nvSpPr>
        <p:spPr>
          <a:xfrm rot="0">
            <a:off x="11827793" y="6459179"/>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Generate</a:t>
            </a:r>
          </a:p>
        </p:txBody>
      </p:sp>
      <p:sp>
        <p:nvSpPr>
          <p:cNvPr name="TextBox 86" id="86"/>
          <p:cNvSpPr txBox="true"/>
          <p:nvPr/>
        </p:nvSpPr>
        <p:spPr>
          <a:xfrm rot="0">
            <a:off x="11827793" y="6890033"/>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Gemini 2.5 Flash</a:t>
            </a:r>
          </a:p>
          <a:p>
            <a:pPr algn="ctr">
              <a:lnSpc>
                <a:spcPts val="1441"/>
              </a:lnSpc>
            </a:pPr>
            <a:r>
              <a:rPr lang="en-US" sz="1200">
                <a:solidFill>
                  <a:srgbClr val="7C3AED"/>
                </a:solidFill>
                <a:latin typeface="Calibri (MS)"/>
                <a:ea typeface="Calibri (MS)"/>
                <a:cs typeface="Calibri (MS)"/>
                <a:sym typeface="Calibri (MS)"/>
              </a:rPr>
              <a:t>streamed SSE</a:t>
            </a:r>
          </a:p>
        </p:txBody>
      </p:sp>
      <p:grpSp>
        <p:nvGrpSpPr>
          <p:cNvPr name="Group 87" id="87"/>
          <p:cNvGrpSpPr/>
          <p:nvPr/>
        </p:nvGrpSpPr>
        <p:grpSpPr>
          <a:xfrm rot="0">
            <a:off x="14405915" y="5895346"/>
            <a:ext cx="2553738" cy="2279209"/>
            <a:chOff x="0" y="0"/>
            <a:chExt cx="3404984" cy="3038945"/>
          </a:xfrm>
        </p:grpSpPr>
        <p:sp>
          <p:nvSpPr>
            <p:cNvPr name="Freeform 88" id="88"/>
            <p:cNvSpPr/>
            <p:nvPr/>
          </p:nvSpPr>
          <p:spPr>
            <a:xfrm flipH="false" flipV="false" rot="0">
              <a:off x="9525" y="9525"/>
              <a:ext cx="3385947" cy="3019933"/>
            </a:xfrm>
            <a:custGeom>
              <a:avLst/>
              <a:gdLst/>
              <a:ahLst/>
              <a:cxnLst/>
              <a:rect r="r" b="b" t="t" l="l"/>
              <a:pathLst>
                <a:path h="3019933" w="3385947">
                  <a:moveTo>
                    <a:pt x="0" y="0"/>
                  </a:moveTo>
                  <a:lnTo>
                    <a:pt x="3385947" y="0"/>
                  </a:lnTo>
                  <a:lnTo>
                    <a:pt x="3385947" y="3019933"/>
                  </a:lnTo>
                  <a:lnTo>
                    <a:pt x="0" y="3019933"/>
                  </a:lnTo>
                  <a:close/>
                </a:path>
              </a:pathLst>
            </a:custGeom>
            <a:solidFill>
              <a:srgbClr val="FFFFFF"/>
            </a:solidFill>
          </p:spPr>
        </p:sp>
        <p:sp>
          <p:nvSpPr>
            <p:cNvPr name="Freeform 89" id="89"/>
            <p:cNvSpPr/>
            <p:nvPr/>
          </p:nvSpPr>
          <p:spPr>
            <a:xfrm flipH="false" flipV="false" rot="0">
              <a:off x="0" y="0"/>
              <a:ext cx="3404997" cy="3038983"/>
            </a:xfrm>
            <a:custGeom>
              <a:avLst/>
              <a:gdLst/>
              <a:ahLst/>
              <a:cxnLst/>
              <a:rect r="r" b="b" t="t" l="l"/>
              <a:pathLst>
                <a:path h="3038983" w="3404997">
                  <a:moveTo>
                    <a:pt x="9525" y="0"/>
                  </a:moveTo>
                  <a:lnTo>
                    <a:pt x="3395472" y="0"/>
                  </a:lnTo>
                  <a:cubicBezTo>
                    <a:pt x="3400679" y="0"/>
                    <a:pt x="3404997" y="4318"/>
                    <a:pt x="3404997" y="9525"/>
                  </a:cubicBezTo>
                  <a:lnTo>
                    <a:pt x="3404997" y="3029458"/>
                  </a:lnTo>
                  <a:cubicBezTo>
                    <a:pt x="3404997" y="3034665"/>
                    <a:pt x="3400679" y="3038983"/>
                    <a:pt x="3395472" y="3038983"/>
                  </a:cubicBezTo>
                  <a:lnTo>
                    <a:pt x="9525" y="3038983"/>
                  </a:lnTo>
                  <a:cubicBezTo>
                    <a:pt x="4318" y="3038983"/>
                    <a:pt x="0" y="3034665"/>
                    <a:pt x="0" y="3029458"/>
                  </a:cubicBezTo>
                  <a:lnTo>
                    <a:pt x="0" y="9525"/>
                  </a:lnTo>
                  <a:cubicBezTo>
                    <a:pt x="0" y="4318"/>
                    <a:pt x="4318" y="0"/>
                    <a:pt x="9525" y="0"/>
                  </a:cubicBezTo>
                  <a:moveTo>
                    <a:pt x="9525" y="19050"/>
                  </a:moveTo>
                  <a:lnTo>
                    <a:pt x="9525" y="9525"/>
                  </a:lnTo>
                  <a:lnTo>
                    <a:pt x="19050" y="9525"/>
                  </a:lnTo>
                  <a:lnTo>
                    <a:pt x="19050" y="3029458"/>
                  </a:lnTo>
                  <a:lnTo>
                    <a:pt x="9525" y="3029458"/>
                  </a:lnTo>
                  <a:lnTo>
                    <a:pt x="9525" y="3019933"/>
                  </a:lnTo>
                  <a:lnTo>
                    <a:pt x="3395472" y="3019933"/>
                  </a:lnTo>
                  <a:lnTo>
                    <a:pt x="3395472" y="3029458"/>
                  </a:lnTo>
                  <a:lnTo>
                    <a:pt x="3385947" y="3029458"/>
                  </a:lnTo>
                  <a:lnTo>
                    <a:pt x="3385947" y="9525"/>
                  </a:lnTo>
                  <a:lnTo>
                    <a:pt x="3395472" y="9525"/>
                  </a:lnTo>
                  <a:lnTo>
                    <a:pt x="3395472" y="19050"/>
                  </a:lnTo>
                  <a:lnTo>
                    <a:pt x="9525" y="19050"/>
                  </a:lnTo>
                  <a:close/>
                </a:path>
              </a:pathLst>
            </a:custGeom>
            <a:solidFill>
              <a:srgbClr val="FFFFFF"/>
            </a:solidFill>
          </p:spPr>
        </p:sp>
      </p:grpSp>
      <p:sp>
        <p:nvSpPr>
          <p:cNvPr name="TextBox 90" id="90"/>
          <p:cNvSpPr txBox="true"/>
          <p:nvPr/>
        </p:nvSpPr>
        <p:spPr>
          <a:xfrm rot="0">
            <a:off x="14504499" y="5951296"/>
            <a:ext cx="2356561" cy="495729"/>
          </a:xfrm>
          <a:prstGeom prst="rect">
            <a:avLst/>
          </a:prstGeom>
        </p:spPr>
        <p:txBody>
          <a:bodyPr anchor="t" rtlCol="false" tIns="0" lIns="0" bIns="0" rIns="0">
            <a:spAutoFit/>
          </a:bodyPr>
          <a:lstStyle/>
          <a:p>
            <a:pPr algn="ctr">
              <a:lnSpc>
                <a:spcPts val="2882"/>
              </a:lnSpc>
            </a:pPr>
            <a:r>
              <a:rPr lang="en-US" sz="2401">
                <a:solidFill>
                  <a:srgbClr val="4C1D95"/>
                </a:solidFill>
                <a:latin typeface="Calibri (MS)"/>
                <a:ea typeface="Calibri (MS)"/>
                <a:cs typeface="Calibri (MS)"/>
                <a:sym typeface="Calibri (MS)"/>
              </a:rPr>
              <a:t>📎</a:t>
            </a:r>
          </a:p>
        </p:txBody>
      </p:sp>
      <p:sp>
        <p:nvSpPr>
          <p:cNvPr name="TextBox 91" id="91"/>
          <p:cNvSpPr txBox="true"/>
          <p:nvPr/>
        </p:nvSpPr>
        <p:spPr>
          <a:xfrm rot="0">
            <a:off x="14504499" y="6459179"/>
            <a:ext cx="2356561" cy="358464"/>
          </a:xfrm>
          <a:prstGeom prst="rect">
            <a:avLst/>
          </a:prstGeom>
        </p:spPr>
        <p:txBody>
          <a:bodyPr anchor="t" rtlCol="false" tIns="0" lIns="0" bIns="0" rIns="0">
            <a:spAutoFit/>
          </a:bodyPr>
          <a:lstStyle/>
          <a:p>
            <a:pPr algn="ctr">
              <a:lnSpc>
                <a:spcPts val="1801"/>
              </a:lnSpc>
            </a:pPr>
            <a:r>
              <a:rPr lang="en-US" sz="1501" b="true">
                <a:solidFill>
                  <a:srgbClr val="4C1D95"/>
                </a:solidFill>
                <a:latin typeface="Calibri (MS) Bold"/>
                <a:ea typeface="Calibri (MS) Bold"/>
                <a:cs typeface="Calibri (MS) Bold"/>
                <a:sym typeface="Calibri (MS) Bold"/>
              </a:rPr>
              <a:t>Response</a:t>
            </a:r>
          </a:p>
        </p:txBody>
      </p:sp>
      <p:sp>
        <p:nvSpPr>
          <p:cNvPr name="TextBox 92" id="92"/>
          <p:cNvSpPr txBox="true"/>
          <p:nvPr/>
        </p:nvSpPr>
        <p:spPr>
          <a:xfrm rot="0">
            <a:off x="14504499" y="6890033"/>
            <a:ext cx="2356561" cy="1025747"/>
          </a:xfrm>
          <a:prstGeom prst="rect">
            <a:avLst/>
          </a:prstGeom>
        </p:spPr>
        <p:txBody>
          <a:bodyPr anchor="t" rtlCol="false" tIns="0" lIns="0" bIns="0" rIns="0">
            <a:spAutoFit/>
          </a:bodyPr>
          <a:lstStyle/>
          <a:p>
            <a:pPr algn="ctr">
              <a:lnSpc>
                <a:spcPts val="1441"/>
              </a:lnSpc>
            </a:pPr>
            <a:r>
              <a:rPr lang="en-US" sz="1200">
                <a:solidFill>
                  <a:srgbClr val="7C3AED"/>
                </a:solidFill>
                <a:latin typeface="Calibri (MS)"/>
                <a:ea typeface="Calibri (MS)"/>
                <a:cs typeface="Calibri (MS)"/>
                <a:sym typeface="Calibri (MS)"/>
              </a:rPr>
              <a:t>[Chunk N] cites</a:t>
            </a:r>
          </a:p>
          <a:p>
            <a:pPr algn="ctr">
              <a:lnSpc>
                <a:spcPts val="1441"/>
              </a:lnSpc>
            </a:pPr>
            <a:r>
              <a:rPr lang="en-US" sz="1200">
                <a:solidFill>
                  <a:srgbClr val="7C3AED"/>
                </a:solidFill>
                <a:latin typeface="Calibri (MS)"/>
                <a:ea typeface="Calibri (MS)"/>
                <a:cs typeface="Calibri (MS)"/>
                <a:sym typeface="Calibri (MS)"/>
              </a:rPr>
              <a:t>similarity %</a:t>
            </a:r>
          </a:p>
          <a:p>
            <a:pPr algn="ctr">
              <a:lnSpc>
                <a:spcPts val="1441"/>
              </a:lnSpc>
            </a:pPr>
            <a:r>
              <a:rPr lang="en-US" sz="1200">
                <a:solidFill>
                  <a:srgbClr val="7C3AED"/>
                </a:solidFill>
                <a:latin typeface="Calibri (MS)"/>
                <a:ea typeface="Calibri (MS)"/>
                <a:cs typeface="Calibri (MS)"/>
                <a:sym typeface="Calibri (MS)"/>
              </a:rPr>
              <a:t>SSE</a:t>
            </a:r>
          </a:p>
        </p:txBody>
      </p:sp>
      <p:sp>
        <p:nvSpPr>
          <p:cNvPr name="TextBox 93" id="93"/>
          <p:cNvSpPr txBox="true"/>
          <p:nvPr/>
        </p:nvSpPr>
        <p:spPr>
          <a:xfrm rot="0">
            <a:off x="5719391" y="3458347"/>
            <a:ext cx="1052522" cy="339414"/>
          </a:xfrm>
          <a:prstGeom prst="rect">
            <a:avLst/>
          </a:prstGeom>
        </p:spPr>
        <p:txBody>
          <a:bodyPr anchor="t" rtlCol="false" tIns="0" lIns="0" bIns="0" rIns="0">
            <a:spAutoFit/>
          </a:bodyPr>
          <a:lstStyle/>
          <a:p>
            <a:pPr algn="l">
              <a:lnSpc>
                <a:spcPts val="1441"/>
              </a:lnSpc>
            </a:pPr>
            <a:r>
              <a:rPr lang="en-US" sz="1200">
                <a:solidFill>
                  <a:srgbClr val="059669"/>
                </a:solidFill>
                <a:latin typeface="Calibri (MS)"/>
                <a:ea typeface="Calibri (MS)"/>
                <a:cs typeface="Calibri (MS)"/>
                <a:sym typeface="Calibri (MS)"/>
              </a:rPr>
              <a:t>ingest →</a:t>
            </a:r>
          </a:p>
        </p:txBody>
      </p:sp>
      <p:sp>
        <p:nvSpPr>
          <p:cNvPr name="TextBox 94" id="94"/>
          <p:cNvSpPr txBox="true"/>
          <p:nvPr/>
        </p:nvSpPr>
        <p:spPr>
          <a:xfrm rot="0">
            <a:off x="5719391" y="6752768"/>
            <a:ext cx="1052522" cy="339414"/>
          </a:xfrm>
          <a:prstGeom prst="rect">
            <a:avLst/>
          </a:prstGeom>
        </p:spPr>
        <p:txBody>
          <a:bodyPr anchor="t" rtlCol="false" tIns="0" lIns="0" bIns="0" rIns="0">
            <a:spAutoFit/>
          </a:bodyPr>
          <a:lstStyle/>
          <a:p>
            <a:pPr algn="l">
              <a:lnSpc>
                <a:spcPts val="1441"/>
              </a:lnSpc>
            </a:pPr>
            <a:r>
              <a:rPr lang="en-US" sz="1200">
                <a:solidFill>
                  <a:srgbClr val="7C3AED"/>
                </a:solidFill>
                <a:latin typeface="Calibri (MS)"/>
                <a:ea typeface="Calibri (MS)"/>
                <a:cs typeface="Calibri (MS)"/>
                <a:sym typeface="Calibri (MS)"/>
              </a:rPr>
              <a:t>query →</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PIPELINE DETAIL</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Ingest flow</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059669"/>
            </a:solidFill>
          </p:spPr>
        </p:sp>
      </p:grpSp>
      <p:grpSp>
        <p:nvGrpSpPr>
          <p:cNvPr name="Group 6" id="6"/>
          <p:cNvGrpSpPr/>
          <p:nvPr/>
        </p:nvGrpSpPr>
        <p:grpSpPr>
          <a:xfrm rot="0">
            <a:off x="404651" y="2189131"/>
            <a:ext cx="4269581" cy="7426728"/>
            <a:chOff x="0" y="0"/>
            <a:chExt cx="5692775" cy="9902304"/>
          </a:xfrm>
        </p:grpSpPr>
        <p:sp>
          <p:nvSpPr>
            <p:cNvPr name="Freeform 7" id="7"/>
            <p:cNvSpPr/>
            <p:nvPr/>
          </p:nvSpPr>
          <p:spPr>
            <a:xfrm flipH="false" flipV="false" rot="0">
              <a:off x="9525" y="9525"/>
              <a:ext cx="5673725" cy="9883267"/>
            </a:xfrm>
            <a:custGeom>
              <a:avLst/>
              <a:gdLst/>
              <a:ahLst/>
              <a:cxnLst/>
              <a:rect r="r" b="b" t="t" l="l"/>
              <a:pathLst>
                <a:path h="9883267" w="5673725">
                  <a:moveTo>
                    <a:pt x="0" y="0"/>
                  </a:moveTo>
                  <a:lnTo>
                    <a:pt x="5673725" y="0"/>
                  </a:lnTo>
                  <a:lnTo>
                    <a:pt x="5673725" y="9883267"/>
                  </a:lnTo>
                  <a:lnTo>
                    <a:pt x="0" y="9883267"/>
                  </a:lnTo>
                  <a:close/>
                </a:path>
              </a:pathLst>
            </a:custGeom>
            <a:solidFill>
              <a:srgbClr val="FFFFFF"/>
            </a:solidFill>
          </p:spPr>
        </p:sp>
        <p:sp>
          <p:nvSpPr>
            <p:cNvPr name="Freeform 8" id="8"/>
            <p:cNvSpPr/>
            <p:nvPr/>
          </p:nvSpPr>
          <p:spPr>
            <a:xfrm flipH="false" flipV="false" rot="0">
              <a:off x="0" y="0"/>
              <a:ext cx="5692775" cy="9902317"/>
            </a:xfrm>
            <a:custGeom>
              <a:avLst/>
              <a:gdLst/>
              <a:ahLst/>
              <a:cxnLst/>
              <a:rect r="r" b="b" t="t" l="l"/>
              <a:pathLst>
                <a:path h="9902317" w="5692775">
                  <a:moveTo>
                    <a:pt x="9525" y="0"/>
                  </a:moveTo>
                  <a:lnTo>
                    <a:pt x="5683250" y="0"/>
                  </a:lnTo>
                  <a:cubicBezTo>
                    <a:pt x="5688457" y="0"/>
                    <a:pt x="5692775" y="4318"/>
                    <a:pt x="5692775" y="9525"/>
                  </a:cubicBezTo>
                  <a:lnTo>
                    <a:pt x="5692775" y="9892792"/>
                  </a:lnTo>
                  <a:cubicBezTo>
                    <a:pt x="5692775" y="9897999"/>
                    <a:pt x="5688457" y="9902317"/>
                    <a:pt x="5683250" y="9902317"/>
                  </a:cubicBezTo>
                  <a:lnTo>
                    <a:pt x="9525" y="9902317"/>
                  </a:lnTo>
                  <a:cubicBezTo>
                    <a:pt x="4318" y="9902317"/>
                    <a:pt x="0" y="9897999"/>
                    <a:pt x="0" y="9892792"/>
                  </a:cubicBezTo>
                  <a:lnTo>
                    <a:pt x="0" y="9525"/>
                  </a:lnTo>
                  <a:cubicBezTo>
                    <a:pt x="0" y="4318"/>
                    <a:pt x="4318" y="0"/>
                    <a:pt x="9525" y="0"/>
                  </a:cubicBezTo>
                  <a:moveTo>
                    <a:pt x="9525" y="19050"/>
                  </a:moveTo>
                  <a:lnTo>
                    <a:pt x="9525" y="9525"/>
                  </a:lnTo>
                  <a:lnTo>
                    <a:pt x="19050" y="9525"/>
                  </a:lnTo>
                  <a:lnTo>
                    <a:pt x="19050" y="9892792"/>
                  </a:lnTo>
                  <a:lnTo>
                    <a:pt x="9525" y="9892792"/>
                  </a:lnTo>
                  <a:lnTo>
                    <a:pt x="9525" y="9883267"/>
                  </a:lnTo>
                  <a:lnTo>
                    <a:pt x="5683250" y="9883267"/>
                  </a:lnTo>
                  <a:lnTo>
                    <a:pt x="5683250" y="9892792"/>
                  </a:lnTo>
                  <a:lnTo>
                    <a:pt x="5673725" y="9892792"/>
                  </a:lnTo>
                  <a:lnTo>
                    <a:pt x="5673725" y="9525"/>
                  </a:lnTo>
                  <a:lnTo>
                    <a:pt x="5683250" y="9525"/>
                  </a:lnTo>
                  <a:lnTo>
                    <a:pt x="5683250" y="19050"/>
                  </a:lnTo>
                  <a:lnTo>
                    <a:pt x="9525" y="19050"/>
                  </a:lnTo>
                  <a:close/>
                </a:path>
              </a:pathLst>
            </a:custGeom>
            <a:solidFill>
              <a:srgbClr val="059669"/>
            </a:solidFill>
          </p:spPr>
        </p:sp>
      </p:grpSp>
      <p:sp>
        <p:nvSpPr>
          <p:cNvPr name="TextBox 9" id="9"/>
          <p:cNvSpPr txBox="true"/>
          <p:nvPr/>
        </p:nvSpPr>
        <p:spPr>
          <a:xfrm rot="0">
            <a:off x="503244" y="2243957"/>
            <a:ext cx="4072404" cy="730206"/>
          </a:xfrm>
          <a:prstGeom prst="rect">
            <a:avLst/>
          </a:prstGeom>
        </p:spPr>
        <p:txBody>
          <a:bodyPr anchor="t" rtlCol="false" tIns="0" lIns="0" bIns="0" rIns="0">
            <a:spAutoFit/>
          </a:bodyPr>
          <a:lstStyle/>
          <a:p>
            <a:pPr algn="ctr">
              <a:lnSpc>
                <a:spcPts val="4323"/>
              </a:lnSpc>
            </a:pPr>
            <a:r>
              <a:rPr lang="en-US" sz="3602">
                <a:solidFill>
                  <a:srgbClr val="4C1D95"/>
                </a:solidFill>
                <a:latin typeface="Calibri (MS)"/>
                <a:ea typeface="Calibri (MS)"/>
                <a:cs typeface="Calibri (MS)"/>
                <a:sym typeface="Calibri (MS)"/>
              </a:rPr>
              <a:t>📄</a:t>
            </a:r>
          </a:p>
        </p:txBody>
      </p:sp>
      <p:sp>
        <p:nvSpPr>
          <p:cNvPr name="TextBox 10" id="10"/>
          <p:cNvSpPr txBox="true"/>
          <p:nvPr/>
        </p:nvSpPr>
        <p:spPr>
          <a:xfrm rot="0">
            <a:off x="503244" y="3017977"/>
            <a:ext cx="4072404" cy="505254"/>
          </a:xfrm>
          <a:prstGeom prst="rect">
            <a:avLst/>
          </a:prstGeom>
        </p:spPr>
        <p:txBody>
          <a:bodyPr anchor="t" rtlCol="false" tIns="0" lIns="0" bIns="0" rIns="0">
            <a:spAutoFit/>
          </a:bodyPr>
          <a:lstStyle/>
          <a:p>
            <a:pPr algn="ctr">
              <a:lnSpc>
                <a:spcPts val="2341"/>
              </a:lnSpc>
            </a:pPr>
            <a:r>
              <a:rPr lang="en-US" sz="1951" b="true">
                <a:solidFill>
                  <a:srgbClr val="4C1D95"/>
                </a:solidFill>
                <a:latin typeface="Calibri (MS) Bold"/>
                <a:ea typeface="Calibri (MS) Bold"/>
                <a:cs typeface="Calibri (MS) Bold"/>
                <a:sym typeface="Calibri (MS) Bold"/>
              </a:rPr>
              <a:t>1 · Extract</a:t>
            </a:r>
          </a:p>
        </p:txBody>
      </p:sp>
      <p:sp>
        <p:nvSpPr>
          <p:cNvPr name="TextBox 11" id="11"/>
          <p:cNvSpPr txBox="true"/>
          <p:nvPr/>
        </p:nvSpPr>
        <p:spPr>
          <a:xfrm rot="0">
            <a:off x="709146" y="3654723"/>
            <a:ext cx="3660600" cy="3231547"/>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PyMuPDF reads every page verbatim with no token output limit. Null bytes stripped for Postgres UTF-8 compatibility.</a:t>
            </a:r>
          </a:p>
        </p:txBody>
      </p:sp>
      <p:grpSp>
        <p:nvGrpSpPr>
          <p:cNvPr name="Group 12" id="12"/>
          <p:cNvGrpSpPr/>
          <p:nvPr/>
        </p:nvGrpSpPr>
        <p:grpSpPr>
          <a:xfrm rot="0">
            <a:off x="612934" y="7133130"/>
            <a:ext cx="3853015" cy="627231"/>
            <a:chOff x="0" y="0"/>
            <a:chExt cx="5137353" cy="836308"/>
          </a:xfrm>
        </p:grpSpPr>
        <p:sp>
          <p:nvSpPr>
            <p:cNvPr name="Freeform 13" id="13"/>
            <p:cNvSpPr/>
            <p:nvPr/>
          </p:nvSpPr>
          <p:spPr>
            <a:xfrm flipH="false" flipV="false" rot="0">
              <a:off x="6350" y="6350"/>
              <a:ext cx="5124704" cy="823595"/>
            </a:xfrm>
            <a:custGeom>
              <a:avLst/>
              <a:gdLst/>
              <a:ahLst/>
              <a:cxnLst/>
              <a:rect r="r" b="b" t="t" l="l"/>
              <a:pathLst>
                <a:path h="823595" w="5124704">
                  <a:moveTo>
                    <a:pt x="0" y="0"/>
                  </a:moveTo>
                  <a:lnTo>
                    <a:pt x="5124704" y="0"/>
                  </a:lnTo>
                  <a:lnTo>
                    <a:pt x="5124704" y="823595"/>
                  </a:lnTo>
                  <a:lnTo>
                    <a:pt x="0" y="823595"/>
                  </a:lnTo>
                  <a:close/>
                </a:path>
              </a:pathLst>
            </a:custGeom>
            <a:solidFill>
              <a:srgbClr val="FFFFFF"/>
            </a:solidFill>
          </p:spPr>
        </p:sp>
        <p:sp>
          <p:nvSpPr>
            <p:cNvPr name="Freeform 14" id="14"/>
            <p:cNvSpPr/>
            <p:nvPr/>
          </p:nvSpPr>
          <p:spPr>
            <a:xfrm flipH="false" flipV="false" rot="0">
              <a:off x="0" y="0"/>
              <a:ext cx="5137404" cy="836295"/>
            </a:xfrm>
            <a:custGeom>
              <a:avLst/>
              <a:gdLst/>
              <a:ahLst/>
              <a:cxnLst/>
              <a:rect r="r" b="b" t="t" l="l"/>
              <a:pathLst>
                <a:path h="836295" w="5137404">
                  <a:moveTo>
                    <a:pt x="6350" y="0"/>
                  </a:moveTo>
                  <a:lnTo>
                    <a:pt x="5131054" y="0"/>
                  </a:lnTo>
                  <a:cubicBezTo>
                    <a:pt x="5134610" y="0"/>
                    <a:pt x="5137404" y="2794"/>
                    <a:pt x="5137404" y="6350"/>
                  </a:cubicBezTo>
                  <a:lnTo>
                    <a:pt x="5137404" y="829945"/>
                  </a:lnTo>
                  <a:cubicBezTo>
                    <a:pt x="5137404" y="833501"/>
                    <a:pt x="5134610" y="836295"/>
                    <a:pt x="5131054" y="836295"/>
                  </a:cubicBezTo>
                  <a:lnTo>
                    <a:pt x="6350" y="836295"/>
                  </a:lnTo>
                  <a:cubicBezTo>
                    <a:pt x="2794" y="836295"/>
                    <a:pt x="0" y="833501"/>
                    <a:pt x="0" y="829945"/>
                  </a:cubicBezTo>
                  <a:lnTo>
                    <a:pt x="0" y="6350"/>
                  </a:lnTo>
                  <a:cubicBezTo>
                    <a:pt x="0" y="2794"/>
                    <a:pt x="2794" y="0"/>
                    <a:pt x="6350" y="0"/>
                  </a:cubicBezTo>
                  <a:moveTo>
                    <a:pt x="6350" y="12700"/>
                  </a:moveTo>
                  <a:lnTo>
                    <a:pt x="6350" y="6350"/>
                  </a:lnTo>
                  <a:lnTo>
                    <a:pt x="12700" y="6350"/>
                  </a:lnTo>
                  <a:lnTo>
                    <a:pt x="12700" y="829945"/>
                  </a:lnTo>
                  <a:lnTo>
                    <a:pt x="6350" y="829945"/>
                  </a:lnTo>
                  <a:lnTo>
                    <a:pt x="6350" y="823595"/>
                  </a:lnTo>
                  <a:lnTo>
                    <a:pt x="5131054" y="823595"/>
                  </a:lnTo>
                  <a:lnTo>
                    <a:pt x="5131054" y="829945"/>
                  </a:lnTo>
                  <a:lnTo>
                    <a:pt x="5124704" y="829945"/>
                  </a:lnTo>
                  <a:lnTo>
                    <a:pt x="5124704" y="6350"/>
                  </a:lnTo>
                  <a:lnTo>
                    <a:pt x="5131054" y="6350"/>
                  </a:lnTo>
                  <a:lnTo>
                    <a:pt x="5131054" y="12700"/>
                  </a:lnTo>
                  <a:lnTo>
                    <a:pt x="6350" y="12700"/>
                  </a:lnTo>
                  <a:close/>
                </a:path>
              </a:pathLst>
            </a:custGeom>
            <a:solidFill>
              <a:srgbClr val="FFFFFF"/>
            </a:solidFill>
          </p:spPr>
        </p:sp>
      </p:grpSp>
      <p:sp>
        <p:nvSpPr>
          <p:cNvPr name="TextBox 15" id="15"/>
          <p:cNvSpPr txBox="true"/>
          <p:nvPr/>
        </p:nvSpPr>
        <p:spPr>
          <a:xfrm rot="0">
            <a:off x="777773" y="7251125"/>
            <a:ext cx="3523336" cy="417566"/>
          </a:xfrm>
          <a:prstGeom prst="rect">
            <a:avLst/>
          </a:prstGeom>
        </p:spPr>
        <p:txBody>
          <a:bodyPr anchor="t" rtlCol="false" tIns="0" lIns="0" bIns="0" rIns="0">
            <a:spAutoFit/>
          </a:bodyPr>
          <a:lstStyle/>
          <a:p>
            <a:pPr algn="l">
              <a:lnSpc>
                <a:spcPts val="1621"/>
              </a:lnSpc>
            </a:pPr>
            <a:r>
              <a:rPr lang="en-US" sz="1351">
                <a:solidFill>
                  <a:srgbClr val="5B21B6"/>
                </a:solidFill>
                <a:latin typeface="Calibri (MS)"/>
                <a:ea typeface="Calibri (MS)"/>
                <a:cs typeface="Calibri (MS)"/>
                <a:sym typeface="Calibri (MS)"/>
              </a:rPr>
              <a:t>fitz.open(stream=…)</a:t>
            </a:r>
          </a:p>
        </p:txBody>
      </p:sp>
      <p:grpSp>
        <p:nvGrpSpPr>
          <p:cNvPr name="Group 16" id="16"/>
          <p:cNvGrpSpPr/>
          <p:nvPr/>
        </p:nvGrpSpPr>
        <p:grpSpPr>
          <a:xfrm rot="0">
            <a:off x="4824660" y="2189131"/>
            <a:ext cx="4269581" cy="7426728"/>
            <a:chOff x="0" y="0"/>
            <a:chExt cx="5692775" cy="9902304"/>
          </a:xfrm>
        </p:grpSpPr>
        <p:sp>
          <p:nvSpPr>
            <p:cNvPr name="Freeform 17" id="17"/>
            <p:cNvSpPr/>
            <p:nvPr/>
          </p:nvSpPr>
          <p:spPr>
            <a:xfrm flipH="false" flipV="false" rot="0">
              <a:off x="9525" y="9525"/>
              <a:ext cx="5673725" cy="9883267"/>
            </a:xfrm>
            <a:custGeom>
              <a:avLst/>
              <a:gdLst/>
              <a:ahLst/>
              <a:cxnLst/>
              <a:rect r="r" b="b" t="t" l="l"/>
              <a:pathLst>
                <a:path h="9883267" w="5673725">
                  <a:moveTo>
                    <a:pt x="0" y="0"/>
                  </a:moveTo>
                  <a:lnTo>
                    <a:pt x="5673725" y="0"/>
                  </a:lnTo>
                  <a:lnTo>
                    <a:pt x="5673725" y="9883267"/>
                  </a:lnTo>
                  <a:lnTo>
                    <a:pt x="0" y="9883267"/>
                  </a:lnTo>
                  <a:close/>
                </a:path>
              </a:pathLst>
            </a:custGeom>
            <a:solidFill>
              <a:srgbClr val="FFFFFF"/>
            </a:solidFill>
          </p:spPr>
        </p:sp>
        <p:sp>
          <p:nvSpPr>
            <p:cNvPr name="Freeform 18" id="18"/>
            <p:cNvSpPr/>
            <p:nvPr/>
          </p:nvSpPr>
          <p:spPr>
            <a:xfrm flipH="false" flipV="false" rot="0">
              <a:off x="0" y="0"/>
              <a:ext cx="5692775" cy="9902317"/>
            </a:xfrm>
            <a:custGeom>
              <a:avLst/>
              <a:gdLst/>
              <a:ahLst/>
              <a:cxnLst/>
              <a:rect r="r" b="b" t="t" l="l"/>
              <a:pathLst>
                <a:path h="9902317" w="5692775">
                  <a:moveTo>
                    <a:pt x="9525" y="0"/>
                  </a:moveTo>
                  <a:lnTo>
                    <a:pt x="5683250" y="0"/>
                  </a:lnTo>
                  <a:cubicBezTo>
                    <a:pt x="5688457" y="0"/>
                    <a:pt x="5692775" y="4318"/>
                    <a:pt x="5692775" y="9525"/>
                  </a:cubicBezTo>
                  <a:lnTo>
                    <a:pt x="5692775" y="9892792"/>
                  </a:lnTo>
                  <a:cubicBezTo>
                    <a:pt x="5692775" y="9897999"/>
                    <a:pt x="5688457" y="9902317"/>
                    <a:pt x="5683250" y="9902317"/>
                  </a:cubicBezTo>
                  <a:lnTo>
                    <a:pt x="9525" y="9902317"/>
                  </a:lnTo>
                  <a:cubicBezTo>
                    <a:pt x="4318" y="9902317"/>
                    <a:pt x="0" y="9897999"/>
                    <a:pt x="0" y="9892792"/>
                  </a:cubicBezTo>
                  <a:lnTo>
                    <a:pt x="0" y="9525"/>
                  </a:lnTo>
                  <a:cubicBezTo>
                    <a:pt x="0" y="4318"/>
                    <a:pt x="4318" y="0"/>
                    <a:pt x="9525" y="0"/>
                  </a:cubicBezTo>
                  <a:moveTo>
                    <a:pt x="9525" y="19050"/>
                  </a:moveTo>
                  <a:lnTo>
                    <a:pt x="9525" y="9525"/>
                  </a:lnTo>
                  <a:lnTo>
                    <a:pt x="19050" y="9525"/>
                  </a:lnTo>
                  <a:lnTo>
                    <a:pt x="19050" y="9892792"/>
                  </a:lnTo>
                  <a:lnTo>
                    <a:pt x="9525" y="9892792"/>
                  </a:lnTo>
                  <a:lnTo>
                    <a:pt x="9525" y="9883267"/>
                  </a:lnTo>
                  <a:lnTo>
                    <a:pt x="5683250" y="9883267"/>
                  </a:lnTo>
                  <a:lnTo>
                    <a:pt x="5683250" y="9892792"/>
                  </a:lnTo>
                  <a:lnTo>
                    <a:pt x="5673725" y="9892792"/>
                  </a:lnTo>
                  <a:lnTo>
                    <a:pt x="5673725" y="9525"/>
                  </a:lnTo>
                  <a:lnTo>
                    <a:pt x="5683250" y="9525"/>
                  </a:lnTo>
                  <a:lnTo>
                    <a:pt x="5683250" y="19050"/>
                  </a:lnTo>
                  <a:lnTo>
                    <a:pt x="9525" y="19050"/>
                  </a:lnTo>
                  <a:close/>
                </a:path>
              </a:pathLst>
            </a:custGeom>
            <a:solidFill>
              <a:srgbClr val="A78BFA"/>
            </a:solidFill>
          </p:spPr>
        </p:sp>
      </p:grpSp>
      <p:sp>
        <p:nvSpPr>
          <p:cNvPr name="TextBox 19" id="19"/>
          <p:cNvSpPr txBox="true"/>
          <p:nvPr/>
        </p:nvSpPr>
        <p:spPr>
          <a:xfrm rot="0">
            <a:off x="4923244" y="2243957"/>
            <a:ext cx="4072404" cy="730206"/>
          </a:xfrm>
          <a:prstGeom prst="rect">
            <a:avLst/>
          </a:prstGeom>
        </p:spPr>
        <p:txBody>
          <a:bodyPr anchor="t" rtlCol="false" tIns="0" lIns="0" bIns="0" rIns="0">
            <a:spAutoFit/>
          </a:bodyPr>
          <a:lstStyle/>
          <a:p>
            <a:pPr algn="ctr">
              <a:lnSpc>
                <a:spcPts val="4323"/>
              </a:lnSpc>
            </a:pPr>
            <a:r>
              <a:rPr lang="en-US" sz="3602">
                <a:solidFill>
                  <a:srgbClr val="4C1D95"/>
                </a:solidFill>
                <a:latin typeface="Calibri (MS)"/>
                <a:ea typeface="Calibri (MS)"/>
                <a:cs typeface="Calibri (MS)"/>
                <a:sym typeface="Calibri (MS)"/>
              </a:rPr>
              <a:t>✂️</a:t>
            </a:r>
          </a:p>
        </p:txBody>
      </p:sp>
      <p:sp>
        <p:nvSpPr>
          <p:cNvPr name="TextBox 20" id="20"/>
          <p:cNvSpPr txBox="true"/>
          <p:nvPr/>
        </p:nvSpPr>
        <p:spPr>
          <a:xfrm rot="0">
            <a:off x="4923244" y="3017977"/>
            <a:ext cx="4072404" cy="505254"/>
          </a:xfrm>
          <a:prstGeom prst="rect">
            <a:avLst/>
          </a:prstGeom>
        </p:spPr>
        <p:txBody>
          <a:bodyPr anchor="t" rtlCol="false" tIns="0" lIns="0" bIns="0" rIns="0">
            <a:spAutoFit/>
          </a:bodyPr>
          <a:lstStyle/>
          <a:p>
            <a:pPr algn="ctr">
              <a:lnSpc>
                <a:spcPts val="2341"/>
              </a:lnSpc>
            </a:pPr>
            <a:r>
              <a:rPr lang="en-US" sz="1951" b="true">
                <a:solidFill>
                  <a:srgbClr val="4C1D95"/>
                </a:solidFill>
                <a:latin typeface="Calibri (MS) Bold"/>
                <a:ea typeface="Calibri (MS) Bold"/>
                <a:cs typeface="Calibri (MS) Bold"/>
                <a:sym typeface="Calibri (MS) Bold"/>
              </a:rPr>
              <a:t>2 · Chunk</a:t>
            </a:r>
          </a:p>
        </p:txBody>
      </p:sp>
      <p:sp>
        <p:nvSpPr>
          <p:cNvPr name="TextBox 21" id="21"/>
          <p:cNvSpPr txBox="true"/>
          <p:nvPr/>
        </p:nvSpPr>
        <p:spPr>
          <a:xfrm rot="0">
            <a:off x="5129146" y="3654723"/>
            <a:ext cx="3660600" cy="3231547"/>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tiktoken counts total tokens → compute_params() selects chunk_size and k. Sentence-boundary splits with 64-token overlap. Parent text (prev+self+next) stored for LLM context.</a:t>
            </a:r>
          </a:p>
        </p:txBody>
      </p:sp>
      <p:grpSp>
        <p:nvGrpSpPr>
          <p:cNvPr name="Group 22" id="22"/>
          <p:cNvGrpSpPr/>
          <p:nvPr/>
        </p:nvGrpSpPr>
        <p:grpSpPr>
          <a:xfrm rot="0">
            <a:off x="5032943" y="7133130"/>
            <a:ext cx="3853015" cy="627231"/>
            <a:chOff x="0" y="0"/>
            <a:chExt cx="5137353" cy="836308"/>
          </a:xfrm>
        </p:grpSpPr>
        <p:sp>
          <p:nvSpPr>
            <p:cNvPr name="Freeform 23" id="23"/>
            <p:cNvSpPr/>
            <p:nvPr/>
          </p:nvSpPr>
          <p:spPr>
            <a:xfrm flipH="false" flipV="false" rot="0">
              <a:off x="6350" y="6350"/>
              <a:ext cx="5124704" cy="823595"/>
            </a:xfrm>
            <a:custGeom>
              <a:avLst/>
              <a:gdLst/>
              <a:ahLst/>
              <a:cxnLst/>
              <a:rect r="r" b="b" t="t" l="l"/>
              <a:pathLst>
                <a:path h="823595" w="5124704">
                  <a:moveTo>
                    <a:pt x="0" y="0"/>
                  </a:moveTo>
                  <a:lnTo>
                    <a:pt x="5124704" y="0"/>
                  </a:lnTo>
                  <a:lnTo>
                    <a:pt x="5124704" y="823595"/>
                  </a:lnTo>
                  <a:lnTo>
                    <a:pt x="0" y="823595"/>
                  </a:lnTo>
                  <a:close/>
                </a:path>
              </a:pathLst>
            </a:custGeom>
            <a:solidFill>
              <a:srgbClr val="FFFFFF"/>
            </a:solidFill>
          </p:spPr>
        </p:sp>
        <p:sp>
          <p:nvSpPr>
            <p:cNvPr name="Freeform 24" id="24"/>
            <p:cNvSpPr/>
            <p:nvPr/>
          </p:nvSpPr>
          <p:spPr>
            <a:xfrm flipH="false" flipV="false" rot="0">
              <a:off x="0" y="0"/>
              <a:ext cx="5137404" cy="836295"/>
            </a:xfrm>
            <a:custGeom>
              <a:avLst/>
              <a:gdLst/>
              <a:ahLst/>
              <a:cxnLst/>
              <a:rect r="r" b="b" t="t" l="l"/>
              <a:pathLst>
                <a:path h="836295" w="5137404">
                  <a:moveTo>
                    <a:pt x="6350" y="0"/>
                  </a:moveTo>
                  <a:lnTo>
                    <a:pt x="5131054" y="0"/>
                  </a:lnTo>
                  <a:cubicBezTo>
                    <a:pt x="5134610" y="0"/>
                    <a:pt x="5137404" y="2794"/>
                    <a:pt x="5137404" y="6350"/>
                  </a:cubicBezTo>
                  <a:lnTo>
                    <a:pt x="5137404" y="829945"/>
                  </a:lnTo>
                  <a:cubicBezTo>
                    <a:pt x="5137404" y="833501"/>
                    <a:pt x="5134610" y="836295"/>
                    <a:pt x="5131054" y="836295"/>
                  </a:cubicBezTo>
                  <a:lnTo>
                    <a:pt x="6350" y="836295"/>
                  </a:lnTo>
                  <a:cubicBezTo>
                    <a:pt x="2794" y="836295"/>
                    <a:pt x="0" y="833501"/>
                    <a:pt x="0" y="829945"/>
                  </a:cubicBezTo>
                  <a:lnTo>
                    <a:pt x="0" y="6350"/>
                  </a:lnTo>
                  <a:cubicBezTo>
                    <a:pt x="0" y="2794"/>
                    <a:pt x="2794" y="0"/>
                    <a:pt x="6350" y="0"/>
                  </a:cubicBezTo>
                  <a:moveTo>
                    <a:pt x="6350" y="12700"/>
                  </a:moveTo>
                  <a:lnTo>
                    <a:pt x="6350" y="6350"/>
                  </a:lnTo>
                  <a:lnTo>
                    <a:pt x="12700" y="6350"/>
                  </a:lnTo>
                  <a:lnTo>
                    <a:pt x="12700" y="829945"/>
                  </a:lnTo>
                  <a:lnTo>
                    <a:pt x="6350" y="829945"/>
                  </a:lnTo>
                  <a:lnTo>
                    <a:pt x="6350" y="823595"/>
                  </a:lnTo>
                  <a:lnTo>
                    <a:pt x="5131054" y="823595"/>
                  </a:lnTo>
                  <a:lnTo>
                    <a:pt x="5131054" y="829945"/>
                  </a:lnTo>
                  <a:lnTo>
                    <a:pt x="5124704" y="829945"/>
                  </a:lnTo>
                  <a:lnTo>
                    <a:pt x="5124704" y="6350"/>
                  </a:lnTo>
                  <a:lnTo>
                    <a:pt x="5131054" y="6350"/>
                  </a:lnTo>
                  <a:lnTo>
                    <a:pt x="5131054" y="12700"/>
                  </a:lnTo>
                  <a:lnTo>
                    <a:pt x="6350" y="12700"/>
                  </a:lnTo>
                  <a:close/>
                </a:path>
              </a:pathLst>
            </a:custGeom>
            <a:solidFill>
              <a:srgbClr val="FFFFFF"/>
            </a:solidFill>
          </p:spPr>
        </p:sp>
      </p:grpSp>
      <p:sp>
        <p:nvSpPr>
          <p:cNvPr name="TextBox 25" id="25"/>
          <p:cNvSpPr txBox="true"/>
          <p:nvPr/>
        </p:nvSpPr>
        <p:spPr>
          <a:xfrm rot="0">
            <a:off x="5197783" y="7251125"/>
            <a:ext cx="3523336" cy="417566"/>
          </a:xfrm>
          <a:prstGeom prst="rect">
            <a:avLst/>
          </a:prstGeom>
        </p:spPr>
        <p:txBody>
          <a:bodyPr anchor="t" rtlCol="false" tIns="0" lIns="0" bIns="0" rIns="0">
            <a:spAutoFit/>
          </a:bodyPr>
          <a:lstStyle/>
          <a:p>
            <a:pPr algn="l">
              <a:lnSpc>
                <a:spcPts val="1621"/>
              </a:lnSpc>
            </a:pPr>
            <a:r>
              <a:rPr lang="en-US" sz="1351">
                <a:solidFill>
                  <a:srgbClr val="5B21B6"/>
                </a:solidFill>
                <a:latin typeface="Calibri (MS)"/>
                <a:ea typeface="Calibri (MS)"/>
                <a:cs typeface="Calibri (MS)"/>
                <a:sym typeface="Calibri (MS)"/>
              </a:rPr>
              <a:t>chunk_text(text, chunk_size)</a:t>
            </a:r>
          </a:p>
        </p:txBody>
      </p:sp>
      <p:grpSp>
        <p:nvGrpSpPr>
          <p:cNvPr name="Group 26" id="26"/>
          <p:cNvGrpSpPr/>
          <p:nvPr/>
        </p:nvGrpSpPr>
        <p:grpSpPr>
          <a:xfrm rot="0">
            <a:off x="9244660" y="2189131"/>
            <a:ext cx="4269581" cy="7426728"/>
            <a:chOff x="0" y="0"/>
            <a:chExt cx="5692775" cy="9902304"/>
          </a:xfrm>
        </p:grpSpPr>
        <p:sp>
          <p:nvSpPr>
            <p:cNvPr name="Freeform 27" id="27"/>
            <p:cNvSpPr/>
            <p:nvPr/>
          </p:nvSpPr>
          <p:spPr>
            <a:xfrm flipH="false" flipV="false" rot="0">
              <a:off x="9525" y="9525"/>
              <a:ext cx="5673725" cy="9883267"/>
            </a:xfrm>
            <a:custGeom>
              <a:avLst/>
              <a:gdLst/>
              <a:ahLst/>
              <a:cxnLst/>
              <a:rect r="r" b="b" t="t" l="l"/>
              <a:pathLst>
                <a:path h="9883267" w="5673725">
                  <a:moveTo>
                    <a:pt x="0" y="0"/>
                  </a:moveTo>
                  <a:lnTo>
                    <a:pt x="5673725" y="0"/>
                  </a:lnTo>
                  <a:lnTo>
                    <a:pt x="5673725" y="9883267"/>
                  </a:lnTo>
                  <a:lnTo>
                    <a:pt x="0" y="9883267"/>
                  </a:lnTo>
                  <a:close/>
                </a:path>
              </a:pathLst>
            </a:custGeom>
            <a:solidFill>
              <a:srgbClr val="FFFFFF"/>
            </a:solidFill>
          </p:spPr>
        </p:sp>
        <p:sp>
          <p:nvSpPr>
            <p:cNvPr name="Freeform 28" id="28"/>
            <p:cNvSpPr/>
            <p:nvPr/>
          </p:nvSpPr>
          <p:spPr>
            <a:xfrm flipH="false" flipV="false" rot="0">
              <a:off x="0" y="0"/>
              <a:ext cx="5692775" cy="9902317"/>
            </a:xfrm>
            <a:custGeom>
              <a:avLst/>
              <a:gdLst/>
              <a:ahLst/>
              <a:cxnLst/>
              <a:rect r="r" b="b" t="t" l="l"/>
              <a:pathLst>
                <a:path h="9902317" w="5692775">
                  <a:moveTo>
                    <a:pt x="9525" y="0"/>
                  </a:moveTo>
                  <a:lnTo>
                    <a:pt x="5683250" y="0"/>
                  </a:lnTo>
                  <a:cubicBezTo>
                    <a:pt x="5688457" y="0"/>
                    <a:pt x="5692775" y="4318"/>
                    <a:pt x="5692775" y="9525"/>
                  </a:cubicBezTo>
                  <a:lnTo>
                    <a:pt x="5692775" y="9892792"/>
                  </a:lnTo>
                  <a:cubicBezTo>
                    <a:pt x="5692775" y="9897999"/>
                    <a:pt x="5688457" y="9902317"/>
                    <a:pt x="5683250" y="9902317"/>
                  </a:cubicBezTo>
                  <a:lnTo>
                    <a:pt x="9525" y="9902317"/>
                  </a:lnTo>
                  <a:cubicBezTo>
                    <a:pt x="4318" y="9902317"/>
                    <a:pt x="0" y="9897999"/>
                    <a:pt x="0" y="9892792"/>
                  </a:cubicBezTo>
                  <a:lnTo>
                    <a:pt x="0" y="9525"/>
                  </a:lnTo>
                  <a:cubicBezTo>
                    <a:pt x="0" y="4318"/>
                    <a:pt x="4318" y="0"/>
                    <a:pt x="9525" y="0"/>
                  </a:cubicBezTo>
                  <a:moveTo>
                    <a:pt x="9525" y="19050"/>
                  </a:moveTo>
                  <a:lnTo>
                    <a:pt x="9525" y="9525"/>
                  </a:lnTo>
                  <a:lnTo>
                    <a:pt x="19050" y="9525"/>
                  </a:lnTo>
                  <a:lnTo>
                    <a:pt x="19050" y="9892792"/>
                  </a:lnTo>
                  <a:lnTo>
                    <a:pt x="9525" y="9892792"/>
                  </a:lnTo>
                  <a:lnTo>
                    <a:pt x="9525" y="9883267"/>
                  </a:lnTo>
                  <a:lnTo>
                    <a:pt x="5683250" y="9883267"/>
                  </a:lnTo>
                  <a:lnTo>
                    <a:pt x="5683250" y="9892792"/>
                  </a:lnTo>
                  <a:lnTo>
                    <a:pt x="5673725" y="9892792"/>
                  </a:lnTo>
                  <a:lnTo>
                    <a:pt x="5673725" y="9525"/>
                  </a:lnTo>
                  <a:lnTo>
                    <a:pt x="5683250" y="9525"/>
                  </a:lnTo>
                  <a:lnTo>
                    <a:pt x="5683250" y="19050"/>
                  </a:lnTo>
                  <a:lnTo>
                    <a:pt x="9525" y="19050"/>
                  </a:lnTo>
                  <a:close/>
                </a:path>
              </a:pathLst>
            </a:custGeom>
            <a:solidFill>
              <a:srgbClr val="4285F4"/>
            </a:solidFill>
          </p:spPr>
        </p:sp>
      </p:grpSp>
      <p:sp>
        <p:nvSpPr>
          <p:cNvPr name="TextBox 29" id="29"/>
          <p:cNvSpPr txBox="true"/>
          <p:nvPr/>
        </p:nvSpPr>
        <p:spPr>
          <a:xfrm rot="0">
            <a:off x="9343253" y="2243957"/>
            <a:ext cx="4072404" cy="730206"/>
          </a:xfrm>
          <a:prstGeom prst="rect">
            <a:avLst/>
          </a:prstGeom>
        </p:spPr>
        <p:txBody>
          <a:bodyPr anchor="t" rtlCol="false" tIns="0" lIns="0" bIns="0" rIns="0">
            <a:spAutoFit/>
          </a:bodyPr>
          <a:lstStyle/>
          <a:p>
            <a:pPr algn="ctr">
              <a:lnSpc>
                <a:spcPts val="4323"/>
              </a:lnSpc>
            </a:pPr>
            <a:r>
              <a:rPr lang="en-US" sz="3602">
                <a:solidFill>
                  <a:srgbClr val="4C1D95"/>
                </a:solidFill>
                <a:latin typeface="Calibri (MS)"/>
                <a:ea typeface="Calibri (MS)"/>
                <a:cs typeface="Calibri (MS)"/>
                <a:sym typeface="Calibri (MS)"/>
              </a:rPr>
              <a:t>🧠</a:t>
            </a:r>
          </a:p>
        </p:txBody>
      </p:sp>
      <p:sp>
        <p:nvSpPr>
          <p:cNvPr name="TextBox 30" id="30"/>
          <p:cNvSpPr txBox="true"/>
          <p:nvPr/>
        </p:nvSpPr>
        <p:spPr>
          <a:xfrm rot="0">
            <a:off x="9343253" y="3017977"/>
            <a:ext cx="4072404" cy="505254"/>
          </a:xfrm>
          <a:prstGeom prst="rect">
            <a:avLst/>
          </a:prstGeom>
        </p:spPr>
        <p:txBody>
          <a:bodyPr anchor="t" rtlCol="false" tIns="0" lIns="0" bIns="0" rIns="0">
            <a:spAutoFit/>
          </a:bodyPr>
          <a:lstStyle/>
          <a:p>
            <a:pPr algn="ctr">
              <a:lnSpc>
                <a:spcPts val="2341"/>
              </a:lnSpc>
            </a:pPr>
            <a:r>
              <a:rPr lang="en-US" sz="1951" b="true">
                <a:solidFill>
                  <a:srgbClr val="4C1D95"/>
                </a:solidFill>
                <a:latin typeface="Calibri (MS) Bold"/>
                <a:ea typeface="Calibri (MS) Bold"/>
                <a:cs typeface="Calibri (MS) Bold"/>
                <a:sym typeface="Calibri (MS) Bold"/>
              </a:rPr>
              <a:t>3 · Embed</a:t>
            </a:r>
          </a:p>
        </p:txBody>
      </p:sp>
      <p:sp>
        <p:nvSpPr>
          <p:cNvPr name="TextBox 31" id="31"/>
          <p:cNvSpPr txBox="true"/>
          <p:nvPr/>
        </p:nvSpPr>
        <p:spPr>
          <a:xfrm rot="0">
            <a:off x="9549155" y="3654723"/>
            <a:ext cx="3660600" cy="3231547"/>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All chunks embedded concurrently via asyncio.gather. Exponential backoff retries on 429/503. Task type RETRIEVAL_DOCUMENT for higher retrieval accuracy.</a:t>
            </a:r>
          </a:p>
        </p:txBody>
      </p:sp>
      <p:grpSp>
        <p:nvGrpSpPr>
          <p:cNvPr name="Group 32" id="32"/>
          <p:cNvGrpSpPr/>
          <p:nvPr/>
        </p:nvGrpSpPr>
        <p:grpSpPr>
          <a:xfrm rot="0">
            <a:off x="9452943" y="7133130"/>
            <a:ext cx="3853015" cy="627231"/>
            <a:chOff x="0" y="0"/>
            <a:chExt cx="5137353" cy="836308"/>
          </a:xfrm>
        </p:grpSpPr>
        <p:sp>
          <p:nvSpPr>
            <p:cNvPr name="Freeform 33" id="33"/>
            <p:cNvSpPr/>
            <p:nvPr/>
          </p:nvSpPr>
          <p:spPr>
            <a:xfrm flipH="false" flipV="false" rot="0">
              <a:off x="6350" y="6350"/>
              <a:ext cx="5124704" cy="823595"/>
            </a:xfrm>
            <a:custGeom>
              <a:avLst/>
              <a:gdLst/>
              <a:ahLst/>
              <a:cxnLst/>
              <a:rect r="r" b="b" t="t" l="l"/>
              <a:pathLst>
                <a:path h="823595" w="5124704">
                  <a:moveTo>
                    <a:pt x="0" y="0"/>
                  </a:moveTo>
                  <a:lnTo>
                    <a:pt x="5124704" y="0"/>
                  </a:lnTo>
                  <a:lnTo>
                    <a:pt x="5124704" y="823595"/>
                  </a:lnTo>
                  <a:lnTo>
                    <a:pt x="0" y="823595"/>
                  </a:lnTo>
                  <a:close/>
                </a:path>
              </a:pathLst>
            </a:custGeom>
            <a:solidFill>
              <a:srgbClr val="FFFFFF"/>
            </a:solidFill>
          </p:spPr>
        </p:sp>
        <p:sp>
          <p:nvSpPr>
            <p:cNvPr name="Freeform 34" id="34"/>
            <p:cNvSpPr/>
            <p:nvPr/>
          </p:nvSpPr>
          <p:spPr>
            <a:xfrm flipH="false" flipV="false" rot="0">
              <a:off x="0" y="0"/>
              <a:ext cx="5137404" cy="836295"/>
            </a:xfrm>
            <a:custGeom>
              <a:avLst/>
              <a:gdLst/>
              <a:ahLst/>
              <a:cxnLst/>
              <a:rect r="r" b="b" t="t" l="l"/>
              <a:pathLst>
                <a:path h="836295" w="5137404">
                  <a:moveTo>
                    <a:pt x="6350" y="0"/>
                  </a:moveTo>
                  <a:lnTo>
                    <a:pt x="5131054" y="0"/>
                  </a:lnTo>
                  <a:cubicBezTo>
                    <a:pt x="5134610" y="0"/>
                    <a:pt x="5137404" y="2794"/>
                    <a:pt x="5137404" y="6350"/>
                  </a:cubicBezTo>
                  <a:lnTo>
                    <a:pt x="5137404" y="829945"/>
                  </a:lnTo>
                  <a:cubicBezTo>
                    <a:pt x="5137404" y="833501"/>
                    <a:pt x="5134610" y="836295"/>
                    <a:pt x="5131054" y="836295"/>
                  </a:cubicBezTo>
                  <a:lnTo>
                    <a:pt x="6350" y="836295"/>
                  </a:lnTo>
                  <a:cubicBezTo>
                    <a:pt x="2794" y="836295"/>
                    <a:pt x="0" y="833501"/>
                    <a:pt x="0" y="829945"/>
                  </a:cubicBezTo>
                  <a:lnTo>
                    <a:pt x="0" y="6350"/>
                  </a:lnTo>
                  <a:cubicBezTo>
                    <a:pt x="0" y="2794"/>
                    <a:pt x="2794" y="0"/>
                    <a:pt x="6350" y="0"/>
                  </a:cubicBezTo>
                  <a:moveTo>
                    <a:pt x="6350" y="12700"/>
                  </a:moveTo>
                  <a:lnTo>
                    <a:pt x="6350" y="6350"/>
                  </a:lnTo>
                  <a:lnTo>
                    <a:pt x="12700" y="6350"/>
                  </a:lnTo>
                  <a:lnTo>
                    <a:pt x="12700" y="829945"/>
                  </a:lnTo>
                  <a:lnTo>
                    <a:pt x="6350" y="829945"/>
                  </a:lnTo>
                  <a:lnTo>
                    <a:pt x="6350" y="823595"/>
                  </a:lnTo>
                  <a:lnTo>
                    <a:pt x="5131054" y="823595"/>
                  </a:lnTo>
                  <a:lnTo>
                    <a:pt x="5131054" y="829945"/>
                  </a:lnTo>
                  <a:lnTo>
                    <a:pt x="5124704" y="829945"/>
                  </a:lnTo>
                  <a:lnTo>
                    <a:pt x="5124704" y="6350"/>
                  </a:lnTo>
                  <a:lnTo>
                    <a:pt x="5131054" y="6350"/>
                  </a:lnTo>
                  <a:lnTo>
                    <a:pt x="5131054" y="12700"/>
                  </a:lnTo>
                  <a:lnTo>
                    <a:pt x="6350" y="12700"/>
                  </a:lnTo>
                  <a:close/>
                </a:path>
              </a:pathLst>
            </a:custGeom>
            <a:solidFill>
              <a:srgbClr val="FFFFFF"/>
            </a:solidFill>
          </p:spPr>
        </p:sp>
      </p:grpSp>
      <p:sp>
        <p:nvSpPr>
          <p:cNvPr name="TextBox 35" id="35"/>
          <p:cNvSpPr txBox="true"/>
          <p:nvPr/>
        </p:nvSpPr>
        <p:spPr>
          <a:xfrm rot="0">
            <a:off x="9617783" y="7251125"/>
            <a:ext cx="3523336" cy="417566"/>
          </a:xfrm>
          <a:prstGeom prst="rect">
            <a:avLst/>
          </a:prstGeom>
        </p:spPr>
        <p:txBody>
          <a:bodyPr anchor="t" rtlCol="false" tIns="0" lIns="0" bIns="0" rIns="0">
            <a:spAutoFit/>
          </a:bodyPr>
          <a:lstStyle/>
          <a:p>
            <a:pPr algn="l">
              <a:lnSpc>
                <a:spcPts val="1621"/>
              </a:lnSpc>
            </a:pPr>
            <a:r>
              <a:rPr lang="en-US" sz="1351">
                <a:solidFill>
                  <a:srgbClr val="5B21B6"/>
                </a:solidFill>
                <a:latin typeface="Calibri (MS)"/>
                <a:ea typeface="Calibri (MS)"/>
                <a:cs typeface="Calibri (MS)"/>
                <a:sym typeface="Calibri (MS)"/>
              </a:rPr>
              <a:t>gemini-embedding-2 · 768-dim</a:t>
            </a:r>
          </a:p>
        </p:txBody>
      </p:sp>
      <p:grpSp>
        <p:nvGrpSpPr>
          <p:cNvPr name="Group 36" id="36"/>
          <p:cNvGrpSpPr/>
          <p:nvPr/>
        </p:nvGrpSpPr>
        <p:grpSpPr>
          <a:xfrm rot="0">
            <a:off x="13664670" y="2189131"/>
            <a:ext cx="4269581" cy="7426728"/>
            <a:chOff x="0" y="0"/>
            <a:chExt cx="5692775" cy="9902304"/>
          </a:xfrm>
        </p:grpSpPr>
        <p:sp>
          <p:nvSpPr>
            <p:cNvPr name="Freeform 37" id="37"/>
            <p:cNvSpPr/>
            <p:nvPr/>
          </p:nvSpPr>
          <p:spPr>
            <a:xfrm flipH="false" flipV="false" rot="0">
              <a:off x="9525" y="9525"/>
              <a:ext cx="5673725" cy="9883267"/>
            </a:xfrm>
            <a:custGeom>
              <a:avLst/>
              <a:gdLst/>
              <a:ahLst/>
              <a:cxnLst/>
              <a:rect r="r" b="b" t="t" l="l"/>
              <a:pathLst>
                <a:path h="9883267" w="5673725">
                  <a:moveTo>
                    <a:pt x="0" y="0"/>
                  </a:moveTo>
                  <a:lnTo>
                    <a:pt x="5673725" y="0"/>
                  </a:lnTo>
                  <a:lnTo>
                    <a:pt x="5673725" y="9883267"/>
                  </a:lnTo>
                  <a:lnTo>
                    <a:pt x="0" y="9883267"/>
                  </a:lnTo>
                  <a:close/>
                </a:path>
              </a:pathLst>
            </a:custGeom>
            <a:solidFill>
              <a:srgbClr val="FFFFFF"/>
            </a:solidFill>
          </p:spPr>
        </p:sp>
        <p:sp>
          <p:nvSpPr>
            <p:cNvPr name="Freeform 38" id="38"/>
            <p:cNvSpPr/>
            <p:nvPr/>
          </p:nvSpPr>
          <p:spPr>
            <a:xfrm flipH="false" flipV="false" rot="0">
              <a:off x="0" y="0"/>
              <a:ext cx="5692775" cy="9902317"/>
            </a:xfrm>
            <a:custGeom>
              <a:avLst/>
              <a:gdLst/>
              <a:ahLst/>
              <a:cxnLst/>
              <a:rect r="r" b="b" t="t" l="l"/>
              <a:pathLst>
                <a:path h="9902317" w="5692775">
                  <a:moveTo>
                    <a:pt x="9525" y="0"/>
                  </a:moveTo>
                  <a:lnTo>
                    <a:pt x="5683250" y="0"/>
                  </a:lnTo>
                  <a:cubicBezTo>
                    <a:pt x="5688457" y="0"/>
                    <a:pt x="5692775" y="4318"/>
                    <a:pt x="5692775" y="9525"/>
                  </a:cubicBezTo>
                  <a:lnTo>
                    <a:pt x="5692775" y="9892792"/>
                  </a:lnTo>
                  <a:cubicBezTo>
                    <a:pt x="5692775" y="9897999"/>
                    <a:pt x="5688457" y="9902317"/>
                    <a:pt x="5683250" y="9902317"/>
                  </a:cubicBezTo>
                  <a:lnTo>
                    <a:pt x="9525" y="9902317"/>
                  </a:lnTo>
                  <a:cubicBezTo>
                    <a:pt x="4318" y="9902317"/>
                    <a:pt x="0" y="9897999"/>
                    <a:pt x="0" y="9892792"/>
                  </a:cubicBezTo>
                  <a:lnTo>
                    <a:pt x="0" y="9525"/>
                  </a:lnTo>
                  <a:cubicBezTo>
                    <a:pt x="0" y="4318"/>
                    <a:pt x="4318" y="0"/>
                    <a:pt x="9525" y="0"/>
                  </a:cubicBezTo>
                  <a:moveTo>
                    <a:pt x="9525" y="19050"/>
                  </a:moveTo>
                  <a:lnTo>
                    <a:pt x="9525" y="9525"/>
                  </a:lnTo>
                  <a:lnTo>
                    <a:pt x="19050" y="9525"/>
                  </a:lnTo>
                  <a:lnTo>
                    <a:pt x="19050" y="9892792"/>
                  </a:lnTo>
                  <a:lnTo>
                    <a:pt x="9525" y="9892792"/>
                  </a:lnTo>
                  <a:lnTo>
                    <a:pt x="9525" y="9883267"/>
                  </a:lnTo>
                  <a:lnTo>
                    <a:pt x="5683250" y="9883267"/>
                  </a:lnTo>
                  <a:lnTo>
                    <a:pt x="5683250" y="9892792"/>
                  </a:lnTo>
                  <a:lnTo>
                    <a:pt x="5673725" y="9892792"/>
                  </a:lnTo>
                  <a:lnTo>
                    <a:pt x="5673725" y="9525"/>
                  </a:lnTo>
                  <a:lnTo>
                    <a:pt x="5683250" y="9525"/>
                  </a:lnTo>
                  <a:lnTo>
                    <a:pt x="5683250" y="19050"/>
                  </a:lnTo>
                  <a:lnTo>
                    <a:pt x="9525" y="19050"/>
                  </a:lnTo>
                  <a:close/>
                </a:path>
              </a:pathLst>
            </a:custGeom>
            <a:solidFill>
              <a:srgbClr val="336791"/>
            </a:solidFill>
          </p:spPr>
        </p:sp>
      </p:grpSp>
      <p:sp>
        <p:nvSpPr>
          <p:cNvPr name="TextBox 39" id="39"/>
          <p:cNvSpPr txBox="true"/>
          <p:nvPr/>
        </p:nvSpPr>
        <p:spPr>
          <a:xfrm rot="0">
            <a:off x="13763254" y="2243957"/>
            <a:ext cx="4072404" cy="730206"/>
          </a:xfrm>
          <a:prstGeom prst="rect">
            <a:avLst/>
          </a:prstGeom>
        </p:spPr>
        <p:txBody>
          <a:bodyPr anchor="t" rtlCol="false" tIns="0" lIns="0" bIns="0" rIns="0">
            <a:spAutoFit/>
          </a:bodyPr>
          <a:lstStyle/>
          <a:p>
            <a:pPr algn="ctr">
              <a:lnSpc>
                <a:spcPts val="4323"/>
              </a:lnSpc>
            </a:pPr>
            <a:r>
              <a:rPr lang="en-US" sz="3602">
                <a:solidFill>
                  <a:srgbClr val="4C1D95"/>
                </a:solidFill>
                <a:latin typeface="Calibri (MS)"/>
                <a:ea typeface="Calibri (MS)"/>
                <a:cs typeface="Calibri (MS)"/>
                <a:sym typeface="Calibri (MS)"/>
              </a:rPr>
              <a:t>🗄️</a:t>
            </a:r>
          </a:p>
        </p:txBody>
      </p:sp>
      <p:sp>
        <p:nvSpPr>
          <p:cNvPr name="TextBox 40" id="40"/>
          <p:cNvSpPr txBox="true"/>
          <p:nvPr/>
        </p:nvSpPr>
        <p:spPr>
          <a:xfrm rot="0">
            <a:off x="13763254" y="3017977"/>
            <a:ext cx="4072404" cy="505254"/>
          </a:xfrm>
          <a:prstGeom prst="rect">
            <a:avLst/>
          </a:prstGeom>
        </p:spPr>
        <p:txBody>
          <a:bodyPr anchor="t" rtlCol="false" tIns="0" lIns="0" bIns="0" rIns="0">
            <a:spAutoFit/>
          </a:bodyPr>
          <a:lstStyle/>
          <a:p>
            <a:pPr algn="ctr">
              <a:lnSpc>
                <a:spcPts val="2341"/>
              </a:lnSpc>
            </a:pPr>
            <a:r>
              <a:rPr lang="en-US" sz="1951" b="true">
                <a:solidFill>
                  <a:srgbClr val="4C1D95"/>
                </a:solidFill>
                <a:latin typeface="Calibri (MS) Bold"/>
                <a:ea typeface="Calibri (MS) Bold"/>
                <a:cs typeface="Calibri (MS) Bold"/>
                <a:sym typeface="Calibri (MS) Bold"/>
              </a:rPr>
              <a:t>4 · Store</a:t>
            </a:r>
          </a:p>
        </p:txBody>
      </p:sp>
      <p:sp>
        <p:nvSpPr>
          <p:cNvPr name="TextBox 41" id="41"/>
          <p:cNvSpPr txBox="true"/>
          <p:nvPr/>
        </p:nvSpPr>
        <p:spPr>
          <a:xfrm rot="0">
            <a:off x="13969155" y="3654723"/>
            <a:ext cx="3660600" cy="3231547"/>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Chunks + vectors + parent_text written to chunks table. doc_meta persists chunk_count and k. If same PDF is re-uploaded, doc_exists() detects the SHA-256 match and skips all of the above.</a:t>
            </a:r>
          </a:p>
        </p:txBody>
      </p:sp>
      <p:grpSp>
        <p:nvGrpSpPr>
          <p:cNvPr name="Group 42" id="42"/>
          <p:cNvGrpSpPr/>
          <p:nvPr/>
        </p:nvGrpSpPr>
        <p:grpSpPr>
          <a:xfrm rot="0">
            <a:off x="13872953" y="7133130"/>
            <a:ext cx="3853015" cy="627231"/>
            <a:chOff x="0" y="0"/>
            <a:chExt cx="5137353" cy="836308"/>
          </a:xfrm>
        </p:grpSpPr>
        <p:sp>
          <p:nvSpPr>
            <p:cNvPr name="Freeform 43" id="43"/>
            <p:cNvSpPr/>
            <p:nvPr/>
          </p:nvSpPr>
          <p:spPr>
            <a:xfrm flipH="false" flipV="false" rot="0">
              <a:off x="6350" y="6350"/>
              <a:ext cx="5124704" cy="823595"/>
            </a:xfrm>
            <a:custGeom>
              <a:avLst/>
              <a:gdLst/>
              <a:ahLst/>
              <a:cxnLst/>
              <a:rect r="r" b="b" t="t" l="l"/>
              <a:pathLst>
                <a:path h="823595" w="5124704">
                  <a:moveTo>
                    <a:pt x="0" y="0"/>
                  </a:moveTo>
                  <a:lnTo>
                    <a:pt x="5124704" y="0"/>
                  </a:lnTo>
                  <a:lnTo>
                    <a:pt x="5124704" y="823595"/>
                  </a:lnTo>
                  <a:lnTo>
                    <a:pt x="0" y="823595"/>
                  </a:lnTo>
                  <a:close/>
                </a:path>
              </a:pathLst>
            </a:custGeom>
            <a:solidFill>
              <a:srgbClr val="FFFFFF"/>
            </a:solidFill>
          </p:spPr>
        </p:sp>
        <p:sp>
          <p:nvSpPr>
            <p:cNvPr name="Freeform 44" id="44"/>
            <p:cNvSpPr/>
            <p:nvPr/>
          </p:nvSpPr>
          <p:spPr>
            <a:xfrm flipH="false" flipV="false" rot="0">
              <a:off x="0" y="0"/>
              <a:ext cx="5137404" cy="836295"/>
            </a:xfrm>
            <a:custGeom>
              <a:avLst/>
              <a:gdLst/>
              <a:ahLst/>
              <a:cxnLst/>
              <a:rect r="r" b="b" t="t" l="l"/>
              <a:pathLst>
                <a:path h="836295" w="5137404">
                  <a:moveTo>
                    <a:pt x="6350" y="0"/>
                  </a:moveTo>
                  <a:lnTo>
                    <a:pt x="5131054" y="0"/>
                  </a:lnTo>
                  <a:cubicBezTo>
                    <a:pt x="5134610" y="0"/>
                    <a:pt x="5137404" y="2794"/>
                    <a:pt x="5137404" y="6350"/>
                  </a:cubicBezTo>
                  <a:lnTo>
                    <a:pt x="5137404" y="829945"/>
                  </a:lnTo>
                  <a:cubicBezTo>
                    <a:pt x="5137404" y="833501"/>
                    <a:pt x="5134610" y="836295"/>
                    <a:pt x="5131054" y="836295"/>
                  </a:cubicBezTo>
                  <a:lnTo>
                    <a:pt x="6350" y="836295"/>
                  </a:lnTo>
                  <a:cubicBezTo>
                    <a:pt x="2794" y="836295"/>
                    <a:pt x="0" y="833501"/>
                    <a:pt x="0" y="829945"/>
                  </a:cubicBezTo>
                  <a:lnTo>
                    <a:pt x="0" y="6350"/>
                  </a:lnTo>
                  <a:cubicBezTo>
                    <a:pt x="0" y="2794"/>
                    <a:pt x="2794" y="0"/>
                    <a:pt x="6350" y="0"/>
                  </a:cubicBezTo>
                  <a:moveTo>
                    <a:pt x="6350" y="12700"/>
                  </a:moveTo>
                  <a:lnTo>
                    <a:pt x="6350" y="6350"/>
                  </a:lnTo>
                  <a:lnTo>
                    <a:pt x="12700" y="6350"/>
                  </a:lnTo>
                  <a:lnTo>
                    <a:pt x="12700" y="829945"/>
                  </a:lnTo>
                  <a:lnTo>
                    <a:pt x="6350" y="829945"/>
                  </a:lnTo>
                  <a:lnTo>
                    <a:pt x="6350" y="823595"/>
                  </a:lnTo>
                  <a:lnTo>
                    <a:pt x="5131054" y="823595"/>
                  </a:lnTo>
                  <a:lnTo>
                    <a:pt x="5131054" y="829945"/>
                  </a:lnTo>
                  <a:lnTo>
                    <a:pt x="5124704" y="829945"/>
                  </a:lnTo>
                  <a:lnTo>
                    <a:pt x="5124704" y="6350"/>
                  </a:lnTo>
                  <a:lnTo>
                    <a:pt x="5131054" y="6350"/>
                  </a:lnTo>
                  <a:lnTo>
                    <a:pt x="5131054" y="12700"/>
                  </a:lnTo>
                  <a:lnTo>
                    <a:pt x="6350" y="12700"/>
                  </a:lnTo>
                  <a:close/>
                </a:path>
              </a:pathLst>
            </a:custGeom>
            <a:solidFill>
              <a:srgbClr val="FFFFFF"/>
            </a:solidFill>
          </p:spPr>
        </p:sp>
      </p:grpSp>
      <p:sp>
        <p:nvSpPr>
          <p:cNvPr name="TextBox 45" id="45"/>
          <p:cNvSpPr txBox="true"/>
          <p:nvPr/>
        </p:nvSpPr>
        <p:spPr>
          <a:xfrm rot="0">
            <a:off x="14037793" y="7251125"/>
            <a:ext cx="3523336" cy="417566"/>
          </a:xfrm>
          <a:prstGeom prst="rect">
            <a:avLst/>
          </a:prstGeom>
        </p:spPr>
        <p:txBody>
          <a:bodyPr anchor="t" rtlCol="false" tIns="0" lIns="0" bIns="0" rIns="0">
            <a:spAutoFit/>
          </a:bodyPr>
          <a:lstStyle/>
          <a:p>
            <a:pPr algn="l">
              <a:lnSpc>
                <a:spcPts val="1621"/>
              </a:lnSpc>
            </a:pPr>
            <a:r>
              <a:rPr lang="en-US" sz="1351">
                <a:solidFill>
                  <a:srgbClr val="5B21B6"/>
                </a:solidFill>
                <a:latin typeface="Calibri (MS)"/>
                <a:ea typeface="Calibri (MS)"/>
                <a:cs typeface="Calibri (MS)"/>
                <a:sym typeface="Calibri (MS)"/>
              </a:rPr>
              <a:t>HNSW index · GIN tsvector index</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PIPELINE DETAIL</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Query flow</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7C3AED"/>
            </a:solidFill>
          </p:spPr>
        </p:sp>
      </p:grpSp>
      <p:grpSp>
        <p:nvGrpSpPr>
          <p:cNvPr name="Group 6" id="6"/>
          <p:cNvGrpSpPr/>
          <p:nvPr/>
        </p:nvGrpSpPr>
        <p:grpSpPr>
          <a:xfrm rot="0">
            <a:off x="404651" y="2257758"/>
            <a:ext cx="17488414" cy="2210572"/>
            <a:chOff x="0" y="0"/>
            <a:chExt cx="23317886" cy="2947429"/>
          </a:xfrm>
        </p:grpSpPr>
        <p:sp>
          <p:nvSpPr>
            <p:cNvPr name="Freeform 7" id="7"/>
            <p:cNvSpPr/>
            <p:nvPr/>
          </p:nvSpPr>
          <p:spPr>
            <a:xfrm flipH="false" flipV="false" rot="0">
              <a:off x="9525" y="9525"/>
              <a:ext cx="23298786" cy="2928366"/>
            </a:xfrm>
            <a:custGeom>
              <a:avLst/>
              <a:gdLst/>
              <a:ahLst/>
              <a:cxnLst/>
              <a:rect r="r" b="b" t="t" l="l"/>
              <a:pathLst>
                <a:path h="2928366" w="23298786">
                  <a:moveTo>
                    <a:pt x="0" y="0"/>
                  </a:moveTo>
                  <a:lnTo>
                    <a:pt x="23298786" y="0"/>
                  </a:lnTo>
                  <a:lnTo>
                    <a:pt x="23298786" y="2928366"/>
                  </a:lnTo>
                  <a:lnTo>
                    <a:pt x="0" y="2928366"/>
                  </a:lnTo>
                  <a:close/>
                </a:path>
              </a:pathLst>
            </a:custGeom>
            <a:solidFill>
              <a:srgbClr val="FFFFFF"/>
            </a:solidFill>
          </p:spPr>
        </p:sp>
        <p:sp>
          <p:nvSpPr>
            <p:cNvPr name="Freeform 8" id="8"/>
            <p:cNvSpPr/>
            <p:nvPr/>
          </p:nvSpPr>
          <p:spPr>
            <a:xfrm flipH="false" flipV="false" rot="0">
              <a:off x="0" y="0"/>
              <a:ext cx="23317836" cy="2947416"/>
            </a:xfrm>
            <a:custGeom>
              <a:avLst/>
              <a:gdLst/>
              <a:ahLst/>
              <a:cxnLst/>
              <a:rect r="r" b="b" t="t" l="l"/>
              <a:pathLst>
                <a:path h="2947416" w="23317836">
                  <a:moveTo>
                    <a:pt x="9525" y="0"/>
                  </a:moveTo>
                  <a:lnTo>
                    <a:pt x="23308311" y="0"/>
                  </a:lnTo>
                  <a:cubicBezTo>
                    <a:pt x="23313518" y="0"/>
                    <a:pt x="23317836" y="4318"/>
                    <a:pt x="23317836" y="9525"/>
                  </a:cubicBezTo>
                  <a:lnTo>
                    <a:pt x="23317836" y="2937891"/>
                  </a:lnTo>
                  <a:cubicBezTo>
                    <a:pt x="23317836" y="2943098"/>
                    <a:pt x="23313518" y="2947416"/>
                    <a:pt x="23308311" y="2947416"/>
                  </a:cubicBezTo>
                  <a:lnTo>
                    <a:pt x="9525" y="2947416"/>
                  </a:lnTo>
                  <a:cubicBezTo>
                    <a:pt x="4318" y="2947416"/>
                    <a:pt x="0" y="2943098"/>
                    <a:pt x="0" y="2937891"/>
                  </a:cubicBezTo>
                  <a:lnTo>
                    <a:pt x="0" y="9525"/>
                  </a:lnTo>
                  <a:cubicBezTo>
                    <a:pt x="0" y="4318"/>
                    <a:pt x="4318" y="0"/>
                    <a:pt x="9525" y="0"/>
                  </a:cubicBezTo>
                  <a:moveTo>
                    <a:pt x="9525" y="19050"/>
                  </a:moveTo>
                  <a:lnTo>
                    <a:pt x="9525" y="9525"/>
                  </a:lnTo>
                  <a:lnTo>
                    <a:pt x="19050" y="9525"/>
                  </a:lnTo>
                  <a:lnTo>
                    <a:pt x="19050" y="2937891"/>
                  </a:lnTo>
                  <a:lnTo>
                    <a:pt x="9525" y="2937891"/>
                  </a:lnTo>
                  <a:lnTo>
                    <a:pt x="9525" y="2928366"/>
                  </a:lnTo>
                  <a:lnTo>
                    <a:pt x="23308311" y="2928366"/>
                  </a:lnTo>
                  <a:lnTo>
                    <a:pt x="23308311" y="2937891"/>
                  </a:lnTo>
                  <a:lnTo>
                    <a:pt x="23298786" y="2937891"/>
                  </a:lnTo>
                  <a:lnTo>
                    <a:pt x="23298786" y="9525"/>
                  </a:lnTo>
                  <a:lnTo>
                    <a:pt x="23308311" y="9525"/>
                  </a:lnTo>
                  <a:lnTo>
                    <a:pt x="23308311" y="19050"/>
                  </a:lnTo>
                  <a:lnTo>
                    <a:pt x="9525" y="19050"/>
                  </a:lnTo>
                  <a:close/>
                </a:path>
              </a:pathLst>
            </a:custGeom>
            <a:solidFill>
              <a:srgbClr val="FFFFFF"/>
            </a:solidFill>
          </p:spPr>
        </p:sp>
      </p:grpSp>
      <p:sp>
        <p:nvSpPr>
          <p:cNvPr name="TextBox 9" id="9"/>
          <p:cNvSpPr txBox="true"/>
          <p:nvPr/>
        </p:nvSpPr>
        <p:spPr>
          <a:xfrm rot="0">
            <a:off x="503244" y="2349570"/>
            <a:ext cx="2974267" cy="583416"/>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10" id="10"/>
          <p:cNvSpPr txBox="true"/>
          <p:nvPr/>
        </p:nvSpPr>
        <p:spPr>
          <a:xfrm rot="0">
            <a:off x="503244" y="2968390"/>
            <a:ext cx="2974267" cy="348939"/>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User question</a:t>
            </a:r>
          </a:p>
        </p:txBody>
      </p:sp>
      <p:sp>
        <p:nvSpPr>
          <p:cNvPr name="TextBox 11" id="11"/>
          <p:cNvSpPr txBox="true"/>
          <p:nvPr/>
        </p:nvSpPr>
        <p:spPr>
          <a:xfrm rot="0">
            <a:off x="503244" y="3380194"/>
            <a:ext cx="2974267" cy="280302"/>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plain text</a:t>
            </a:r>
          </a:p>
        </p:txBody>
      </p:sp>
      <p:sp>
        <p:nvSpPr>
          <p:cNvPr name="TextBox 12" id="12"/>
          <p:cNvSpPr txBox="true"/>
          <p:nvPr/>
        </p:nvSpPr>
        <p:spPr>
          <a:xfrm rot="0">
            <a:off x="3770205" y="2349570"/>
            <a:ext cx="2974267" cy="583416"/>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13" id="13"/>
          <p:cNvSpPr txBox="true"/>
          <p:nvPr/>
        </p:nvSpPr>
        <p:spPr>
          <a:xfrm rot="0">
            <a:off x="3770205" y="2968390"/>
            <a:ext cx="2974267" cy="348939"/>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Embed query</a:t>
            </a:r>
          </a:p>
        </p:txBody>
      </p:sp>
      <p:sp>
        <p:nvSpPr>
          <p:cNvPr name="TextBox 14" id="14"/>
          <p:cNvSpPr txBox="true"/>
          <p:nvPr/>
        </p:nvSpPr>
        <p:spPr>
          <a:xfrm rot="0">
            <a:off x="3770205" y="3380194"/>
            <a:ext cx="2974267" cy="280302"/>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RETRIEVAL_QUERY</a:t>
            </a:r>
          </a:p>
        </p:txBody>
      </p:sp>
      <p:sp>
        <p:nvSpPr>
          <p:cNvPr name="TextBox 15" id="15"/>
          <p:cNvSpPr txBox="true"/>
          <p:nvPr/>
        </p:nvSpPr>
        <p:spPr>
          <a:xfrm rot="0">
            <a:off x="7037165" y="2349570"/>
            <a:ext cx="2974267" cy="583416"/>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16" id="16"/>
          <p:cNvSpPr txBox="true"/>
          <p:nvPr/>
        </p:nvSpPr>
        <p:spPr>
          <a:xfrm rot="0">
            <a:off x="7037165" y="2968390"/>
            <a:ext cx="2974267" cy="348939"/>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Hybrid search</a:t>
            </a:r>
          </a:p>
        </p:txBody>
      </p:sp>
      <p:sp>
        <p:nvSpPr>
          <p:cNvPr name="TextBox 17" id="17"/>
          <p:cNvSpPr txBox="true"/>
          <p:nvPr/>
        </p:nvSpPr>
        <p:spPr>
          <a:xfrm rot="0">
            <a:off x="7037165" y="3380194"/>
            <a:ext cx="2974267" cy="280302"/>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BM25 + vector RRF</a:t>
            </a:r>
          </a:p>
        </p:txBody>
      </p:sp>
      <p:sp>
        <p:nvSpPr>
          <p:cNvPr name="TextBox 18" id="18"/>
          <p:cNvSpPr txBox="true"/>
          <p:nvPr/>
        </p:nvSpPr>
        <p:spPr>
          <a:xfrm rot="0">
            <a:off x="10304126" y="2349570"/>
            <a:ext cx="2974267" cy="583416"/>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19" id="19"/>
          <p:cNvSpPr txBox="true"/>
          <p:nvPr/>
        </p:nvSpPr>
        <p:spPr>
          <a:xfrm rot="0">
            <a:off x="10304126" y="2968390"/>
            <a:ext cx="2974267" cy="348939"/>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Re-rank</a:t>
            </a:r>
          </a:p>
        </p:txBody>
      </p:sp>
      <p:sp>
        <p:nvSpPr>
          <p:cNvPr name="TextBox 20" id="20"/>
          <p:cNvSpPr txBox="true"/>
          <p:nvPr/>
        </p:nvSpPr>
        <p:spPr>
          <a:xfrm rot="0">
            <a:off x="10304126" y="3380194"/>
            <a:ext cx="2974267" cy="280302"/>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Gemini · top k/2</a:t>
            </a:r>
          </a:p>
        </p:txBody>
      </p:sp>
      <p:sp>
        <p:nvSpPr>
          <p:cNvPr name="TextBox 21" id="21"/>
          <p:cNvSpPr txBox="true"/>
          <p:nvPr/>
        </p:nvSpPr>
        <p:spPr>
          <a:xfrm rot="0">
            <a:off x="13571087" y="2349570"/>
            <a:ext cx="2974267" cy="583416"/>
          </a:xfrm>
          <a:prstGeom prst="rect">
            <a:avLst/>
          </a:prstGeom>
        </p:spPr>
        <p:txBody>
          <a:bodyPr anchor="t" rtlCol="false" tIns="0" lIns="0" bIns="0" rIns="0">
            <a:spAutoFit/>
          </a:bodyPr>
          <a:lstStyle/>
          <a:p>
            <a:pPr algn="ctr">
              <a:lnSpc>
                <a:spcPts val="3242"/>
              </a:lnSpc>
            </a:pPr>
            <a:r>
              <a:rPr lang="en-US" sz="2702">
                <a:solidFill>
                  <a:srgbClr val="4C1D95"/>
                </a:solidFill>
                <a:latin typeface="Calibri (MS)"/>
                <a:ea typeface="Calibri (MS)"/>
                <a:cs typeface="Calibri (MS)"/>
                <a:sym typeface="Calibri (MS)"/>
              </a:rPr>
              <a:t>📎</a:t>
            </a:r>
          </a:p>
        </p:txBody>
      </p:sp>
      <p:sp>
        <p:nvSpPr>
          <p:cNvPr name="TextBox 22" id="22"/>
          <p:cNvSpPr txBox="true"/>
          <p:nvPr/>
        </p:nvSpPr>
        <p:spPr>
          <a:xfrm rot="0">
            <a:off x="13571087" y="2968390"/>
            <a:ext cx="2974267" cy="348939"/>
          </a:xfrm>
          <a:prstGeom prst="rect">
            <a:avLst/>
          </a:prstGeom>
        </p:spPr>
        <p:txBody>
          <a:bodyPr anchor="t" rtlCol="false" tIns="0" lIns="0" bIns="0" rIns="0">
            <a:spAutoFit/>
          </a:bodyPr>
          <a:lstStyle/>
          <a:p>
            <a:pPr algn="ctr">
              <a:lnSpc>
                <a:spcPts val="1981"/>
              </a:lnSpc>
            </a:pPr>
            <a:r>
              <a:rPr lang="en-US" sz="1651" b="true">
                <a:solidFill>
                  <a:srgbClr val="4C1D95"/>
                </a:solidFill>
                <a:latin typeface="Calibri (MS) Bold"/>
                <a:ea typeface="Calibri (MS) Bold"/>
                <a:cs typeface="Calibri (MS) Bold"/>
                <a:sym typeface="Calibri (MS) Bold"/>
              </a:rPr>
              <a:t>Stream answer</a:t>
            </a:r>
          </a:p>
        </p:txBody>
      </p:sp>
      <p:sp>
        <p:nvSpPr>
          <p:cNvPr name="TextBox 23" id="23"/>
          <p:cNvSpPr txBox="true"/>
          <p:nvPr/>
        </p:nvSpPr>
        <p:spPr>
          <a:xfrm rot="0">
            <a:off x="13571087" y="3380194"/>
            <a:ext cx="2974267" cy="280302"/>
          </a:xfrm>
          <a:prstGeom prst="rect">
            <a:avLst/>
          </a:prstGeom>
        </p:spPr>
        <p:txBody>
          <a:bodyPr anchor="t" rtlCol="false" tIns="0" lIns="0" bIns="0" rIns="0">
            <a:spAutoFit/>
          </a:bodyPr>
          <a:lstStyle/>
          <a:p>
            <a:pPr algn="ctr">
              <a:lnSpc>
                <a:spcPts val="1621"/>
              </a:lnSpc>
            </a:pPr>
            <a:r>
              <a:rPr lang="en-US" sz="1351">
                <a:solidFill>
                  <a:srgbClr val="7C3AED"/>
                </a:solidFill>
                <a:latin typeface="Calibri (MS)"/>
                <a:ea typeface="Calibri (MS)"/>
                <a:cs typeface="Calibri (MS)"/>
                <a:sym typeface="Calibri (MS)"/>
              </a:rPr>
              <a:t>SSE + citations</a:t>
            </a:r>
          </a:p>
        </p:txBody>
      </p:sp>
      <p:grpSp>
        <p:nvGrpSpPr>
          <p:cNvPr name="Group 24" id="24"/>
          <p:cNvGrpSpPr/>
          <p:nvPr/>
        </p:nvGrpSpPr>
        <p:grpSpPr>
          <a:xfrm rot="0">
            <a:off x="404651" y="4797200"/>
            <a:ext cx="8387601" cy="2759640"/>
            <a:chOff x="0" y="0"/>
            <a:chExt cx="11183468" cy="3679520"/>
          </a:xfrm>
        </p:grpSpPr>
        <p:sp>
          <p:nvSpPr>
            <p:cNvPr name="Freeform 25" id="25"/>
            <p:cNvSpPr/>
            <p:nvPr/>
          </p:nvSpPr>
          <p:spPr>
            <a:xfrm flipH="false" flipV="false" rot="0">
              <a:off x="9525" y="9525"/>
              <a:ext cx="11164443" cy="3660521"/>
            </a:xfrm>
            <a:custGeom>
              <a:avLst/>
              <a:gdLst/>
              <a:ahLst/>
              <a:cxnLst/>
              <a:rect r="r" b="b" t="t" l="l"/>
              <a:pathLst>
                <a:path h="3660521" w="11164443">
                  <a:moveTo>
                    <a:pt x="0" y="0"/>
                  </a:moveTo>
                  <a:lnTo>
                    <a:pt x="11164443" y="0"/>
                  </a:lnTo>
                  <a:lnTo>
                    <a:pt x="11164443" y="3660521"/>
                  </a:lnTo>
                  <a:lnTo>
                    <a:pt x="0" y="3660521"/>
                  </a:lnTo>
                  <a:close/>
                </a:path>
              </a:pathLst>
            </a:custGeom>
            <a:solidFill>
              <a:srgbClr val="FFFFFF"/>
            </a:solidFill>
          </p:spPr>
        </p:sp>
        <p:sp>
          <p:nvSpPr>
            <p:cNvPr name="Freeform 26" id="26"/>
            <p:cNvSpPr/>
            <p:nvPr/>
          </p:nvSpPr>
          <p:spPr>
            <a:xfrm flipH="false" flipV="false" rot="0">
              <a:off x="0" y="0"/>
              <a:ext cx="11183493" cy="3679571"/>
            </a:xfrm>
            <a:custGeom>
              <a:avLst/>
              <a:gdLst/>
              <a:ahLst/>
              <a:cxnLst/>
              <a:rect r="r" b="b" t="t" l="l"/>
              <a:pathLst>
                <a:path h="3679571" w="11183493">
                  <a:moveTo>
                    <a:pt x="9525" y="0"/>
                  </a:moveTo>
                  <a:lnTo>
                    <a:pt x="11173968" y="0"/>
                  </a:lnTo>
                  <a:cubicBezTo>
                    <a:pt x="11179175" y="0"/>
                    <a:pt x="11183493" y="4318"/>
                    <a:pt x="11183493" y="9525"/>
                  </a:cubicBezTo>
                  <a:lnTo>
                    <a:pt x="11183493" y="3670046"/>
                  </a:lnTo>
                  <a:cubicBezTo>
                    <a:pt x="11183493" y="3675253"/>
                    <a:pt x="11179175" y="3679571"/>
                    <a:pt x="11173968" y="3679571"/>
                  </a:cubicBezTo>
                  <a:lnTo>
                    <a:pt x="9525" y="3679571"/>
                  </a:lnTo>
                  <a:cubicBezTo>
                    <a:pt x="4318" y="3679571"/>
                    <a:pt x="0" y="3675253"/>
                    <a:pt x="0" y="3670046"/>
                  </a:cubicBezTo>
                  <a:lnTo>
                    <a:pt x="0" y="9525"/>
                  </a:lnTo>
                  <a:cubicBezTo>
                    <a:pt x="0" y="4318"/>
                    <a:pt x="4318" y="0"/>
                    <a:pt x="9525" y="0"/>
                  </a:cubicBezTo>
                  <a:moveTo>
                    <a:pt x="9525" y="19050"/>
                  </a:moveTo>
                  <a:lnTo>
                    <a:pt x="9525" y="9525"/>
                  </a:lnTo>
                  <a:lnTo>
                    <a:pt x="19050" y="9525"/>
                  </a:lnTo>
                  <a:lnTo>
                    <a:pt x="19050" y="3670046"/>
                  </a:lnTo>
                  <a:lnTo>
                    <a:pt x="9525" y="3670046"/>
                  </a:lnTo>
                  <a:lnTo>
                    <a:pt x="9525" y="3660521"/>
                  </a:lnTo>
                  <a:lnTo>
                    <a:pt x="11173968" y="3660521"/>
                  </a:lnTo>
                  <a:lnTo>
                    <a:pt x="11173968" y="3670046"/>
                  </a:lnTo>
                  <a:lnTo>
                    <a:pt x="11164443" y="3670046"/>
                  </a:lnTo>
                  <a:lnTo>
                    <a:pt x="11164443" y="9525"/>
                  </a:lnTo>
                  <a:lnTo>
                    <a:pt x="11173968" y="9525"/>
                  </a:lnTo>
                  <a:lnTo>
                    <a:pt x="11173968" y="19050"/>
                  </a:lnTo>
                  <a:lnTo>
                    <a:pt x="9525" y="19050"/>
                  </a:lnTo>
                  <a:close/>
                </a:path>
              </a:pathLst>
            </a:custGeom>
            <a:solidFill>
              <a:srgbClr val="FFFFFF"/>
            </a:solidFill>
          </p:spPr>
        </p:sp>
      </p:grpSp>
      <p:sp>
        <p:nvSpPr>
          <p:cNvPr name="TextBox 27" id="27"/>
          <p:cNvSpPr txBox="true"/>
          <p:nvPr/>
        </p:nvSpPr>
        <p:spPr>
          <a:xfrm rot="0">
            <a:off x="777773" y="5008350"/>
            <a:ext cx="7641355" cy="436616"/>
          </a:xfrm>
          <a:prstGeom prst="rect">
            <a:avLst/>
          </a:prstGeom>
        </p:spPr>
        <p:txBody>
          <a:bodyPr anchor="t" rtlCol="false" tIns="0" lIns="0" bIns="0" rIns="0">
            <a:spAutoFit/>
          </a:bodyPr>
          <a:lstStyle/>
          <a:p>
            <a:pPr algn="l">
              <a:lnSpc>
                <a:spcPts val="2341"/>
              </a:lnSpc>
            </a:pPr>
            <a:r>
              <a:rPr lang="en-US" sz="1951" b="true">
                <a:solidFill>
                  <a:srgbClr val="7C3AED"/>
                </a:solidFill>
                <a:latin typeface="Calibri (MS) Bold"/>
                <a:ea typeface="Calibri (MS) Bold"/>
                <a:cs typeface="Calibri (MS) Bold"/>
                <a:sym typeface="Calibri (MS) Bold"/>
              </a:rPr>
              <a:t>System prompt</a:t>
            </a:r>
          </a:p>
        </p:txBody>
      </p:sp>
      <p:sp>
        <p:nvSpPr>
          <p:cNvPr name="TextBox 28" id="28"/>
          <p:cNvSpPr txBox="true"/>
          <p:nvPr/>
        </p:nvSpPr>
        <p:spPr>
          <a:xfrm rot="0">
            <a:off x="777773" y="5576468"/>
            <a:ext cx="7641355" cy="1721606"/>
          </a:xfrm>
          <a:prstGeom prst="rect">
            <a:avLst/>
          </a:prstGeom>
        </p:spPr>
        <p:txBody>
          <a:bodyPr anchor="t" rtlCol="false" tIns="0" lIns="0" bIns="0" rIns="0">
            <a:spAutoFit/>
          </a:bodyPr>
          <a:lstStyle/>
          <a:p>
            <a:pPr algn="l">
              <a:lnSpc>
                <a:spcPts val="1981"/>
              </a:lnSpc>
            </a:pPr>
            <a:r>
              <a:rPr lang="en-US" sz="1651" i="true">
                <a:solidFill>
                  <a:srgbClr val="7C3AED"/>
                </a:solidFill>
                <a:latin typeface="Calibri (MS) Italics"/>
                <a:ea typeface="Calibri (MS) Italics"/>
                <a:cs typeface="Calibri (MS) Italics"/>
                <a:sym typeface="Calibri (MS) Italics"/>
              </a:rPr>
              <a:t>"Answer using ONLY the provided context. If insufficient: "I don't know." Cite sources as [Chunk N] inline."</a:t>
            </a:r>
          </a:p>
        </p:txBody>
      </p:sp>
      <p:grpSp>
        <p:nvGrpSpPr>
          <p:cNvPr name="Group 29" id="29"/>
          <p:cNvGrpSpPr/>
          <p:nvPr/>
        </p:nvGrpSpPr>
        <p:grpSpPr>
          <a:xfrm rot="0">
            <a:off x="9230935" y="4797200"/>
            <a:ext cx="8662130" cy="2759640"/>
            <a:chOff x="0" y="0"/>
            <a:chExt cx="11549507" cy="3679520"/>
          </a:xfrm>
        </p:grpSpPr>
        <p:sp>
          <p:nvSpPr>
            <p:cNvPr name="Freeform 30" id="30"/>
            <p:cNvSpPr/>
            <p:nvPr/>
          </p:nvSpPr>
          <p:spPr>
            <a:xfrm flipH="false" flipV="false" rot="0">
              <a:off x="9525" y="9525"/>
              <a:ext cx="11530457" cy="3660521"/>
            </a:xfrm>
            <a:custGeom>
              <a:avLst/>
              <a:gdLst/>
              <a:ahLst/>
              <a:cxnLst/>
              <a:rect r="r" b="b" t="t" l="l"/>
              <a:pathLst>
                <a:path h="3660521" w="11530457">
                  <a:moveTo>
                    <a:pt x="0" y="0"/>
                  </a:moveTo>
                  <a:lnTo>
                    <a:pt x="11530457" y="0"/>
                  </a:lnTo>
                  <a:lnTo>
                    <a:pt x="11530457" y="3660521"/>
                  </a:lnTo>
                  <a:lnTo>
                    <a:pt x="0" y="3660521"/>
                  </a:lnTo>
                  <a:close/>
                </a:path>
              </a:pathLst>
            </a:custGeom>
            <a:solidFill>
              <a:srgbClr val="FFFFFF"/>
            </a:solidFill>
          </p:spPr>
        </p:sp>
        <p:sp>
          <p:nvSpPr>
            <p:cNvPr name="Freeform 31" id="31"/>
            <p:cNvSpPr/>
            <p:nvPr/>
          </p:nvSpPr>
          <p:spPr>
            <a:xfrm flipH="false" flipV="false" rot="0">
              <a:off x="0" y="0"/>
              <a:ext cx="11549507" cy="3679571"/>
            </a:xfrm>
            <a:custGeom>
              <a:avLst/>
              <a:gdLst/>
              <a:ahLst/>
              <a:cxnLst/>
              <a:rect r="r" b="b" t="t" l="l"/>
              <a:pathLst>
                <a:path h="3679571" w="11549507">
                  <a:moveTo>
                    <a:pt x="9525" y="0"/>
                  </a:moveTo>
                  <a:lnTo>
                    <a:pt x="11539982" y="0"/>
                  </a:lnTo>
                  <a:cubicBezTo>
                    <a:pt x="11545188" y="0"/>
                    <a:pt x="11549507" y="4318"/>
                    <a:pt x="11549507" y="9525"/>
                  </a:cubicBezTo>
                  <a:lnTo>
                    <a:pt x="11549507" y="3670046"/>
                  </a:lnTo>
                  <a:cubicBezTo>
                    <a:pt x="11549507" y="3675253"/>
                    <a:pt x="11545188" y="3679571"/>
                    <a:pt x="11539982" y="3679571"/>
                  </a:cubicBezTo>
                  <a:lnTo>
                    <a:pt x="9525" y="3679571"/>
                  </a:lnTo>
                  <a:cubicBezTo>
                    <a:pt x="4318" y="3679571"/>
                    <a:pt x="0" y="3675253"/>
                    <a:pt x="0" y="3670046"/>
                  </a:cubicBezTo>
                  <a:lnTo>
                    <a:pt x="0" y="9525"/>
                  </a:lnTo>
                  <a:cubicBezTo>
                    <a:pt x="0" y="4318"/>
                    <a:pt x="4318" y="0"/>
                    <a:pt x="9525" y="0"/>
                  </a:cubicBezTo>
                  <a:moveTo>
                    <a:pt x="9525" y="19050"/>
                  </a:moveTo>
                  <a:lnTo>
                    <a:pt x="9525" y="9525"/>
                  </a:lnTo>
                  <a:lnTo>
                    <a:pt x="19050" y="9525"/>
                  </a:lnTo>
                  <a:lnTo>
                    <a:pt x="19050" y="3670046"/>
                  </a:lnTo>
                  <a:lnTo>
                    <a:pt x="9525" y="3670046"/>
                  </a:lnTo>
                  <a:lnTo>
                    <a:pt x="9525" y="3660521"/>
                  </a:lnTo>
                  <a:lnTo>
                    <a:pt x="11539982" y="3660521"/>
                  </a:lnTo>
                  <a:lnTo>
                    <a:pt x="11539982" y="3670046"/>
                  </a:lnTo>
                  <a:lnTo>
                    <a:pt x="11530457" y="3670046"/>
                  </a:lnTo>
                  <a:lnTo>
                    <a:pt x="11530457" y="9525"/>
                  </a:lnTo>
                  <a:lnTo>
                    <a:pt x="11539982" y="9525"/>
                  </a:lnTo>
                  <a:lnTo>
                    <a:pt x="11539982" y="19050"/>
                  </a:lnTo>
                  <a:lnTo>
                    <a:pt x="9525" y="19050"/>
                  </a:lnTo>
                  <a:close/>
                </a:path>
              </a:pathLst>
            </a:custGeom>
            <a:solidFill>
              <a:srgbClr val="FFFFFF"/>
            </a:solidFill>
          </p:spPr>
        </p:sp>
      </p:grpSp>
      <p:sp>
        <p:nvSpPr>
          <p:cNvPr name="TextBox 32" id="32"/>
          <p:cNvSpPr txBox="true"/>
          <p:nvPr/>
        </p:nvSpPr>
        <p:spPr>
          <a:xfrm rot="0">
            <a:off x="9604057" y="5008350"/>
            <a:ext cx="7915885" cy="436616"/>
          </a:xfrm>
          <a:prstGeom prst="rect">
            <a:avLst/>
          </a:prstGeom>
        </p:spPr>
        <p:txBody>
          <a:bodyPr anchor="t" rtlCol="false" tIns="0" lIns="0" bIns="0" rIns="0">
            <a:spAutoFit/>
          </a:bodyPr>
          <a:lstStyle/>
          <a:p>
            <a:pPr algn="l">
              <a:lnSpc>
                <a:spcPts val="2341"/>
              </a:lnSpc>
            </a:pPr>
            <a:r>
              <a:rPr lang="en-US" sz="1951" b="true">
                <a:solidFill>
                  <a:srgbClr val="059669"/>
                </a:solidFill>
                <a:latin typeface="Calibri (MS) Bold"/>
                <a:ea typeface="Calibri (MS) Bold"/>
                <a:cs typeface="Calibri (MS) Bold"/>
                <a:sym typeface="Calibri (MS) Bold"/>
              </a:rPr>
              <a:t>Grounding guarantee</a:t>
            </a:r>
          </a:p>
        </p:txBody>
      </p:sp>
      <p:sp>
        <p:nvSpPr>
          <p:cNvPr name="TextBox 33" id="33"/>
          <p:cNvSpPr txBox="true"/>
          <p:nvPr/>
        </p:nvSpPr>
        <p:spPr>
          <a:xfrm rot="0">
            <a:off x="9604057" y="5576468"/>
            <a:ext cx="7915885" cy="1721606"/>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If pgvector returns zero results, the answer is short-circuited to 'I don't know.' before the LLM is called — no hallucination possible on empty retrieval.</a:t>
            </a:r>
          </a:p>
        </p:txBody>
      </p:sp>
      <p:sp>
        <p:nvSpPr>
          <p:cNvPr name="TextBox 34" id="34"/>
          <p:cNvSpPr txBox="true"/>
          <p:nvPr/>
        </p:nvSpPr>
        <p:spPr>
          <a:xfrm rot="0">
            <a:off x="503244" y="7841380"/>
            <a:ext cx="17291237" cy="486204"/>
          </a:xfrm>
          <a:prstGeom prst="rect">
            <a:avLst/>
          </a:prstGeom>
        </p:spPr>
        <p:txBody>
          <a:bodyPr anchor="t" rtlCol="false" tIns="0" lIns="0" bIns="0" rIns="0">
            <a:spAutoFit/>
          </a:bodyPr>
          <a:lstStyle/>
          <a:p>
            <a:pPr algn="ctr">
              <a:lnSpc>
                <a:spcPts val="1981"/>
              </a:lnSpc>
            </a:pPr>
            <a:r>
              <a:rPr lang="en-US" sz="1651">
                <a:solidFill>
                  <a:srgbClr val="7C3AED"/>
                </a:solidFill>
                <a:latin typeface="Calibri (MS)"/>
                <a:ea typeface="Calibri (MS)"/>
                <a:cs typeface="Calibri (MS)"/>
                <a:sym typeface="Calibri (MS)"/>
              </a:rPr>
              <a:t>Both ingest progress and answer tokens stream via Server-Sent Events — no polling, real-time UI updates.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KEY FEATURE</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Auto-scaled chunk size &amp; k</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A78BFA"/>
            </a:solidFill>
          </p:spPr>
        </p:sp>
      </p:grpSp>
      <p:sp>
        <p:nvSpPr>
          <p:cNvPr name="TextBox 6" id="6"/>
          <p:cNvSpPr txBox="true"/>
          <p:nvPr/>
        </p:nvSpPr>
        <p:spPr>
          <a:xfrm rot="0">
            <a:off x="915048" y="2057105"/>
            <a:ext cx="16467639" cy="711156"/>
          </a:xfrm>
          <a:prstGeom prst="rect">
            <a:avLst/>
          </a:prstGeom>
        </p:spPr>
        <p:txBody>
          <a:bodyPr anchor="t" rtlCol="false" tIns="0" lIns="0" bIns="0" rIns="0">
            <a:spAutoFit/>
          </a:bodyPr>
          <a:lstStyle/>
          <a:p>
            <a:pPr algn="l">
              <a:lnSpc>
                <a:spcPts val="2341"/>
              </a:lnSpc>
            </a:pPr>
            <a:r>
              <a:rPr lang="en-US" sz="1951">
                <a:solidFill>
                  <a:srgbClr val="7C3AED"/>
                </a:solidFill>
                <a:latin typeface="Calibri (MS)"/>
                <a:ea typeface="Calibri (MS)"/>
                <a:cs typeface="Calibri (MS)"/>
                <a:sym typeface="Calibri (MS)"/>
              </a:rPr>
              <a:t>A fixed chunk size performs poorly at both extremes. compute_params(total_tokens) selects both values from five tiers — the chosen k is persisted to doc_meta and restored on server restart.</a:t>
            </a:r>
          </a:p>
        </p:txBody>
      </p:sp>
      <p:grpSp>
        <p:nvGrpSpPr>
          <p:cNvPr name="Group 7" id="7"/>
          <p:cNvGrpSpPr/>
          <p:nvPr/>
        </p:nvGrpSpPr>
        <p:grpSpPr>
          <a:xfrm rot="0">
            <a:off x="816454" y="2944092"/>
            <a:ext cx="16664816" cy="6671758"/>
            <a:chOff x="0" y="0"/>
            <a:chExt cx="22219755" cy="8895677"/>
          </a:xfrm>
        </p:grpSpPr>
        <p:sp>
          <p:nvSpPr>
            <p:cNvPr name="Freeform 8" id="8"/>
            <p:cNvSpPr/>
            <p:nvPr/>
          </p:nvSpPr>
          <p:spPr>
            <a:xfrm flipH="false" flipV="false" rot="0">
              <a:off x="9525" y="9525"/>
              <a:ext cx="22200743" cy="8876665"/>
            </a:xfrm>
            <a:custGeom>
              <a:avLst/>
              <a:gdLst/>
              <a:ahLst/>
              <a:cxnLst/>
              <a:rect r="r" b="b" t="t" l="l"/>
              <a:pathLst>
                <a:path h="8876665" w="22200743">
                  <a:moveTo>
                    <a:pt x="0" y="0"/>
                  </a:moveTo>
                  <a:lnTo>
                    <a:pt x="22200743" y="0"/>
                  </a:lnTo>
                  <a:lnTo>
                    <a:pt x="22200743" y="8876665"/>
                  </a:lnTo>
                  <a:lnTo>
                    <a:pt x="0" y="8876665"/>
                  </a:lnTo>
                  <a:close/>
                </a:path>
              </a:pathLst>
            </a:custGeom>
            <a:solidFill>
              <a:srgbClr val="FFFFFF"/>
            </a:solidFill>
          </p:spPr>
        </p:sp>
        <p:sp>
          <p:nvSpPr>
            <p:cNvPr name="Freeform 9" id="9"/>
            <p:cNvSpPr/>
            <p:nvPr/>
          </p:nvSpPr>
          <p:spPr>
            <a:xfrm flipH="false" flipV="false" rot="0">
              <a:off x="0" y="0"/>
              <a:ext cx="22219793" cy="8895715"/>
            </a:xfrm>
            <a:custGeom>
              <a:avLst/>
              <a:gdLst/>
              <a:ahLst/>
              <a:cxnLst/>
              <a:rect r="r" b="b" t="t" l="l"/>
              <a:pathLst>
                <a:path h="8895715" w="22219793">
                  <a:moveTo>
                    <a:pt x="9525" y="0"/>
                  </a:moveTo>
                  <a:lnTo>
                    <a:pt x="22210268" y="0"/>
                  </a:lnTo>
                  <a:cubicBezTo>
                    <a:pt x="22215475" y="0"/>
                    <a:pt x="22219793" y="4318"/>
                    <a:pt x="22219793" y="9525"/>
                  </a:cubicBezTo>
                  <a:lnTo>
                    <a:pt x="22219793" y="8886190"/>
                  </a:lnTo>
                  <a:cubicBezTo>
                    <a:pt x="22219793" y="8891397"/>
                    <a:pt x="22215475" y="8895715"/>
                    <a:pt x="22210268" y="8895715"/>
                  </a:cubicBezTo>
                  <a:lnTo>
                    <a:pt x="9525" y="8895715"/>
                  </a:lnTo>
                  <a:cubicBezTo>
                    <a:pt x="4318" y="8895715"/>
                    <a:pt x="0" y="8891397"/>
                    <a:pt x="0" y="8886190"/>
                  </a:cubicBezTo>
                  <a:lnTo>
                    <a:pt x="0" y="9525"/>
                  </a:lnTo>
                  <a:cubicBezTo>
                    <a:pt x="0" y="4318"/>
                    <a:pt x="4318" y="0"/>
                    <a:pt x="9525" y="0"/>
                  </a:cubicBezTo>
                  <a:moveTo>
                    <a:pt x="9525" y="19050"/>
                  </a:moveTo>
                  <a:lnTo>
                    <a:pt x="9525" y="9525"/>
                  </a:lnTo>
                  <a:lnTo>
                    <a:pt x="19050" y="9525"/>
                  </a:lnTo>
                  <a:lnTo>
                    <a:pt x="19050" y="8886190"/>
                  </a:lnTo>
                  <a:lnTo>
                    <a:pt x="9525" y="8886190"/>
                  </a:lnTo>
                  <a:lnTo>
                    <a:pt x="9525" y="8876665"/>
                  </a:lnTo>
                  <a:lnTo>
                    <a:pt x="22210268" y="8876665"/>
                  </a:lnTo>
                  <a:lnTo>
                    <a:pt x="22210268" y="8886190"/>
                  </a:lnTo>
                  <a:lnTo>
                    <a:pt x="22200743" y="8886190"/>
                  </a:lnTo>
                  <a:lnTo>
                    <a:pt x="22200743" y="9525"/>
                  </a:lnTo>
                  <a:lnTo>
                    <a:pt x="22210268" y="9525"/>
                  </a:lnTo>
                  <a:lnTo>
                    <a:pt x="22210268" y="19050"/>
                  </a:lnTo>
                  <a:lnTo>
                    <a:pt x="9525" y="19050"/>
                  </a:lnTo>
                  <a:close/>
                </a:path>
              </a:pathLst>
            </a:custGeom>
            <a:solidFill>
              <a:srgbClr val="FFFFFF"/>
            </a:solidFill>
          </p:spPr>
        </p:sp>
      </p:grpSp>
      <p:sp>
        <p:nvSpPr>
          <p:cNvPr name="TextBox 10" id="10"/>
          <p:cNvSpPr txBox="true"/>
          <p:nvPr/>
        </p:nvSpPr>
        <p:spPr>
          <a:xfrm rot="0">
            <a:off x="1120940" y="3096130"/>
            <a:ext cx="242519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Document size</a:t>
            </a:r>
          </a:p>
        </p:txBody>
      </p:sp>
      <p:sp>
        <p:nvSpPr>
          <p:cNvPr name="TextBox 11" id="11"/>
          <p:cNvSpPr txBox="true"/>
          <p:nvPr/>
        </p:nvSpPr>
        <p:spPr>
          <a:xfrm rot="0">
            <a:off x="3934920" y="3096130"/>
            <a:ext cx="2150659"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Token range</a:t>
            </a:r>
          </a:p>
        </p:txBody>
      </p:sp>
      <p:sp>
        <p:nvSpPr>
          <p:cNvPr name="TextBox 12" id="12"/>
          <p:cNvSpPr txBox="true"/>
          <p:nvPr/>
        </p:nvSpPr>
        <p:spPr>
          <a:xfrm rot="0">
            <a:off x="6542999" y="3096130"/>
            <a:ext cx="1189796"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chunk_size</a:t>
            </a:r>
          </a:p>
        </p:txBody>
      </p:sp>
      <p:sp>
        <p:nvSpPr>
          <p:cNvPr name="TextBox 13" id="13"/>
          <p:cNvSpPr txBox="true"/>
          <p:nvPr/>
        </p:nvSpPr>
        <p:spPr>
          <a:xfrm rot="0">
            <a:off x="8190205" y="3096130"/>
            <a:ext cx="1189796"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k retrieved</a:t>
            </a:r>
          </a:p>
        </p:txBody>
      </p:sp>
      <p:sp>
        <p:nvSpPr>
          <p:cNvPr name="TextBox 14" id="14"/>
          <p:cNvSpPr txBox="true"/>
          <p:nvPr/>
        </p:nvSpPr>
        <p:spPr>
          <a:xfrm rot="0">
            <a:off x="9837410" y="3096130"/>
            <a:ext cx="7092286"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Rationale</a:t>
            </a:r>
          </a:p>
        </p:txBody>
      </p:sp>
      <p:sp>
        <p:nvSpPr>
          <p:cNvPr name="TextBox 15" id="15"/>
          <p:cNvSpPr txBox="true"/>
          <p:nvPr/>
        </p:nvSpPr>
        <p:spPr>
          <a:xfrm rot="0">
            <a:off x="1120940" y="3713836"/>
            <a:ext cx="2425198" cy="632993"/>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Tiny  (&lt;20 pages)</a:t>
            </a:r>
          </a:p>
        </p:txBody>
      </p:sp>
      <p:sp>
        <p:nvSpPr>
          <p:cNvPr name="TextBox 16" id="16"/>
          <p:cNvSpPr txBox="true"/>
          <p:nvPr/>
        </p:nvSpPr>
        <p:spPr>
          <a:xfrm rot="0">
            <a:off x="3934920" y="3713836"/>
            <a:ext cx="2150659"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&lt; 10 K</a:t>
            </a:r>
          </a:p>
        </p:txBody>
      </p:sp>
      <p:sp>
        <p:nvSpPr>
          <p:cNvPr name="TextBox 17" id="17"/>
          <p:cNvSpPr txBox="true"/>
          <p:nvPr/>
        </p:nvSpPr>
        <p:spPr>
          <a:xfrm rot="0">
            <a:off x="6542999" y="3713836"/>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256</a:t>
            </a:r>
          </a:p>
        </p:txBody>
      </p:sp>
      <p:sp>
        <p:nvSpPr>
          <p:cNvPr name="TextBox 18" id="18"/>
          <p:cNvSpPr txBox="true"/>
          <p:nvPr/>
        </p:nvSpPr>
        <p:spPr>
          <a:xfrm rot="0">
            <a:off x="8190205" y="3713836"/>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5</a:t>
            </a:r>
          </a:p>
        </p:txBody>
      </p:sp>
      <p:sp>
        <p:nvSpPr>
          <p:cNvPr name="TextBox 19" id="19"/>
          <p:cNvSpPr txBox="true"/>
          <p:nvPr/>
        </p:nvSpPr>
        <p:spPr>
          <a:xfrm rot="0">
            <a:off x="9837410" y="3713836"/>
            <a:ext cx="709228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Tight chunks; few results enough</a:t>
            </a:r>
          </a:p>
        </p:txBody>
      </p:sp>
      <p:sp>
        <p:nvSpPr>
          <p:cNvPr name="TextBox 20" id="20"/>
          <p:cNvSpPr txBox="true"/>
          <p:nvPr/>
        </p:nvSpPr>
        <p:spPr>
          <a:xfrm rot="0">
            <a:off x="1120940" y="4564894"/>
            <a:ext cx="2425198" cy="632993"/>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Small (20–100 p)</a:t>
            </a:r>
          </a:p>
        </p:txBody>
      </p:sp>
      <p:sp>
        <p:nvSpPr>
          <p:cNvPr name="TextBox 21" id="21"/>
          <p:cNvSpPr txBox="true"/>
          <p:nvPr/>
        </p:nvSpPr>
        <p:spPr>
          <a:xfrm rot="0">
            <a:off x="3934920" y="4564894"/>
            <a:ext cx="2150659"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&lt; 50 K</a:t>
            </a:r>
          </a:p>
        </p:txBody>
      </p:sp>
      <p:sp>
        <p:nvSpPr>
          <p:cNvPr name="TextBox 22" id="22"/>
          <p:cNvSpPr txBox="true"/>
          <p:nvPr/>
        </p:nvSpPr>
        <p:spPr>
          <a:xfrm rot="0">
            <a:off x="6542999" y="4564894"/>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384</a:t>
            </a:r>
          </a:p>
        </p:txBody>
      </p:sp>
      <p:sp>
        <p:nvSpPr>
          <p:cNvPr name="TextBox 23" id="23"/>
          <p:cNvSpPr txBox="true"/>
          <p:nvPr/>
        </p:nvSpPr>
        <p:spPr>
          <a:xfrm rot="0">
            <a:off x="8190205" y="4564894"/>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8</a:t>
            </a:r>
          </a:p>
        </p:txBody>
      </p:sp>
      <p:sp>
        <p:nvSpPr>
          <p:cNvPr name="TextBox 24" id="24"/>
          <p:cNvSpPr txBox="true"/>
          <p:nvPr/>
        </p:nvSpPr>
        <p:spPr>
          <a:xfrm rot="0">
            <a:off x="9837410" y="4564894"/>
            <a:ext cx="709228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Balanced default</a:t>
            </a:r>
          </a:p>
        </p:txBody>
      </p:sp>
      <p:sp>
        <p:nvSpPr>
          <p:cNvPr name="TextBox 25" id="25"/>
          <p:cNvSpPr txBox="true"/>
          <p:nvPr/>
        </p:nvSpPr>
        <p:spPr>
          <a:xfrm rot="0">
            <a:off x="1120940" y="5415953"/>
            <a:ext cx="2425198" cy="632993"/>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Medium (100–400 p)</a:t>
            </a:r>
          </a:p>
        </p:txBody>
      </p:sp>
      <p:sp>
        <p:nvSpPr>
          <p:cNvPr name="TextBox 26" id="26"/>
          <p:cNvSpPr txBox="true"/>
          <p:nvPr/>
        </p:nvSpPr>
        <p:spPr>
          <a:xfrm rot="0">
            <a:off x="3934920" y="5415953"/>
            <a:ext cx="2150659"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&lt; 200 K</a:t>
            </a:r>
          </a:p>
        </p:txBody>
      </p:sp>
      <p:sp>
        <p:nvSpPr>
          <p:cNvPr name="TextBox 27" id="27"/>
          <p:cNvSpPr txBox="true"/>
          <p:nvPr/>
        </p:nvSpPr>
        <p:spPr>
          <a:xfrm rot="0">
            <a:off x="6542999" y="5415953"/>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512</a:t>
            </a:r>
          </a:p>
        </p:txBody>
      </p:sp>
      <p:sp>
        <p:nvSpPr>
          <p:cNvPr name="TextBox 28" id="28"/>
          <p:cNvSpPr txBox="true"/>
          <p:nvPr/>
        </p:nvSpPr>
        <p:spPr>
          <a:xfrm rot="0">
            <a:off x="8190205" y="5415953"/>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12</a:t>
            </a:r>
          </a:p>
        </p:txBody>
      </p:sp>
      <p:sp>
        <p:nvSpPr>
          <p:cNvPr name="TextBox 29" id="29"/>
          <p:cNvSpPr txBox="true"/>
          <p:nvPr/>
        </p:nvSpPr>
        <p:spPr>
          <a:xfrm rot="0">
            <a:off x="9837410" y="5415953"/>
            <a:ext cx="709228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More context needed per chunk</a:t>
            </a:r>
          </a:p>
        </p:txBody>
      </p:sp>
      <p:sp>
        <p:nvSpPr>
          <p:cNvPr name="TextBox 30" id="30"/>
          <p:cNvSpPr txBox="true"/>
          <p:nvPr/>
        </p:nvSpPr>
        <p:spPr>
          <a:xfrm rot="0">
            <a:off x="1120940" y="6267002"/>
            <a:ext cx="2425198" cy="632993"/>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Large (400–1000 p)</a:t>
            </a:r>
          </a:p>
        </p:txBody>
      </p:sp>
      <p:sp>
        <p:nvSpPr>
          <p:cNvPr name="TextBox 31" id="31"/>
          <p:cNvSpPr txBox="true"/>
          <p:nvPr/>
        </p:nvSpPr>
        <p:spPr>
          <a:xfrm rot="0">
            <a:off x="3934920" y="6267002"/>
            <a:ext cx="2150659"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&lt; 500 K</a:t>
            </a:r>
          </a:p>
        </p:txBody>
      </p:sp>
      <p:sp>
        <p:nvSpPr>
          <p:cNvPr name="TextBox 32" id="32"/>
          <p:cNvSpPr txBox="true"/>
          <p:nvPr/>
        </p:nvSpPr>
        <p:spPr>
          <a:xfrm rot="0">
            <a:off x="6542999" y="6267002"/>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768</a:t>
            </a:r>
          </a:p>
        </p:txBody>
      </p:sp>
      <p:sp>
        <p:nvSpPr>
          <p:cNvPr name="TextBox 33" id="33"/>
          <p:cNvSpPr txBox="true"/>
          <p:nvPr/>
        </p:nvSpPr>
        <p:spPr>
          <a:xfrm rot="0">
            <a:off x="8190205" y="6267002"/>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15</a:t>
            </a:r>
          </a:p>
        </p:txBody>
      </p:sp>
      <p:sp>
        <p:nvSpPr>
          <p:cNvPr name="TextBox 34" id="34"/>
          <p:cNvSpPr txBox="true"/>
          <p:nvPr/>
        </p:nvSpPr>
        <p:spPr>
          <a:xfrm rot="0">
            <a:off x="9837410" y="6267002"/>
            <a:ext cx="709228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Wide chunks, broad retrieval</a:t>
            </a:r>
          </a:p>
        </p:txBody>
      </p:sp>
      <p:sp>
        <p:nvSpPr>
          <p:cNvPr name="TextBox 35" id="35"/>
          <p:cNvSpPr txBox="true"/>
          <p:nvPr/>
        </p:nvSpPr>
        <p:spPr>
          <a:xfrm rot="0">
            <a:off x="1120940" y="7118061"/>
            <a:ext cx="2425198" cy="632993"/>
          </a:xfrm>
          <a:prstGeom prst="rect">
            <a:avLst/>
          </a:prstGeom>
        </p:spPr>
        <p:txBody>
          <a:bodyPr anchor="t" rtlCol="false" tIns="0" lIns="0" bIns="0" rIns="0">
            <a:spAutoFit/>
          </a:bodyPr>
          <a:lstStyle/>
          <a:p>
            <a:pPr algn="l">
              <a:lnSpc>
                <a:spcPts val="2161"/>
              </a:lnSpc>
            </a:pPr>
            <a:r>
              <a:rPr lang="en-US" sz="1801">
                <a:solidFill>
                  <a:srgbClr val="4C1D95"/>
                </a:solidFill>
                <a:latin typeface="Calibri (MS)"/>
                <a:ea typeface="Calibri (MS)"/>
                <a:cs typeface="Calibri (MS)"/>
                <a:sym typeface="Calibri (MS)"/>
              </a:rPr>
              <a:t>Huge  (1000+ pages)</a:t>
            </a:r>
          </a:p>
        </p:txBody>
      </p:sp>
      <p:sp>
        <p:nvSpPr>
          <p:cNvPr name="TextBox 36" id="36"/>
          <p:cNvSpPr txBox="true"/>
          <p:nvPr/>
        </p:nvSpPr>
        <p:spPr>
          <a:xfrm rot="0">
            <a:off x="3934920" y="7118061"/>
            <a:ext cx="2150659"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 500 K</a:t>
            </a:r>
          </a:p>
        </p:txBody>
      </p:sp>
      <p:sp>
        <p:nvSpPr>
          <p:cNvPr name="TextBox 37" id="37"/>
          <p:cNvSpPr txBox="true"/>
          <p:nvPr/>
        </p:nvSpPr>
        <p:spPr>
          <a:xfrm rot="0">
            <a:off x="6542999" y="7118061"/>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1024</a:t>
            </a:r>
          </a:p>
        </p:txBody>
      </p:sp>
      <p:sp>
        <p:nvSpPr>
          <p:cNvPr name="TextBox 38" id="38"/>
          <p:cNvSpPr txBox="true"/>
          <p:nvPr/>
        </p:nvSpPr>
        <p:spPr>
          <a:xfrm rot="0">
            <a:off x="8190205" y="7118061"/>
            <a:ext cx="118979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20</a:t>
            </a:r>
          </a:p>
        </p:txBody>
      </p:sp>
      <p:sp>
        <p:nvSpPr>
          <p:cNvPr name="TextBox 39" id="39"/>
          <p:cNvSpPr txBox="true"/>
          <p:nvPr/>
        </p:nvSpPr>
        <p:spPr>
          <a:xfrm rot="0">
            <a:off x="9837410" y="7118061"/>
            <a:ext cx="7092286" cy="632993"/>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Maximum context coverage</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TECHNOLOGY CHOICES</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Stack &amp; rationale</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7C3AED"/>
            </a:solidFill>
          </p:spPr>
        </p:sp>
      </p:grpSp>
      <p:grpSp>
        <p:nvGrpSpPr>
          <p:cNvPr name="Group 6" id="6"/>
          <p:cNvGrpSpPr/>
          <p:nvPr/>
        </p:nvGrpSpPr>
        <p:grpSpPr>
          <a:xfrm rot="0">
            <a:off x="816454" y="2120494"/>
            <a:ext cx="16664816" cy="7769895"/>
            <a:chOff x="0" y="0"/>
            <a:chExt cx="22219755" cy="10359860"/>
          </a:xfrm>
        </p:grpSpPr>
        <p:sp>
          <p:nvSpPr>
            <p:cNvPr name="Freeform 7" id="7"/>
            <p:cNvSpPr/>
            <p:nvPr/>
          </p:nvSpPr>
          <p:spPr>
            <a:xfrm flipH="false" flipV="false" rot="0">
              <a:off x="9525" y="9525"/>
              <a:ext cx="22200743" cy="10340848"/>
            </a:xfrm>
            <a:custGeom>
              <a:avLst/>
              <a:gdLst/>
              <a:ahLst/>
              <a:cxnLst/>
              <a:rect r="r" b="b" t="t" l="l"/>
              <a:pathLst>
                <a:path h="10340848" w="22200743">
                  <a:moveTo>
                    <a:pt x="0" y="0"/>
                  </a:moveTo>
                  <a:lnTo>
                    <a:pt x="22200743" y="0"/>
                  </a:lnTo>
                  <a:lnTo>
                    <a:pt x="22200743" y="10340848"/>
                  </a:lnTo>
                  <a:lnTo>
                    <a:pt x="0" y="10340848"/>
                  </a:lnTo>
                  <a:close/>
                </a:path>
              </a:pathLst>
            </a:custGeom>
            <a:solidFill>
              <a:srgbClr val="FFFFFF"/>
            </a:solidFill>
          </p:spPr>
        </p:sp>
        <p:sp>
          <p:nvSpPr>
            <p:cNvPr name="Freeform 8" id="8"/>
            <p:cNvSpPr/>
            <p:nvPr/>
          </p:nvSpPr>
          <p:spPr>
            <a:xfrm flipH="false" flipV="false" rot="0">
              <a:off x="0" y="0"/>
              <a:ext cx="22219793" cy="10359898"/>
            </a:xfrm>
            <a:custGeom>
              <a:avLst/>
              <a:gdLst/>
              <a:ahLst/>
              <a:cxnLst/>
              <a:rect r="r" b="b" t="t" l="l"/>
              <a:pathLst>
                <a:path h="10359898" w="22219793">
                  <a:moveTo>
                    <a:pt x="9525" y="0"/>
                  </a:moveTo>
                  <a:lnTo>
                    <a:pt x="22210268" y="0"/>
                  </a:lnTo>
                  <a:cubicBezTo>
                    <a:pt x="22215475" y="0"/>
                    <a:pt x="22219793" y="4318"/>
                    <a:pt x="22219793" y="9525"/>
                  </a:cubicBezTo>
                  <a:lnTo>
                    <a:pt x="22219793" y="10350373"/>
                  </a:lnTo>
                  <a:cubicBezTo>
                    <a:pt x="22219793" y="10355580"/>
                    <a:pt x="22215475" y="10359898"/>
                    <a:pt x="22210268" y="10359898"/>
                  </a:cubicBezTo>
                  <a:lnTo>
                    <a:pt x="9525" y="10359898"/>
                  </a:lnTo>
                  <a:cubicBezTo>
                    <a:pt x="4318" y="10359898"/>
                    <a:pt x="0" y="10355580"/>
                    <a:pt x="0" y="10350373"/>
                  </a:cubicBezTo>
                  <a:lnTo>
                    <a:pt x="0" y="9525"/>
                  </a:lnTo>
                  <a:cubicBezTo>
                    <a:pt x="0" y="4318"/>
                    <a:pt x="4318" y="0"/>
                    <a:pt x="9525" y="0"/>
                  </a:cubicBezTo>
                  <a:moveTo>
                    <a:pt x="9525" y="19050"/>
                  </a:moveTo>
                  <a:lnTo>
                    <a:pt x="9525" y="9525"/>
                  </a:lnTo>
                  <a:lnTo>
                    <a:pt x="19050" y="9525"/>
                  </a:lnTo>
                  <a:lnTo>
                    <a:pt x="19050" y="10350373"/>
                  </a:lnTo>
                  <a:lnTo>
                    <a:pt x="9525" y="10350373"/>
                  </a:lnTo>
                  <a:lnTo>
                    <a:pt x="9525" y="10340848"/>
                  </a:lnTo>
                  <a:lnTo>
                    <a:pt x="22210268" y="10340848"/>
                  </a:lnTo>
                  <a:lnTo>
                    <a:pt x="22210268" y="10350373"/>
                  </a:lnTo>
                  <a:lnTo>
                    <a:pt x="22200743" y="10350373"/>
                  </a:lnTo>
                  <a:lnTo>
                    <a:pt x="22200743" y="9525"/>
                  </a:lnTo>
                  <a:lnTo>
                    <a:pt x="22210268" y="9525"/>
                  </a:lnTo>
                  <a:lnTo>
                    <a:pt x="22210268" y="19050"/>
                  </a:lnTo>
                  <a:lnTo>
                    <a:pt x="9525" y="19050"/>
                  </a:lnTo>
                  <a:close/>
                </a:path>
              </a:pathLst>
            </a:custGeom>
            <a:solidFill>
              <a:srgbClr val="FFFFFF"/>
            </a:solidFill>
          </p:spPr>
        </p:sp>
      </p:grpSp>
      <p:sp>
        <p:nvSpPr>
          <p:cNvPr name="TextBox 9" id="9"/>
          <p:cNvSpPr txBox="true"/>
          <p:nvPr/>
        </p:nvSpPr>
        <p:spPr>
          <a:xfrm rot="0">
            <a:off x="1120940" y="2350684"/>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PDF extraction</a:t>
            </a:r>
          </a:p>
        </p:txBody>
      </p:sp>
      <p:sp>
        <p:nvSpPr>
          <p:cNvPr name="TextBox 10" id="10"/>
          <p:cNvSpPr txBox="true"/>
          <p:nvPr/>
        </p:nvSpPr>
        <p:spPr>
          <a:xfrm rot="0">
            <a:off x="4003558" y="2350684"/>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PyMuPDF</a:t>
            </a:r>
          </a:p>
        </p:txBody>
      </p:sp>
      <p:sp>
        <p:nvSpPr>
          <p:cNvPr name="TextBox 11" id="11"/>
          <p:cNvSpPr txBox="true"/>
          <p:nvPr/>
        </p:nvSpPr>
        <p:spPr>
          <a:xfrm rot="0">
            <a:off x="7160704" y="2350684"/>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Gemini extraction silently truncates at 65 K output tokens — a 100-page PDF returned 6 chunks. PyMuPDF has no output limit.</a:t>
            </a:r>
          </a:p>
        </p:txBody>
      </p:sp>
      <p:sp>
        <p:nvSpPr>
          <p:cNvPr name="TextBox 12" id="12"/>
          <p:cNvSpPr txBox="true"/>
          <p:nvPr/>
        </p:nvSpPr>
        <p:spPr>
          <a:xfrm rot="0">
            <a:off x="1120940" y="3339008"/>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Token counting</a:t>
            </a:r>
          </a:p>
        </p:txBody>
      </p:sp>
      <p:sp>
        <p:nvSpPr>
          <p:cNvPr name="TextBox 13" id="13"/>
          <p:cNvSpPr txBox="true"/>
          <p:nvPr/>
        </p:nvSpPr>
        <p:spPr>
          <a:xfrm rot="0">
            <a:off x="4003558" y="3339008"/>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tiktoken cl100k_base</a:t>
            </a:r>
          </a:p>
        </p:txBody>
      </p:sp>
      <p:sp>
        <p:nvSpPr>
          <p:cNvPr name="TextBox 14" id="14"/>
          <p:cNvSpPr txBox="true"/>
          <p:nvPr/>
        </p:nvSpPr>
        <p:spPr>
          <a:xfrm rot="0">
            <a:off x="7160704" y="3339008"/>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Same encoding the chunker uses — no unit mismatch. Character counts are unreliable across document types.</a:t>
            </a:r>
          </a:p>
        </p:txBody>
      </p:sp>
      <p:sp>
        <p:nvSpPr>
          <p:cNvPr name="TextBox 15" id="15"/>
          <p:cNvSpPr txBox="true"/>
          <p:nvPr/>
        </p:nvSpPr>
        <p:spPr>
          <a:xfrm rot="0">
            <a:off x="1120940" y="4327341"/>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Embeddings</a:t>
            </a:r>
          </a:p>
        </p:txBody>
      </p:sp>
      <p:sp>
        <p:nvSpPr>
          <p:cNvPr name="TextBox 16" id="16"/>
          <p:cNvSpPr txBox="true"/>
          <p:nvPr/>
        </p:nvSpPr>
        <p:spPr>
          <a:xfrm rot="0">
            <a:off x="4003558" y="4327341"/>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gemini-embedding-2</a:t>
            </a:r>
          </a:p>
        </p:txBody>
      </p:sp>
      <p:sp>
        <p:nvSpPr>
          <p:cNvPr name="TextBox 17" id="17"/>
          <p:cNvSpPr txBox="true"/>
          <p:nvPr/>
        </p:nvSpPr>
        <p:spPr>
          <a:xfrm rot="0">
            <a:off x="7160704" y="4327341"/>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Separate RETRIEVAL_DOCUMENT / RETRIEVAL_QUERY task types improve accuracy over symmetric embeddings.</a:t>
            </a:r>
          </a:p>
        </p:txBody>
      </p:sp>
      <p:sp>
        <p:nvSpPr>
          <p:cNvPr name="TextBox 18" id="18"/>
          <p:cNvSpPr txBox="true"/>
          <p:nvPr/>
        </p:nvSpPr>
        <p:spPr>
          <a:xfrm rot="0">
            <a:off x="1120940" y="5315664"/>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Vector store</a:t>
            </a:r>
          </a:p>
        </p:txBody>
      </p:sp>
      <p:sp>
        <p:nvSpPr>
          <p:cNvPr name="TextBox 19" id="19"/>
          <p:cNvSpPr txBox="true"/>
          <p:nvPr/>
        </p:nvSpPr>
        <p:spPr>
          <a:xfrm rot="0">
            <a:off x="4003558" y="5315664"/>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Postgres + pgvector</a:t>
            </a:r>
          </a:p>
        </p:txBody>
      </p:sp>
      <p:sp>
        <p:nvSpPr>
          <p:cNvPr name="TextBox 20" id="20"/>
          <p:cNvSpPr txBox="true"/>
          <p:nvPr/>
        </p:nvSpPr>
        <p:spPr>
          <a:xfrm rot="0">
            <a:off x="7160704" y="5315664"/>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HNSW needs no pre-training. One service handles relational + vector + full-text search. No extra infra.</a:t>
            </a:r>
          </a:p>
        </p:txBody>
      </p:sp>
      <p:sp>
        <p:nvSpPr>
          <p:cNvPr name="TextBox 21" id="21"/>
          <p:cNvSpPr txBox="true"/>
          <p:nvPr/>
        </p:nvSpPr>
        <p:spPr>
          <a:xfrm rot="0">
            <a:off x="1120940" y="6303988"/>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DB driver</a:t>
            </a:r>
          </a:p>
        </p:txBody>
      </p:sp>
      <p:sp>
        <p:nvSpPr>
          <p:cNvPr name="TextBox 22" id="22"/>
          <p:cNvSpPr txBox="true"/>
          <p:nvPr/>
        </p:nvSpPr>
        <p:spPr>
          <a:xfrm rot="0">
            <a:off x="4003558" y="6303988"/>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asyncpg</a:t>
            </a:r>
          </a:p>
        </p:txBody>
      </p:sp>
      <p:sp>
        <p:nvSpPr>
          <p:cNvPr name="TextBox 23" id="23"/>
          <p:cNvSpPr txBox="true"/>
          <p:nvPr/>
        </p:nvSpPr>
        <p:spPr>
          <a:xfrm rot="0">
            <a:off x="7160704" y="6303988"/>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Binary wire protocol — lower latency than psycopg. No ORM overhead for a minimal schema.</a:t>
            </a:r>
          </a:p>
        </p:txBody>
      </p:sp>
      <p:sp>
        <p:nvSpPr>
          <p:cNvPr name="TextBox 24" id="24"/>
          <p:cNvSpPr txBox="true"/>
          <p:nvPr/>
        </p:nvSpPr>
        <p:spPr>
          <a:xfrm rot="0">
            <a:off x="1120940" y="7292311"/>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Generation</a:t>
            </a:r>
          </a:p>
        </p:txBody>
      </p:sp>
      <p:sp>
        <p:nvSpPr>
          <p:cNvPr name="TextBox 25" id="25"/>
          <p:cNvSpPr txBox="true"/>
          <p:nvPr/>
        </p:nvSpPr>
        <p:spPr>
          <a:xfrm rot="0">
            <a:off x="4003558" y="7292311"/>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Gemini 2.5 Flash</a:t>
            </a:r>
          </a:p>
        </p:txBody>
      </p:sp>
      <p:sp>
        <p:nvSpPr>
          <p:cNvPr name="TextBox 26" id="26"/>
          <p:cNvSpPr txBox="true"/>
          <p:nvPr/>
        </p:nvSpPr>
        <p:spPr>
          <a:xfrm rot="0">
            <a:off x="7160704" y="7292311"/>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Fast, cost-effective, streamed output via SSE for a responsive UX. Also used for re-ranking.</a:t>
            </a:r>
          </a:p>
        </p:txBody>
      </p:sp>
      <p:sp>
        <p:nvSpPr>
          <p:cNvPr name="TextBox 27" id="27"/>
          <p:cNvSpPr txBox="true"/>
          <p:nvPr/>
        </p:nvSpPr>
        <p:spPr>
          <a:xfrm rot="0">
            <a:off x="1120940" y="8280635"/>
            <a:ext cx="2562463"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Frontend</a:t>
            </a:r>
          </a:p>
        </p:txBody>
      </p:sp>
      <p:sp>
        <p:nvSpPr>
          <p:cNvPr name="TextBox 28" id="28"/>
          <p:cNvSpPr txBox="true"/>
          <p:nvPr/>
        </p:nvSpPr>
        <p:spPr>
          <a:xfrm rot="0">
            <a:off x="4003558" y="8280635"/>
            <a:ext cx="2837002" cy="554841"/>
          </a:xfrm>
          <a:prstGeom prst="rect">
            <a:avLst/>
          </a:prstGeom>
        </p:spPr>
        <p:txBody>
          <a:bodyPr anchor="t" rtlCol="false" tIns="0" lIns="0" bIns="0" rIns="0">
            <a:spAutoFit/>
          </a:bodyPr>
          <a:lstStyle/>
          <a:p>
            <a:pPr algn="l">
              <a:lnSpc>
                <a:spcPts val="1981"/>
              </a:lnSpc>
            </a:pPr>
            <a:r>
              <a:rPr lang="en-US" sz="1651" b="true">
                <a:solidFill>
                  <a:srgbClr val="7C3AED"/>
                </a:solidFill>
                <a:latin typeface="Calibri (MS) Bold"/>
                <a:ea typeface="Calibri (MS) Bold"/>
                <a:cs typeface="Calibri (MS) Bold"/>
                <a:sym typeface="Calibri (MS) Bold"/>
              </a:rPr>
              <a:t>Single HTML file</a:t>
            </a:r>
          </a:p>
        </p:txBody>
      </p:sp>
      <p:sp>
        <p:nvSpPr>
          <p:cNvPr name="TextBox 29" id="29"/>
          <p:cNvSpPr txBox="true"/>
          <p:nvPr/>
        </p:nvSpPr>
        <p:spPr>
          <a:xfrm rot="0">
            <a:off x="7160704" y="8280635"/>
            <a:ext cx="9837630" cy="554841"/>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No build tools, no Node.js. Served by FastAPI — one uvicorn command to run everything.</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ENGINEERING CHOICES</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Key design decisions</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7C3AED"/>
            </a:solidFill>
          </p:spPr>
        </p:sp>
      </p:grpSp>
      <p:grpSp>
        <p:nvGrpSpPr>
          <p:cNvPr name="Group 6" id="6"/>
          <p:cNvGrpSpPr/>
          <p:nvPr/>
        </p:nvGrpSpPr>
        <p:grpSpPr>
          <a:xfrm rot="0">
            <a:off x="404651" y="2189131"/>
            <a:ext cx="8387601" cy="3034179"/>
            <a:chOff x="0" y="0"/>
            <a:chExt cx="11183468" cy="4045572"/>
          </a:xfrm>
        </p:grpSpPr>
        <p:sp>
          <p:nvSpPr>
            <p:cNvPr name="Freeform 7" id="7"/>
            <p:cNvSpPr/>
            <p:nvPr/>
          </p:nvSpPr>
          <p:spPr>
            <a:xfrm flipH="false" flipV="false" rot="0">
              <a:off x="9525" y="9525"/>
              <a:ext cx="11164443" cy="4026535"/>
            </a:xfrm>
            <a:custGeom>
              <a:avLst/>
              <a:gdLst/>
              <a:ahLst/>
              <a:cxnLst/>
              <a:rect r="r" b="b" t="t" l="l"/>
              <a:pathLst>
                <a:path h="4026535" w="11164443">
                  <a:moveTo>
                    <a:pt x="0" y="0"/>
                  </a:moveTo>
                  <a:lnTo>
                    <a:pt x="11164443" y="0"/>
                  </a:lnTo>
                  <a:lnTo>
                    <a:pt x="11164443" y="4026535"/>
                  </a:lnTo>
                  <a:lnTo>
                    <a:pt x="0" y="4026535"/>
                  </a:lnTo>
                  <a:close/>
                </a:path>
              </a:pathLst>
            </a:custGeom>
            <a:solidFill>
              <a:srgbClr val="FFFFFF"/>
            </a:solidFill>
          </p:spPr>
        </p:sp>
        <p:sp>
          <p:nvSpPr>
            <p:cNvPr name="Freeform 8" id="8"/>
            <p:cNvSpPr/>
            <p:nvPr/>
          </p:nvSpPr>
          <p:spPr>
            <a:xfrm flipH="false" flipV="false" rot="0">
              <a:off x="0" y="0"/>
              <a:ext cx="11183493" cy="4045585"/>
            </a:xfrm>
            <a:custGeom>
              <a:avLst/>
              <a:gdLst/>
              <a:ahLst/>
              <a:cxnLst/>
              <a:rect r="r" b="b" t="t" l="l"/>
              <a:pathLst>
                <a:path h="4045585" w="11183493">
                  <a:moveTo>
                    <a:pt x="9525" y="0"/>
                  </a:moveTo>
                  <a:lnTo>
                    <a:pt x="11173968" y="0"/>
                  </a:lnTo>
                  <a:cubicBezTo>
                    <a:pt x="11179175" y="0"/>
                    <a:pt x="11183493" y="4318"/>
                    <a:pt x="11183493" y="9525"/>
                  </a:cubicBezTo>
                  <a:lnTo>
                    <a:pt x="11183493" y="4036060"/>
                  </a:lnTo>
                  <a:cubicBezTo>
                    <a:pt x="11183493" y="4041267"/>
                    <a:pt x="11179175" y="4045585"/>
                    <a:pt x="11173968" y="4045585"/>
                  </a:cubicBezTo>
                  <a:lnTo>
                    <a:pt x="9525" y="4045585"/>
                  </a:lnTo>
                  <a:cubicBezTo>
                    <a:pt x="4318" y="4045585"/>
                    <a:pt x="0" y="4041267"/>
                    <a:pt x="0" y="4036060"/>
                  </a:cubicBezTo>
                  <a:lnTo>
                    <a:pt x="0" y="9525"/>
                  </a:lnTo>
                  <a:cubicBezTo>
                    <a:pt x="0" y="4318"/>
                    <a:pt x="4318" y="0"/>
                    <a:pt x="9525" y="0"/>
                  </a:cubicBezTo>
                  <a:moveTo>
                    <a:pt x="9525" y="19050"/>
                  </a:moveTo>
                  <a:lnTo>
                    <a:pt x="9525" y="9525"/>
                  </a:lnTo>
                  <a:lnTo>
                    <a:pt x="19050" y="9525"/>
                  </a:lnTo>
                  <a:lnTo>
                    <a:pt x="19050" y="4036060"/>
                  </a:lnTo>
                  <a:lnTo>
                    <a:pt x="9525" y="4036060"/>
                  </a:lnTo>
                  <a:lnTo>
                    <a:pt x="9525" y="4026535"/>
                  </a:lnTo>
                  <a:lnTo>
                    <a:pt x="11173968" y="4026535"/>
                  </a:lnTo>
                  <a:lnTo>
                    <a:pt x="11173968" y="4036060"/>
                  </a:lnTo>
                  <a:lnTo>
                    <a:pt x="11164443" y="4036060"/>
                  </a:lnTo>
                  <a:lnTo>
                    <a:pt x="11164443" y="9525"/>
                  </a:lnTo>
                  <a:lnTo>
                    <a:pt x="11173968" y="9525"/>
                  </a:lnTo>
                  <a:lnTo>
                    <a:pt x="11173968" y="19050"/>
                  </a:lnTo>
                  <a:lnTo>
                    <a:pt x="9525" y="19050"/>
                  </a:lnTo>
                  <a:close/>
                </a:path>
              </a:pathLst>
            </a:custGeom>
            <a:solidFill>
              <a:srgbClr val="FFFFFF"/>
            </a:solidFill>
          </p:spPr>
        </p:sp>
      </p:grpSp>
      <p:grpSp>
        <p:nvGrpSpPr>
          <p:cNvPr name="Group 9" id="9"/>
          <p:cNvGrpSpPr/>
          <p:nvPr/>
        </p:nvGrpSpPr>
        <p:grpSpPr>
          <a:xfrm rot="0">
            <a:off x="411804" y="2196274"/>
            <a:ext cx="76257" cy="3019882"/>
            <a:chOff x="0" y="0"/>
            <a:chExt cx="101676" cy="4026510"/>
          </a:xfrm>
        </p:grpSpPr>
        <p:sp>
          <p:nvSpPr>
            <p:cNvPr name="Freeform 10" id="10"/>
            <p:cNvSpPr/>
            <p:nvPr/>
          </p:nvSpPr>
          <p:spPr>
            <a:xfrm flipH="false" flipV="false" rot="0">
              <a:off x="0" y="0"/>
              <a:ext cx="101727" cy="4026535"/>
            </a:xfrm>
            <a:custGeom>
              <a:avLst/>
              <a:gdLst/>
              <a:ahLst/>
              <a:cxnLst/>
              <a:rect r="r" b="b" t="t" l="l"/>
              <a:pathLst>
                <a:path h="4026535" w="101727">
                  <a:moveTo>
                    <a:pt x="0" y="0"/>
                  </a:moveTo>
                  <a:lnTo>
                    <a:pt x="101727" y="0"/>
                  </a:lnTo>
                  <a:lnTo>
                    <a:pt x="101727" y="4026535"/>
                  </a:lnTo>
                  <a:lnTo>
                    <a:pt x="0" y="4026535"/>
                  </a:lnTo>
                  <a:close/>
                </a:path>
              </a:pathLst>
            </a:custGeom>
            <a:solidFill>
              <a:srgbClr val="7C3AED"/>
            </a:solidFill>
          </p:spPr>
        </p:sp>
      </p:grpSp>
      <p:sp>
        <p:nvSpPr>
          <p:cNvPr name="TextBox 11" id="11"/>
          <p:cNvSpPr txBox="true"/>
          <p:nvPr/>
        </p:nvSpPr>
        <p:spPr>
          <a:xfrm rot="0">
            <a:off x="777773" y="2468909"/>
            <a:ext cx="7641355" cy="505254"/>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  Concurrent embedding with retry</a:t>
            </a:r>
          </a:p>
        </p:txBody>
      </p:sp>
      <p:sp>
        <p:nvSpPr>
          <p:cNvPr name="TextBox 12" id="12"/>
          <p:cNvSpPr txBox="true"/>
          <p:nvPr/>
        </p:nvSpPr>
        <p:spPr>
          <a:xfrm rot="0">
            <a:off x="777773" y="3096130"/>
            <a:ext cx="7641355" cy="1868405"/>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All chunks embedded via asyncio.gather — no serial bottleneck. 429/503 errors retry with exponential backoff (2 → 64 s). Non-retryable errors surface immediately.</a:t>
            </a:r>
          </a:p>
        </p:txBody>
      </p:sp>
      <p:grpSp>
        <p:nvGrpSpPr>
          <p:cNvPr name="Group 13" id="13"/>
          <p:cNvGrpSpPr/>
          <p:nvPr/>
        </p:nvGrpSpPr>
        <p:grpSpPr>
          <a:xfrm rot="0">
            <a:off x="9230935" y="2189131"/>
            <a:ext cx="8387601" cy="3034179"/>
            <a:chOff x="0" y="0"/>
            <a:chExt cx="11183468" cy="4045572"/>
          </a:xfrm>
        </p:grpSpPr>
        <p:sp>
          <p:nvSpPr>
            <p:cNvPr name="Freeform 14" id="14"/>
            <p:cNvSpPr/>
            <p:nvPr/>
          </p:nvSpPr>
          <p:spPr>
            <a:xfrm flipH="false" flipV="false" rot="0">
              <a:off x="9525" y="9525"/>
              <a:ext cx="11164443" cy="4026535"/>
            </a:xfrm>
            <a:custGeom>
              <a:avLst/>
              <a:gdLst/>
              <a:ahLst/>
              <a:cxnLst/>
              <a:rect r="r" b="b" t="t" l="l"/>
              <a:pathLst>
                <a:path h="4026535" w="11164443">
                  <a:moveTo>
                    <a:pt x="0" y="0"/>
                  </a:moveTo>
                  <a:lnTo>
                    <a:pt x="11164443" y="0"/>
                  </a:lnTo>
                  <a:lnTo>
                    <a:pt x="11164443" y="4026535"/>
                  </a:lnTo>
                  <a:lnTo>
                    <a:pt x="0" y="4026535"/>
                  </a:lnTo>
                  <a:close/>
                </a:path>
              </a:pathLst>
            </a:custGeom>
            <a:solidFill>
              <a:srgbClr val="FFFFFF"/>
            </a:solidFill>
          </p:spPr>
        </p:sp>
        <p:sp>
          <p:nvSpPr>
            <p:cNvPr name="Freeform 15" id="15"/>
            <p:cNvSpPr/>
            <p:nvPr/>
          </p:nvSpPr>
          <p:spPr>
            <a:xfrm flipH="false" flipV="false" rot="0">
              <a:off x="0" y="0"/>
              <a:ext cx="11183493" cy="4045585"/>
            </a:xfrm>
            <a:custGeom>
              <a:avLst/>
              <a:gdLst/>
              <a:ahLst/>
              <a:cxnLst/>
              <a:rect r="r" b="b" t="t" l="l"/>
              <a:pathLst>
                <a:path h="4045585" w="11183493">
                  <a:moveTo>
                    <a:pt x="9525" y="0"/>
                  </a:moveTo>
                  <a:lnTo>
                    <a:pt x="11173968" y="0"/>
                  </a:lnTo>
                  <a:cubicBezTo>
                    <a:pt x="11179175" y="0"/>
                    <a:pt x="11183493" y="4318"/>
                    <a:pt x="11183493" y="9525"/>
                  </a:cubicBezTo>
                  <a:lnTo>
                    <a:pt x="11183493" y="4036060"/>
                  </a:lnTo>
                  <a:cubicBezTo>
                    <a:pt x="11183493" y="4041267"/>
                    <a:pt x="11179175" y="4045585"/>
                    <a:pt x="11173968" y="4045585"/>
                  </a:cubicBezTo>
                  <a:lnTo>
                    <a:pt x="9525" y="4045585"/>
                  </a:lnTo>
                  <a:cubicBezTo>
                    <a:pt x="4318" y="4045585"/>
                    <a:pt x="0" y="4041267"/>
                    <a:pt x="0" y="4036060"/>
                  </a:cubicBezTo>
                  <a:lnTo>
                    <a:pt x="0" y="9525"/>
                  </a:lnTo>
                  <a:cubicBezTo>
                    <a:pt x="0" y="4318"/>
                    <a:pt x="4318" y="0"/>
                    <a:pt x="9525" y="0"/>
                  </a:cubicBezTo>
                  <a:moveTo>
                    <a:pt x="9525" y="19050"/>
                  </a:moveTo>
                  <a:lnTo>
                    <a:pt x="9525" y="9525"/>
                  </a:lnTo>
                  <a:lnTo>
                    <a:pt x="19050" y="9525"/>
                  </a:lnTo>
                  <a:lnTo>
                    <a:pt x="19050" y="4036060"/>
                  </a:lnTo>
                  <a:lnTo>
                    <a:pt x="9525" y="4036060"/>
                  </a:lnTo>
                  <a:lnTo>
                    <a:pt x="9525" y="4026535"/>
                  </a:lnTo>
                  <a:lnTo>
                    <a:pt x="11173968" y="4026535"/>
                  </a:lnTo>
                  <a:lnTo>
                    <a:pt x="11173968" y="4036060"/>
                  </a:lnTo>
                  <a:lnTo>
                    <a:pt x="11164443" y="4036060"/>
                  </a:lnTo>
                  <a:lnTo>
                    <a:pt x="11164443" y="9525"/>
                  </a:lnTo>
                  <a:lnTo>
                    <a:pt x="11173968" y="9525"/>
                  </a:lnTo>
                  <a:lnTo>
                    <a:pt x="11173968" y="19050"/>
                  </a:lnTo>
                  <a:lnTo>
                    <a:pt x="9525" y="19050"/>
                  </a:lnTo>
                  <a:close/>
                </a:path>
              </a:pathLst>
            </a:custGeom>
            <a:solidFill>
              <a:srgbClr val="FFFFFF"/>
            </a:solidFill>
          </p:spPr>
        </p:sp>
      </p:grpSp>
      <p:grpSp>
        <p:nvGrpSpPr>
          <p:cNvPr name="Group 16" id="16"/>
          <p:cNvGrpSpPr/>
          <p:nvPr/>
        </p:nvGrpSpPr>
        <p:grpSpPr>
          <a:xfrm rot="0">
            <a:off x="9238088" y="2196274"/>
            <a:ext cx="76257" cy="3019882"/>
            <a:chOff x="0" y="0"/>
            <a:chExt cx="101676" cy="4026510"/>
          </a:xfrm>
        </p:grpSpPr>
        <p:sp>
          <p:nvSpPr>
            <p:cNvPr name="Freeform 17" id="17"/>
            <p:cNvSpPr/>
            <p:nvPr/>
          </p:nvSpPr>
          <p:spPr>
            <a:xfrm flipH="false" flipV="false" rot="0">
              <a:off x="0" y="0"/>
              <a:ext cx="101727" cy="4026535"/>
            </a:xfrm>
            <a:custGeom>
              <a:avLst/>
              <a:gdLst/>
              <a:ahLst/>
              <a:cxnLst/>
              <a:rect r="r" b="b" t="t" l="l"/>
              <a:pathLst>
                <a:path h="4026535" w="101727">
                  <a:moveTo>
                    <a:pt x="0" y="0"/>
                  </a:moveTo>
                  <a:lnTo>
                    <a:pt x="101727" y="0"/>
                  </a:lnTo>
                  <a:lnTo>
                    <a:pt x="101727" y="4026535"/>
                  </a:lnTo>
                  <a:lnTo>
                    <a:pt x="0" y="4026535"/>
                  </a:lnTo>
                  <a:close/>
                </a:path>
              </a:pathLst>
            </a:custGeom>
            <a:solidFill>
              <a:srgbClr val="059669"/>
            </a:solidFill>
          </p:spPr>
        </p:sp>
      </p:grpSp>
      <p:sp>
        <p:nvSpPr>
          <p:cNvPr name="TextBox 18" id="18"/>
          <p:cNvSpPr txBox="true"/>
          <p:nvPr/>
        </p:nvSpPr>
        <p:spPr>
          <a:xfrm rot="0">
            <a:off x="9604057" y="2468909"/>
            <a:ext cx="7641355" cy="505254"/>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  State survives restarts</a:t>
            </a:r>
          </a:p>
        </p:txBody>
      </p:sp>
      <p:sp>
        <p:nvSpPr>
          <p:cNvPr name="TextBox 19" id="19"/>
          <p:cNvSpPr txBox="true"/>
          <p:nvPr/>
        </p:nvSpPr>
        <p:spPr>
          <a:xfrm rot="0">
            <a:off x="9604057" y="3096130"/>
            <a:ext cx="7641355" cy="1868405"/>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doc_meta table stores doc_id, chunk_count, and k. FastAPI lifespan hook restores all three on startup — no re-upload needed after a server bounce.</a:t>
            </a:r>
          </a:p>
        </p:txBody>
      </p:sp>
      <p:grpSp>
        <p:nvGrpSpPr>
          <p:cNvPr name="Group 20" id="20"/>
          <p:cNvGrpSpPr/>
          <p:nvPr/>
        </p:nvGrpSpPr>
        <p:grpSpPr>
          <a:xfrm rot="0">
            <a:off x="404651" y="5620807"/>
            <a:ext cx="8387601" cy="3034179"/>
            <a:chOff x="0" y="0"/>
            <a:chExt cx="11183468" cy="4045572"/>
          </a:xfrm>
        </p:grpSpPr>
        <p:sp>
          <p:nvSpPr>
            <p:cNvPr name="Freeform 21" id="21"/>
            <p:cNvSpPr/>
            <p:nvPr/>
          </p:nvSpPr>
          <p:spPr>
            <a:xfrm flipH="false" flipV="false" rot="0">
              <a:off x="9525" y="9525"/>
              <a:ext cx="11164443" cy="4026535"/>
            </a:xfrm>
            <a:custGeom>
              <a:avLst/>
              <a:gdLst/>
              <a:ahLst/>
              <a:cxnLst/>
              <a:rect r="r" b="b" t="t" l="l"/>
              <a:pathLst>
                <a:path h="4026535" w="11164443">
                  <a:moveTo>
                    <a:pt x="0" y="0"/>
                  </a:moveTo>
                  <a:lnTo>
                    <a:pt x="11164443" y="0"/>
                  </a:lnTo>
                  <a:lnTo>
                    <a:pt x="11164443" y="4026535"/>
                  </a:lnTo>
                  <a:lnTo>
                    <a:pt x="0" y="4026535"/>
                  </a:lnTo>
                  <a:close/>
                </a:path>
              </a:pathLst>
            </a:custGeom>
            <a:solidFill>
              <a:srgbClr val="FFFFFF"/>
            </a:solidFill>
          </p:spPr>
        </p:sp>
        <p:sp>
          <p:nvSpPr>
            <p:cNvPr name="Freeform 22" id="22"/>
            <p:cNvSpPr/>
            <p:nvPr/>
          </p:nvSpPr>
          <p:spPr>
            <a:xfrm flipH="false" flipV="false" rot="0">
              <a:off x="0" y="0"/>
              <a:ext cx="11183493" cy="4045585"/>
            </a:xfrm>
            <a:custGeom>
              <a:avLst/>
              <a:gdLst/>
              <a:ahLst/>
              <a:cxnLst/>
              <a:rect r="r" b="b" t="t" l="l"/>
              <a:pathLst>
                <a:path h="4045585" w="11183493">
                  <a:moveTo>
                    <a:pt x="9525" y="0"/>
                  </a:moveTo>
                  <a:lnTo>
                    <a:pt x="11173968" y="0"/>
                  </a:lnTo>
                  <a:cubicBezTo>
                    <a:pt x="11179175" y="0"/>
                    <a:pt x="11183493" y="4318"/>
                    <a:pt x="11183493" y="9525"/>
                  </a:cubicBezTo>
                  <a:lnTo>
                    <a:pt x="11183493" y="4036060"/>
                  </a:lnTo>
                  <a:cubicBezTo>
                    <a:pt x="11183493" y="4041267"/>
                    <a:pt x="11179175" y="4045585"/>
                    <a:pt x="11173968" y="4045585"/>
                  </a:cubicBezTo>
                  <a:lnTo>
                    <a:pt x="9525" y="4045585"/>
                  </a:lnTo>
                  <a:cubicBezTo>
                    <a:pt x="4318" y="4045585"/>
                    <a:pt x="0" y="4041267"/>
                    <a:pt x="0" y="4036060"/>
                  </a:cubicBezTo>
                  <a:lnTo>
                    <a:pt x="0" y="9525"/>
                  </a:lnTo>
                  <a:cubicBezTo>
                    <a:pt x="0" y="4318"/>
                    <a:pt x="4318" y="0"/>
                    <a:pt x="9525" y="0"/>
                  </a:cubicBezTo>
                  <a:moveTo>
                    <a:pt x="9525" y="19050"/>
                  </a:moveTo>
                  <a:lnTo>
                    <a:pt x="9525" y="9525"/>
                  </a:lnTo>
                  <a:lnTo>
                    <a:pt x="19050" y="9525"/>
                  </a:lnTo>
                  <a:lnTo>
                    <a:pt x="19050" y="4036060"/>
                  </a:lnTo>
                  <a:lnTo>
                    <a:pt x="9525" y="4036060"/>
                  </a:lnTo>
                  <a:lnTo>
                    <a:pt x="9525" y="4026535"/>
                  </a:lnTo>
                  <a:lnTo>
                    <a:pt x="11173968" y="4026535"/>
                  </a:lnTo>
                  <a:lnTo>
                    <a:pt x="11173968" y="4036060"/>
                  </a:lnTo>
                  <a:lnTo>
                    <a:pt x="11164443" y="4036060"/>
                  </a:lnTo>
                  <a:lnTo>
                    <a:pt x="11164443" y="9525"/>
                  </a:lnTo>
                  <a:lnTo>
                    <a:pt x="11173968" y="9525"/>
                  </a:lnTo>
                  <a:lnTo>
                    <a:pt x="11173968" y="19050"/>
                  </a:lnTo>
                  <a:lnTo>
                    <a:pt x="9525" y="19050"/>
                  </a:lnTo>
                  <a:close/>
                </a:path>
              </a:pathLst>
            </a:custGeom>
            <a:solidFill>
              <a:srgbClr val="FFFFFF"/>
            </a:solidFill>
          </p:spPr>
        </p:sp>
      </p:grpSp>
      <p:grpSp>
        <p:nvGrpSpPr>
          <p:cNvPr name="Group 23" id="23"/>
          <p:cNvGrpSpPr/>
          <p:nvPr/>
        </p:nvGrpSpPr>
        <p:grpSpPr>
          <a:xfrm rot="0">
            <a:off x="411804" y="5627951"/>
            <a:ext cx="76257" cy="3019882"/>
            <a:chOff x="0" y="0"/>
            <a:chExt cx="101676" cy="4026510"/>
          </a:xfrm>
        </p:grpSpPr>
        <p:sp>
          <p:nvSpPr>
            <p:cNvPr name="Freeform 24" id="24"/>
            <p:cNvSpPr/>
            <p:nvPr/>
          </p:nvSpPr>
          <p:spPr>
            <a:xfrm flipH="false" flipV="false" rot="0">
              <a:off x="0" y="0"/>
              <a:ext cx="101727" cy="4026535"/>
            </a:xfrm>
            <a:custGeom>
              <a:avLst/>
              <a:gdLst/>
              <a:ahLst/>
              <a:cxnLst/>
              <a:rect r="r" b="b" t="t" l="l"/>
              <a:pathLst>
                <a:path h="4026535" w="101727">
                  <a:moveTo>
                    <a:pt x="0" y="0"/>
                  </a:moveTo>
                  <a:lnTo>
                    <a:pt x="101727" y="0"/>
                  </a:lnTo>
                  <a:lnTo>
                    <a:pt x="101727" y="4026535"/>
                  </a:lnTo>
                  <a:lnTo>
                    <a:pt x="0" y="4026535"/>
                  </a:lnTo>
                  <a:close/>
                </a:path>
              </a:pathLst>
            </a:custGeom>
            <a:solidFill>
              <a:srgbClr val="A78BFA"/>
            </a:solidFill>
          </p:spPr>
        </p:sp>
      </p:grpSp>
      <p:sp>
        <p:nvSpPr>
          <p:cNvPr name="TextBox 25" id="25"/>
          <p:cNvSpPr txBox="true"/>
          <p:nvPr/>
        </p:nvSpPr>
        <p:spPr>
          <a:xfrm rot="0">
            <a:off x="777773" y="5900585"/>
            <a:ext cx="7641355" cy="505254"/>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  Sentence-boundary overlap</a:t>
            </a:r>
          </a:p>
        </p:txBody>
      </p:sp>
      <p:sp>
        <p:nvSpPr>
          <p:cNvPr name="TextBox 26" id="26"/>
          <p:cNvSpPr txBox="true"/>
          <p:nvPr/>
        </p:nvSpPr>
        <p:spPr>
          <a:xfrm rot="0">
            <a:off x="777773" y="6527816"/>
            <a:ext cx="7641355" cy="1868405"/>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Each chunk seeds itself with the last 64 tokens of the previous chunk. Prevents context loss when an argument spans a chunk boundary.</a:t>
            </a:r>
          </a:p>
        </p:txBody>
      </p:sp>
      <p:grpSp>
        <p:nvGrpSpPr>
          <p:cNvPr name="Group 27" id="27"/>
          <p:cNvGrpSpPr/>
          <p:nvPr/>
        </p:nvGrpSpPr>
        <p:grpSpPr>
          <a:xfrm rot="0">
            <a:off x="9230935" y="5620807"/>
            <a:ext cx="8387601" cy="3034179"/>
            <a:chOff x="0" y="0"/>
            <a:chExt cx="11183468" cy="4045572"/>
          </a:xfrm>
        </p:grpSpPr>
        <p:sp>
          <p:nvSpPr>
            <p:cNvPr name="Freeform 28" id="28"/>
            <p:cNvSpPr/>
            <p:nvPr/>
          </p:nvSpPr>
          <p:spPr>
            <a:xfrm flipH="false" flipV="false" rot="0">
              <a:off x="9525" y="9525"/>
              <a:ext cx="11164443" cy="4026535"/>
            </a:xfrm>
            <a:custGeom>
              <a:avLst/>
              <a:gdLst/>
              <a:ahLst/>
              <a:cxnLst/>
              <a:rect r="r" b="b" t="t" l="l"/>
              <a:pathLst>
                <a:path h="4026535" w="11164443">
                  <a:moveTo>
                    <a:pt x="0" y="0"/>
                  </a:moveTo>
                  <a:lnTo>
                    <a:pt x="11164443" y="0"/>
                  </a:lnTo>
                  <a:lnTo>
                    <a:pt x="11164443" y="4026535"/>
                  </a:lnTo>
                  <a:lnTo>
                    <a:pt x="0" y="4026535"/>
                  </a:lnTo>
                  <a:close/>
                </a:path>
              </a:pathLst>
            </a:custGeom>
            <a:solidFill>
              <a:srgbClr val="FFFFFF"/>
            </a:solidFill>
          </p:spPr>
        </p:sp>
        <p:sp>
          <p:nvSpPr>
            <p:cNvPr name="Freeform 29" id="29"/>
            <p:cNvSpPr/>
            <p:nvPr/>
          </p:nvSpPr>
          <p:spPr>
            <a:xfrm flipH="false" flipV="false" rot="0">
              <a:off x="0" y="0"/>
              <a:ext cx="11183493" cy="4045585"/>
            </a:xfrm>
            <a:custGeom>
              <a:avLst/>
              <a:gdLst/>
              <a:ahLst/>
              <a:cxnLst/>
              <a:rect r="r" b="b" t="t" l="l"/>
              <a:pathLst>
                <a:path h="4045585" w="11183493">
                  <a:moveTo>
                    <a:pt x="9525" y="0"/>
                  </a:moveTo>
                  <a:lnTo>
                    <a:pt x="11173968" y="0"/>
                  </a:lnTo>
                  <a:cubicBezTo>
                    <a:pt x="11179175" y="0"/>
                    <a:pt x="11183493" y="4318"/>
                    <a:pt x="11183493" y="9525"/>
                  </a:cubicBezTo>
                  <a:lnTo>
                    <a:pt x="11183493" y="4036060"/>
                  </a:lnTo>
                  <a:cubicBezTo>
                    <a:pt x="11183493" y="4041267"/>
                    <a:pt x="11179175" y="4045585"/>
                    <a:pt x="11173968" y="4045585"/>
                  </a:cubicBezTo>
                  <a:lnTo>
                    <a:pt x="9525" y="4045585"/>
                  </a:lnTo>
                  <a:cubicBezTo>
                    <a:pt x="4318" y="4045585"/>
                    <a:pt x="0" y="4041267"/>
                    <a:pt x="0" y="4036060"/>
                  </a:cubicBezTo>
                  <a:lnTo>
                    <a:pt x="0" y="9525"/>
                  </a:lnTo>
                  <a:cubicBezTo>
                    <a:pt x="0" y="4318"/>
                    <a:pt x="4318" y="0"/>
                    <a:pt x="9525" y="0"/>
                  </a:cubicBezTo>
                  <a:moveTo>
                    <a:pt x="9525" y="19050"/>
                  </a:moveTo>
                  <a:lnTo>
                    <a:pt x="9525" y="9525"/>
                  </a:lnTo>
                  <a:lnTo>
                    <a:pt x="19050" y="9525"/>
                  </a:lnTo>
                  <a:lnTo>
                    <a:pt x="19050" y="4036060"/>
                  </a:lnTo>
                  <a:lnTo>
                    <a:pt x="9525" y="4036060"/>
                  </a:lnTo>
                  <a:lnTo>
                    <a:pt x="9525" y="4026535"/>
                  </a:lnTo>
                  <a:lnTo>
                    <a:pt x="11173968" y="4026535"/>
                  </a:lnTo>
                  <a:lnTo>
                    <a:pt x="11173968" y="4036060"/>
                  </a:lnTo>
                  <a:lnTo>
                    <a:pt x="11164443" y="4036060"/>
                  </a:lnTo>
                  <a:lnTo>
                    <a:pt x="11164443" y="9525"/>
                  </a:lnTo>
                  <a:lnTo>
                    <a:pt x="11173968" y="9525"/>
                  </a:lnTo>
                  <a:lnTo>
                    <a:pt x="11173968" y="19050"/>
                  </a:lnTo>
                  <a:lnTo>
                    <a:pt x="9525" y="19050"/>
                  </a:lnTo>
                  <a:close/>
                </a:path>
              </a:pathLst>
            </a:custGeom>
            <a:solidFill>
              <a:srgbClr val="FFFFFF"/>
            </a:solidFill>
          </p:spPr>
        </p:sp>
      </p:grpSp>
      <p:grpSp>
        <p:nvGrpSpPr>
          <p:cNvPr name="Group 30" id="30"/>
          <p:cNvGrpSpPr/>
          <p:nvPr/>
        </p:nvGrpSpPr>
        <p:grpSpPr>
          <a:xfrm rot="0">
            <a:off x="9238088" y="5627951"/>
            <a:ext cx="76257" cy="3019882"/>
            <a:chOff x="0" y="0"/>
            <a:chExt cx="101676" cy="4026510"/>
          </a:xfrm>
        </p:grpSpPr>
        <p:sp>
          <p:nvSpPr>
            <p:cNvPr name="Freeform 31" id="31"/>
            <p:cNvSpPr/>
            <p:nvPr/>
          </p:nvSpPr>
          <p:spPr>
            <a:xfrm flipH="false" flipV="false" rot="0">
              <a:off x="0" y="0"/>
              <a:ext cx="101727" cy="4026535"/>
            </a:xfrm>
            <a:custGeom>
              <a:avLst/>
              <a:gdLst/>
              <a:ahLst/>
              <a:cxnLst/>
              <a:rect r="r" b="b" t="t" l="l"/>
              <a:pathLst>
                <a:path h="4026535" w="101727">
                  <a:moveTo>
                    <a:pt x="0" y="0"/>
                  </a:moveTo>
                  <a:lnTo>
                    <a:pt x="101727" y="0"/>
                  </a:lnTo>
                  <a:lnTo>
                    <a:pt x="101727" y="4026535"/>
                  </a:lnTo>
                  <a:lnTo>
                    <a:pt x="0" y="4026535"/>
                  </a:lnTo>
                  <a:close/>
                </a:path>
              </a:pathLst>
            </a:custGeom>
            <a:solidFill>
              <a:srgbClr val="F97316"/>
            </a:solidFill>
          </p:spPr>
        </p:sp>
      </p:grpSp>
      <p:sp>
        <p:nvSpPr>
          <p:cNvPr name="TextBox 32" id="32"/>
          <p:cNvSpPr txBox="true"/>
          <p:nvPr/>
        </p:nvSpPr>
        <p:spPr>
          <a:xfrm rot="0">
            <a:off x="9604057" y="5900585"/>
            <a:ext cx="7641355" cy="505254"/>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  Server-Sent Events streaming</a:t>
            </a:r>
          </a:p>
        </p:txBody>
      </p:sp>
      <p:sp>
        <p:nvSpPr>
          <p:cNvPr name="TextBox 33" id="33"/>
          <p:cNvSpPr txBox="true"/>
          <p:nvPr/>
        </p:nvSpPr>
        <p:spPr>
          <a:xfrm rot="0">
            <a:off x="9604057" y="6527816"/>
            <a:ext cx="7641355" cy="1868405"/>
          </a:xfrm>
          <a:prstGeom prst="rect">
            <a:avLst/>
          </a:prstGeom>
        </p:spPr>
        <p:txBody>
          <a:bodyPr anchor="t" rtlCol="false" tIns="0" lIns="0" bIns="0" rIns="0">
            <a:spAutoFit/>
          </a:bodyPr>
          <a:lstStyle/>
          <a:p>
            <a:pPr algn="l">
              <a:lnSpc>
                <a:spcPts val="2161"/>
              </a:lnSpc>
            </a:pPr>
            <a:r>
              <a:rPr lang="en-US" sz="1801">
                <a:solidFill>
                  <a:srgbClr val="7C3AED"/>
                </a:solidFill>
                <a:latin typeface="Calibri (MS)"/>
                <a:ea typeface="Calibri (MS)"/>
                <a:cs typeface="Calibri (MS)"/>
                <a:sym typeface="Calibri (MS)"/>
              </a:rPr>
              <a:t>Ingest progress (extracting → chunking → embedding → done) and answer tokens both stream via SSE. No polling, no page reload — real-time updates throughout.</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ADDITIONAL FEATURES</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Retrieval quality improvements</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059669"/>
            </a:solidFill>
          </p:spPr>
        </p:sp>
      </p:grpSp>
      <p:grpSp>
        <p:nvGrpSpPr>
          <p:cNvPr name="Group 6" id="6"/>
          <p:cNvGrpSpPr/>
          <p:nvPr/>
        </p:nvGrpSpPr>
        <p:grpSpPr>
          <a:xfrm rot="0">
            <a:off x="404651" y="2189131"/>
            <a:ext cx="5299091" cy="3445983"/>
            <a:chOff x="0" y="0"/>
            <a:chExt cx="7065454" cy="4594644"/>
          </a:xfrm>
        </p:grpSpPr>
        <p:sp>
          <p:nvSpPr>
            <p:cNvPr name="Freeform 7" id="7"/>
            <p:cNvSpPr/>
            <p:nvPr/>
          </p:nvSpPr>
          <p:spPr>
            <a:xfrm flipH="false" flipV="false" rot="0">
              <a:off x="9525" y="9525"/>
              <a:ext cx="7046341" cy="4575556"/>
            </a:xfrm>
            <a:custGeom>
              <a:avLst/>
              <a:gdLst/>
              <a:ahLst/>
              <a:cxnLst/>
              <a:rect r="r" b="b" t="t" l="l"/>
              <a:pathLst>
                <a:path h="4575556" w="7046341">
                  <a:moveTo>
                    <a:pt x="0" y="0"/>
                  </a:moveTo>
                  <a:lnTo>
                    <a:pt x="7046341" y="0"/>
                  </a:lnTo>
                  <a:lnTo>
                    <a:pt x="7046341" y="4575556"/>
                  </a:lnTo>
                  <a:lnTo>
                    <a:pt x="0" y="4575556"/>
                  </a:lnTo>
                  <a:close/>
                </a:path>
              </a:pathLst>
            </a:custGeom>
            <a:solidFill>
              <a:srgbClr val="FFFFFF"/>
            </a:solidFill>
          </p:spPr>
        </p:sp>
        <p:sp>
          <p:nvSpPr>
            <p:cNvPr name="Freeform 8" id="8"/>
            <p:cNvSpPr/>
            <p:nvPr/>
          </p:nvSpPr>
          <p:spPr>
            <a:xfrm flipH="false" flipV="false" rot="0">
              <a:off x="0" y="0"/>
              <a:ext cx="7065391" cy="4594606"/>
            </a:xfrm>
            <a:custGeom>
              <a:avLst/>
              <a:gdLst/>
              <a:ahLst/>
              <a:cxnLst/>
              <a:rect r="r" b="b" t="t" l="l"/>
              <a:pathLst>
                <a:path h="4594606" w="7065391">
                  <a:moveTo>
                    <a:pt x="9525" y="0"/>
                  </a:moveTo>
                  <a:lnTo>
                    <a:pt x="7055866" y="0"/>
                  </a:lnTo>
                  <a:cubicBezTo>
                    <a:pt x="7061073" y="0"/>
                    <a:pt x="7065391" y="4318"/>
                    <a:pt x="7065391" y="9525"/>
                  </a:cubicBezTo>
                  <a:lnTo>
                    <a:pt x="7065391" y="4585081"/>
                  </a:lnTo>
                  <a:cubicBezTo>
                    <a:pt x="7065391" y="4590288"/>
                    <a:pt x="7061073" y="4594606"/>
                    <a:pt x="7055866" y="4594606"/>
                  </a:cubicBezTo>
                  <a:lnTo>
                    <a:pt x="9525" y="4594606"/>
                  </a:lnTo>
                  <a:cubicBezTo>
                    <a:pt x="4318" y="4594606"/>
                    <a:pt x="0" y="4590288"/>
                    <a:pt x="0" y="4585081"/>
                  </a:cubicBezTo>
                  <a:lnTo>
                    <a:pt x="0" y="9525"/>
                  </a:lnTo>
                  <a:cubicBezTo>
                    <a:pt x="0" y="4318"/>
                    <a:pt x="4318" y="0"/>
                    <a:pt x="9525" y="0"/>
                  </a:cubicBezTo>
                  <a:moveTo>
                    <a:pt x="9525" y="19050"/>
                  </a:moveTo>
                  <a:lnTo>
                    <a:pt x="9525" y="9525"/>
                  </a:lnTo>
                  <a:lnTo>
                    <a:pt x="19050" y="9525"/>
                  </a:lnTo>
                  <a:lnTo>
                    <a:pt x="19050" y="4585081"/>
                  </a:lnTo>
                  <a:lnTo>
                    <a:pt x="9525" y="4585081"/>
                  </a:lnTo>
                  <a:lnTo>
                    <a:pt x="9525" y="4575556"/>
                  </a:lnTo>
                  <a:lnTo>
                    <a:pt x="7055866" y="4575556"/>
                  </a:lnTo>
                  <a:lnTo>
                    <a:pt x="7055866" y="4585081"/>
                  </a:lnTo>
                  <a:lnTo>
                    <a:pt x="7046341" y="4585081"/>
                  </a:lnTo>
                  <a:lnTo>
                    <a:pt x="7046341" y="9525"/>
                  </a:lnTo>
                  <a:lnTo>
                    <a:pt x="7055866" y="9525"/>
                  </a:lnTo>
                  <a:lnTo>
                    <a:pt x="7055866" y="19050"/>
                  </a:lnTo>
                  <a:lnTo>
                    <a:pt x="9525" y="19050"/>
                  </a:lnTo>
                  <a:close/>
                </a:path>
              </a:pathLst>
            </a:custGeom>
            <a:solidFill>
              <a:srgbClr val="FFFFFF"/>
            </a:solidFill>
          </p:spPr>
        </p:sp>
      </p:grpSp>
      <p:grpSp>
        <p:nvGrpSpPr>
          <p:cNvPr name="Group 9" id="9"/>
          <p:cNvGrpSpPr/>
          <p:nvPr/>
        </p:nvGrpSpPr>
        <p:grpSpPr>
          <a:xfrm rot="0">
            <a:off x="411804" y="2196274"/>
            <a:ext cx="5284784" cy="57198"/>
            <a:chOff x="0" y="0"/>
            <a:chExt cx="7046379" cy="76264"/>
          </a:xfrm>
        </p:grpSpPr>
        <p:sp>
          <p:nvSpPr>
            <p:cNvPr name="Freeform 10" id="10"/>
            <p:cNvSpPr/>
            <p:nvPr/>
          </p:nvSpPr>
          <p:spPr>
            <a:xfrm flipH="false" flipV="false" rot="0">
              <a:off x="0" y="0"/>
              <a:ext cx="7046341" cy="76200"/>
            </a:xfrm>
            <a:custGeom>
              <a:avLst/>
              <a:gdLst/>
              <a:ahLst/>
              <a:cxnLst/>
              <a:rect r="r" b="b" t="t" l="l"/>
              <a:pathLst>
                <a:path h="76200" w="7046341">
                  <a:moveTo>
                    <a:pt x="0" y="0"/>
                  </a:moveTo>
                  <a:lnTo>
                    <a:pt x="7046341" y="0"/>
                  </a:lnTo>
                  <a:lnTo>
                    <a:pt x="7046341" y="76200"/>
                  </a:lnTo>
                  <a:lnTo>
                    <a:pt x="0" y="76200"/>
                  </a:lnTo>
                  <a:close/>
                </a:path>
              </a:pathLst>
            </a:custGeom>
            <a:solidFill>
              <a:srgbClr val="7C3AED"/>
            </a:solidFill>
          </p:spPr>
        </p:sp>
      </p:grpSp>
      <p:sp>
        <p:nvSpPr>
          <p:cNvPr name="TextBox 11" id="11"/>
          <p:cNvSpPr txBox="true"/>
          <p:nvPr/>
        </p:nvSpPr>
        <p:spPr>
          <a:xfrm rot="0">
            <a:off x="709146" y="2368620"/>
            <a:ext cx="4690110" cy="468278"/>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Hybrid Search (BM25 + Vector)</a:t>
            </a:r>
          </a:p>
        </p:txBody>
      </p:sp>
      <p:sp>
        <p:nvSpPr>
          <p:cNvPr name="TextBox 12" id="12"/>
          <p:cNvSpPr txBox="true"/>
          <p:nvPr/>
        </p:nvSpPr>
        <p:spPr>
          <a:xfrm rot="0">
            <a:off x="709146" y="2958865"/>
            <a:ext cx="4690110" cy="2417474"/>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pgvector cosine similarity fused with Postgres tsvector BM25 via Reciprocal Rank Fusion (k=60). Dense retrieval catches semantic matches; BM25 catches exact keyword matches. Zero new infrastructure — Postgres handles both. Generated tsv column with GIN index.</a:t>
            </a:r>
          </a:p>
        </p:txBody>
      </p:sp>
      <p:grpSp>
        <p:nvGrpSpPr>
          <p:cNvPr name="Group 13" id="13"/>
          <p:cNvGrpSpPr/>
          <p:nvPr/>
        </p:nvGrpSpPr>
        <p:grpSpPr>
          <a:xfrm rot="0">
            <a:off x="6101239" y="2189131"/>
            <a:ext cx="5299091" cy="3445983"/>
            <a:chOff x="0" y="0"/>
            <a:chExt cx="7065454" cy="4594644"/>
          </a:xfrm>
        </p:grpSpPr>
        <p:sp>
          <p:nvSpPr>
            <p:cNvPr name="Freeform 14" id="14"/>
            <p:cNvSpPr/>
            <p:nvPr/>
          </p:nvSpPr>
          <p:spPr>
            <a:xfrm flipH="false" flipV="false" rot="0">
              <a:off x="9525" y="9525"/>
              <a:ext cx="7046341" cy="4575556"/>
            </a:xfrm>
            <a:custGeom>
              <a:avLst/>
              <a:gdLst/>
              <a:ahLst/>
              <a:cxnLst/>
              <a:rect r="r" b="b" t="t" l="l"/>
              <a:pathLst>
                <a:path h="4575556" w="7046341">
                  <a:moveTo>
                    <a:pt x="0" y="0"/>
                  </a:moveTo>
                  <a:lnTo>
                    <a:pt x="7046341" y="0"/>
                  </a:lnTo>
                  <a:lnTo>
                    <a:pt x="7046341" y="4575556"/>
                  </a:lnTo>
                  <a:lnTo>
                    <a:pt x="0" y="4575556"/>
                  </a:lnTo>
                  <a:close/>
                </a:path>
              </a:pathLst>
            </a:custGeom>
            <a:solidFill>
              <a:srgbClr val="FFFFFF"/>
            </a:solidFill>
          </p:spPr>
        </p:sp>
        <p:sp>
          <p:nvSpPr>
            <p:cNvPr name="Freeform 15" id="15"/>
            <p:cNvSpPr/>
            <p:nvPr/>
          </p:nvSpPr>
          <p:spPr>
            <a:xfrm flipH="false" flipV="false" rot="0">
              <a:off x="0" y="0"/>
              <a:ext cx="7065391" cy="4594606"/>
            </a:xfrm>
            <a:custGeom>
              <a:avLst/>
              <a:gdLst/>
              <a:ahLst/>
              <a:cxnLst/>
              <a:rect r="r" b="b" t="t" l="l"/>
              <a:pathLst>
                <a:path h="4594606" w="7065391">
                  <a:moveTo>
                    <a:pt x="9525" y="0"/>
                  </a:moveTo>
                  <a:lnTo>
                    <a:pt x="7055866" y="0"/>
                  </a:lnTo>
                  <a:cubicBezTo>
                    <a:pt x="7061073" y="0"/>
                    <a:pt x="7065391" y="4318"/>
                    <a:pt x="7065391" y="9525"/>
                  </a:cubicBezTo>
                  <a:lnTo>
                    <a:pt x="7065391" y="4585081"/>
                  </a:lnTo>
                  <a:cubicBezTo>
                    <a:pt x="7065391" y="4590288"/>
                    <a:pt x="7061073" y="4594606"/>
                    <a:pt x="7055866" y="4594606"/>
                  </a:cubicBezTo>
                  <a:lnTo>
                    <a:pt x="9525" y="4594606"/>
                  </a:lnTo>
                  <a:cubicBezTo>
                    <a:pt x="4318" y="4594606"/>
                    <a:pt x="0" y="4590288"/>
                    <a:pt x="0" y="4585081"/>
                  </a:cubicBezTo>
                  <a:lnTo>
                    <a:pt x="0" y="9525"/>
                  </a:lnTo>
                  <a:cubicBezTo>
                    <a:pt x="0" y="4318"/>
                    <a:pt x="4318" y="0"/>
                    <a:pt x="9525" y="0"/>
                  </a:cubicBezTo>
                  <a:moveTo>
                    <a:pt x="9525" y="19050"/>
                  </a:moveTo>
                  <a:lnTo>
                    <a:pt x="9525" y="9525"/>
                  </a:lnTo>
                  <a:lnTo>
                    <a:pt x="19050" y="9525"/>
                  </a:lnTo>
                  <a:lnTo>
                    <a:pt x="19050" y="4585081"/>
                  </a:lnTo>
                  <a:lnTo>
                    <a:pt x="9525" y="4585081"/>
                  </a:lnTo>
                  <a:lnTo>
                    <a:pt x="9525" y="4575556"/>
                  </a:lnTo>
                  <a:lnTo>
                    <a:pt x="7055866" y="4575556"/>
                  </a:lnTo>
                  <a:lnTo>
                    <a:pt x="7055866" y="4585081"/>
                  </a:lnTo>
                  <a:lnTo>
                    <a:pt x="7046341" y="4585081"/>
                  </a:lnTo>
                  <a:lnTo>
                    <a:pt x="7046341" y="9525"/>
                  </a:lnTo>
                  <a:lnTo>
                    <a:pt x="7055866" y="9525"/>
                  </a:lnTo>
                  <a:lnTo>
                    <a:pt x="7055866" y="19050"/>
                  </a:lnTo>
                  <a:lnTo>
                    <a:pt x="9525" y="19050"/>
                  </a:lnTo>
                  <a:close/>
                </a:path>
              </a:pathLst>
            </a:custGeom>
            <a:solidFill>
              <a:srgbClr val="FFFFFF"/>
            </a:solidFill>
          </p:spPr>
        </p:sp>
      </p:grpSp>
      <p:grpSp>
        <p:nvGrpSpPr>
          <p:cNvPr name="Group 16" id="16"/>
          <p:cNvGrpSpPr/>
          <p:nvPr/>
        </p:nvGrpSpPr>
        <p:grpSpPr>
          <a:xfrm rot="0">
            <a:off x="6108392" y="2196274"/>
            <a:ext cx="5284784" cy="57198"/>
            <a:chOff x="0" y="0"/>
            <a:chExt cx="7046379" cy="76264"/>
          </a:xfrm>
        </p:grpSpPr>
        <p:sp>
          <p:nvSpPr>
            <p:cNvPr name="Freeform 17" id="17"/>
            <p:cNvSpPr/>
            <p:nvPr/>
          </p:nvSpPr>
          <p:spPr>
            <a:xfrm flipH="false" flipV="false" rot="0">
              <a:off x="0" y="0"/>
              <a:ext cx="7046341" cy="76200"/>
            </a:xfrm>
            <a:custGeom>
              <a:avLst/>
              <a:gdLst/>
              <a:ahLst/>
              <a:cxnLst/>
              <a:rect r="r" b="b" t="t" l="l"/>
              <a:pathLst>
                <a:path h="76200" w="7046341">
                  <a:moveTo>
                    <a:pt x="0" y="0"/>
                  </a:moveTo>
                  <a:lnTo>
                    <a:pt x="7046341" y="0"/>
                  </a:lnTo>
                  <a:lnTo>
                    <a:pt x="7046341" y="76200"/>
                  </a:lnTo>
                  <a:lnTo>
                    <a:pt x="0" y="76200"/>
                  </a:lnTo>
                  <a:close/>
                </a:path>
              </a:pathLst>
            </a:custGeom>
            <a:solidFill>
              <a:srgbClr val="059669"/>
            </a:solidFill>
          </p:spPr>
        </p:sp>
      </p:grpSp>
      <p:sp>
        <p:nvSpPr>
          <p:cNvPr name="TextBox 18" id="18"/>
          <p:cNvSpPr txBox="true"/>
          <p:nvPr/>
        </p:nvSpPr>
        <p:spPr>
          <a:xfrm rot="0">
            <a:off x="6405734" y="2368620"/>
            <a:ext cx="4690110" cy="468278"/>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Multimodal Image Retrieval</a:t>
            </a:r>
          </a:p>
        </p:txBody>
      </p:sp>
      <p:sp>
        <p:nvSpPr>
          <p:cNvPr name="TextBox 19" id="19"/>
          <p:cNvSpPr txBox="true"/>
          <p:nvPr/>
        </p:nvSpPr>
        <p:spPr>
          <a:xfrm rot="0">
            <a:off x="6405734" y="2958865"/>
            <a:ext cx="4690110" cy="2417474"/>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Opt-in at upload: extract embedded images with PyMuPDF, caption each with Gemini Vision (downsized + bounded concurrency), embed captions into the same hybrid space, and store image bytes in BYTEA. At answer time, image chunks are passed as multimodal Parts so Gemini reasons over the picture itself. Bold painting/figure names in the answer become clickable hyperlinks via fuzzy match against caption + adjacent page text.</a:t>
            </a:r>
          </a:p>
        </p:txBody>
      </p:sp>
      <p:grpSp>
        <p:nvGrpSpPr>
          <p:cNvPr name="Group 20" id="20"/>
          <p:cNvGrpSpPr/>
          <p:nvPr/>
        </p:nvGrpSpPr>
        <p:grpSpPr>
          <a:xfrm rot="0">
            <a:off x="11797836" y="2189131"/>
            <a:ext cx="5299091" cy="3445983"/>
            <a:chOff x="0" y="0"/>
            <a:chExt cx="7065454" cy="4594644"/>
          </a:xfrm>
        </p:grpSpPr>
        <p:sp>
          <p:nvSpPr>
            <p:cNvPr name="Freeform 21" id="21"/>
            <p:cNvSpPr/>
            <p:nvPr/>
          </p:nvSpPr>
          <p:spPr>
            <a:xfrm flipH="false" flipV="false" rot="0">
              <a:off x="9525" y="9525"/>
              <a:ext cx="7046341" cy="4575556"/>
            </a:xfrm>
            <a:custGeom>
              <a:avLst/>
              <a:gdLst/>
              <a:ahLst/>
              <a:cxnLst/>
              <a:rect r="r" b="b" t="t" l="l"/>
              <a:pathLst>
                <a:path h="4575556" w="7046341">
                  <a:moveTo>
                    <a:pt x="0" y="0"/>
                  </a:moveTo>
                  <a:lnTo>
                    <a:pt x="7046341" y="0"/>
                  </a:lnTo>
                  <a:lnTo>
                    <a:pt x="7046341" y="4575556"/>
                  </a:lnTo>
                  <a:lnTo>
                    <a:pt x="0" y="4575556"/>
                  </a:lnTo>
                  <a:close/>
                </a:path>
              </a:pathLst>
            </a:custGeom>
            <a:solidFill>
              <a:srgbClr val="FFFFFF"/>
            </a:solidFill>
          </p:spPr>
        </p:sp>
        <p:sp>
          <p:nvSpPr>
            <p:cNvPr name="Freeform 22" id="22"/>
            <p:cNvSpPr/>
            <p:nvPr/>
          </p:nvSpPr>
          <p:spPr>
            <a:xfrm flipH="false" flipV="false" rot="0">
              <a:off x="0" y="0"/>
              <a:ext cx="7065391" cy="4594606"/>
            </a:xfrm>
            <a:custGeom>
              <a:avLst/>
              <a:gdLst/>
              <a:ahLst/>
              <a:cxnLst/>
              <a:rect r="r" b="b" t="t" l="l"/>
              <a:pathLst>
                <a:path h="4594606" w="7065391">
                  <a:moveTo>
                    <a:pt x="9525" y="0"/>
                  </a:moveTo>
                  <a:lnTo>
                    <a:pt x="7055866" y="0"/>
                  </a:lnTo>
                  <a:cubicBezTo>
                    <a:pt x="7061073" y="0"/>
                    <a:pt x="7065391" y="4318"/>
                    <a:pt x="7065391" y="9525"/>
                  </a:cubicBezTo>
                  <a:lnTo>
                    <a:pt x="7065391" y="4585081"/>
                  </a:lnTo>
                  <a:cubicBezTo>
                    <a:pt x="7065391" y="4590288"/>
                    <a:pt x="7061073" y="4594606"/>
                    <a:pt x="7055866" y="4594606"/>
                  </a:cubicBezTo>
                  <a:lnTo>
                    <a:pt x="9525" y="4594606"/>
                  </a:lnTo>
                  <a:cubicBezTo>
                    <a:pt x="4318" y="4594606"/>
                    <a:pt x="0" y="4590288"/>
                    <a:pt x="0" y="4585081"/>
                  </a:cubicBezTo>
                  <a:lnTo>
                    <a:pt x="0" y="9525"/>
                  </a:lnTo>
                  <a:cubicBezTo>
                    <a:pt x="0" y="4318"/>
                    <a:pt x="4318" y="0"/>
                    <a:pt x="9525" y="0"/>
                  </a:cubicBezTo>
                  <a:moveTo>
                    <a:pt x="9525" y="19050"/>
                  </a:moveTo>
                  <a:lnTo>
                    <a:pt x="9525" y="9525"/>
                  </a:lnTo>
                  <a:lnTo>
                    <a:pt x="19050" y="9525"/>
                  </a:lnTo>
                  <a:lnTo>
                    <a:pt x="19050" y="4585081"/>
                  </a:lnTo>
                  <a:lnTo>
                    <a:pt x="9525" y="4585081"/>
                  </a:lnTo>
                  <a:lnTo>
                    <a:pt x="9525" y="4575556"/>
                  </a:lnTo>
                  <a:lnTo>
                    <a:pt x="7055866" y="4575556"/>
                  </a:lnTo>
                  <a:lnTo>
                    <a:pt x="7055866" y="4585081"/>
                  </a:lnTo>
                  <a:lnTo>
                    <a:pt x="7046341" y="4585081"/>
                  </a:lnTo>
                  <a:lnTo>
                    <a:pt x="7046341" y="9525"/>
                  </a:lnTo>
                  <a:lnTo>
                    <a:pt x="7055866" y="9525"/>
                  </a:lnTo>
                  <a:lnTo>
                    <a:pt x="7055866" y="19050"/>
                  </a:lnTo>
                  <a:lnTo>
                    <a:pt x="9525" y="19050"/>
                  </a:lnTo>
                  <a:close/>
                </a:path>
              </a:pathLst>
            </a:custGeom>
            <a:solidFill>
              <a:srgbClr val="FFFFFF"/>
            </a:solidFill>
          </p:spPr>
        </p:sp>
      </p:grpSp>
      <p:grpSp>
        <p:nvGrpSpPr>
          <p:cNvPr name="Group 23" id="23"/>
          <p:cNvGrpSpPr/>
          <p:nvPr/>
        </p:nvGrpSpPr>
        <p:grpSpPr>
          <a:xfrm rot="0">
            <a:off x="11804980" y="2196274"/>
            <a:ext cx="5284784" cy="57198"/>
            <a:chOff x="0" y="0"/>
            <a:chExt cx="7046379" cy="76264"/>
          </a:xfrm>
        </p:grpSpPr>
        <p:sp>
          <p:nvSpPr>
            <p:cNvPr name="Freeform 24" id="24"/>
            <p:cNvSpPr/>
            <p:nvPr/>
          </p:nvSpPr>
          <p:spPr>
            <a:xfrm flipH="false" flipV="false" rot="0">
              <a:off x="0" y="0"/>
              <a:ext cx="7046341" cy="76200"/>
            </a:xfrm>
            <a:custGeom>
              <a:avLst/>
              <a:gdLst/>
              <a:ahLst/>
              <a:cxnLst/>
              <a:rect r="r" b="b" t="t" l="l"/>
              <a:pathLst>
                <a:path h="76200" w="7046341">
                  <a:moveTo>
                    <a:pt x="0" y="0"/>
                  </a:moveTo>
                  <a:lnTo>
                    <a:pt x="7046341" y="0"/>
                  </a:lnTo>
                  <a:lnTo>
                    <a:pt x="7046341" y="76200"/>
                  </a:lnTo>
                  <a:lnTo>
                    <a:pt x="0" y="76200"/>
                  </a:lnTo>
                  <a:close/>
                </a:path>
              </a:pathLst>
            </a:custGeom>
            <a:solidFill>
              <a:srgbClr val="A78BFA"/>
            </a:solidFill>
          </p:spPr>
        </p:sp>
      </p:grpSp>
      <p:sp>
        <p:nvSpPr>
          <p:cNvPr name="TextBox 25" id="25"/>
          <p:cNvSpPr txBox="true"/>
          <p:nvPr/>
        </p:nvSpPr>
        <p:spPr>
          <a:xfrm rot="0">
            <a:off x="12102322" y="2368620"/>
            <a:ext cx="4690110" cy="468278"/>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Parent-Child Chunking</a:t>
            </a:r>
          </a:p>
        </p:txBody>
      </p:sp>
      <p:sp>
        <p:nvSpPr>
          <p:cNvPr name="TextBox 26" id="26"/>
          <p:cNvSpPr txBox="true"/>
          <p:nvPr/>
        </p:nvSpPr>
        <p:spPr>
          <a:xfrm rot="0">
            <a:off x="12102322" y="2958865"/>
            <a:ext cx="4690110" cy="2417474"/>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Small chunks (precise retrieval) are embedded and retrieved. Each chunk also stores its adjacent-window text (prev + self + next chunk) as parent_text. The LLM receives the wider context; citations show only the precise matched chunk.</a:t>
            </a:r>
          </a:p>
        </p:txBody>
      </p:sp>
      <p:grpSp>
        <p:nvGrpSpPr>
          <p:cNvPr name="Group 27" id="27"/>
          <p:cNvGrpSpPr/>
          <p:nvPr/>
        </p:nvGrpSpPr>
        <p:grpSpPr>
          <a:xfrm rot="0">
            <a:off x="3218631" y="5895346"/>
            <a:ext cx="6191326" cy="3720513"/>
            <a:chOff x="0" y="0"/>
            <a:chExt cx="8255102" cy="4960684"/>
          </a:xfrm>
        </p:grpSpPr>
        <p:sp>
          <p:nvSpPr>
            <p:cNvPr name="Freeform 28" id="28"/>
            <p:cNvSpPr/>
            <p:nvPr/>
          </p:nvSpPr>
          <p:spPr>
            <a:xfrm flipH="false" flipV="false" rot="0">
              <a:off x="9525" y="9525"/>
              <a:ext cx="8236077" cy="4941570"/>
            </a:xfrm>
            <a:custGeom>
              <a:avLst/>
              <a:gdLst/>
              <a:ahLst/>
              <a:cxnLst/>
              <a:rect r="r" b="b" t="t" l="l"/>
              <a:pathLst>
                <a:path h="4941570" w="8236077">
                  <a:moveTo>
                    <a:pt x="0" y="0"/>
                  </a:moveTo>
                  <a:lnTo>
                    <a:pt x="8236077" y="0"/>
                  </a:lnTo>
                  <a:lnTo>
                    <a:pt x="8236077" y="4941570"/>
                  </a:lnTo>
                  <a:lnTo>
                    <a:pt x="0" y="4941570"/>
                  </a:lnTo>
                  <a:close/>
                </a:path>
              </a:pathLst>
            </a:custGeom>
            <a:solidFill>
              <a:srgbClr val="FFFFFF"/>
            </a:solidFill>
          </p:spPr>
        </p:sp>
        <p:sp>
          <p:nvSpPr>
            <p:cNvPr name="Freeform 29" id="29"/>
            <p:cNvSpPr/>
            <p:nvPr/>
          </p:nvSpPr>
          <p:spPr>
            <a:xfrm flipH="false" flipV="false" rot="0">
              <a:off x="0" y="0"/>
              <a:ext cx="8255127" cy="4960620"/>
            </a:xfrm>
            <a:custGeom>
              <a:avLst/>
              <a:gdLst/>
              <a:ahLst/>
              <a:cxnLst/>
              <a:rect r="r" b="b" t="t" l="l"/>
              <a:pathLst>
                <a:path h="4960620" w="8255127">
                  <a:moveTo>
                    <a:pt x="9525" y="0"/>
                  </a:moveTo>
                  <a:lnTo>
                    <a:pt x="8245602" y="0"/>
                  </a:lnTo>
                  <a:cubicBezTo>
                    <a:pt x="8250809" y="0"/>
                    <a:pt x="8255127" y="4318"/>
                    <a:pt x="8255127" y="9525"/>
                  </a:cubicBezTo>
                  <a:lnTo>
                    <a:pt x="8255127" y="4951095"/>
                  </a:lnTo>
                  <a:cubicBezTo>
                    <a:pt x="8255127" y="4956302"/>
                    <a:pt x="8250809" y="4960620"/>
                    <a:pt x="8245602" y="4960620"/>
                  </a:cubicBezTo>
                  <a:lnTo>
                    <a:pt x="9525" y="4960620"/>
                  </a:lnTo>
                  <a:cubicBezTo>
                    <a:pt x="4318" y="4960620"/>
                    <a:pt x="0" y="4956302"/>
                    <a:pt x="0" y="4951095"/>
                  </a:cubicBezTo>
                  <a:lnTo>
                    <a:pt x="0" y="9525"/>
                  </a:lnTo>
                  <a:cubicBezTo>
                    <a:pt x="0" y="4318"/>
                    <a:pt x="4318" y="0"/>
                    <a:pt x="9525" y="0"/>
                  </a:cubicBezTo>
                  <a:moveTo>
                    <a:pt x="9525" y="19050"/>
                  </a:moveTo>
                  <a:lnTo>
                    <a:pt x="9525" y="9525"/>
                  </a:lnTo>
                  <a:lnTo>
                    <a:pt x="19050" y="9525"/>
                  </a:lnTo>
                  <a:lnTo>
                    <a:pt x="19050" y="4951095"/>
                  </a:lnTo>
                  <a:lnTo>
                    <a:pt x="9525" y="4951095"/>
                  </a:lnTo>
                  <a:lnTo>
                    <a:pt x="9525" y="4941570"/>
                  </a:lnTo>
                  <a:lnTo>
                    <a:pt x="8245602" y="4941570"/>
                  </a:lnTo>
                  <a:lnTo>
                    <a:pt x="8245602" y="4951095"/>
                  </a:lnTo>
                  <a:lnTo>
                    <a:pt x="8236077" y="4951095"/>
                  </a:lnTo>
                  <a:lnTo>
                    <a:pt x="8236077" y="9525"/>
                  </a:lnTo>
                  <a:lnTo>
                    <a:pt x="8245602" y="9525"/>
                  </a:lnTo>
                  <a:lnTo>
                    <a:pt x="8245602" y="19050"/>
                  </a:lnTo>
                  <a:lnTo>
                    <a:pt x="9525" y="19050"/>
                  </a:lnTo>
                  <a:close/>
                </a:path>
              </a:pathLst>
            </a:custGeom>
            <a:solidFill>
              <a:srgbClr val="FFFFFF"/>
            </a:solidFill>
          </p:spPr>
        </p:sp>
      </p:grpSp>
      <p:grpSp>
        <p:nvGrpSpPr>
          <p:cNvPr name="Group 30" id="30"/>
          <p:cNvGrpSpPr/>
          <p:nvPr/>
        </p:nvGrpSpPr>
        <p:grpSpPr>
          <a:xfrm rot="0">
            <a:off x="3225784" y="5902490"/>
            <a:ext cx="6177029" cy="57198"/>
            <a:chOff x="0" y="0"/>
            <a:chExt cx="8236039" cy="76264"/>
          </a:xfrm>
        </p:grpSpPr>
        <p:sp>
          <p:nvSpPr>
            <p:cNvPr name="Freeform 31" id="31"/>
            <p:cNvSpPr/>
            <p:nvPr/>
          </p:nvSpPr>
          <p:spPr>
            <a:xfrm flipH="false" flipV="false" rot="0">
              <a:off x="0" y="0"/>
              <a:ext cx="8236077" cy="76200"/>
            </a:xfrm>
            <a:custGeom>
              <a:avLst/>
              <a:gdLst/>
              <a:ahLst/>
              <a:cxnLst/>
              <a:rect r="r" b="b" t="t" l="l"/>
              <a:pathLst>
                <a:path h="76200" w="8236077">
                  <a:moveTo>
                    <a:pt x="0" y="0"/>
                  </a:moveTo>
                  <a:lnTo>
                    <a:pt x="8236077" y="0"/>
                  </a:lnTo>
                  <a:lnTo>
                    <a:pt x="8236077" y="76200"/>
                  </a:lnTo>
                  <a:lnTo>
                    <a:pt x="0" y="76200"/>
                  </a:lnTo>
                  <a:close/>
                </a:path>
              </a:pathLst>
            </a:custGeom>
            <a:solidFill>
              <a:srgbClr val="F97316"/>
            </a:solidFill>
          </p:spPr>
        </p:sp>
      </p:grpSp>
      <p:sp>
        <p:nvSpPr>
          <p:cNvPr name="TextBox 32" id="32"/>
          <p:cNvSpPr txBox="true"/>
          <p:nvPr/>
        </p:nvSpPr>
        <p:spPr>
          <a:xfrm rot="0">
            <a:off x="3523117" y="6074835"/>
            <a:ext cx="5582345" cy="468278"/>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Duplicate Upload Detection</a:t>
            </a:r>
          </a:p>
        </p:txBody>
      </p:sp>
      <p:sp>
        <p:nvSpPr>
          <p:cNvPr name="TextBox 33" id="33"/>
          <p:cNvSpPr txBox="true"/>
          <p:nvPr/>
        </p:nvSpPr>
        <p:spPr>
          <a:xfrm rot="0">
            <a:off x="3523117" y="6665081"/>
            <a:ext cx="5582345" cy="2692003"/>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doc_id is a SHA-256 hash of the PDF bytes. On upload, doc_exists() checks doc_meta before extraction begins. Identical file re-uploads skip PyMuPDF, tiktoken, all Gemini embedding calls, and DB writes — instant load from cache.</a:t>
            </a:r>
          </a:p>
        </p:txBody>
      </p:sp>
      <p:grpSp>
        <p:nvGrpSpPr>
          <p:cNvPr name="Group 34" id="34"/>
          <p:cNvGrpSpPr/>
          <p:nvPr/>
        </p:nvGrpSpPr>
        <p:grpSpPr>
          <a:xfrm rot="0">
            <a:off x="8915219" y="5895346"/>
            <a:ext cx="6191326" cy="3720513"/>
            <a:chOff x="0" y="0"/>
            <a:chExt cx="8255102" cy="4960684"/>
          </a:xfrm>
        </p:grpSpPr>
        <p:sp>
          <p:nvSpPr>
            <p:cNvPr name="Freeform 35" id="35"/>
            <p:cNvSpPr/>
            <p:nvPr/>
          </p:nvSpPr>
          <p:spPr>
            <a:xfrm flipH="false" flipV="false" rot="0">
              <a:off x="9525" y="9525"/>
              <a:ext cx="8236077" cy="4941570"/>
            </a:xfrm>
            <a:custGeom>
              <a:avLst/>
              <a:gdLst/>
              <a:ahLst/>
              <a:cxnLst/>
              <a:rect r="r" b="b" t="t" l="l"/>
              <a:pathLst>
                <a:path h="4941570" w="8236077">
                  <a:moveTo>
                    <a:pt x="0" y="0"/>
                  </a:moveTo>
                  <a:lnTo>
                    <a:pt x="8236077" y="0"/>
                  </a:lnTo>
                  <a:lnTo>
                    <a:pt x="8236077" y="4941570"/>
                  </a:lnTo>
                  <a:lnTo>
                    <a:pt x="0" y="4941570"/>
                  </a:lnTo>
                  <a:close/>
                </a:path>
              </a:pathLst>
            </a:custGeom>
            <a:solidFill>
              <a:srgbClr val="FFFFFF"/>
            </a:solidFill>
          </p:spPr>
        </p:sp>
        <p:sp>
          <p:nvSpPr>
            <p:cNvPr name="Freeform 36" id="36"/>
            <p:cNvSpPr/>
            <p:nvPr/>
          </p:nvSpPr>
          <p:spPr>
            <a:xfrm flipH="false" flipV="false" rot="0">
              <a:off x="0" y="0"/>
              <a:ext cx="8255127" cy="4960620"/>
            </a:xfrm>
            <a:custGeom>
              <a:avLst/>
              <a:gdLst/>
              <a:ahLst/>
              <a:cxnLst/>
              <a:rect r="r" b="b" t="t" l="l"/>
              <a:pathLst>
                <a:path h="4960620" w="8255127">
                  <a:moveTo>
                    <a:pt x="9525" y="0"/>
                  </a:moveTo>
                  <a:lnTo>
                    <a:pt x="8245602" y="0"/>
                  </a:lnTo>
                  <a:cubicBezTo>
                    <a:pt x="8250809" y="0"/>
                    <a:pt x="8255127" y="4318"/>
                    <a:pt x="8255127" y="9525"/>
                  </a:cubicBezTo>
                  <a:lnTo>
                    <a:pt x="8255127" y="4951095"/>
                  </a:lnTo>
                  <a:cubicBezTo>
                    <a:pt x="8255127" y="4956302"/>
                    <a:pt x="8250809" y="4960620"/>
                    <a:pt x="8245602" y="4960620"/>
                  </a:cubicBezTo>
                  <a:lnTo>
                    <a:pt x="9525" y="4960620"/>
                  </a:lnTo>
                  <a:cubicBezTo>
                    <a:pt x="4318" y="4960620"/>
                    <a:pt x="0" y="4956302"/>
                    <a:pt x="0" y="4951095"/>
                  </a:cubicBezTo>
                  <a:lnTo>
                    <a:pt x="0" y="9525"/>
                  </a:lnTo>
                  <a:cubicBezTo>
                    <a:pt x="0" y="4318"/>
                    <a:pt x="4318" y="0"/>
                    <a:pt x="9525" y="0"/>
                  </a:cubicBezTo>
                  <a:moveTo>
                    <a:pt x="9525" y="19050"/>
                  </a:moveTo>
                  <a:lnTo>
                    <a:pt x="9525" y="9525"/>
                  </a:lnTo>
                  <a:lnTo>
                    <a:pt x="19050" y="9525"/>
                  </a:lnTo>
                  <a:lnTo>
                    <a:pt x="19050" y="4951095"/>
                  </a:lnTo>
                  <a:lnTo>
                    <a:pt x="9525" y="4951095"/>
                  </a:lnTo>
                  <a:lnTo>
                    <a:pt x="9525" y="4941570"/>
                  </a:lnTo>
                  <a:lnTo>
                    <a:pt x="8245602" y="4941570"/>
                  </a:lnTo>
                  <a:lnTo>
                    <a:pt x="8245602" y="4951095"/>
                  </a:lnTo>
                  <a:lnTo>
                    <a:pt x="8236077" y="4951095"/>
                  </a:lnTo>
                  <a:lnTo>
                    <a:pt x="8236077" y="9525"/>
                  </a:lnTo>
                  <a:lnTo>
                    <a:pt x="8245602" y="9525"/>
                  </a:lnTo>
                  <a:lnTo>
                    <a:pt x="8245602" y="19050"/>
                  </a:lnTo>
                  <a:lnTo>
                    <a:pt x="9525" y="19050"/>
                  </a:lnTo>
                  <a:close/>
                </a:path>
              </a:pathLst>
            </a:custGeom>
            <a:solidFill>
              <a:srgbClr val="FFFFFF"/>
            </a:solidFill>
          </p:spPr>
        </p:sp>
      </p:grpSp>
      <p:grpSp>
        <p:nvGrpSpPr>
          <p:cNvPr name="Group 37" id="37"/>
          <p:cNvGrpSpPr/>
          <p:nvPr/>
        </p:nvGrpSpPr>
        <p:grpSpPr>
          <a:xfrm rot="0">
            <a:off x="8922372" y="5902490"/>
            <a:ext cx="6177029" cy="57198"/>
            <a:chOff x="0" y="0"/>
            <a:chExt cx="8236039" cy="76264"/>
          </a:xfrm>
        </p:grpSpPr>
        <p:sp>
          <p:nvSpPr>
            <p:cNvPr name="Freeform 38" id="38"/>
            <p:cNvSpPr/>
            <p:nvPr/>
          </p:nvSpPr>
          <p:spPr>
            <a:xfrm flipH="false" flipV="false" rot="0">
              <a:off x="0" y="0"/>
              <a:ext cx="8236077" cy="76200"/>
            </a:xfrm>
            <a:custGeom>
              <a:avLst/>
              <a:gdLst/>
              <a:ahLst/>
              <a:cxnLst/>
              <a:rect r="r" b="b" t="t" l="l"/>
              <a:pathLst>
                <a:path h="76200" w="8236077">
                  <a:moveTo>
                    <a:pt x="0" y="0"/>
                  </a:moveTo>
                  <a:lnTo>
                    <a:pt x="8236077" y="0"/>
                  </a:lnTo>
                  <a:lnTo>
                    <a:pt x="8236077" y="76200"/>
                  </a:lnTo>
                  <a:lnTo>
                    <a:pt x="0" y="76200"/>
                  </a:lnTo>
                  <a:close/>
                </a:path>
              </a:pathLst>
            </a:custGeom>
            <a:solidFill>
              <a:srgbClr val="F59E0B"/>
            </a:solidFill>
          </p:spPr>
        </p:sp>
      </p:grpSp>
      <p:sp>
        <p:nvSpPr>
          <p:cNvPr name="TextBox 39" id="39"/>
          <p:cNvSpPr txBox="true"/>
          <p:nvPr/>
        </p:nvSpPr>
        <p:spPr>
          <a:xfrm rot="0">
            <a:off x="9219714" y="6074835"/>
            <a:ext cx="5582345" cy="468278"/>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Numbered Citations, PDF Viewer &amp; Memory</a:t>
            </a:r>
          </a:p>
        </p:txBody>
      </p:sp>
      <p:sp>
        <p:nvSpPr>
          <p:cNvPr name="TextBox 40" id="40"/>
          <p:cNvSpPr txBox="true"/>
          <p:nvPr/>
        </p:nvSpPr>
        <p:spPr>
          <a:xfrm rot="0">
            <a:off x="9219714" y="6665081"/>
            <a:ext cx="5582345" cy="2692003"/>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Inline numbered [1][2][3] citations in every answer. Click any badge to open the PDF viewer highlighting the exact source chunk. Conversation memory persists across turns. — a low min_sim signals k is too small for the document. Citation pills in the UI show a colour-coded % badge: green ≥75%, amber ≥50%, red &lt;50%.</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DEMONSTRATION</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Live demo</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059669"/>
            </a:solidFill>
          </p:spPr>
        </p:sp>
      </p:grpSp>
      <p:grpSp>
        <p:nvGrpSpPr>
          <p:cNvPr name="Group 6" id="6"/>
          <p:cNvGrpSpPr/>
          <p:nvPr/>
        </p:nvGrpSpPr>
        <p:grpSpPr>
          <a:xfrm rot="0">
            <a:off x="816454" y="2189131"/>
            <a:ext cx="16664816" cy="6191326"/>
            <a:chOff x="0" y="0"/>
            <a:chExt cx="22219755" cy="8255102"/>
          </a:xfrm>
        </p:grpSpPr>
        <p:sp>
          <p:nvSpPr>
            <p:cNvPr name="Freeform 7" id="7"/>
            <p:cNvSpPr/>
            <p:nvPr/>
          </p:nvSpPr>
          <p:spPr>
            <a:xfrm flipH="false" flipV="false" rot="0">
              <a:off x="9525" y="9525"/>
              <a:ext cx="22200743" cy="8236077"/>
            </a:xfrm>
            <a:custGeom>
              <a:avLst/>
              <a:gdLst/>
              <a:ahLst/>
              <a:cxnLst/>
              <a:rect r="r" b="b" t="t" l="l"/>
              <a:pathLst>
                <a:path h="8236077" w="22200743">
                  <a:moveTo>
                    <a:pt x="0" y="0"/>
                  </a:moveTo>
                  <a:lnTo>
                    <a:pt x="22200743" y="0"/>
                  </a:lnTo>
                  <a:lnTo>
                    <a:pt x="22200743" y="8236077"/>
                  </a:lnTo>
                  <a:lnTo>
                    <a:pt x="0" y="8236077"/>
                  </a:lnTo>
                  <a:close/>
                </a:path>
              </a:pathLst>
            </a:custGeom>
            <a:solidFill>
              <a:srgbClr val="FFFFFF"/>
            </a:solidFill>
          </p:spPr>
        </p:sp>
        <p:sp>
          <p:nvSpPr>
            <p:cNvPr name="Freeform 8" id="8"/>
            <p:cNvSpPr/>
            <p:nvPr/>
          </p:nvSpPr>
          <p:spPr>
            <a:xfrm flipH="false" flipV="false" rot="0">
              <a:off x="0" y="0"/>
              <a:ext cx="22219793" cy="8255127"/>
            </a:xfrm>
            <a:custGeom>
              <a:avLst/>
              <a:gdLst/>
              <a:ahLst/>
              <a:cxnLst/>
              <a:rect r="r" b="b" t="t" l="l"/>
              <a:pathLst>
                <a:path h="8255127" w="22219793">
                  <a:moveTo>
                    <a:pt x="9525" y="0"/>
                  </a:moveTo>
                  <a:lnTo>
                    <a:pt x="22210268" y="0"/>
                  </a:lnTo>
                  <a:cubicBezTo>
                    <a:pt x="22215475" y="0"/>
                    <a:pt x="22219793" y="4318"/>
                    <a:pt x="22219793" y="9525"/>
                  </a:cubicBezTo>
                  <a:lnTo>
                    <a:pt x="22219793" y="8245602"/>
                  </a:lnTo>
                  <a:cubicBezTo>
                    <a:pt x="22219793" y="8250809"/>
                    <a:pt x="22215475" y="8255127"/>
                    <a:pt x="22210268" y="8255127"/>
                  </a:cubicBezTo>
                  <a:lnTo>
                    <a:pt x="9525" y="8255127"/>
                  </a:lnTo>
                  <a:cubicBezTo>
                    <a:pt x="4318" y="8255127"/>
                    <a:pt x="0" y="8250809"/>
                    <a:pt x="0" y="8245602"/>
                  </a:cubicBezTo>
                  <a:lnTo>
                    <a:pt x="0" y="9525"/>
                  </a:lnTo>
                  <a:cubicBezTo>
                    <a:pt x="0" y="4318"/>
                    <a:pt x="4318" y="0"/>
                    <a:pt x="9525" y="0"/>
                  </a:cubicBezTo>
                  <a:moveTo>
                    <a:pt x="9525" y="19050"/>
                  </a:moveTo>
                  <a:lnTo>
                    <a:pt x="9525" y="9525"/>
                  </a:lnTo>
                  <a:lnTo>
                    <a:pt x="19050" y="9525"/>
                  </a:lnTo>
                  <a:lnTo>
                    <a:pt x="19050" y="8245602"/>
                  </a:lnTo>
                  <a:lnTo>
                    <a:pt x="9525" y="8245602"/>
                  </a:lnTo>
                  <a:lnTo>
                    <a:pt x="9525" y="8236077"/>
                  </a:lnTo>
                  <a:lnTo>
                    <a:pt x="22210268" y="8236077"/>
                  </a:lnTo>
                  <a:lnTo>
                    <a:pt x="22210268" y="8245602"/>
                  </a:lnTo>
                  <a:lnTo>
                    <a:pt x="22200743" y="8245602"/>
                  </a:lnTo>
                  <a:lnTo>
                    <a:pt x="22200743" y="9525"/>
                  </a:lnTo>
                  <a:lnTo>
                    <a:pt x="22210268" y="9525"/>
                  </a:lnTo>
                  <a:lnTo>
                    <a:pt x="22210268" y="19050"/>
                  </a:lnTo>
                  <a:lnTo>
                    <a:pt x="9525" y="19050"/>
                  </a:lnTo>
                  <a:close/>
                </a:path>
              </a:pathLst>
            </a:custGeom>
            <a:solidFill>
              <a:srgbClr val="7C3AED"/>
            </a:solidFill>
          </p:spPr>
        </p:sp>
      </p:grpSp>
      <p:sp>
        <p:nvSpPr>
          <p:cNvPr name="TextBox 9" id="9"/>
          <p:cNvSpPr txBox="true"/>
          <p:nvPr/>
        </p:nvSpPr>
        <p:spPr>
          <a:xfrm rot="0">
            <a:off x="1326842" y="2468909"/>
            <a:ext cx="15602855" cy="505254"/>
          </a:xfrm>
          <a:prstGeom prst="rect">
            <a:avLst/>
          </a:prstGeom>
        </p:spPr>
        <p:txBody>
          <a:bodyPr anchor="t" rtlCol="false" tIns="0" lIns="0" bIns="0" rIns="0">
            <a:spAutoFit/>
          </a:bodyPr>
          <a:lstStyle/>
          <a:p>
            <a:pPr algn="l">
              <a:lnSpc>
                <a:spcPts val="2521"/>
              </a:lnSpc>
            </a:pPr>
            <a:r>
              <a:rPr lang="en-US" sz="2101" b="true">
                <a:solidFill>
                  <a:srgbClr val="4C1D95"/>
                </a:solidFill>
                <a:latin typeface="Calibri (MS) Bold"/>
                <a:ea typeface="Calibri (MS) Bold"/>
                <a:cs typeface="Calibri (MS) Bold"/>
                <a:sym typeface="Calibri (MS) Bold"/>
              </a:rPr>
              <a:t>Demo flow</a:t>
            </a:r>
          </a:p>
        </p:txBody>
      </p:sp>
      <p:sp>
        <p:nvSpPr>
          <p:cNvPr name="TextBox 10" id="10"/>
          <p:cNvSpPr txBox="true"/>
          <p:nvPr/>
        </p:nvSpPr>
        <p:spPr>
          <a:xfrm rot="0">
            <a:off x="1326842" y="3145717"/>
            <a:ext cx="503453" cy="720681"/>
          </a:xfrm>
          <a:prstGeom prst="rect">
            <a:avLst/>
          </a:prstGeom>
        </p:spPr>
        <p:txBody>
          <a:bodyPr anchor="t" rtlCol="false" tIns="0" lIns="0" bIns="0" rIns="0">
            <a:spAutoFit/>
          </a:bodyPr>
          <a:lstStyle/>
          <a:p>
            <a:pPr algn="l">
              <a:lnSpc>
                <a:spcPts val="3242"/>
              </a:lnSpc>
            </a:pPr>
            <a:r>
              <a:rPr lang="en-US" sz="2702">
                <a:solidFill>
                  <a:srgbClr val="4C1D95"/>
                </a:solidFill>
                <a:latin typeface="Calibri (MS)"/>
                <a:ea typeface="Calibri (MS)"/>
                <a:cs typeface="Calibri (MS)"/>
                <a:sym typeface="Calibri (MS)"/>
              </a:rPr>
              <a:t>1️⃣</a:t>
            </a:r>
          </a:p>
        </p:txBody>
      </p:sp>
      <p:sp>
        <p:nvSpPr>
          <p:cNvPr name="TextBox 11" id="11"/>
          <p:cNvSpPr txBox="true"/>
          <p:nvPr/>
        </p:nvSpPr>
        <p:spPr>
          <a:xfrm rot="0">
            <a:off x="2150450" y="3223879"/>
            <a:ext cx="14916512" cy="436616"/>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Upload a PDF</a:t>
            </a:r>
          </a:p>
        </p:txBody>
      </p:sp>
      <p:sp>
        <p:nvSpPr>
          <p:cNvPr name="TextBox 12" id="12"/>
          <p:cNvSpPr txBox="true"/>
          <p:nvPr/>
        </p:nvSpPr>
        <p:spPr>
          <a:xfrm rot="0">
            <a:off x="2150450" y="3695910"/>
            <a:ext cx="14916512" cy="417566"/>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Drag &amp; drop — watch ingest progress: extract → chunk → embed → done</a:t>
            </a:r>
          </a:p>
        </p:txBody>
      </p:sp>
      <p:sp>
        <p:nvSpPr>
          <p:cNvPr name="TextBox 13" id="13"/>
          <p:cNvSpPr txBox="true"/>
          <p:nvPr/>
        </p:nvSpPr>
        <p:spPr>
          <a:xfrm rot="0">
            <a:off x="1326842" y="4312491"/>
            <a:ext cx="503453" cy="720681"/>
          </a:xfrm>
          <a:prstGeom prst="rect">
            <a:avLst/>
          </a:prstGeom>
        </p:spPr>
        <p:txBody>
          <a:bodyPr anchor="t" rtlCol="false" tIns="0" lIns="0" bIns="0" rIns="0">
            <a:spAutoFit/>
          </a:bodyPr>
          <a:lstStyle/>
          <a:p>
            <a:pPr algn="l">
              <a:lnSpc>
                <a:spcPts val="3242"/>
              </a:lnSpc>
            </a:pPr>
            <a:r>
              <a:rPr lang="en-US" sz="2702">
                <a:solidFill>
                  <a:srgbClr val="4C1D95"/>
                </a:solidFill>
                <a:latin typeface="Calibri (MS)"/>
                <a:ea typeface="Calibri (MS)"/>
                <a:cs typeface="Calibri (MS)"/>
                <a:sym typeface="Calibri (MS)"/>
              </a:rPr>
              <a:t>2️⃣</a:t>
            </a:r>
          </a:p>
        </p:txBody>
      </p:sp>
      <p:sp>
        <p:nvSpPr>
          <p:cNvPr name="TextBox 14" id="14"/>
          <p:cNvSpPr txBox="true"/>
          <p:nvPr/>
        </p:nvSpPr>
        <p:spPr>
          <a:xfrm rot="0">
            <a:off x="2150450" y="4390644"/>
            <a:ext cx="14916512" cy="436616"/>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Ask a specific question</a:t>
            </a:r>
          </a:p>
        </p:txBody>
      </p:sp>
      <p:sp>
        <p:nvSpPr>
          <p:cNvPr name="TextBox 15" id="15"/>
          <p:cNvSpPr txBox="true"/>
          <p:nvPr/>
        </p:nvSpPr>
        <p:spPr>
          <a:xfrm rot="0">
            <a:off x="2150450" y="4862674"/>
            <a:ext cx="14916512" cy="417566"/>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Observe streamed response, citation pills with similarity % badges, and hover for raw chunk text</a:t>
            </a:r>
          </a:p>
        </p:txBody>
      </p:sp>
      <p:sp>
        <p:nvSpPr>
          <p:cNvPr name="TextBox 16" id="16"/>
          <p:cNvSpPr txBox="true"/>
          <p:nvPr/>
        </p:nvSpPr>
        <p:spPr>
          <a:xfrm rot="0">
            <a:off x="1326842" y="5479256"/>
            <a:ext cx="503453" cy="720681"/>
          </a:xfrm>
          <a:prstGeom prst="rect">
            <a:avLst/>
          </a:prstGeom>
        </p:spPr>
        <p:txBody>
          <a:bodyPr anchor="t" rtlCol="false" tIns="0" lIns="0" bIns="0" rIns="0">
            <a:spAutoFit/>
          </a:bodyPr>
          <a:lstStyle/>
          <a:p>
            <a:pPr algn="l">
              <a:lnSpc>
                <a:spcPts val="3242"/>
              </a:lnSpc>
            </a:pPr>
            <a:r>
              <a:rPr lang="en-US" sz="2702">
                <a:solidFill>
                  <a:srgbClr val="4C1D95"/>
                </a:solidFill>
                <a:latin typeface="Calibri (MS)"/>
                <a:ea typeface="Calibri (MS)"/>
                <a:cs typeface="Calibri (MS)"/>
                <a:sym typeface="Calibri (MS)"/>
              </a:rPr>
              <a:t>3️⃣</a:t>
            </a:r>
          </a:p>
        </p:txBody>
      </p:sp>
      <p:sp>
        <p:nvSpPr>
          <p:cNvPr name="TextBox 17" id="17"/>
          <p:cNvSpPr txBox="true"/>
          <p:nvPr/>
        </p:nvSpPr>
        <p:spPr>
          <a:xfrm rot="0">
            <a:off x="2150450" y="5557418"/>
            <a:ext cx="14916512" cy="436616"/>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Re-upload the same PDF</a:t>
            </a:r>
          </a:p>
        </p:txBody>
      </p:sp>
      <p:sp>
        <p:nvSpPr>
          <p:cNvPr name="TextBox 18" id="18"/>
          <p:cNvSpPr txBox="true"/>
          <p:nvPr/>
        </p:nvSpPr>
        <p:spPr>
          <a:xfrm rot="0">
            <a:off x="2150450" y="6029449"/>
            <a:ext cx="14916512" cy="417566"/>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Ingest completes instantly — duplicate detection skips all embedding</a:t>
            </a:r>
          </a:p>
        </p:txBody>
      </p:sp>
      <p:sp>
        <p:nvSpPr>
          <p:cNvPr name="TextBox 19" id="19"/>
          <p:cNvSpPr txBox="true"/>
          <p:nvPr/>
        </p:nvSpPr>
        <p:spPr>
          <a:xfrm rot="0">
            <a:off x="1326842" y="6646031"/>
            <a:ext cx="503453" cy="720681"/>
          </a:xfrm>
          <a:prstGeom prst="rect">
            <a:avLst/>
          </a:prstGeom>
        </p:spPr>
        <p:txBody>
          <a:bodyPr anchor="t" rtlCol="false" tIns="0" lIns="0" bIns="0" rIns="0">
            <a:spAutoFit/>
          </a:bodyPr>
          <a:lstStyle/>
          <a:p>
            <a:pPr algn="l">
              <a:lnSpc>
                <a:spcPts val="3242"/>
              </a:lnSpc>
            </a:pPr>
            <a:r>
              <a:rPr lang="en-US" sz="2702">
                <a:solidFill>
                  <a:srgbClr val="4C1D95"/>
                </a:solidFill>
                <a:latin typeface="Calibri (MS)"/>
                <a:ea typeface="Calibri (MS)"/>
                <a:cs typeface="Calibri (MS)"/>
                <a:sym typeface="Calibri (MS)"/>
              </a:rPr>
              <a:t>4️⃣</a:t>
            </a:r>
          </a:p>
        </p:txBody>
      </p:sp>
      <p:sp>
        <p:nvSpPr>
          <p:cNvPr name="TextBox 20" id="20"/>
          <p:cNvSpPr txBox="true"/>
          <p:nvPr/>
        </p:nvSpPr>
        <p:spPr>
          <a:xfrm rot="0">
            <a:off x="2150450" y="6724193"/>
            <a:ext cx="14916512" cy="436616"/>
          </a:xfrm>
          <a:prstGeom prst="rect">
            <a:avLst/>
          </a:prstGeom>
        </p:spPr>
        <p:txBody>
          <a:bodyPr anchor="t" rtlCol="false" tIns="0" lIns="0" bIns="0" rIns="0">
            <a:spAutoFit/>
          </a:bodyPr>
          <a:lstStyle/>
          <a:p>
            <a:pPr algn="l">
              <a:lnSpc>
                <a:spcPts val="2341"/>
              </a:lnSpc>
            </a:pPr>
            <a:r>
              <a:rPr lang="en-US" sz="1951" b="true">
                <a:solidFill>
                  <a:srgbClr val="4C1D95"/>
                </a:solidFill>
                <a:latin typeface="Calibri (MS) Bold"/>
                <a:ea typeface="Calibri (MS) Bold"/>
                <a:cs typeface="Calibri (MS) Bold"/>
                <a:sym typeface="Calibri (MS) Bold"/>
              </a:rPr>
              <a:t>Ask something unanswerable</a:t>
            </a:r>
          </a:p>
        </p:txBody>
      </p:sp>
      <p:sp>
        <p:nvSpPr>
          <p:cNvPr name="TextBox 21" id="21"/>
          <p:cNvSpPr txBox="true"/>
          <p:nvPr/>
        </p:nvSpPr>
        <p:spPr>
          <a:xfrm rot="0">
            <a:off x="2150450" y="7196223"/>
            <a:ext cx="14916512" cy="417566"/>
          </a:xfrm>
          <a:prstGeom prst="rect">
            <a:avLst/>
          </a:prstGeom>
        </p:spPr>
        <p:txBody>
          <a:bodyPr anchor="t" rtlCol="false" tIns="0" lIns="0" bIns="0" rIns="0">
            <a:spAutoFit/>
          </a:bodyPr>
          <a:lstStyle/>
          <a:p>
            <a:pPr algn="l">
              <a:lnSpc>
                <a:spcPts val="1981"/>
              </a:lnSpc>
            </a:pPr>
            <a:r>
              <a:rPr lang="en-US" sz="1651">
                <a:solidFill>
                  <a:srgbClr val="7C3AED"/>
                </a:solidFill>
                <a:latin typeface="Calibri (MS)"/>
                <a:ea typeface="Calibri (MS)"/>
                <a:cs typeface="Calibri (MS)"/>
                <a:sym typeface="Calibri (MS)"/>
              </a:rPr>
              <a:t>System responds "I don't know." — no hallucination</a:t>
            </a:r>
          </a:p>
        </p:txBody>
      </p:sp>
      <p:sp>
        <p:nvSpPr>
          <p:cNvPr name="TextBox 22" id="22"/>
          <p:cNvSpPr txBox="true"/>
          <p:nvPr/>
        </p:nvSpPr>
        <p:spPr>
          <a:xfrm rot="0">
            <a:off x="915048" y="8664978"/>
            <a:ext cx="16467639" cy="486204"/>
          </a:xfrm>
          <a:prstGeom prst="rect">
            <a:avLst/>
          </a:prstGeom>
        </p:spPr>
        <p:txBody>
          <a:bodyPr anchor="t" rtlCol="false" tIns="0" lIns="0" bIns="0" rIns="0">
            <a:spAutoFit/>
          </a:bodyPr>
          <a:lstStyle/>
          <a:p>
            <a:pPr algn="ctr">
              <a:lnSpc>
                <a:spcPts val="1981"/>
              </a:lnSpc>
            </a:pPr>
            <a:r>
              <a:rPr lang="en-US" sz="1651">
                <a:solidFill>
                  <a:srgbClr val="7C3AED"/>
                </a:solidFill>
                <a:latin typeface="Calibri (MS)"/>
                <a:ea typeface="Calibri (MS)"/>
                <a:cs typeface="Calibri (MS)"/>
                <a:sym typeface="Calibri (MS)"/>
              </a:rPr>
              <a:t>http://localhost:8000   ·   docker compose up -d &amp;&amp; uvicorn backend.main:app --reload</a:t>
            </a: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5048" y="488051"/>
            <a:ext cx="16289188" cy="427091"/>
          </a:xfrm>
          <a:prstGeom prst="rect">
            <a:avLst/>
          </a:prstGeom>
        </p:spPr>
        <p:txBody>
          <a:bodyPr anchor="t" rtlCol="false" tIns="0" lIns="0" bIns="0" rIns="0">
            <a:spAutoFit/>
          </a:bodyPr>
          <a:lstStyle/>
          <a:p>
            <a:pPr algn="l">
              <a:lnSpc>
                <a:spcPts val="1801"/>
              </a:lnSpc>
            </a:pPr>
            <a:r>
              <a:rPr lang="en-US" sz="1501" b="true">
                <a:solidFill>
                  <a:srgbClr val="7C3AED"/>
                </a:solidFill>
                <a:latin typeface="Calibri (MS) Bold"/>
                <a:ea typeface="Calibri (MS) Bold"/>
                <a:cs typeface="Calibri (MS) Bold"/>
                <a:sym typeface="Calibri (MS) Bold"/>
              </a:rPr>
              <a:t>ROADMAP</a:t>
            </a:r>
          </a:p>
        </p:txBody>
      </p:sp>
      <p:sp>
        <p:nvSpPr>
          <p:cNvPr name="TextBox 3" id="3"/>
          <p:cNvSpPr txBox="true"/>
          <p:nvPr/>
        </p:nvSpPr>
        <p:spPr>
          <a:xfrm rot="0">
            <a:off x="915048" y="989495"/>
            <a:ext cx="16289188" cy="1366961"/>
          </a:xfrm>
          <a:prstGeom prst="rect">
            <a:avLst/>
          </a:prstGeom>
        </p:spPr>
        <p:txBody>
          <a:bodyPr anchor="t" rtlCol="false" tIns="0" lIns="0" bIns="0" rIns="0">
            <a:spAutoFit/>
          </a:bodyPr>
          <a:lstStyle/>
          <a:p>
            <a:pPr algn="l">
              <a:lnSpc>
                <a:spcPts val="5764"/>
              </a:lnSpc>
            </a:pPr>
            <a:r>
              <a:rPr lang="en-US" sz="4803" b="true">
                <a:solidFill>
                  <a:srgbClr val="4C1D95"/>
                </a:solidFill>
                <a:latin typeface="Calibri (MS) Bold"/>
                <a:ea typeface="Calibri (MS) Bold"/>
                <a:cs typeface="Calibri (MS) Bold"/>
                <a:sym typeface="Calibri (MS) Bold"/>
              </a:rPr>
              <a:t>Next steps</a:t>
            </a:r>
          </a:p>
        </p:txBody>
      </p:sp>
      <p:grpSp>
        <p:nvGrpSpPr>
          <p:cNvPr name="Group 4" id="4"/>
          <p:cNvGrpSpPr/>
          <p:nvPr/>
        </p:nvGrpSpPr>
        <p:grpSpPr>
          <a:xfrm rot="0">
            <a:off x="823608" y="1853108"/>
            <a:ext cx="16650519" cy="57198"/>
            <a:chOff x="0" y="0"/>
            <a:chExt cx="22200692" cy="76264"/>
          </a:xfrm>
        </p:grpSpPr>
        <p:sp>
          <p:nvSpPr>
            <p:cNvPr name="Freeform 5" id="5"/>
            <p:cNvSpPr/>
            <p:nvPr/>
          </p:nvSpPr>
          <p:spPr>
            <a:xfrm flipH="false" flipV="false" rot="0">
              <a:off x="0" y="0"/>
              <a:ext cx="22200743" cy="76200"/>
            </a:xfrm>
            <a:custGeom>
              <a:avLst/>
              <a:gdLst/>
              <a:ahLst/>
              <a:cxnLst/>
              <a:rect r="r" b="b" t="t" l="l"/>
              <a:pathLst>
                <a:path h="76200" w="22200743">
                  <a:moveTo>
                    <a:pt x="0" y="0"/>
                  </a:moveTo>
                  <a:lnTo>
                    <a:pt x="22200743" y="0"/>
                  </a:lnTo>
                  <a:lnTo>
                    <a:pt x="22200743" y="76200"/>
                  </a:lnTo>
                  <a:lnTo>
                    <a:pt x="0" y="76200"/>
                  </a:lnTo>
                  <a:close/>
                </a:path>
              </a:pathLst>
            </a:custGeom>
            <a:solidFill>
              <a:srgbClr val="7C3AED"/>
            </a:solidFill>
          </p:spPr>
        </p:sp>
      </p:grpSp>
      <p:grpSp>
        <p:nvGrpSpPr>
          <p:cNvPr name="Group 6" id="6"/>
          <p:cNvGrpSpPr/>
          <p:nvPr/>
        </p:nvGrpSpPr>
        <p:grpSpPr>
          <a:xfrm rot="0">
            <a:off x="404651" y="2189131"/>
            <a:ext cx="5710885" cy="7632630"/>
            <a:chOff x="0" y="0"/>
            <a:chExt cx="7614514" cy="10176840"/>
          </a:xfrm>
        </p:grpSpPr>
        <p:sp>
          <p:nvSpPr>
            <p:cNvPr name="Freeform 7" id="7"/>
            <p:cNvSpPr/>
            <p:nvPr/>
          </p:nvSpPr>
          <p:spPr>
            <a:xfrm flipH="false" flipV="false" rot="0">
              <a:off x="9525" y="9525"/>
              <a:ext cx="7595489" cy="10157841"/>
            </a:xfrm>
            <a:custGeom>
              <a:avLst/>
              <a:gdLst/>
              <a:ahLst/>
              <a:cxnLst/>
              <a:rect r="r" b="b" t="t" l="l"/>
              <a:pathLst>
                <a:path h="10157841" w="7595489">
                  <a:moveTo>
                    <a:pt x="0" y="0"/>
                  </a:moveTo>
                  <a:lnTo>
                    <a:pt x="7595489" y="0"/>
                  </a:lnTo>
                  <a:lnTo>
                    <a:pt x="7595489" y="10157841"/>
                  </a:lnTo>
                  <a:lnTo>
                    <a:pt x="0" y="10157841"/>
                  </a:lnTo>
                  <a:close/>
                </a:path>
              </a:pathLst>
            </a:custGeom>
            <a:solidFill>
              <a:srgbClr val="FFFFFF"/>
            </a:solidFill>
          </p:spPr>
        </p:sp>
        <p:sp>
          <p:nvSpPr>
            <p:cNvPr name="Freeform 8" id="8"/>
            <p:cNvSpPr/>
            <p:nvPr/>
          </p:nvSpPr>
          <p:spPr>
            <a:xfrm flipH="false" flipV="false" rot="0">
              <a:off x="0" y="0"/>
              <a:ext cx="7614539" cy="10176891"/>
            </a:xfrm>
            <a:custGeom>
              <a:avLst/>
              <a:gdLst/>
              <a:ahLst/>
              <a:cxnLst/>
              <a:rect r="r" b="b" t="t" l="l"/>
              <a:pathLst>
                <a:path h="10176891" w="7614539">
                  <a:moveTo>
                    <a:pt x="9525" y="0"/>
                  </a:moveTo>
                  <a:lnTo>
                    <a:pt x="7605014" y="0"/>
                  </a:lnTo>
                  <a:cubicBezTo>
                    <a:pt x="7610221" y="0"/>
                    <a:pt x="7614539" y="4318"/>
                    <a:pt x="7614539" y="9525"/>
                  </a:cubicBezTo>
                  <a:lnTo>
                    <a:pt x="7614539" y="10167366"/>
                  </a:lnTo>
                  <a:cubicBezTo>
                    <a:pt x="7614539" y="10172573"/>
                    <a:pt x="7610221" y="10176891"/>
                    <a:pt x="7605014" y="10176891"/>
                  </a:cubicBezTo>
                  <a:lnTo>
                    <a:pt x="9525" y="10176891"/>
                  </a:lnTo>
                  <a:cubicBezTo>
                    <a:pt x="4318" y="10176891"/>
                    <a:pt x="0" y="10172573"/>
                    <a:pt x="0" y="10167366"/>
                  </a:cubicBezTo>
                  <a:lnTo>
                    <a:pt x="0" y="9525"/>
                  </a:lnTo>
                  <a:cubicBezTo>
                    <a:pt x="0" y="4318"/>
                    <a:pt x="4318" y="0"/>
                    <a:pt x="9525" y="0"/>
                  </a:cubicBezTo>
                  <a:moveTo>
                    <a:pt x="9525" y="19050"/>
                  </a:moveTo>
                  <a:lnTo>
                    <a:pt x="9525" y="9525"/>
                  </a:lnTo>
                  <a:lnTo>
                    <a:pt x="19050" y="9525"/>
                  </a:lnTo>
                  <a:lnTo>
                    <a:pt x="19050" y="10167366"/>
                  </a:lnTo>
                  <a:lnTo>
                    <a:pt x="9525" y="10167366"/>
                  </a:lnTo>
                  <a:lnTo>
                    <a:pt x="9525" y="10157841"/>
                  </a:lnTo>
                  <a:lnTo>
                    <a:pt x="7605014" y="10157841"/>
                  </a:lnTo>
                  <a:lnTo>
                    <a:pt x="7605014" y="10167366"/>
                  </a:lnTo>
                  <a:lnTo>
                    <a:pt x="7595489" y="10167366"/>
                  </a:lnTo>
                  <a:lnTo>
                    <a:pt x="7595489" y="9525"/>
                  </a:lnTo>
                  <a:lnTo>
                    <a:pt x="7605014" y="9525"/>
                  </a:lnTo>
                  <a:lnTo>
                    <a:pt x="7605014" y="19050"/>
                  </a:lnTo>
                  <a:lnTo>
                    <a:pt x="9525" y="19050"/>
                  </a:lnTo>
                  <a:close/>
                </a:path>
              </a:pathLst>
            </a:custGeom>
            <a:solidFill>
              <a:srgbClr val="FFFFFF"/>
            </a:solidFill>
          </p:spPr>
        </p:sp>
      </p:grpSp>
      <p:grpSp>
        <p:nvGrpSpPr>
          <p:cNvPr name="Group 9" id="9"/>
          <p:cNvGrpSpPr/>
          <p:nvPr/>
        </p:nvGrpSpPr>
        <p:grpSpPr>
          <a:xfrm rot="0">
            <a:off x="411804" y="2196274"/>
            <a:ext cx="5696588" cy="57198"/>
            <a:chOff x="0" y="0"/>
            <a:chExt cx="7595451" cy="76264"/>
          </a:xfrm>
        </p:grpSpPr>
        <p:sp>
          <p:nvSpPr>
            <p:cNvPr name="Freeform 10" id="10"/>
            <p:cNvSpPr/>
            <p:nvPr/>
          </p:nvSpPr>
          <p:spPr>
            <a:xfrm flipH="false" flipV="false" rot="0">
              <a:off x="0" y="0"/>
              <a:ext cx="7595489" cy="76200"/>
            </a:xfrm>
            <a:custGeom>
              <a:avLst/>
              <a:gdLst/>
              <a:ahLst/>
              <a:cxnLst/>
              <a:rect r="r" b="b" t="t" l="l"/>
              <a:pathLst>
                <a:path h="76200" w="7595489">
                  <a:moveTo>
                    <a:pt x="0" y="0"/>
                  </a:moveTo>
                  <a:lnTo>
                    <a:pt x="7595489" y="0"/>
                  </a:lnTo>
                  <a:lnTo>
                    <a:pt x="7595489" y="76200"/>
                  </a:lnTo>
                  <a:lnTo>
                    <a:pt x="0" y="76200"/>
                  </a:lnTo>
                  <a:close/>
                </a:path>
              </a:pathLst>
            </a:custGeom>
            <a:solidFill>
              <a:srgbClr val="7C3AED"/>
            </a:solidFill>
          </p:spPr>
        </p:sp>
      </p:grpSp>
      <p:sp>
        <p:nvSpPr>
          <p:cNvPr name="TextBox 11" id="11"/>
          <p:cNvSpPr txBox="true"/>
          <p:nvPr/>
        </p:nvSpPr>
        <p:spPr>
          <a:xfrm rot="0">
            <a:off x="709146" y="2331634"/>
            <a:ext cx="5101904" cy="505254"/>
          </a:xfrm>
          <a:prstGeom prst="rect">
            <a:avLst/>
          </a:prstGeom>
        </p:spPr>
        <p:txBody>
          <a:bodyPr anchor="t" rtlCol="false" tIns="0" lIns="0" bIns="0" rIns="0">
            <a:spAutoFit/>
          </a:bodyPr>
          <a:lstStyle/>
          <a:p>
            <a:pPr algn="l">
              <a:lnSpc>
                <a:spcPts val="2341"/>
              </a:lnSpc>
            </a:pPr>
            <a:r>
              <a:rPr lang="en-US" sz="1951" b="true">
                <a:solidFill>
                  <a:srgbClr val="7C3AED"/>
                </a:solidFill>
                <a:latin typeface="Calibri (MS) Bold"/>
                <a:ea typeface="Calibri (MS) Bold"/>
                <a:cs typeface="Calibri (MS) Bold"/>
                <a:sym typeface="Calibri (MS) Bold"/>
              </a:rPr>
              <a:t>🔧  Reliability</a:t>
            </a:r>
          </a:p>
        </p:txBody>
      </p:sp>
      <p:sp>
        <p:nvSpPr>
          <p:cNvPr name="TextBox 12" id="12"/>
          <p:cNvSpPr txBox="true"/>
          <p:nvPr/>
        </p:nvSpPr>
        <p:spPr>
          <a:xfrm rot="0">
            <a:off x="709146" y="3027502"/>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OCR for scanned PDFs (shipped)</a:t>
            </a:r>
          </a:p>
        </p:txBody>
      </p:sp>
      <p:sp>
        <p:nvSpPr>
          <p:cNvPr name="TextBox 13" id="13"/>
          <p:cNvSpPr txBox="true"/>
          <p:nvPr/>
        </p:nvSpPr>
        <p:spPr>
          <a:xfrm rot="0">
            <a:off x="709146" y="3439297"/>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Gemini 2.5 Flash with structured JSON output: empty-text pages render at 200 DPI, get transcribed, and per-line bboxes power yellow overlay highlights in the viewer.</a:t>
            </a:r>
          </a:p>
        </p:txBody>
      </p:sp>
      <p:sp>
        <p:nvSpPr>
          <p:cNvPr name="TextBox 14" id="14"/>
          <p:cNvSpPr txBox="true"/>
          <p:nvPr/>
        </p:nvSpPr>
        <p:spPr>
          <a:xfrm rot="0">
            <a:off x="709146" y="4537443"/>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Upload queue</a:t>
            </a:r>
          </a:p>
        </p:txBody>
      </p:sp>
      <p:sp>
        <p:nvSpPr>
          <p:cNvPr name="TextBox 15" id="15"/>
          <p:cNvSpPr txBox="true"/>
          <p:nvPr/>
        </p:nvSpPr>
        <p:spPr>
          <a:xfrm rot="0">
            <a:off x="709146" y="4949238"/>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Background job for large PDFs — free the HTTP request immediately and let the client poll for status.</a:t>
            </a:r>
          </a:p>
        </p:txBody>
      </p:sp>
      <p:sp>
        <p:nvSpPr>
          <p:cNvPr name="TextBox 16" id="16"/>
          <p:cNvSpPr txBox="true"/>
          <p:nvPr/>
        </p:nvSpPr>
        <p:spPr>
          <a:xfrm rot="0">
            <a:off x="709146" y="6047375"/>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Auth + multi-user</a:t>
            </a:r>
          </a:p>
        </p:txBody>
      </p:sp>
      <p:sp>
        <p:nvSpPr>
          <p:cNvPr name="TextBox 17" id="17"/>
          <p:cNvSpPr txBox="true"/>
          <p:nvPr/>
        </p:nvSpPr>
        <p:spPr>
          <a:xfrm rot="0">
            <a:off x="709146" y="6459179"/>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Session isolation so multiple users can each have their own document state without shared _state.</a:t>
            </a:r>
          </a:p>
        </p:txBody>
      </p:sp>
      <p:grpSp>
        <p:nvGrpSpPr>
          <p:cNvPr name="Group 18" id="18"/>
          <p:cNvGrpSpPr/>
          <p:nvPr/>
        </p:nvGrpSpPr>
        <p:grpSpPr>
          <a:xfrm rot="0">
            <a:off x="6293415" y="2189131"/>
            <a:ext cx="5710885" cy="7632630"/>
            <a:chOff x="0" y="0"/>
            <a:chExt cx="7614514" cy="10176840"/>
          </a:xfrm>
        </p:grpSpPr>
        <p:sp>
          <p:nvSpPr>
            <p:cNvPr name="Freeform 19" id="19"/>
            <p:cNvSpPr/>
            <p:nvPr/>
          </p:nvSpPr>
          <p:spPr>
            <a:xfrm flipH="false" flipV="false" rot="0">
              <a:off x="9525" y="9525"/>
              <a:ext cx="7595489" cy="10157841"/>
            </a:xfrm>
            <a:custGeom>
              <a:avLst/>
              <a:gdLst/>
              <a:ahLst/>
              <a:cxnLst/>
              <a:rect r="r" b="b" t="t" l="l"/>
              <a:pathLst>
                <a:path h="10157841" w="7595489">
                  <a:moveTo>
                    <a:pt x="0" y="0"/>
                  </a:moveTo>
                  <a:lnTo>
                    <a:pt x="7595489" y="0"/>
                  </a:lnTo>
                  <a:lnTo>
                    <a:pt x="7595489" y="10157841"/>
                  </a:lnTo>
                  <a:lnTo>
                    <a:pt x="0" y="10157841"/>
                  </a:lnTo>
                  <a:close/>
                </a:path>
              </a:pathLst>
            </a:custGeom>
            <a:solidFill>
              <a:srgbClr val="FFFFFF"/>
            </a:solidFill>
          </p:spPr>
        </p:sp>
        <p:sp>
          <p:nvSpPr>
            <p:cNvPr name="Freeform 20" id="20"/>
            <p:cNvSpPr/>
            <p:nvPr/>
          </p:nvSpPr>
          <p:spPr>
            <a:xfrm flipH="false" flipV="false" rot="0">
              <a:off x="0" y="0"/>
              <a:ext cx="7614539" cy="10176891"/>
            </a:xfrm>
            <a:custGeom>
              <a:avLst/>
              <a:gdLst/>
              <a:ahLst/>
              <a:cxnLst/>
              <a:rect r="r" b="b" t="t" l="l"/>
              <a:pathLst>
                <a:path h="10176891" w="7614539">
                  <a:moveTo>
                    <a:pt x="9525" y="0"/>
                  </a:moveTo>
                  <a:lnTo>
                    <a:pt x="7605014" y="0"/>
                  </a:lnTo>
                  <a:cubicBezTo>
                    <a:pt x="7610221" y="0"/>
                    <a:pt x="7614539" y="4318"/>
                    <a:pt x="7614539" y="9525"/>
                  </a:cubicBezTo>
                  <a:lnTo>
                    <a:pt x="7614539" y="10167366"/>
                  </a:lnTo>
                  <a:cubicBezTo>
                    <a:pt x="7614539" y="10172573"/>
                    <a:pt x="7610221" y="10176891"/>
                    <a:pt x="7605014" y="10176891"/>
                  </a:cubicBezTo>
                  <a:lnTo>
                    <a:pt x="9525" y="10176891"/>
                  </a:lnTo>
                  <a:cubicBezTo>
                    <a:pt x="4318" y="10176891"/>
                    <a:pt x="0" y="10172573"/>
                    <a:pt x="0" y="10167366"/>
                  </a:cubicBezTo>
                  <a:lnTo>
                    <a:pt x="0" y="9525"/>
                  </a:lnTo>
                  <a:cubicBezTo>
                    <a:pt x="0" y="4318"/>
                    <a:pt x="4318" y="0"/>
                    <a:pt x="9525" y="0"/>
                  </a:cubicBezTo>
                  <a:moveTo>
                    <a:pt x="9525" y="19050"/>
                  </a:moveTo>
                  <a:lnTo>
                    <a:pt x="9525" y="9525"/>
                  </a:lnTo>
                  <a:lnTo>
                    <a:pt x="19050" y="9525"/>
                  </a:lnTo>
                  <a:lnTo>
                    <a:pt x="19050" y="10167366"/>
                  </a:lnTo>
                  <a:lnTo>
                    <a:pt x="9525" y="10167366"/>
                  </a:lnTo>
                  <a:lnTo>
                    <a:pt x="9525" y="10157841"/>
                  </a:lnTo>
                  <a:lnTo>
                    <a:pt x="7605014" y="10157841"/>
                  </a:lnTo>
                  <a:lnTo>
                    <a:pt x="7605014" y="10167366"/>
                  </a:lnTo>
                  <a:lnTo>
                    <a:pt x="7595489" y="10167366"/>
                  </a:lnTo>
                  <a:lnTo>
                    <a:pt x="7595489" y="9525"/>
                  </a:lnTo>
                  <a:lnTo>
                    <a:pt x="7605014" y="9525"/>
                  </a:lnTo>
                  <a:lnTo>
                    <a:pt x="7605014" y="19050"/>
                  </a:lnTo>
                  <a:lnTo>
                    <a:pt x="9525" y="19050"/>
                  </a:lnTo>
                  <a:close/>
                </a:path>
              </a:pathLst>
            </a:custGeom>
            <a:solidFill>
              <a:srgbClr val="FFFFFF"/>
            </a:solidFill>
          </p:spPr>
        </p:sp>
      </p:grpSp>
      <p:grpSp>
        <p:nvGrpSpPr>
          <p:cNvPr name="Group 21" id="21"/>
          <p:cNvGrpSpPr/>
          <p:nvPr/>
        </p:nvGrpSpPr>
        <p:grpSpPr>
          <a:xfrm rot="0">
            <a:off x="6300568" y="2196274"/>
            <a:ext cx="5696588" cy="57198"/>
            <a:chOff x="0" y="0"/>
            <a:chExt cx="7595451" cy="76264"/>
          </a:xfrm>
        </p:grpSpPr>
        <p:sp>
          <p:nvSpPr>
            <p:cNvPr name="Freeform 22" id="22"/>
            <p:cNvSpPr/>
            <p:nvPr/>
          </p:nvSpPr>
          <p:spPr>
            <a:xfrm flipH="false" flipV="false" rot="0">
              <a:off x="0" y="0"/>
              <a:ext cx="7595489" cy="76200"/>
            </a:xfrm>
            <a:custGeom>
              <a:avLst/>
              <a:gdLst/>
              <a:ahLst/>
              <a:cxnLst/>
              <a:rect r="r" b="b" t="t" l="l"/>
              <a:pathLst>
                <a:path h="76200" w="7595489">
                  <a:moveTo>
                    <a:pt x="0" y="0"/>
                  </a:moveTo>
                  <a:lnTo>
                    <a:pt x="7595489" y="0"/>
                  </a:lnTo>
                  <a:lnTo>
                    <a:pt x="7595489" y="76200"/>
                  </a:lnTo>
                  <a:lnTo>
                    <a:pt x="0" y="76200"/>
                  </a:lnTo>
                  <a:close/>
                </a:path>
              </a:pathLst>
            </a:custGeom>
            <a:solidFill>
              <a:srgbClr val="A78BFA"/>
            </a:solidFill>
          </p:spPr>
        </p:sp>
      </p:grpSp>
      <p:sp>
        <p:nvSpPr>
          <p:cNvPr name="TextBox 23" id="23"/>
          <p:cNvSpPr txBox="true"/>
          <p:nvPr/>
        </p:nvSpPr>
        <p:spPr>
          <a:xfrm rot="0">
            <a:off x="6597910" y="2331634"/>
            <a:ext cx="5101904" cy="505254"/>
          </a:xfrm>
          <a:prstGeom prst="rect">
            <a:avLst/>
          </a:prstGeom>
        </p:spPr>
        <p:txBody>
          <a:bodyPr anchor="t" rtlCol="false" tIns="0" lIns="0" bIns="0" rIns="0">
            <a:spAutoFit/>
          </a:bodyPr>
          <a:lstStyle/>
          <a:p>
            <a:pPr algn="l">
              <a:lnSpc>
                <a:spcPts val="2341"/>
              </a:lnSpc>
            </a:pPr>
            <a:r>
              <a:rPr lang="en-US" sz="1951" b="true">
                <a:solidFill>
                  <a:srgbClr val="5B21B6"/>
                </a:solidFill>
                <a:latin typeface="Calibri (MS) Bold"/>
                <a:ea typeface="Calibri (MS) Bold"/>
                <a:cs typeface="Calibri (MS) Bold"/>
                <a:sym typeface="Calibri (MS) Bold"/>
              </a:rPr>
              <a:t>🧩  Quality</a:t>
            </a:r>
          </a:p>
        </p:txBody>
      </p:sp>
      <p:sp>
        <p:nvSpPr>
          <p:cNvPr name="TextBox 24" id="24"/>
          <p:cNvSpPr txBox="true"/>
          <p:nvPr/>
        </p:nvSpPr>
        <p:spPr>
          <a:xfrm rot="0">
            <a:off x="6597910" y="3027502"/>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Query expansion / HyDE</a:t>
            </a:r>
          </a:p>
        </p:txBody>
      </p:sp>
      <p:sp>
        <p:nvSpPr>
          <p:cNvPr name="TextBox 25" id="25"/>
          <p:cNvSpPr txBox="true"/>
          <p:nvPr/>
        </p:nvSpPr>
        <p:spPr>
          <a:xfrm rot="0">
            <a:off x="6597910" y="3439297"/>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Generate a hypothetical answer, embed it, use that for retrieval — improves recall on vague or abstract questions.</a:t>
            </a:r>
          </a:p>
        </p:txBody>
      </p:sp>
      <p:sp>
        <p:nvSpPr>
          <p:cNvPr name="TextBox 26" id="26"/>
          <p:cNvSpPr txBox="true"/>
          <p:nvPr/>
        </p:nvSpPr>
        <p:spPr>
          <a:xfrm rot="0">
            <a:off x="6597910" y="4537443"/>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Structured chunk types</a:t>
            </a:r>
          </a:p>
        </p:txBody>
      </p:sp>
      <p:sp>
        <p:nvSpPr>
          <p:cNvPr name="TextBox 27" id="27"/>
          <p:cNvSpPr txBox="true"/>
          <p:nvPr/>
        </p:nvSpPr>
        <p:spPr>
          <a:xfrm rot="0">
            <a:off x="6597910" y="4949238"/>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Detect headings, tables, and lists in PDFs and split at structural boundaries rather than sentence boundaries.</a:t>
            </a:r>
          </a:p>
        </p:txBody>
      </p:sp>
      <p:sp>
        <p:nvSpPr>
          <p:cNvPr name="TextBox 28" id="28"/>
          <p:cNvSpPr txBox="true"/>
          <p:nvPr/>
        </p:nvSpPr>
        <p:spPr>
          <a:xfrm rot="0">
            <a:off x="6597910" y="6047375"/>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Eval harness</a:t>
            </a:r>
          </a:p>
        </p:txBody>
      </p:sp>
      <p:sp>
        <p:nvSpPr>
          <p:cNvPr name="TextBox 29" id="29"/>
          <p:cNvSpPr txBox="true"/>
          <p:nvPr/>
        </p:nvSpPr>
        <p:spPr>
          <a:xfrm rot="0">
            <a:off x="6597910" y="6459179"/>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Automated Q&amp;A pairs against known answers to measure retrieval precision, recall, and answer faithfulness.</a:t>
            </a:r>
          </a:p>
        </p:txBody>
      </p:sp>
      <p:grpSp>
        <p:nvGrpSpPr>
          <p:cNvPr name="Group 30" id="30"/>
          <p:cNvGrpSpPr/>
          <p:nvPr/>
        </p:nvGrpSpPr>
        <p:grpSpPr>
          <a:xfrm rot="0">
            <a:off x="12182180" y="2189131"/>
            <a:ext cx="5710885" cy="7632630"/>
            <a:chOff x="0" y="0"/>
            <a:chExt cx="7614514" cy="10176840"/>
          </a:xfrm>
        </p:grpSpPr>
        <p:sp>
          <p:nvSpPr>
            <p:cNvPr name="Freeform 31" id="31"/>
            <p:cNvSpPr/>
            <p:nvPr/>
          </p:nvSpPr>
          <p:spPr>
            <a:xfrm flipH="false" flipV="false" rot="0">
              <a:off x="9525" y="9525"/>
              <a:ext cx="7595489" cy="10157841"/>
            </a:xfrm>
            <a:custGeom>
              <a:avLst/>
              <a:gdLst/>
              <a:ahLst/>
              <a:cxnLst/>
              <a:rect r="r" b="b" t="t" l="l"/>
              <a:pathLst>
                <a:path h="10157841" w="7595489">
                  <a:moveTo>
                    <a:pt x="0" y="0"/>
                  </a:moveTo>
                  <a:lnTo>
                    <a:pt x="7595489" y="0"/>
                  </a:lnTo>
                  <a:lnTo>
                    <a:pt x="7595489" y="10157841"/>
                  </a:lnTo>
                  <a:lnTo>
                    <a:pt x="0" y="10157841"/>
                  </a:lnTo>
                  <a:close/>
                </a:path>
              </a:pathLst>
            </a:custGeom>
            <a:solidFill>
              <a:srgbClr val="FFFFFF"/>
            </a:solidFill>
          </p:spPr>
        </p:sp>
        <p:sp>
          <p:nvSpPr>
            <p:cNvPr name="Freeform 32" id="32"/>
            <p:cNvSpPr/>
            <p:nvPr/>
          </p:nvSpPr>
          <p:spPr>
            <a:xfrm flipH="false" flipV="false" rot="0">
              <a:off x="0" y="0"/>
              <a:ext cx="7614539" cy="10176891"/>
            </a:xfrm>
            <a:custGeom>
              <a:avLst/>
              <a:gdLst/>
              <a:ahLst/>
              <a:cxnLst/>
              <a:rect r="r" b="b" t="t" l="l"/>
              <a:pathLst>
                <a:path h="10176891" w="7614539">
                  <a:moveTo>
                    <a:pt x="9525" y="0"/>
                  </a:moveTo>
                  <a:lnTo>
                    <a:pt x="7605014" y="0"/>
                  </a:lnTo>
                  <a:cubicBezTo>
                    <a:pt x="7610221" y="0"/>
                    <a:pt x="7614539" y="4318"/>
                    <a:pt x="7614539" y="9525"/>
                  </a:cubicBezTo>
                  <a:lnTo>
                    <a:pt x="7614539" y="10167366"/>
                  </a:lnTo>
                  <a:cubicBezTo>
                    <a:pt x="7614539" y="10172573"/>
                    <a:pt x="7610221" y="10176891"/>
                    <a:pt x="7605014" y="10176891"/>
                  </a:cubicBezTo>
                  <a:lnTo>
                    <a:pt x="9525" y="10176891"/>
                  </a:lnTo>
                  <a:cubicBezTo>
                    <a:pt x="4318" y="10176891"/>
                    <a:pt x="0" y="10172573"/>
                    <a:pt x="0" y="10167366"/>
                  </a:cubicBezTo>
                  <a:lnTo>
                    <a:pt x="0" y="9525"/>
                  </a:lnTo>
                  <a:cubicBezTo>
                    <a:pt x="0" y="4318"/>
                    <a:pt x="4318" y="0"/>
                    <a:pt x="9525" y="0"/>
                  </a:cubicBezTo>
                  <a:moveTo>
                    <a:pt x="9525" y="19050"/>
                  </a:moveTo>
                  <a:lnTo>
                    <a:pt x="9525" y="9525"/>
                  </a:lnTo>
                  <a:lnTo>
                    <a:pt x="19050" y="9525"/>
                  </a:lnTo>
                  <a:lnTo>
                    <a:pt x="19050" y="10167366"/>
                  </a:lnTo>
                  <a:lnTo>
                    <a:pt x="9525" y="10167366"/>
                  </a:lnTo>
                  <a:lnTo>
                    <a:pt x="9525" y="10157841"/>
                  </a:lnTo>
                  <a:lnTo>
                    <a:pt x="7605014" y="10157841"/>
                  </a:lnTo>
                  <a:lnTo>
                    <a:pt x="7605014" y="10167366"/>
                  </a:lnTo>
                  <a:lnTo>
                    <a:pt x="7595489" y="10167366"/>
                  </a:lnTo>
                  <a:lnTo>
                    <a:pt x="7595489" y="9525"/>
                  </a:lnTo>
                  <a:lnTo>
                    <a:pt x="7605014" y="9525"/>
                  </a:lnTo>
                  <a:lnTo>
                    <a:pt x="7605014" y="19050"/>
                  </a:lnTo>
                  <a:lnTo>
                    <a:pt x="9525" y="19050"/>
                  </a:lnTo>
                  <a:close/>
                </a:path>
              </a:pathLst>
            </a:custGeom>
            <a:solidFill>
              <a:srgbClr val="FFFFFF"/>
            </a:solidFill>
          </p:spPr>
        </p:sp>
      </p:grpSp>
      <p:grpSp>
        <p:nvGrpSpPr>
          <p:cNvPr name="Group 33" id="33"/>
          <p:cNvGrpSpPr/>
          <p:nvPr/>
        </p:nvGrpSpPr>
        <p:grpSpPr>
          <a:xfrm rot="0">
            <a:off x="12189333" y="2196274"/>
            <a:ext cx="5696588" cy="57198"/>
            <a:chOff x="0" y="0"/>
            <a:chExt cx="7595451" cy="76264"/>
          </a:xfrm>
        </p:grpSpPr>
        <p:sp>
          <p:nvSpPr>
            <p:cNvPr name="Freeform 34" id="34"/>
            <p:cNvSpPr/>
            <p:nvPr/>
          </p:nvSpPr>
          <p:spPr>
            <a:xfrm flipH="false" flipV="false" rot="0">
              <a:off x="0" y="0"/>
              <a:ext cx="7595489" cy="76200"/>
            </a:xfrm>
            <a:custGeom>
              <a:avLst/>
              <a:gdLst/>
              <a:ahLst/>
              <a:cxnLst/>
              <a:rect r="r" b="b" t="t" l="l"/>
              <a:pathLst>
                <a:path h="76200" w="7595489">
                  <a:moveTo>
                    <a:pt x="0" y="0"/>
                  </a:moveTo>
                  <a:lnTo>
                    <a:pt x="7595489" y="0"/>
                  </a:lnTo>
                  <a:lnTo>
                    <a:pt x="7595489" y="76200"/>
                  </a:lnTo>
                  <a:lnTo>
                    <a:pt x="0" y="76200"/>
                  </a:lnTo>
                  <a:close/>
                </a:path>
              </a:pathLst>
            </a:custGeom>
            <a:solidFill>
              <a:srgbClr val="059669"/>
            </a:solidFill>
          </p:spPr>
        </p:sp>
      </p:grpSp>
      <p:sp>
        <p:nvSpPr>
          <p:cNvPr name="TextBox 35" id="35"/>
          <p:cNvSpPr txBox="true"/>
          <p:nvPr/>
        </p:nvSpPr>
        <p:spPr>
          <a:xfrm rot="0">
            <a:off x="12486675" y="2331634"/>
            <a:ext cx="5101904" cy="505254"/>
          </a:xfrm>
          <a:prstGeom prst="rect">
            <a:avLst/>
          </a:prstGeom>
        </p:spPr>
        <p:txBody>
          <a:bodyPr anchor="t" rtlCol="false" tIns="0" lIns="0" bIns="0" rIns="0">
            <a:spAutoFit/>
          </a:bodyPr>
          <a:lstStyle/>
          <a:p>
            <a:pPr algn="l">
              <a:lnSpc>
                <a:spcPts val="2341"/>
              </a:lnSpc>
            </a:pPr>
            <a:r>
              <a:rPr lang="en-US" sz="1951" b="true">
                <a:solidFill>
                  <a:srgbClr val="059669"/>
                </a:solidFill>
                <a:latin typeface="Calibri (MS) Bold"/>
                <a:ea typeface="Calibri (MS) Bold"/>
                <a:cs typeface="Calibri (MS) Bold"/>
                <a:sym typeface="Calibri (MS) Bold"/>
              </a:rPr>
              <a:t>📦  Scale</a:t>
            </a:r>
          </a:p>
        </p:txBody>
      </p:sp>
      <p:sp>
        <p:nvSpPr>
          <p:cNvPr name="TextBox 36" id="36"/>
          <p:cNvSpPr txBox="true"/>
          <p:nvPr/>
        </p:nvSpPr>
        <p:spPr>
          <a:xfrm rot="0">
            <a:off x="12486675" y="3027502"/>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Multi-document library</a:t>
            </a:r>
          </a:p>
        </p:txBody>
      </p:sp>
      <p:sp>
        <p:nvSpPr>
          <p:cNvPr name="TextBox 37" id="37"/>
          <p:cNvSpPr txBox="true"/>
          <p:nvPr/>
        </p:nvSpPr>
        <p:spPr>
          <a:xfrm rot="0">
            <a:off x="12486675" y="3439297"/>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Doc picker with per-doc metadata — query across multiple PDFs with doc_id filtering.</a:t>
            </a:r>
          </a:p>
        </p:txBody>
      </p:sp>
      <p:sp>
        <p:nvSpPr>
          <p:cNvPr name="TextBox 38" id="38"/>
          <p:cNvSpPr txBox="true"/>
          <p:nvPr/>
        </p:nvSpPr>
        <p:spPr>
          <a:xfrm rot="0">
            <a:off x="12486675" y="4537443"/>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Streaming embed batches</a:t>
            </a:r>
          </a:p>
        </p:txBody>
      </p:sp>
      <p:sp>
        <p:nvSpPr>
          <p:cNvPr name="TextBox 39" id="39"/>
          <p:cNvSpPr txBox="true"/>
          <p:nvPr/>
        </p:nvSpPr>
        <p:spPr>
          <a:xfrm rot="0">
            <a:off x="12486675" y="4949238"/>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For very large docs, stream embedding in fixed batches rather than one giant asyncio.gather to bound peak memory.</a:t>
            </a:r>
          </a:p>
        </p:txBody>
      </p:sp>
      <p:sp>
        <p:nvSpPr>
          <p:cNvPr name="TextBox 40" id="40"/>
          <p:cNvSpPr txBox="true"/>
          <p:nvPr/>
        </p:nvSpPr>
        <p:spPr>
          <a:xfrm rot="0">
            <a:off x="12486675" y="6047375"/>
            <a:ext cx="5101904" cy="358464"/>
          </a:xfrm>
          <a:prstGeom prst="rect">
            <a:avLst/>
          </a:prstGeom>
        </p:spPr>
        <p:txBody>
          <a:bodyPr anchor="t" rtlCol="false" tIns="0" lIns="0" bIns="0" rIns="0">
            <a:spAutoFit/>
          </a:bodyPr>
          <a:lstStyle/>
          <a:p>
            <a:pPr algn="l">
              <a:lnSpc>
                <a:spcPts val="2161"/>
              </a:lnSpc>
            </a:pPr>
            <a:r>
              <a:rPr lang="en-US" sz="1801" b="true">
                <a:solidFill>
                  <a:srgbClr val="4C1D95"/>
                </a:solidFill>
                <a:latin typeface="Calibri (MS) Bold"/>
                <a:ea typeface="Calibri (MS) Bold"/>
                <a:cs typeface="Calibri (MS) Bold"/>
                <a:sym typeface="Calibri (MS) Bold"/>
              </a:rPr>
              <a:t>• Persistent conversation</a:t>
            </a:r>
          </a:p>
        </p:txBody>
      </p:sp>
      <p:sp>
        <p:nvSpPr>
          <p:cNvPr name="TextBox 41" id="41"/>
          <p:cNvSpPr txBox="true"/>
          <p:nvPr/>
        </p:nvSpPr>
        <p:spPr>
          <a:xfrm rot="0">
            <a:off x="12486675" y="6459179"/>
            <a:ext cx="5101904" cy="770268"/>
          </a:xfrm>
          <a:prstGeom prst="rect">
            <a:avLst/>
          </a:prstGeom>
        </p:spPr>
        <p:txBody>
          <a:bodyPr anchor="t" rtlCol="false" tIns="0" lIns="0" bIns="0" rIns="0">
            <a:spAutoFit/>
          </a:bodyPr>
          <a:lstStyle/>
          <a:p>
            <a:pPr algn="l">
              <a:lnSpc>
                <a:spcPts val="1801"/>
              </a:lnSpc>
            </a:pPr>
            <a:r>
              <a:rPr lang="en-US" sz="1501">
                <a:solidFill>
                  <a:srgbClr val="7C3AED"/>
                </a:solidFill>
                <a:latin typeface="Calibri (MS)"/>
                <a:ea typeface="Calibri (MS)"/>
                <a:cs typeface="Calibri (MS)"/>
                <a:sym typeface="Calibri (MS)"/>
              </a:rPr>
              <a:t>Store chat history per session so follow-up questions can reference earlier answers.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84632"/>
            <a:ext cx="16285463" cy="429768"/>
          </a:xfrm>
          <a:prstGeom prst="rect">
            <a:avLst/>
          </a:prstGeom>
          <a:noFill/>
        </p:spPr>
        <p:txBody>
          <a:bodyPr wrap="square">
            <a:spAutoFit/>
          </a:bodyPr>
          <a:lstStyle/>
          <a:p>
            <a:pPr algn="l"/>
            <a:r>
              <a:rPr sz="1400" b="1" i="0">
                <a:solidFill>
                  <a:srgbClr val="7C3AED"/>
                </a:solidFill>
              </a:rPr>
              <a:t>LIMITATIONS</a:t>
            </a:r>
          </a:p>
        </p:txBody>
      </p:sp>
      <p:sp>
        <p:nvSpPr>
          <p:cNvPr id="3" name="TextBox 2"/>
          <p:cNvSpPr txBox="1"/>
          <p:nvPr/>
        </p:nvSpPr>
        <p:spPr>
          <a:xfrm>
            <a:off x="914400" y="987552"/>
            <a:ext cx="16285463" cy="502920"/>
          </a:xfrm>
          <a:prstGeom prst="rect">
            <a:avLst/>
          </a:prstGeom>
          <a:noFill/>
        </p:spPr>
        <p:txBody>
          <a:bodyPr wrap="square">
            <a:spAutoFit/>
          </a:bodyPr>
          <a:lstStyle/>
          <a:p>
            <a:pPr algn="l"/>
            <a:r>
              <a:rPr sz="2800" b="1" i="0">
                <a:solidFill>
                  <a:srgbClr val="4C1D95"/>
                </a:solidFill>
              </a:rPr>
              <a:t>Current scope — known constraints</a:t>
            </a:r>
          </a:p>
        </p:txBody>
      </p:sp>
      <p:sp>
        <p:nvSpPr>
          <p:cNvPr id="4" name="Rectangle 3"/>
          <p:cNvSpPr/>
          <p:nvPr/>
        </p:nvSpPr>
        <p:spPr>
          <a:xfrm>
            <a:off x="822960" y="1856231"/>
            <a:ext cx="16651224"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02336" y="2185416"/>
            <a:ext cx="5303520" cy="344728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02336" y="2185416"/>
            <a:ext cx="5303520" cy="640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359152"/>
            <a:ext cx="4892040" cy="466344"/>
          </a:xfrm>
          <a:prstGeom prst="rect">
            <a:avLst/>
          </a:prstGeom>
          <a:noFill/>
        </p:spPr>
        <p:txBody>
          <a:bodyPr wrap="square">
            <a:spAutoFit/>
          </a:bodyPr>
          <a:lstStyle/>
          <a:p>
            <a:pPr algn="l"/>
            <a:r>
              <a:rPr sz="1500" b="1" i="0">
                <a:solidFill>
                  <a:srgbClr val="4C1D95"/>
                </a:solidFill>
              </a:rPr>
              <a:t>🚫  Single Document Only</a:t>
            </a:r>
          </a:p>
        </p:txBody>
      </p:sp>
      <p:sp>
        <p:nvSpPr>
          <p:cNvPr id="8" name="TextBox 7"/>
          <p:cNvSpPr txBox="1"/>
          <p:nvPr/>
        </p:nvSpPr>
        <p:spPr>
          <a:xfrm>
            <a:off x="704088" y="2962656"/>
            <a:ext cx="4892040" cy="2414016"/>
          </a:xfrm>
          <a:prstGeom prst="rect">
            <a:avLst/>
          </a:prstGeom>
          <a:noFill/>
        </p:spPr>
        <p:txBody>
          <a:bodyPr wrap="square">
            <a:spAutoFit/>
          </a:bodyPr>
          <a:lstStyle/>
          <a:p>
            <a:pPr algn="l"/>
            <a:r>
              <a:rPr sz="1250" b="0" i="0">
                <a:solidFill>
                  <a:srgbClr val="7C3AED"/>
                </a:solidFill>
              </a:rPr>
              <a:t>One PDF at a time. Uploading a new document wipes the previous one — no multi-doc library or cross-document queries.</a:t>
            </a:r>
          </a:p>
        </p:txBody>
      </p:sp>
      <p:sp>
        <p:nvSpPr>
          <p:cNvPr id="9" name="Rectangle 8"/>
          <p:cNvSpPr/>
          <p:nvPr/>
        </p:nvSpPr>
        <p:spPr>
          <a:xfrm>
            <a:off x="6117336" y="2185416"/>
            <a:ext cx="5303520" cy="344728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17336" y="2185416"/>
            <a:ext cx="5303520" cy="640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359152"/>
            <a:ext cx="4892040" cy="466344"/>
          </a:xfrm>
          <a:prstGeom prst="rect">
            <a:avLst/>
          </a:prstGeom>
          <a:noFill/>
        </p:spPr>
        <p:txBody>
          <a:bodyPr wrap="square">
            <a:spAutoFit/>
          </a:bodyPr>
          <a:lstStyle/>
          <a:p>
            <a:pPr algn="l"/>
            <a:r>
              <a:rPr sz="1500" b="1" i="0">
                <a:solidFill>
                  <a:srgbClr val="4C1D95"/>
                </a:solidFill>
              </a:rPr>
              <a:t>🔍  OCR opt-in only</a:t>
            </a:r>
          </a:p>
        </p:txBody>
      </p:sp>
      <p:sp>
        <p:nvSpPr>
          <p:cNvPr id="12" name="TextBox 11"/>
          <p:cNvSpPr txBox="1"/>
          <p:nvPr/>
        </p:nvSpPr>
        <p:spPr>
          <a:xfrm>
            <a:off x="6419088" y="2962656"/>
            <a:ext cx="4892040" cy="2414016"/>
          </a:xfrm>
          <a:prstGeom prst="rect">
            <a:avLst/>
          </a:prstGeom>
          <a:noFill/>
        </p:spPr>
        <p:txBody>
          <a:bodyPr wrap="square">
            <a:spAutoFit/>
          </a:bodyPr>
          <a:lstStyle/>
          <a:p>
            <a:pPr algn="l"/>
            <a:r>
              <a:rPr sz="1250" b="0" i="0">
                <a:solidFill>
                  <a:srgbClr val="7C3AED"/>
                </a:solidFill>
              </a:rPr>
              <a:t>OCR for scanned/handwritten pages is supported via Gemini Vision but must be enabled at upload — every empty-text page (≤ 50 chars from PyMuPDF) becomes a Vision call. No automatic detection: the user toggles it per upload.</a:t>
            </a:r>
          </a:p>
        </p:txBody>
      </p:sp>
      <p:sp>
        <p:nvSpPr>
          <p:cNvPr id="13" name="Rectangle 12"/>
          <p:cNvSpPr/>
          <p:nvPr/>
        </p:nvSpPr>
        <p:spPr>
          <a:xfrm>
            <a:off x="11832336" y="2185416"/>
            <a:ext cx="5303520" cy="344728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832336" y="2185416"/>
            <a:ext cx="5303520" cy="64008"/>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134088" y="2359152"/>
            <a:ext cx="4892040" cy="466344"/>
          </a:xfrm>
          <a:prstGeom prst="rect">
            <a:avLst/>
          </a:prstGeom>
          <a:noFill/>
        </p:spPr>
        <p:txBody>
          <a:bodyPr wrap="square">
            <a:spAutoFit/>
          </a:bodyPr>
          <a:lstStyle/>
          <a:p>
            <a:pPr algn="l"/>
            <a:r>
              <a:rPr sz="1500" b="1" i="0">
                <a:solidFill>
                  <a:srgbClr val="4C1D95"/>
                </a:solidFill>
              </a:rPr>
              <a:t>👤  No Auth / Multi-User</a:t>
            </a:r>
          </a:p>
        </p:txBody>
      </p:sp>
      <p:sp>
        <p:nvSpPr>
          <p:cNvPr id="16" name="TextBox 15"/>
          <p:cNvSpPr txBox="1"/>
          <p:nvPr/>
        </p:nvSpPr>
        <p:spPr>
          <a:xfrm>
            <a:off x="12134088" y="2962656"/>
            <a:ext cx="4892040" cy="2414016"/>
          </a:xfrm>
          <a:prstGeom prst="rect">
            <a:avLst/>
          </a:prstGeom>
          <a:noFill/>
        </p:spPr>
        <p:txBody>
          <a:bodyPr wrap="square">
            <a:spAutoFit/>
          </a:bodyPr>
          <a:lstStyle/>
          <a:p>
            <a:pPr algn="l"/>
            <a:r>
              <a:rPr sz="1250" b="0" i="0">
                <a:solidFill>
                  <a:srgbClr val="7C3AED"/>
                </a:solidFill>
              </a:rPr>
              <a:t>Single shared server state. No session isolation — concurrent users share the same document with no login or permission model.</a:t>
            </a:r>
          </a:p>
        </p:txBody>
      </p:sp>
      <p:sp>
        <p:nvSpPr>
          <p:cNvPr id="17" name="Rectangle 16"/>
          <p:cNvSpPr/>
          <p:nvPr/>
        </p:nvSpPr>
        <p:spPr>
          <a:xfrm>
            <a:off x="402336" y="5806440"/>
            <a:ext cx="5303520" cy="344728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2336" y="5806440"/>
            <a:ext cx="53035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4088" y="5980176"/>
            <a:ext cx="4892040" cy="466344"/>
          </a:xfrm>
          <a:prstGeom prst="rect">
            <a:avLst/>
          </a:prstGeom>
          <a:noFill/>
        </p:spPr>
        <p:txBody>
          <a:bodyPr wrap="square">
            <a:spAutoFit/>
          </a:bodyPr>
          <a:lstStyle/>
          <a:p>
            <a:pPr algn="l"/>
            <a:r>
              <a:rPr sz="1500" b="1" i="0">
                <a:solidFill>
                  <a:srgbClr val="4C1D95"/>
                </a:solidFill>
              </a:rPr>
              <a:t>💬  No Persistent Chat History</a:t>
            </a:r>
          </a:p>
        </p:txBody>
      </p:sp>
      <p:sp>
        <p:nvSpPr>
          <p:cNvPr id="20" name="TextBox 19"/>
          <p:cNvSpPr txBox="1"/>
          <p:nvPr/>
        </p:nvSpPr>
        <p:spPr>
          <a:xfrm>
            <a:off x="704088" y="6583679"/>
            <a:ext cx="4892040" cy="2414016"/>
          </a:xfrm>
          <a:prstGeom prst="rect">
            <a:avLst/>
          </a:prstGeom>
          <a:noFill/>
        </p:spPr>
        <p:txBody>
          <a:bodyPr wrap="square">
            <a:spAutoFit/>
          </a:bodyPr>
          <a:lstStyle/>
          <a:p>
            <a:pPr algn="l"/>
            <a:r>
              <a:rPr sz="1250" b="0" i="0">
                <a:solidFill>
                  <a:srgbClr val="7C3AED"/>
                </a:solidFill>
              </a:rPr>
              <a:t>Conversation context resets on page reload. Follow-up questions cannot reference answers from a previous browsing session.</a:t>
            </a:r>
          </a:p>
        </p:txBody>
      </p:sp>
      <p:sp>
        <p:nvSpPr>
          <p:cNvPr id="21" name="Rectangle 20"/>
          <p:cNvSpPr/>
          <p:nvPr/>
        </p:nvSpPr>
        <p:spPr>
          <a:xfrm>
            <a:off x="6117336" y="5806440"/>
            <a:ext cx="5303520" cy="344728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17336" y="5806440"/>
            <a:ext cx="53035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5980176"/>
            <a:ext cx="4892040" cy="466344"/>
          </a:xfrm>
          <a:prstGeom prst="rect">
            <a:avLst/>
          </a:prstGeom>
          <a:noFill/>
        </p:spPr>
        <p:txBody>
          <a:bodyPr wrap="square">
            <a:spAutoFit/>
          </a:bodyPr>
          <a:lstStyle/>
          <a:p>
            <a:pPr algn="l"/>
            <a:r>
              <a:rPr sz="1500" b="1" i="0">
                <a:solidFill>
                  <a:srgbClr val="4C1D95"/>
                </a:solidFill>
              </a:rPr>
              <a:t>⚡  Gemini API Rate Limits</a:t>
            </a:r>
          </a:p>
        </p:txBody>
      </p:sp>
      <p:sp>
        <p:nvSpPr>
          <p:cNvPr id="24" name="TextBox 23"/>
          <p:cNvSpPr txBox="1"/>
          <p:nvPr/>
        </p:nvSpPr>
        <p:spPr>
          <a:xfrm>
            <a:off x="6419088" y="6583679"/>
            <a:ext cx="4892040" cy="2414016"/>
          </a:xfrm>
          <a:prstGeom prst="rect">
            <a:avLst/>
          </a:prstGeom>
          <a:noFill/>
        </p:spPr>
        <p:txBody>
          <a:bodyPr wrap="square">
            <a:spAutoFit/>
          </a:bodyPr>
          <a:lstStyle/>
          <a:p>
            <a:pPr algn="l"/>
            <a:r>
              <a:rPr sz="1250" b="0" i="0">
                <a:solidFill>
                  <a:srgbClr val="7C3AED"/>
                </a:solidFill>
              </a:rPr>
              <a:t>Concurrent embedding calls hit 429 limits on large documents. Exponential backoff adds latency for 100+ page PDFs.</a:t>
            </a:r>
          </a:p>
        </p:txBody>
      </p:sp>
      <p:sp>
        <p:nvSpPr>
          <p:cNvPr id="25" name="Rectangle 24"/>
          <p:cNvSpPr/>
          <p:nvPr/>
        </p:nvSpPr>
        <p:spPr>
          <a:xfrm>
            <a:off x="11832336" y="5806440"/>
            <a:ext cx="5303520" cy="3447288"/>
          </a:xfrm>
          <a:prstGeom prst="rect">
            <a:avLst/>
          </a:prstGeom>
          <a:solidFill>
            <a:srgbClr val="FFFFFF"/>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832336" y="5806440"/>
            <a:ext cx="5303520" cy="6400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134088" y="5980176"/>
            <a:ext cx="4892040" cy="466344"/>
          </a:xfrm>
          <a:prstGeom prst="rect">
            <a:avLst/>
          </a:prstGeom>
          <a:noFill/>
        </p:spPr>
        <p:txBody>
          <a:bodyPr wrap="square">
            <a:spAutoFit/>
          </a:bodyPr>
          <a:lstStyle/>
          <a:p>
            <a:pPr algn="l"/>
            <a:r>
              <a:rPr sz="1500" b="1" i="0">
                <a:solidFill>
                  <a:srgbClr val="4C1D95"/>
                </a:solidFill>
              </a:rPr>
              <a:t>🔤  PyMuPDF ≠ PDF.js Extraction</a:t>
            </a:r>
          </a:p>
        </p:txBody>
      </p:sp>
      <p:sp>
        <p:nvSpPr>
          <p:cNvPr id="28" name="TextBox 27"/>
          <p:cNvSpPr txBox="1"/>
          <p:nvPr/>
        </p:nvSpPr>
        <p:spPr>
          <a:xfrm>
            <a:off x="12134088" y="6583679"/>
            <a:ext cx="4892040" cy="2414016"/>
          </a:xfrm>
          <a:prstGeom prst="rect">
            <a:avLst/>
          </a:prstGeom>
          <a:noFill/>
        </p:spPr>
        <p:txBody>
          <a:bodyPr wrap="square">
            <a:spAutoFit/>
          </a:bodyPr>
          <a:lstStyle/>
          <a:p>
            <a:pPr algn="l"/>
            <a:r>
              <a:rPr sz="1250" b="0" i="0">
                <a:solidFill>
                  <a:srgbClr val="7C3AED"/>
                </a:solidFill>
              </a:rPr>
              <a:t>Math and symbols render differently at ingest (PyMuPDF) and in the viewer (PDF.js), requiring fuzzy word-anchor matching for highlighting.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484632"/>
            <a:ext cx="16285463" cy="429768"/>
          </a:xfrm>
          <a:prstGeom prst="rect">
            <a:avLst/>
          </a:prstGeom>
          <a:noFill/>
        </p:spPr>
        <p:txBody>
          <a:bodyPr wrap="square">
            <a:spAutoFit/>
          </a:bodyPr>
          <a:lstStyle/>
          <a:p>
            <a:pPr algn="l"/>
            <a:r>
              <a:rPr sz="1400" b="1" i="0">
                <a:solidFill>
                  <a:srgbClr val="7C3AED"/>
                </a:solidFill>
              </a:rPr>
              <a:t>SYSTEM DESIGN</a:t>
            </a:r>
          </a:p>
        </p:txBody>
      </p:sp>
      <p:sp>
        <p:nvSpPr>
          <p:cNvPr id="3" name="TextBox 2"/>
          <p:cNvSpPr txBox="1"/>
          <p:nvPr/>
        </p:nvSpPr>
        <p:spPr>
          <a:xfrm>
            <a:off x="914400" y="987552"/>
            <a:ext cx="16285463" cy="502920"/>
          </a:xfrm>
          <a:prstGeom prst="rect">
            <a:avLst/>
          </a:prstGeom>
          <a:noFill/>
        </p:spPr>
        <p:txBody>
          <a:bodyPr wrap="square">
            <a:spAutoFit/>
          </a:bodyPr>
          <a:lstStyle/>
          <a:p>
            <a:pPr algn="l"/>
            <a:r>
              <a:rPr sz="2800" b="1" i="0">
                <a:solidFill>
                  <a:srgbClr val="4C1D95"/>
                </a:solidFill>
              </a:rPr>
              <a:t>Component architecture &amp; data flow</a:t>
            </a:r>
          </a:p>
        </p:txBody>
      </p:sp>
      <p:sp>
        <p:nvSpPr>
          <p:cNvPr id="4" name="Rectangle 3"/>
          <p:cNvSpPr/>
          <p:nvPr/>
        </p:nvSpPr>
        <p:spPr>
          <a:xfrm>
            <a:off x="822960" y="1856231"/>
            <a:ext cx="16651224"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3291840"/>
            <a:ext cx="3474720" cy="3474720"/>
          </a:xfrm>
          <a:prstGeom prst="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3291840"/>
            <a:ext cx="347472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456432"/>
            <a:ext cx="3108960" cy="502920"/>
          </a:xfrm>
          <a:prstGeom prst="rect">
            <a:avLst/>
          </a:prstGeom>
          <a:noFill/>
        </p:spPr>
        <p:txBody>
          <a:bodyPr wrap="square">
            <a:spAutoFit/>
          </a:bodyPr>
          <a:lstStyle/>
          <a:p>
            <a:pPr algn="l"/>
            <a:r>
              <a:rPr sz="2200" b="0" i="0">
                <a:solidFill>
                  <a:srgbClr val="4C1D95"/>
                </a:solidFill>
              </a:rPr>
              <a:t>🌐</a:t>
            </a:r>
          </a:p>
        </p:txBody>
      </p:sp>
      <p:sp>
        <p:nvSpPr>
          <p:cNvPr id="8" name="TextBox 7"/>
          <p:cNvSpPr txBox="1"/>
          <p:nvPr/>
        </p:nvSpPr>
        <p:spPr>
          <a:xfrm>
            <a:off x="548640" y="3977639"/>
            <a:ext cx="3108960" cy="457200"/>
          </a:xfrm>
          <a:prstGeom prst="rect">
            <a:avLst/>
          </a:prstGeom>
          <a:noFill/>
        </p:spPr>
        <p:txBody>
          <a:bodyPr wrap="square">
            <a:spAutoFit/>
          </a:bodyPr>
          <a:lstStyle/>
          <a:p>
            <a:pPr algn="l"/>
            <a:r>
              <a:rPr sz="1600" b="1" i="0">
                <a:solidFill>
                  <a:srgbClr val="4C1D95"/>
                </a:solidFill>
              </a:rPr>
              <a:t>Browser</a:t>
            </a:r>
          </a:p>
        </p:txBody>
      </p:sp>
      <p:sp>
        <p:nvSpPr>
          <p:cNvPr id="9" name="TextBox 8"/>
          <p:cNvSpPr txBox="1"/>
          <p:nvPr/>
        </p:nvSpPr>
        <p:spPr>
          <a:xfrm>
            <a:off x="548640" y="4480560"/>
            <a:ext cx="3108960" cy="2103120"/>
          </a:xfrm>
          <a:prstGeom prst="rect">
            <a:avLst/>
          </a:prstGeom>
          <a:noFill/>
        </p:spPr>
        <p:txBody>
          <a:bodyPr wrap="square">
            <a:spAutoFit/>
          </a:bodyPr>
          <a:lstStyle/>
          <a:p>
            <a:pPr algn="l"/>
            <a:r>
              <a:rPr sz="1150" b="0" i="0">
                <a:solidFill>
                  <a:srgbClr val="7C3AED"/>
                </a:solidFill>
              </a:rPr>
              <a:t>index.html
PDF.js viewer
SSE streaming
citation pills</a:t>
            </a:r>
          </a:p>
        </p:txBody>
      </p:sp>
      <p:sp>
        <p:nvSpPr>
          <p:cNvPr id="10" name="Rectangle 9"/>
          <p:cNvSpPr/>
          <p:nvPr/>
        </p:nvSpPr>
        <p:spPr>
          <a:xfrm>
            <a:off x="7406640" y="2194560"/>
            <a:ext cx="3474720" cy="512064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06640" y="2194560"/>
            <a:ext cx="3474720" cy="5486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35240" y="2359152"/>
            <a:ext cx="3108960" cy="502920"/>
          </a:xfrm>
          <a:prstGeom prst="rect">
            <a:avLst/>
          </a:prstGeom>
          <a:noFill/>
        </p:spPr>
        <p:txBody>
          <a:bodyPr wrap="square">
            <a:spAutoFit/>
          </a:bodyPr>
          <a:lstStyle/>
          <a:p>
            <a:pPr algn="l"/>
            <a:r>
              <a:rPr sz="2200" b="0" i="0">
                <a:solidFill>
                  <a:srgbClr val="4C1D95"/>
                </a:solidFill>
              </a:rPr>
              <a:t>⚙️</a:t>
            </a:r>
          </a:p>
        </p:txBody>
      </p:sp>
      <p:sp>
        <p:nvSpPr>
          <p:cNvPr id="13" name="TextBox 12"/>
          <p:cNvSpPr txBox="1"/>
          <p:nvPr/>
        </p:nvSpPr>
        <p:spPr>
          <a:xfrm>
            <a:off x="7635240" y="2880360"/>
            <a:ext cx="3108960" cy="457200"/>
          </a:xfrm>
          <a:prstGeom prst="rect">
            <a:avLst/>
          </a:prstGeom>
          <a:noFill/>
        </p:spPr>
        <p:txBody>
          <a:bodyPr wrap="square">
            <a:spAutoFit/>
          </a:bodyPr>
          <a:lstStyle/>
          <a:p>
            <a:pPr algn="l"/>
            <a:r>
              <a:rPr sz="1600" b="1" i="0">
                <a:solidFill>
                  <a:srgbClr val="4C1D95"/>
                </a:solidFill>
              </a:rPr>
              <a:t>FastAPI</a:t>
            </a:r>
          </a:p>
        </p:txBody>
      </p:sp>
      <p:sp>
        <p:nvSpPr>
          <p:cNvPr id="14" name="TextBox 13"/>
          <p:cNvSpPr txBox="1"/>
          <p:nvPr/>
        </p:nvSpPr>
        <p:spPr>
          <a:xfrm>
            <a:off x="7635240" y="3383280"/>
            <a:ext cx="3108960" cy="3749039"/>
          </a:xfrm>
          <a:prstGeom prst="rect">
            <a:avLst/>
          </a:prstGeom>
          <a:noFill/>
        </p:spPr>
        <p:txBody>
          <a:bodyPr wrap="square">
            <a:spAutoFit/>
          </a:bodyPr>
          <a:lstStyle/>
          <a:p>
            <a:pPr algn="l"/>
            <a:r>
              <a:rPr sz="1150" b="0" i="0">
                <a:solidFill>
                  <a:srgbClr val="7C3AED"/>
                </a:solidFill>
              </a:rPr>
              <a:t>POST /ingest
POST /query
DELETE /doc
GET /doc/info
GET /health
asyncpg · uvicorn</a:t>
            </a:r>
          </a:p>
        </p:txBody>
      </p:sp>
      <p:sp>
        <p:nvSpPr>
          <p:cNvPr id="15" name="Rectangle 14"/>
          <p:cNvSpPr/>
          <p:nvPr/>
        </p:nvSpPr>
        <p:spPr>
          <a:xfrm>
            <a:off x="14493240" y="3291840"/>
            <a:ext cx="3474720" cy="3474720"/>
          </a:xfrm>
          <a:prstGeom prst="rect">
            <a:avLst/>
          </a:prstGeom>
          <a:solidFill>
            <a:srgbClr val="FFFFFF"/>
          </a:solidFill>
          <a:ln w="19050">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4493240" y="3291840"/>
            <a:ext cx="3474720" cy="5486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4721840" y="3456432"/>
            <a:ext cx="3108960" cy="502920"/>
          </a:xfrm>
          <a:prstGeom prst="rect">
            <a:avLst/>
          </a:prstGeom>
          <a:noFill/>
        </p:spPr>
        <p:txBody>
          <a:bodyPr wrap="square">
            <a:spAutoFit/>
          </a:bodyPr>
          <a:lstStyle/>
          <a:p>
            <a:pPr algn="l"/>
            <a:r>
              <a:rPr sz="2200" b="0" i="0">
                <a:solidFill>
                  <a:srgbClr val="4C1D95"/>
                </a:solidFill>
              </a:rPr>
              <a:t>🧠</a:t>
            </a:r>
          </a:p>
        </p:txBody>
      </p:sp>
      <p:sp>
        <p:nvSpPr>
          <p:cNvPr id="18" name="TextBox 17"/>
          <p:cNvSpPr txBox="1"/>
          <p:nvPr/>
        </p:nvSpPr>
        <p:spPr>
          <a:xfrm>
            <a:off x="14721840" y="3977639"/>
            <a:ext cx="3108960" cy="457200"/>
          </a:xfrm>
          <a:prstGeom prst="rect">
            <a:avLst/>
          </a:prstGeom>
          <a:noFill/>
        </p:spPr>
        <p:txBody>
          <a:bodyPr wrap="square">
            <a:spAutoFit/>
          </a:bodyPr>
          <a:lstStyle/>
          <a:p>
            <a:pPr algn="l"/>
            <a:r>
              <a:rPr sz="1600" b="1" i="0">
                <a:solidFill>
                  <a:srgbClr val="4C1D95"/>
                </a:solidFill>
              </a:rPr>
              <a:t>Gemini API</a:t>
            </a:r>
          </a:p>
        </p:txBody>
      </p:sp>
      <p:sp>
        <p:nvSpPr>
          <p:cNvPr id="19" name="TextBox 18"/>
          <p:cNvSpPr txBox="1"/>
          <p:nvPr/>
        </p:nvSpPr>
        <p:spPr>
          <a:xfrm>
            <a:off x="14721840" y="4480560"/>
            <a:ext cx="3108960" cy="2103120"/>
          </a:xfrm>
          <a:prstGeom prst="rect">
            <a:avLst/>
          </a:prstGeom>
          <a:noFill/>
        </p:spPr>
        <p:txBody>
          <a:bodyPr wrap="square">
            <a:spAutoFit/>
          </a:bodyPr>
          <a:lstStyle/>
          <a:p>
            <a:pPr algn="l"/>
            <a:r>
              <a:rPr sz="1150">
                <a:solidFill>
                  <a:srgbClr val="7C3AED"/>
                </a:solidFill>
              </a:rPr>
              <a:t>embedding-2 (768-dim)</a:t>
            </a:r>
          </a:p>
          <a:p>
            <a:pPr algn="l"/>
            <a:r>
              <a:rPr sz="1150">
                <a:solidFill>
                  <a:srgbClr val="7C3AED"/>
                </a:solidFill>
              </a:rPr>
              <a:t>RETRIEVAL_DOCUMENT/QUERY</a:t>
            </a:r>
          </a:p>
          <a:p>
            <a:pPr algn="l"/>
            <a:r>
              <a:rPr sz="1150">
                <a:solidFill>
                  <a:srgbClr val="7C3AED"/>
                </a:solidFill>
              </a:rPr>
              <a:t>2.5-flash vision (image captions)</a:t>
            </a:r>
          </a:p>
          <a:p>
            <a:pPr algn="l"/>
            <a:r>
              <a:rPr sz="1150">
                <a:solidFill>
                  <a:srgbClr val="7C3AED"/>
                </a:solidFill>
              </a:rPr>
              <a:t>2.5-flash answer (SSE)</a:t>
            </a:r>
          </a:p>
        </p:txBody>
      </p:sp>
      <p:sp>
        <p:nvSpPr>
          <p:cNvPr id="20" name="Rectangle 19"/>
          <p:cNvSpPr/>
          <p:nvPr/>
        </p:nvSpPr>
        <p:spPr>
          <a:xfrm>
            <a:off x="7406640" y="7863840"/>
            <a:ext cx="3474720" cy="2103120"/>
          </a:xfrm>
          <a:prstGeom prst="rect">
            <a:avLst/>
          </a:prstGeom>
          <a:solidFill>
            <a:srgbClr val="FFFFFF"/>
          </a:solidFill>
          <a:ln w="19050">
            <a:solidFill>
              <a:srgbClr val="336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7863840"/>
            <a:ext cx="3474720" cy="54864"/>
          </a:xfrm>
          <a:prstGeom prst="rect">
            <a:avLst/>
          </a:prstGeom>
          <a:solidFill>
            <a:srgbClr val="336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35240" y="8028431"/>
            <a:ext cx="3108960" cy="502920"/>
          </a:xfrm>
          <a:prstGeom prst="rect">
            <a:avLst/>
          </a:prstGeom>
          <a:noFill/>
        </p:spPr>
        <p:txBody>
          <a:bodyPr wrap="square">
            <a:spAutoFit/>
          </a:bodyPr>
          <a:lstStyle/>
          <a:p>
            <a:pPr algn="l"/>
            <a:r>
              <a:rPr sz="2200" b="0" i="0">
                <a:solidFill>
                  <a:srgbClr val="4C1D95"/>
                </a:solidFill>
              </a:rPr>
              <a:t>🗄️</a:t>
            </a:r>
          </a:p>
        </p:txBody>
      </p:sp>
      <p:sp>
        <p:nvSpPr>
          <p:cNvPr id="23" name="TextBox 22"/>
          <p:cNvSpPr txBox="1"/>
          <p:nvPr/>
        </p:nvSpPr>
        <p:spPr>
          <a:xfrm>
            <a:off x="7635240" y="8549640"/>
            <a:ext cx="3108960" cy="457200"/>
          </a:xfrm>
          <a:prstGeom prst="rect">
            <a:avLst/>
          </a:prstGeom>
          <a:noFill/>
        </p:spPr>
        <p:txBody>
          <a:bodyPr wrap="square">
            <a:spAutoFit/>
          </a:bodyPr>
          <a:lstStyle/>
          <a:p>
            <a:pPr algn="l"/>
            <a:r>
              <a:rPr sz="1600" b="1" i="0">
                <a:solidFill>
                  <a:srgbClr val="4C1D95"/>
                </a:solidFill>
              </a:rPr>
              <a:t>PostgreSQL + pgvector</a:t>
            </a:r>
          </a:p>
        </p:txBody>
      </p:sp>
      <p:sp>
        <p:nvSpPr>
          <p:cNvPr id="24" name="TextBox 23"/>
          <p:cNvSpPr txBox="1"/>
          <p:nvPr/>
        </p:nvSpPr>
        <p:spPr>
          <a:xfrm>
            <a:off x="7635240" y="9052560"/>
            <a:ext cx="3108960" cy="731519"/>
          </a:xfrm>
          <a:prstGeom prst="rect">
            <a:avLst/>
          </a:prstGeom>
          <a:noFill/>
        </p:spPr>
        <p:txBody>
          <a:bodyPr wrap="square">
            <a:spAutoFit/>
          </a:bodyPr>
          <a:lstStyle/>
          <a:p>
            <a:pPr algn="l"/>
            <a:r>
              <a:rPr sz="1150" b="0" i="0">
                <a:solidFill>
                  <a:srgbClr val="7C3AED"/>
                </a:solidFill>
              </a:rPr>
              <a:t>chunks · doc_meta
HNSW cosine · tsvector BM25
RRF fusion</a:t>
            </a:r>
          </a:p>
        </p:txBody>
      </p:sp>
      <p:cxnSp>
        <p:nvCxnSpPr>
          <p:cNvPr id="25" name="Connector 24"/>
          <p:cNvCxnSpPr/>
          <p:nvPr/>
        </p:nvCxnSpPr>
        <p:spPr>
          <a:xfrm>
            <a:off x="3794759" y="4297680"/>
            <a:ext cx="3611881" cy="0"/>
          </a:xfrm>
          <a:prstGeom prst="line">
            <a:avLst/>
          </a:prstGeom>
          <a:ln w="25400">
            <a:solidFill>
              <a:srgbClr val="7C3AED"/>
            </a:solidFill>
            <a:tailEnd type="arrow"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40479" y="3977640"/>
            <a:ext cx="3520440" cy="292608"/>
          </a:xfrm>
          <a:prstGeom prst="rect">
            <a:avLst/>
          </a:prstGeom>
          <a:noFill/>
        </p:spPr>
        <p:txBody>
          <a:bodyPr wrap="square">
            <a:spAutoFit/>
          </a:bodyPr>
          <a:lstStyle/>
          <a:p>
            <a:pPr algn="ctr"/>
            <a:r>
              <a:rPr sz="1000" b="0" i="1">
                <a:solidFill>
                  <a:srgbClr val="64748B"/>
                </a:solidFill>
              </a:rPr>
              <a:t>upload PDF / query</a:t>
            </a:r>
          </a:p>
        </p:txBody>
      </p:sp>
      <p:cxnSp>
        <p:nvCxnSpPr>
          <p:cNvPr id="27" name="Connector 26"/>
          <p:cNvCxnSpPr/>
          <p:nvPr/>
        </p:nvCxnSpPr>
        <p:spPr>
          <a:xfrm flipH="1">
            <a:off x="3794759" y="5486400"/>
            <a:ext cx="3611881" cy="0"/>
          </a:xfrm>
          <a:prstGeom prst="line">
            <a:avLst/>
          </a:prstGeom>
          <a:ln w="25400">
            <a:solidFill>
              <a:srgbClr val="059669"/>
            </a:solidFill>
            <a:tailEnd type="arrow"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40479" y="5559552"/>
            <a:ext cx="3520440" cy="292608"/>
          </a:xfrm>
          <a:prstGeom prst="rect">
            <a:avLst/>
          </a:prstGeom>
          <a:noFill/>
        </p:spPr>
        <p:txBody>
          <a:bodyPr wrap="square">
            <a:spAutoFit/>
          </a:bodyPr>
          <a:lstStyle/>
          <a:p>
            <a:pPr algn="ctr"/>
            <a:r>
              <a:rPr sz="1000" b="0" i="1">
                <a:solidFill>
                  <a:srgbClr val="64748B"/>
                </a:solidFill>
              </a:rPr>
              <a:t>SSE stream</a:t>
            </a:r>
          </a:p>
        </p:txBody>
      </p:sp>
      <p:cxnSp>
        <p:nvCxnSpPr>
          <p:cNvPr id="29" name="Connector 28"/>
          <p:cNvCxnSpPr/>
          <p:nvPr/>
        </p:nvCxnSpPr>
        <p:spPr>
          <a:xfrm>
            <a:off x="10881359" y="4297680"/>
            <a:ext cx="3611881" cy="0"/>
          </a:xfrm>
          <a:prstGeom prst="line">
            <a:avLst/>
          </a:prstGeom>
          <a:ln w="25400">
            <a:solidFill>
              <a:srgbClr val="4285F4"/>
            </a:solidFill>
            <a:tailEnd type="arrow"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927080" y="3977640"/>
            <a:ext cx="3520440" cy="292608"/>
          </a:xfrm>
          <a:prstGeom prst="rect">
            <a:avLst/>
          </a:prstGeom>
          <a:noFill/>
        </p:spPr>
        <p:txBody>
          <a:bodyPr wrap="square">
            <a:spAutoFit/>
          </a:bodyPr>
          <a:lstStyle/>
          <a:p>
            <a:pPr algn="ctr"/>
            <a:r>
              <a:rPr sz="1000" b="0" i="1">
                <a:solidFill>
                  <a:srgbClr val="64748B"/>
                </a:solidFill>
              </a:rPr>
              <a:t>embed / answer</a:t>
            </a:r>
          </a:p>
        </p:txBody>
      </p:sp>
      <p:cxnSp>
        <p:nvCxnSpPr>
          <p:cNvPr id="31" name="Connector 30"/>
          <p:cNvCxnSpPr/>
          <p:nvPr/>
        </p:nvCxnSpPr>
        <p:spPr>
          <a:xfrm flipH="1">
            <a:off x="10881359" y="5577840"/>
            <a:ext cx="3611881" cy="0"/>
          </a:xfrm>
          <a:prstGeom prst="line">
            <a:avLst/>
          </a:prstGeom>
          <a:ln w="25400">
            <a:solidFill>
              <a:srgbClr val="4285F4"/>
            </a:solidFill>
            <a:tailEnd type="arrow"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927080" y="5650992"/>
            <a:ext cx="3520440" cy="292608"/>
          </a:xfrm>
          <a:prstGeom prst="rect">
            <a:avLst/>
          </a:prstGeom>
          <a:noFill/>
        </p:spPr>
        <p:txBody>
          <a:bodyPr wrap="square">
            <a:spAutoFit/>
          </a:bodyPr>
          <a:lstStyle/>
          <a:p>
            <a:pPr algn="ctr"/>
            <a:r>
              <a:rPr sz="1000" b="0" i="1">
                <a:solidFill>
                  <a:srgbClr val="64748B"/>
                </a:solidFill>
              </a:rPr>
              <a:t>embeddings / tokens</a:t>
            </a:r>
          </a:p>
        </p:txBody>
      </p:sp>
      <p:cxnSp>
        <p:nvCxnSpPr>
          <p:cNvPr id="33" name="Connector 32"/>
          <p:cNvCxnSpPr/>
          <p:nvPr/>
        </p:nvCxnSpPr>
        <p:spPr>
          <a:xfrm>
            <a:off x="9144000" y="7315200"/>
            <a:ext cx="0" cy="548640"/>
          </a:xfrm>
          <a:prstGeom prst="line">
            <a:avLst/>
          </a:prstGeom>
          <a:ln w="25400">
            <a:solidFill>
              <a:srgbClr val="336791"/>
            </a:solidFill>
            <a:tailEnd type="arrow"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235440" y="7424928"/>
            <a:ext cx="2011680" cy="329184"/>
          </a:xfrm>
          <a:prstGeom prst="rect">
            <a:avLst/>
          </a:prstGeom>
          <a:noFill/>
        </p:spPr>
        <p:txBody>
          <a:bodyPr wrap="square">
            <a:spAutoFit/>
          </a:bodyPr>
          <a:lstStyle/>
          <a:p>
            <a:pPr algn="l"/>
            <a:r>
              <a:rPr sz="1000" b="0" i="1">
                <a:solidFill>
                  <a:srgbClr val="64748B"/>
                </a:solidFill>
              </a:rPr>
              <a:t>store &amp; retrieve</a:t>
            </a:r>
          </a:p>
        </p:txBody>
      </p:sp>
      <p:sp>
        <p:nvSpPr>
          <p:cNvPr id="35" name="TextBox 34"/>
          <p:cNvSpPr txBox="1"/>
          <p:nvPr/>
        </p:nvSpPr>
        <p:spPr>
          <a:xfrm>
            <a:off x="457200" y="10058400"/>
            <a:ext cx="17373600" cy="274320"/>
          </a:xfrm>
          <a:prstGeom prst="rect">
            <a:avLst/>
          </a:prstGeom>
          <a:noFill/>
        </p:spPr>
        <p:txBody>
          <a:bodyPr wrap="none">
            <a:spAutoFit/>
          </a:bodyPr>
          <a:lstStyle/>
          <a:p>
            <a:pPr algn="l"/>
            <a:r>
              <a:rPr sz="900" b="0" i="0">
                <a:solidFill>
                  <a:srgbClr val="94A3B8"/>
                </a:solidFill>
              </a:rPr>
              <a:t>Ingest flow: Browser → FastAPI → Gemini (embed) → Postgres (store)   Query flow: Browser → FastAPI → Postgres (hybrid search) → Gemini (+answer) → Browser (SSE)</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91440" y="1550051"/>
            <a:ext cx="18114845" cy="1424111"/>
          </a:xfrm>
          <a:prstGeom prst="rect">
            <a:avLst/>
          </a:prstGeom>
        </p:spPr>
        <p:txBody>
          <a:bodyPr anchor="t" rtlCol="false" tIns="0" lIns="0" bIns="0" rIns="0">
            <a:spAutoFit/>
          </a:bodyPr>
          <a:lstStyle/>
          <a:p>
            <a:pPr algn="ctr">
              <a:lnSpc>
                <a:spcPts val="8646"/>
              </a:lnSpc>
            </a:pPr>
            <a:r>
              <a:rPr lang="en-US" sz="7205">
                <a:solidFill>
                  <a:srgbClr val="4C1D95"/>
                </a:solidFill>
                <a:latin typeface="Calibri (MS)"/>
                <a:ea typeface="Calibri (MS)"/>
                <a:cs typeface="Calibri (MS)"/>
                <a:sym typeface="Calibri (MS)"/>
              </a:rPr>
              <a:t>🙏</a:t>
            </a:r>
          </a:p>
        </p:txBody>
      </p:sp>
      <p:sp>
        <p:nvSpPr>
          <p:cNvPr name="TextBox 3" id="3"/>
          <p:cNvSpPr txBox="true"/>
          <p:nvPr/>
        </p:nvSpPr>
        <p:spPr>
          <a:xfrm rot="0">
            <a:off x="91440" y="3059992"/>
            <a:ext cx="18114845" cy="1424111"/>
          </a:xfrm>
          <a:prstGeom prst="rect">
            <a:avLst/>
          </a:prstGeom>
        </p:spPr>
        <p:txBody>
          <a:bodyPr anchor="t" rtlCol="false" tIns="0" lIns="0" bIns="0" rIns="0">
            <a:spAutoFit/>
          </a:bodyPr>
          <a:lstStyle/>
          <a:p>
            <a:pPr algn="ctr">
              <a:lnSpc>
                <a:spcPts val="8646"/>
              </a:lnSpc>
            </a:pPr>
            <a:r>
              <a:rPr lang="en-US" sz="7205" b="true">
                <a:solidFill>
                  <a:srgbClr val="4C1D95"/>
                </a:solidFill>
                <a:latin typeface="Calibri (MS) Bold"/>
                <a:ea typeface="Calibri (MS) Bold"/>
                <a:cs typeface="Calibri (MS) Bold"/>
                <a:sym typeface="Calibri (MS) Bold"/>
              </a:rPr>
              <a:t>Thank you</a:t>
            </a:r>
          </a:p>
        </p:txBody>
      </p:sp>
      <p:sp>
        <p:nvSpPr>
          <p:cNvPr name="TextBox 4" id="4"/>
          <p:cNvSpPr txBox="true"/>
          <p:nvPr/>
        </p:nvSpPr>
        <p:spPr>
          <a:xfrm rot="0">
            <a:off x="91440" y="4646133"/>
            <a:ext cx="18114845" cy="798843"/>
          </a:xfrm>
          <a:prstGeom prst="rect">
            <a:avLst/>
          </a:prstGeom>
        </p:spPr>
        <p:txBody>
          <a:bodyPr anchor="t" rtlCol="false" tIns="0" lIns="0" bIns="0" rIns="0">
            <a:spAutoFit/>
          </a:bodyPr>
          <a:lstStyle/>
          <a:p>
            <a:pPr algn="ctr">
              <a:lnSpc>
                <a:spcPts val="3602"/>
              </a:lnSpc>
            </a:pPr>
            <a:r>
              <a:rPr lang="en-US" sz="3002">
                <a:solidFill>
                  <a:srgbClr val="7C3AED"/>
                </a:solidFill>
                <a:latin typeface="Calibri (MS)"/>
                <a:ea typeface="Calibri (MS)"/>
                <a:cs typeface="Calibri (MS)"/>
                <a:sym typeface="Calibri (MS)"/>
              </a:rPr>
              <a:t>Questions &amp; live Q&amp;A</a:t>
            </a:r>
          </a:p>
        </p:txBody>
      </p:sp>
      <p:grpSp>
        <p:nvGrpSpPr>
          <p:cNvPr name="Group 5" id="5"/>
          <p:cNvGrpSpPr/>
          <p:nvPr/>
        </p:nvGrpSpPr>
        <p:grpSpPr>
          <a:xfrm rot="0">
            <a:off x="4794818" y="5755691"/>
            <a:ext cx="8708079" cy="705402"/>
            <a:chOff x="0" y="0"/>
            <a:chExt cx="11610772" cy="940537"/>
          </a:xfrm>
        </p:grpSpPr>
        <p:sp>
          <p:nvSpPr>
            <p:cNvPr name="Freeform 6" id="6"/>
            <p:cNvSpPr/>
            <p:nvPr/>
          </p:nvSpPr>
          <p:spPr>
            <a:xfrm flipH="false" flipV="false" rot="0">
              <a:off x="12700" y="12700"/>
              <a:ext cx="11585321" cy="915162"/>
            </a:xfrm>
            <a:custGeom>
              <a:avLst/>
              <a:gdLst/>
              <a:ahLst/>
              <a:cxnLst/>
              <a:rect r="r" b="b" t="t" l="l"/>
              <a:pathLst>
                <a:path h="915162" w="11585321">
                  <a:moveTo>
                    <a:pt x="0" y="0"/>
                  </a:moveTo>
                  <a:lnTo>
                    <a:pt x="11585321" y="0"/>
                  </a:lnTo>
                  <a:lnTo>
                    <a:pt x="11585321" y="915162"/>
                  </a:lnTo>
                  <a:lnTo>
                    <a:pt x="0" y="915162"/>
                  </a:lnTo>
                  <a:close/>
                </a:path>
              </a:pathLst>
            </a:custGeom>
            <a:solidFill>
              <a:srgbClr val="FFFFFF"/>
            </a:solidFill>
          </p:spPr>
        </p:sp>
        <p:sp>
          <p:nvSpPr>
            <p:cNvPr name="Freeform 7" id="7"/>
            <p:cNvSpPr/>
            <p:nvPr/>
          </p:nvSpPr>
          <p:spPr>
            <a:xfrm flipH="false" flipV="false" rot="0">
              <a:off x="0" y="0"/>
              <a:ext cx="11610721" cy="940562"/>
            </a:xfrm>
            <a:custGeom>
              <a:avLst/>
              <a:gdLst/>
              <a:ahLst/>
              <a:cxnLst/>
              <a:rect r="r" b="b" t="t" l="l"/>
              <a:pathLst>
                <a:path h="940562" w="11610721">
                  <a:moveTo>
                    <a:pt x="12700" y="0"/>
                  </a:moveTo>
                  <a:lnTo>
                    <a:pt x="11598021" y="0"/>
                  </a:lnTo>
                  <a:cubicBezTo>
                    <a:pt x="11605006" y="0"/>
                    <a:pt x="11610721" y="5715"/>
                    <a:pt x="11610721" y="12700"/>
                  </a:cubicBezTo>
                  <a:lnTo>
                    <a:pt x="11610721" y="927862"/>
                  </a:lnTo>
                  <a:cubicBezTo>
                    <a:pt x="11610721" y="934847"/>
                    <a:pt x="11605006" y="940562"/>
                    <a:pt x="11598021" y="940562"/>
                  </a:cubicBezTo>
                  <a:lnTo>
                    <a:pt x="12700" y="940562"/>
                  </a:lnTo>
                  <a:cubicBezTo>
                    <a:pt x="5715" y="940562"/>
                    <a:pt x="0" y="934847"/>
                    <a:pt x="0" y="927862"/>
                  </a:cubicBezTo>
                  <a:lnTo>
                    <a:pt x="0" y="12700"/>
                  </a:lnTo>
                  <a:cubicBezTo>
                    <a:pt x="0" y="5715"/>
                    <a:pt x="5715" y="0"/>
                    <a:pt x="12700" y="0"/>
                  </a:cubicBezTo>
                  <a:moveTo>
                    <a:pt x="12700" y="25400"/>
                  </a:moveTo>
                  <a:lnTo>
                    <a:pt x="12700" y="12700"/>
                  </a:lnTo>
                  <a:lnTo>
                    <a:pt x="25400" y="12700"/>
                  </a:lnTo>
                  <a:lnTo>
                    <a:pt x="25400" y="927862"/>
                  </a:lnTo>
                  <a:lnTo>
                    <a:pt x="12700" y="927862"/>
                  </a:lnTo>
                  <a:lnTo>
                    <a:pt x="12700" y="915162"/>
                  </a:lnTo>
                  <a:lnTo>
                    <a:pt x="11598021" y="915162"/>
                  </a:lnTo>
                  <a:lnTo>
                    <a:pt x="11598021" y="927862"/>
                  </a:lnTo>
                  <a:lnTo>
                    <a:pt x="11585321" y="927862"/>
                  </a:lnTo>
                  <a:lnTo>
                    <a:pt x="11585321" y="12700"/>
                  </a:lnTo>
                  <a:lnTo>
                    <a:pt x="11598021" y="12700"/>
                  </a:lnTo>
                  <a:lnTo>
                    <a:pt x="11598021" y="25400"/>
                  </a:lnTo>
                  <a:lnTo>
                    <a:pt x="12700" y="25400"/>
                  </a:lnTo>
                  <a:close/>
                </a:path>
              </a:pathLst>
            </a:custGeom>
            <a:solidFill>
              <a:srgbClr val="7C3AED"/>
            </a:solidFill>
          </p:spPr>
        </p:sp>
      </p:grpSp>
      <p:sp>
        <p:nvSpPr>
          <p:cNvPr name="TextBox 8" id="8"/>
          <p:cNvSpPr txBox="true"/>
          <p:nvPr/>
        </p:nvSpPr>
        <p:spPr>
          <a:xfrm rot="0">
            <a:off x="4895793" y="5868934"/>
            <a:ext cx="8506139" cy="495729"/>
          </a:xfrm>
          <a:prstGeom prst="rect">
            <a:avLst/>
          </a:prstGeom>
        </p:spPr>
        <p:txBody>
          <a:bodyPr anchor="t" rtlCol="false" tIns="0" lIns="0" bIns="0" rIns="0">
            <a:spAutoFit/>
          </a:bodyPr>
          <a:lstStyle/>
          <a:p>
            <a:pPr algn="ctr">
              <a:lnSpc>
                <a:spcPts val="2161"/>
              </a:lnSpc>
            </a:pPr>
            <a:r>
              <a:rPr lang="en-US" sz="1801">
                <a:solidFill>
                  <a:srgbClr val="7C3AED"/>
                </a:solidFill>
                <a:latin typeface="Calibri (MS)"/>
                <a:ea typeface="Calibri (MS)"/>
                <a:cs typeface="Calibri (MS)"/>
                <a:sym typeface="Calibri (MS)"/>
              </a:rPr>
              <a:t>github.com/GaneshMadarasu/nymbl-demo-RAG-system</a:t>
            </a:r>
          </a:p>
        </p:txBody>
      </p:sp>
      <p:sp>
        <p:nvSpPr>
          <p:cNvPr name="TextBox 9" id="9"/>
          <p:cNvSpPr txBox="true"/>
          <p:nvPr/>
        </p:nvSpPr>
        <p:spPr>
          <a:xfrm rot="0">
            <a:off x="1189577" y="7429576"/>
            <a:ext cx="3935139" cy="486204"/>
          </a:xfrm>
          <a:prstGeom prst="rect">
            <a:avLst/>
          </a:prstGeom>
        </p:spPr>
        <p:txBody>
          <a:bodyPr anchor="t" rtlCol="false" tIns="0" lIns="0" bIns="0" rIns="0">
            <a:spAutoFit/>
          </a:bodyPr>
          <a:lstStyle/>
          <a:p>
            <a:pPr algn="ctr">
              <a:lnSpc>
                <a:spcPts val="1981"/>
              </a:lnSpc>
            </a:pPr>
            <a:r>
              <a:rPr lang="en-US" sz="1651">
                <a:solidFill>
                  <a:srgbClr val="7C3AED"/>
                </a:solidFill>
                <a:latin typeface="Calibri (MS)"/>
                <a:ea typeface="Calibri (MS)"/>
                <a:cs typeface="Calibri (MS)"/>
                <a:sym typeface="Calibri (MS)"/>
              </a:rPr>
              <a:t>🔍 Hybrid BM25 + vector</a:t>
            </a:r>
          </a:p>
        </p:txBody>
      </p:sp>
      <p:sp>
        <p:nvSpPr>
          <p:cNvPr name="TextBox 10" id="10"/>
          <p:cNvSpPr txBox="true"/>
          <p:nvPr/>
        </p:nvSpPr>
        <p:spPr>
          <a:xfrm rot="0">
            <a:off x="5307597" y="7429576"/>
            <a:ext cx="3935139" cy="486204"/>
          </a:xfrm>
          <a:prstGeom prst="rect">
            <a:avLst/>
          </a:prstGeom>
        </p:spPr>
        <p:txBody>
          <a:bodyPr anchor="t" rtlCol="false" tIns="0" lIns="0" bIns="0" rIns="0">
            <a:spAutoFit/>
          </a:bodyPr>
          <a:lstStyle/>
          <a:p>
            <a:pPr algn="ctr">
              <a:lnSpc>
                <a:spcPts val="1981"/>
              </a:lnSpc>
            </a:pPr>
            <a:r>
              <a:rPr lang="en-US" sz="1651">
                <a:solidFill>
                  <a:srgbClr val="7C3AED"/>
                </a:solidFill>
                <a:latin typeface="Calibri (MS)"/>
                <a:ea typeface="Calibri (MS)"/>
                <a:cs typeface="Calibri (MS)"/>
                <a:sym typeface="Calibri (MS)"/>
              </a:rPr>
              <a:t>🖼 Image retrieval + linking</a:t>
            </a:r>
          </a:p>
        </p:txBody>
      </p:sp>
      <p:sp>
        <p:nvSpPr>
          <p:cNvPr name="TextBox 11" id="11"/>
          <p:cNvSpPr txBox="true"/>
          <p:nvPr/>
        </p:nvSpPr>
        <p:spPr>
          <a:xfrm rot="0">
            <a:off x="9425616" y="7429576"/>
            <a:ext cx="3935139" cy="486204"/>
          </a:xfrm>
          <a:prstGeom prst="rect">
            <a:avLst/>
          </a:prstGeom>
        </p:spPr>
        <p:txBody>
          <a:bodyPr anchor="t" rtlCol="false" tIns="0" lIns="0" bIns="0" rIns="0">
            <a:spAutoFit/>
          </a:bodyPr>
          <a:lstStyle/>
          <a:p>
            <a:pPr algn="ctr">
              <a:lnSpc>
                <a:spcPts val="1981"/>
              </a:lnSpc>
            </a:pPr>
            <a:r>
              <a:rPr lang="en-US" sz="1651">
                <a:solidFill>
                  <a:srgbClr val="7C3AED"/>
                </a:solidFill>
                <a:latin typeface="Calibri (MS)"/>
                <a:ea typeface="Calibri (MS)"/>
                <a:cs typeface="Calibri (MS)"/>
                <a:sym typeface="Calibri (MS)"/>
              </a:rPr>
              <a:t>🪟 Parent-child chunks</a:t>
            </a:r>
          </a:p>
        </p:txBody>
      </p:sp>
      <p:sp>
        <p:nvSpPr>
          <p:cNvPr name="TextBox 12" id="12"/>
          <p:cNvSpPr txBox="true"/>
          <p:nvPr/>
        </p:nvSpPr>
        <p:spPr>
          <a:xfrm rot="0">
            <a:off x="13543626" y="7429576"/>
            <a:ext cx="3935139" cy="486204"/>
          </a:xfrm>
          <a:prstGeom prst="rect">
            <a:avLst/>
          </a:prstGeom>
        </p:spPr>
        <p:txBody>
          <a:bodyPr anchor="t" rtlCol="false" tIns="0" lIns="0" bIns="0" rIns="0">
            <a:spAutoFit/>
          </a:bodyPr>
          <a:lstStyle/>
          <a:p>
            <a:pPr algn="ctr">
              <a:lnSpc>
                <a:spcPts val="1981"/>
              </a:lnSpc>
            </a:pPr>
            <a:r>
              <a:rPr lang="en-US" sz="1651">
                <a:solidFill>
                  <a:srgbClr val="7C3AED"/>
                </a:solidFill>
                <a:latin typeface="Calibri (MS)"/>
                <a:ea typeface="Calibri (MS)"/>
                <a:cs typeface="Calibri (MS)"/>
                <a:sym typeface="Calibri (MS)"/>
              </a:rPr>
              <a:t>⚡ Dedup + similarity scores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DAHJG9ljMf8</dc:identifier>
  <dcterms:modified xsi:type="dcterms:W3CDTF">2011-08-01T06:04:30Z</dcterms:modified>
  <cp:revision>1</cp:revision>
  <dc:title>DocRAG.pptx</dc:title>
</cp:coreProperties>
</file>